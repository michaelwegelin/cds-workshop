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98" r:id="rId3"/>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4" r:id="rId28"/>
    <p:sldId id="323"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294" r:id="rId47"/>
    <p:sldId id="297" r:id="rId4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3D780B3C-D2DA-4FFC-B809-BCBE91ED70FE}">
          <p14:sldIdLst>
            <p14:sldId id="256"/>
          </p14:sldIdLst>
        </p14:section>
        <p14:section name="Einführung" id="{A71FEE34-3DD5-4C60-832B-F7B9E07D03ED}">
          <p14:sldIdLst>
            <p14:sldId id="298"/>
            <p14:sldId id="299"/>
          </p14:sldIdLst>
        </p14:section>
        <p14:section name="SQL-Ausdrücke" id="{7990F407-5800-4CFF-849E-2497BFB44822}">
          <p14:sldIdLst>
            <p14:sldId id="300"/>
            <p14:sldId id="301"/>
            <p14:sldId id="302"/>
            <p14:sldId id="303"/>
            <p14:sldId id="304"/>
            <p14:sldId id="305"/>
            <p14:sldId id="306"/>
          </p14:sldIdLst>
        </p14:section>
        <p14:section name="Funktionen" id="{4BB6FAAE-6B26-4008-8AC1-1950284ABD94}">
          <p14:sldIdLst>
            <p14:sldId id="307"/>
            <p14:sldId id="308"/>
            <p14:sldId id="309"/>
            <p14:sldId id="310"/>
            <p14:sldId id="311"/>
            <p14:sldId id="312"/>
            <p14:sldId id="313"/>
            <p14:sldId id="314"/>
          </p14:sldIdLst>
        </p14:section>
        <p14:section name="Semantik" id="{E69AA76A-BFF2-4176-B8B9-C312056C1CE6}">
          <p14:sldIdLst>
            <p14:sldId id="315"/>
            <p14:sldId id="316"/>
            <p14:sldId id="317"/>
            <p14:sldId id="318"/>
            <p14:sldId id="319"/>
            <p14:sldId id="320"/>
          </p14:sldIdLst>
        </p14:section>
        <p14:section name="Aggregation" id="{7B881E04-5702-46BB-97D9-058FD8F1756A}">
          <p14:sldIdLst>
            <p14:sldId id="321"/>
            <p14:sldId id="322"/>
            <p14:sldId id="324"/>
            <p14:sldId id="323"/>
            <p14:sldId id="325"/>
            <p14:sldId id="326"/>
            <p14:sldId id="327"/>
            <p14:sldId id="328"/>
          </p14:sldIdLst>
        </p14:section>
        <p14:section name="UNION ALL" id="{9B60A7D9-D8BC-4CF5-8A9D-27822C7B67A9}">
          <p14:sldIdLst>
            <p14:sldId id="329"/>
            <p14:sldId id="330"/>
            <p14:sldId id="331"/>
            <p14:sldId id="332"/>
            <p14:sldId id="333"/>
            <p14:sldId id="334"/>
            <p14:sldId id="335"/>
          </p14:sldIdLst>
        </p14:section>
        <p14:section name="Erweiterungen" id="{FE100021-66B0-4768-9390-9B63D1DF53BD}">
          <p14:sldIdLst>
            <p14:sldId id="336"/>
            <p14:sldId id="337"/>
            <p14:sldId id="338"/>
            <p14:sldId id="339"/>
            <p14:sldId id="340"/>
            <p14:sldId id="341"/>
          </p14:sldIdLst>
        </p14:section>
        <p14:section name="Ressourcen" id="{190EA87C-8E91-4DCA-AF0E-5140B7EBB5C9}">
          <p14:sldIdLst>
            <p14:sldId id="294"/>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60CBB4-0492-459E-B3FA-BF83B6E0875A}" v="211" dt="2026-08-10T14:38:04.73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31" autoAdjust="0"/>
    <p:restoredTop sz="69613" autoAdjust="0"/>
  </p:normalViewPr>
  <p:slideViewPr>
    <p:cSldViewPr snapToGrid="0">
      <p:cViewPr varScale="1">
        <p:scale>
          <a:sx n="73" d="100"/>
          <a:sy n="73" d="100"/>
        </p:scale>
        <p:origin x="1206" y="72"/>
      </p:cViewPr>
      <p:guideLst/>
    </p:cSldViewPr>
  </p:slideViewPr>
  <p:notesTextViewPr>
    <p:cViewPr>
      <p:scale>
        <a:sx n="125" d="100"/>
        <a:sy n="125" d="100"/>
      </p:scale>
      <p:origin x="0" y="-37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egelin" userId="44f55030-522d-4388-8c84-12427b5d3861" providerId="ADAL" clId="{0C4B0DB6-929A-4816-82F8-C5CA7CCA52CE}"/>
    <pc:docChg chg="undo custSel addSld delSld modSld sldOrd addSection delSection modSection">
      <pc:chgData name="Michael Wegelin" userId="44f55030-522d-4388-8c84-12427b5d3861" providerId="ADAL" clId="{0C4B0DB6-929A-4816-82F8-C5CA7CCA52CE}" dt="2026-08-10T14:38:04.731" v="16319"/>
      <pc:docMkLst>
        <pc:docMk/>
      </pc:docMkLst>
      <pc:sldChg chg="modSp mod modNotesTx">
        <pc:chgData name="Michael Wegelin" userId="44f55030-522d-4388-8c84-12427b5d3861" providerId="ADAL" clId="{0C4B0DB6-929A-4816-82F8-C5CA7CCA52CE}" dt="2026-08-10T07:39:02.707" v="14013" actId="20577"/>
        <pc:sldMkLst>
          <pc:docMk/>
          <pc:sldMk cId="625399248" sldId="256"/>
        </pc:sldMkLst>
        <pc:spChg chg="mod">
          <ac:chgData name="Michael Wegelin" userId="44f55030-522d-4388-8c84-12427b5d3861" providerId="ADAL" clId="{0C4B0DB6-929A-4816-82F8-C5CA7CCA52CE}" dt="2026-08-01T17:24:26.044" v="9190" actId="20577"/>
          <ac:spMkLst>
            <pc:docMk/>
            <pc:sldMk cId="625399248" sldId="256"/>
            <ac:spMk id="2" creationId="{15145329-41F4-501E-FB56-244ED2737B99}"/>
          </ac:spMkLst>
        </pc:spChg>
        <pc:spChg chg="mod">
          <ac:chgData name="Michael Wegelin" userId="44f55030-522d-4388-8c84-12427b5d3861" providerId="ADAL" clId="{0C4B0DB6-929A-4816-82F8-C5CA7CCA52CE}" dt="2026-08-10T07:23:42.342" v="13994" actId="20577"/>
          <ac:spMkLst>
            <pc:docMk/>
            <pc:sldMk cId="625399248" sldId="256"/>
            <ac:spMk id="3" creationId="{602C510F-AB78-3A01-3A34-CB0CE8198C66}"/>
          </ac:spMkLst>
        </pc:spChg>
      </pc:sldChg>
      <pc:sldChg chg="addSp delSp modSp mod">
        <pc:chgData name="Michael Wegelin" userId="44f55030-522d-4388-8c84-12427b5d3861" providerId="ADAL" clId="{0C4B0DB6-929A-4816-82F8-C5CA7CCA52CE}" dt="2026-08-01T20:51:31.405" v="11403" actId="20577"/>
        <pc:sldMkLst>
          <pc:docMk/>
          <pc:sldMk cId="105356027" sldId="294"/>
        </pc:sldMkLst>
        <pc:spChg chg="mod">
          <ac:chgData name="Michael Wegelin" userId="44f55030-522d-4388-8c84-12427b5d3861" providerId="ADAL" clId="{0C4B0DB6-929A-4816-82F8-C5CA7CCA52CE}" dt="2026-07-18T10:40:32.327" v="8119" actId="20577"/>
          <ac:spMkLst>
            <pc:docMk/>
            <pc:sldMk cId="105356027" sldId="294"/>
            <ac:spMk id="2" creationId="{CBF6B1C0-6498-9094-D941-19528FEE3EE4}"/>
          </ac:spMkLst>
        </pc:spChg>
        <pc:spChg chg="mod">
          <ac:chgData name="Michael Wegelin" userId="44f55030-522d-4388-8c84-12427b5d3861" providerId="ADAL" clId="{0C4B0DB6-929A-4816-82F8-C5CA7CCA52CE}" dt="2026-08-01T20:51:31.405" v="11403" actId="20577"/>
          <ac:spMkLst>
            <pc:docMk/>
            <pc:sldMk cId="105356027" sldId="294"/>
            <ac:spMk id="3" creationId="{414A8D02-C361-E8AE-D92B-53E118F8360A}"/>
          </ac:spMkLst>
        </pc:spChg>
        <pc:picChg chg="add mod">
          <ac:chgData name="Michael Wegelin" userId="44f55030-522d-4388-8c84-12427b5d3861" providerId="ADAL" clId="{0C4B0DB6-929A-4816-82F8-C5CA7CCA52CE}" dt="2026-08-01T20:49:29.168" v="11185" actId="1076"/>
          <ac:picMkLst>
            <pc:docMk/>
            <pc:sldMk cId="105356027" sldId="294"/>
            <ac:picMk id="6" creationId="{9BAE3DBD-B303-D270-8BE6-7DD896F40DDB}"/>
          </ac:picMkLst>
        </pc:picChg>
      </pc:sldChg>
      <pc:sldChg chg="addSp delSp modSp add del mod chgLayout modNotesTx">
        <pc:chgData name="Michael Wegelin" userId="44f55030-522d-4388-8c84-12427b5d3861" providerId="ADAL" clId="{0C4B0DB6-929A-4816-82F8-C5CA7CCA52CE}" dt="2026-08-10T07:24:05.818" v="14008" actId="47"/>
        <pc:sldMkLst>
          <pc:docMk/>
          <pc:sldMk cId="3016523917" sldId="296"/>
        </pc:sldMkLst>
      </pc:sldChg>
      <pc:sldChg chg="addSp delSp modSp add del mod">
        <pc:chgData name="Michael Wegelin" userId="44f55030-522d-4388-8c84-12427b5d3861" providerId="ADAL" clId="{0C4B0DB6-929A-4816-82F8-C5CA7CCA52CE}" dt="2026-08-02T09:27:10.194" v="13941" actId="14100"/>
        <pc:sldMkLst>
          <pc:docMk/>
          <pc:sldMk cId="3685061495" sldId="297"/>
        </pc:sldMkLst>
        <pc:spChg chg="mod">
          <ac:chgData name="Michael Wegelin" userId="44f55030-522d-4388-8c84-12427b5d3861" providerId="ADAL" clId="{0C4B0DB6-929A-4816-82F8-C5CA7CCA52CE}" dt="2026-08-02T09:26:39.775" v="13937" actId="20577"/>
          <ac:spMkLst>
            <pc:docMk/>
            <pc:sldMk cId="3685061495" sldId="297"/>
            <ac:spMk id="3" creationId="{9B7F34D7-59AD-384C-9508-3FF4807BDAED}"/>
          </ac:spMkLst>
        </pc:spChg>
        <pc:picChg chg="add mod">
          <ac:chgData name="Michael Wegelin" userId="44f55030-522d-4388-8c84-12427b5d3861" providerId="ADAL" clId="{0C4B0DB6-929A-4816-82F8-C5CA7CCA52CE}" dt="2026-08-02T09:27:10.194" v="13941" actId="14100"/>
          <ac:picMkLst>
            <pc:docMk/>
            <pc:sldMk cId="3685061495" sldId="297"/>
            <ac:picMk id="5" creationId="{A512F91C-CDB1-72E7-609C-3DB9A3E98FF2}"/>
          </ac:picMkLst>
        </pc:picChg>
      </pc:sldChg>
      <pc:sldChg chg="addSp delSp modSp new mod modClrScheme chgLayout modNotesTx">
        <pc:chgData name="Michael Wegelin" userId="44f55030-522d-4388-8c84-12427b5d3861" providerId="ADAL" clId="{0C4B0DB6-929A-4816-82F8-C5CA7CCA52CE}" dt="2026-08-10T07:40:18.204" v="14026" actId="20577"/>
        <pc:sldMkLst>
          <pc:docMk/>
          <pc:sldMk cId="2578804583" sldId="298"/>
        </pc:sldMkLst>
        <pc:spChg chg="add mod ord">
          <ac:chgData name="Michael Wegelin" userId="44f55030-522d-4388-8c84-12427b5d3861" providerId="ADAL" clId="{0C4B0DB6-929A-4816-82F8-C5CA7CCA52CE}" dt="2026-08-10T07:39:22.370" v="14019" actId="20577"/>
          <ac:spMkLst>
            <pc:docMk/>
            <pc:sldMk cId="2578804583" sldId="298"/>
            <ac:spMk id="4" creationId="{EFADA1E8-AC5F-1BA7-2DB9-FF684ED6E5D9}"/>
          </ac:spMkLst>
        </pc:spChg>
        <pc:spChg chg="add mod ord">
          <ac:chgData name="Michael Wegelin" userId="44f55030-522d-4388-8c84-12427b5d3861" providerId="ADAL" clId="{0C4B0DB6-929A-4816-82F8-C5CA7CCA52CE}" dt="2026-08-10T07:39:32.266" v="14020"/>
          <ac:spMkLst>
            <pc:docMk/>
            <pc:sldMk cId="2578804583" sldId="298"/>
            <ac:spMk id="5" creationId="{E0CC596D-566C-A44C-5FDD-BCE18BC98293}"/>
          </ac:spMkLst>
        </pc:spChg>
      </pc:sldChg>
      <pc:sldChg chg="addSp delSp modSp new mod modNotesTx">
        <pc:chgData name="Michael Wegelin" userId="44f55030-522d-4388-8c84-12427b5d3861" providerId="ADAL" clId="{0C4B0DB6-929A-4816-82F8-C5CA7CCA52CE}" dt="2026-08-10T07:43:30.356" v="14094" actId="20577"/>
        <pc:sldMkLst>
          <pc:docMk/>
          <pc:sldMk cId="21303992" sldId="299"/>
        </pc:sldMkLst>
        <pc:spChg chg="mod">
          <ac:chgData name="Michael Wegelin" userId="44f55030-522d-4388-8c84-12427b5d3861" providerId="ADAL" clId="{0C4B0DB6-929A-4816-82F8-C5CA7CCA52CE}" dt="2026-08-10T07:43:30.356" v="14094" actId="20577"/>
          <ac:spMkLst>
            <pc:docMk/>
            <pc:sldMk cId="21303992" sldId="299"/>
            <ac:spMk id="2" creationId="{939A6580-6F1B-70BF-8057-092C0BE9A574}"/>
          </ac:spMkLst>
        </pc:spChg>
        <pc:spChg chg="del">
          <ac:chgData name="Michael Wegelin" userId="44f55030-522d-4388-8c84-12427b5d3861" providerId="ADAL" clId="{0C4B0DB6-929A-4816-82F8-C5CA7CCA52CE}" dt="2026-08-10T07:41:42.283" v="14032" actId="3680"/>
          <ac:spMkLst>
            <pc:docMk/>
            <pc:sldMk cId="21303992" sldId="299"/>
            <ac:spMk id="3" creationId="{AB68A246-4571-45A1-8718-7B53BE573B37}"/>
          </ac:spMkLst>
        </pc:spChg>
        <pc:graphicFrameChg chg="add mod ord modGraphic">
          <ac:chgData name="Michael Wegelin" userId="44f55030-522d-4388-8c84-12427b5d3861" providerId="ADAL" clId="{0C4B0DB6-929A-4816-82F8-C5CA7CCA52CE}" dt="2026-08-10T07:43:15.732" v="14056" actId="14734"/>
          <ac:graphicFrameMkLst>
            <pc:docMk/>
            <pc:sldMk cId="21303992" sldId="299"/>
            <ac:graphicFrameMk id="4" creationId="{39EE1BA3-C6BB-EA3B-C101-D2018C80B5BC}"/>
          </ac:graphicFrameMkLst>
        </pc:graphicFrameChg>
      </pc:sldChg>
      <pc:sldChg chg="addSp delSp modSp new del mod modClrScheme chgLayout modNotesTx">
        <pc:chgData name="Michael Wegelin" userId="44f55030-522d-4388-8c84-12427b5d3861" providerId="ADAL" clId="{0C4B0DB6-929A-4816-82F8-C5CA7CCA52CE}" dt="2026-08-10T07:23:52.218" v="13996" actId="47"/>
        <pc:sldMkLst>
          <pc:docMk/>
          <pc:sldMk cId="3000914736" sldId="299"/>
        </pc:sldMkLst>
      </pc:sldChg>
      <pc:sldChg chg="addSp delSp modSp new mod modNotesTx">
        <pc:chgData name="Michael Wegelin" userId="44f55030-522d-4388-8c84-12427b5d3861" providerId="ADAL" clId="{0C4B0DB6-929A-4816-82F8-C5CA7CCA52CE}" dt="2026-08-10T07:45:15.389" v="14138" actId="20577"/>
        <pc:sldMkLst>
          <pc:docMk/>
          <pc:sldMk cId="2846214406" sldId="300"/>
        </pc:sldMkLst>
        <pc:spChg chg="mod">
          <ac:chgData name="Michael Wegelin" userId="44f55030-522d-4388-8c84-12427b5d3861" providerId="ADAL" clId="{0C4B0DB6-929A-4816-82F8-C5CA7CCA52CE}" dt="2026-08-10T07:43:50.373" v="14133" actId="20577"/>
          <ac:spMkLst>
            <pc:docMk/>
            <pc:sldMk cId="2846214406" sldId="300"/>
            <ac:spMk id="2" creationId="{32C84100-B88D-B15A-9F20-0C5CE010EFFB}"/>
          </ac:spMkLst>
        </pc:spChg>
        <pc:spChg chg="del">
          <ac:chgData name="Michael Wegelin" userId="44f55030-522d-4388-8c84-12427b5d3861" providerId="ADAL" clId="{0C4B0DB6-929A-4816-82F8-C5CA7CCA52CE}" dt="2026-08-10T07:44:37.560" v="14134" actId="22"/>
          <ac:spMkLst>
            <pc:docMk/>
            <pc:sldMk cId="2846214406" sldId="300"/>
            <ac:spMk id="3" creationId="{6A69E362-B12E-AE6C-D85F-C6514EBFE03B}"/>
          </ac:spMkLst>
        </pc:spChg>
        <pc:picChg chg="add mod ord">
          <ac:chgData name="Michael Wegelin" userId="44f55030-522d-4388-8c84-12427b5d3861" providerId="ADAL" clId="{0C4B0DB6-929A-4816-82F8-C5CA7CCA52CE}" dt="2026-08-10T07:44:37.560" v="14134" actId="22"/>
          <ac:picMkLst>
            <pc:docMk/>
            <pc:sldMk cId="2846214406" sldId="300"/>
            <ac:picMk id="5" creationId="{42D82AFF-DD6B-2DD9-4C44-E97676E69418}"/>
          </ac:picMkLst>
        </pc:picChg>
      </pc:sldChg>
      <pc:sldChg chg="addSp delSp modSp new del mod modNotesTx">
        <pc:chgData name="Michael Wegelin" userId="44f55030-522d-4388-8c84-12427b5d3861" providerId="ADAL" clId="{0C4B0DB6-929A-4816-82F8-C5CA7CCA52CE}" dt="2026-08-10T07:23:52.712" v="13997" actId="47"/>
        <pc:sldMkLst>
          <pc:docMk/>
          <pc:sldMk cId="3534322273" sldId="300"/>
        </pc:sldMkLst>
      </pc:sldChg>
      <pc:sldChg chg="addSp delSp modSp new mod modClrScheme chgLayout">
        <pc:chgData name="Michael Wegelin" userId="44f55030-522d-4388-8c84-12427b5d3861" providerId="ADAL" clId="{0C4B0DB6-929A-4816-82F8-C5CA7CCA52CE}" dt="2026-08-10T07:46:55.257" v="14220" actId="13926"/>
        <pc:sldMkLst>
          <pc:docMk/>
          <pc:sldMk cId="9069471" sldId="301"/>
        </pc:sldMkLst>
        <pc:spChg chg="mod ord">
          <ac:chgData name="Michael Wegelin" userId="44f55030-522d-4388-8c84-12427b5d3861" providerId="ADAL" clId="{0C4B0DB6-929A-4816-82F8-C5CA7CCA52CE}" dt="2026-08-10T07:45:55.480" v="14142" actId="700"/>
          <ac:spMkLst>
            <pc:docMk/>
            <pc:sldMk cId="9069471" sldId="301"/>
            <ac:spMk id="2" creationId="{2DEA68D0-D730-6D5C-D92A-0E55F1A0C5A2}"/>
          </ac:spMkLst>
        </pc:spChg>
        <pc:spChg chg="del mod ord">
          <ac:chgData name="Michael Wegelin" userId="44f55030-522d-4388-8c84-12427b5d3861" providerId="ADAL" clId="{0C4B0DB6-929A-4816-82F8-C5CA7CCA52CE}" dt="2026-08-10T07:45:55.480" v="14142" actId="700"/>
          <ac:spMkLst>
            <pc:docMk/>
            <pc:sldMk cId="9069471" sldId="301"/>
            <ac:spMk id="3" creationId="{85B4E3D2-1D07-3F8A-9672-5A5A0E06E789}"/>
          </ac:spMkLst>
        </pc:spChg>
        <pc:spChg chg="add mod ord">
          <ac:chgData name="Michael Wegelin" userId="44f55030-522d-4388-8c84-12427b5d3861" providerId="ADAL" clId="{0C4B0DB6-929A-4816-82F8-C5CA7CCA52CE}" dt="2026-08-10T07:46:07.078" v="14185" actId="20577"/>
          <ac:spMkLst>
            <pc:docMk/>
            <pc:sldMk cId="9069471" sldId="301"/>
            <ac:spMk id="4" creationId="{496A04E2-874C-B189-2B59-F032DA0F6B09}"/>
          </ac:spMkLst>
        </pc:spChg>
        <pc:spChg chg="add mod ord">
          <ac:chgData name="Michael Wegelin" userId="44f55030-522d-4388-8c84-12427b5d3861" providerId="ADAL" clId="{0C4B0DB6-929A-4816-82F8-C5CA7CCA52CE}" dt="2026-08-10T07:46:14.441" v="14186"/>
          <ac:spMkLst>
            <pc:docMk/>
            <pc:sldMk cId="9069471" sldId="301"/>
            <ac:spMk id="5" creationId="{2B904EDB-5DA0-54D2-E94F-1D966D71AC1A}"/>
          </ac:spMkLst>
        </pc:spChg>
        <pc:spChg chg="add mod ord">
          <ac:chgData name="Michael Wegelin" userId="44f55030-522d-4388-8c84-12427b5d3861" providerId="ADAL" clId="{0C4B0DB6-929A-4816-82F8-C5CA7CCA52CE}" dt="2026-08-10T07:46:22.145" v="14212" actId="20577"/>
          <ac:spMkLst>
            <pc:docMk/>
            <pc:sldMk cId="9069471" sldId="301"/>
            <ac:spMk id="6" creationId="{5FA7EAB6-1CC1-0AA3-3D27-E3603CE86EEC}"/>
          </ac:spMkLst>
        </pc:spChg>
        <pc:spChg chg="add mod ord">
          <ac:chgData name="Michael Wegelin" userId="44f55030-522d-4388-8c84-12427b5d3861" providerId="ADAL" clId="{0C4B0DB6-929A-4816-82F8-C5CA7CCA52CE}" dt="2026-08-10T07:46:33.015" v="14214" actId="20577"/>
          <ac:spMkLst>
            <pc:docMk/>
            <pc:sldMk cId="9069471" sldId="301"/>
            <ac:spMk id="7" creationId="{7B67654C-68F9-E386-926D-E766971C1BE0}"/>
          </ac:spMkLst>
        </pc:spChg>
        <pc:spChg chg="add mod">
          <ac:chgData name="Michael Wegelin" userId="44f55030-522d-4388-8c84-12427b5d3861" providerId="ADAL" clId="{0C4B0DB6-929A-4816-82F8-C5CA7CCA52CE}" dt="2026-08-10T07:46:55.257" v="14220" actId="13926"/>
          <ac:spMkLst>
            <pc:docMk/>
            <pc:sldMk cId="9069471" sldId="301"/>
            <ac:spMk id="9" creationId="{66FCEE8E-B370-329F-4146-BF0CD490A688}"/>
          </ac:spMkLst>
        </pc:spChg>
      </pc:sldChg>
      <pc:sldChg chg="addSp delSp modSp new del mod modNotesTx">
        <pc:chgData name="Michael Wegelin" userId="44f55030-522d-4388-8c84-12427b5d3861" providerId="ADAL" clId="{0C4B0DB6-929A-4816-82F8-C5CA7CCA52CE}" dt="2026-08-10T07:23:53.159" v="13998" actId="47"/>
        <pc:sldMkLst>
          <pc:docMk/>
          <pc:sldMk cId="3079381358" sldId="301"/>
        </pc:sldMkLst>
      </pc:sldChg>
      <pc:sldChg chg="addSp delSp modSp new mod modClrScheme chgLayout modNotesTx">
        <pc:chgData name="Michael Wegelin" userId="44f55030-522d-4388-8c84-12427b5d3861" providerId="ADAL" clId="{0C4B0DB6-929A-4816-82F8-C5CA7CCA52CE}" dt="2026-08-10T07:50:45.061" v="14309" actId="20577"/>
        <pc:sldMkLst>
          <pc:docMk/>
          <pc:sldMk cId="1653378949" sldId="302"/>
        </pc:sldMkLst>
        <pc:spChg chg="mod ord">
          <ac:chgData name="Michael Wegelin" userId="44f55030-522d-4388-8c84-12427b5d3861" providerId="ADAL" clId="{0C4B0DB6-929A-4816-82F8-C5CA7CCA52CE}" dt="2026-08-10T07:47:28.483" v="14224" actId="700"/>
          <ac:spMkLst>
            <pc:docMk/>
            <pc:sldMk cId="1653378949" sldId="302"/>
            <ac:spMk id="2" creationId="{A9420F8E-23C9-04E5-ECD5-C0EA40E1A441}"/>
          </ac:spMkLst>
        </pc:spChg>
        <pc:spChg chg="del">
          <ac:chgData name="Michael Wegelin" userId="44f55030-522d-4388-8c84-12427b5d3861" providerId="ADAL" clId="{0C4B0DB6-929A-4816-82F8-C5CA7CCA52CE}" dt="2026-08-10T07:47:28.483" v="14224" actId="700"/>
          <ac:spMkLst>
            <pc:docMk/>
            <pc:sldMk cId="1653378949" sldId="302"/>
            <ac:spMk id="3" creationId="{62996D10-3B14-45D3-E432-885181318E06}"/>
          </ac:spMkLst>
        </pc:spChg>
        <pc:spChg chg="del mod ord">
          <ac:chgData name="Michael Wegelin" userId="44f55030-522d-4388-8c84-12427b5d3861" providerId="ADAL" clId="{0C4B0DB6-929A-4816-82F8-C5CA7CCA52CE}" dt="2026-08-10T07:47:28.483" v="14224" actId="700"/>
          <ac:spMkLst>
            <pc:docMk/>
            <pc:sldMk cId="1653378949" sldId="302"/>
            <ac:spMk id="4" creationId="{1E5E958A-555A-7D62-3DB6-6A8578EB0D7C}"/>
          </ac:spMkLst>
        </pc:spChg>
        <pc:spChg chg="del">
          <ac:chgData name="Michael Wegelin" userId="44f55030-522d-4388-8c84-12427b5d3861" providerId="ADAL" clId="{0C4B0DB6-929A-4816-82F8-C5CA7CCA52CE}" dt="2026-08-10T07:47:28.483" v="14224" actId="700"/>
          <ac:spMkLst>
            <pc:docMk/>
            <pc:sldMk cId="1653378949" sldId="302"/>
            <ac:spMk id="5" creationId="{C390D1C9-F0E9-B037-C32F-43F9804F8AF1}"/>
          </ac:spMkLst>
        </pc:spChg>
        <pc:spChg chg="del mod ord">
          <ac:chgData name="Michael Wegelin" userId="44f55030-522d-4388-8c84-12427b5d3861" providerId="ADAL" clId="{0C4B0DB6-929A-4816-82F8-C5CA7CCA52CE}" dt="2026-08-10T07:47:28.483" v="14224" actId="700"/>
          <ac:spMkLst>
            <pc:docMk/>
            <pc:sldMk cId="1653378949" sldId="302"/>
            <ac:spMk id="6" creationId="{0587A47D-662E-CCFD-09C8-CA1620A38358}"/>
          </ac:spMkLst>
        </pc:spChg>
        <pc:spChg chg="add mod ord">
          <ac:chgData name="Michael Wegelin" userId="44f55030-522d-4388-8c84-12427b5d3861" providerId="ADAL" clId="{0C4B0DB6-929A-4816-82F8-C5CA7CCA52CE}" dt="2026-08-10T07:50:02.004" v="14303" actId="27636"/>
          <ac:spMkLst>
            <pc:docMk/>
            <pc:sldMk cId="1653378949" sldId="302"/>
            <ac:spMk id="7" creationId="{4903FF9F-D00E-7063-FA65-8904E8B38942}"/>
          </ac:spMkLst>
        </pc:spChg>
        <pc:spChg chg="add mod ord">
          <ac:chgData name="Michael Wegelin" userId="44f55030-522d-4388-8c84-12427b5d3861" providerId="ADAL" clId="{0C4B0DB6-929A-4816-82F8-C5CA7CCA52CE}" dt="2026-08-10T07:50:02.004" v="14302" actId="27636"/>
          <ac:spMkLst>
            <pc:docMk/>
            <pc:sldMk cId="1653378949" sldId="302"/>
            <ac:spMk id="8" creationId="{359F5CDC-EBEC-4C72-1BE3-7311157EBB06}"/>
          </ac:spMkLst>
        </pc:spChg>
      </pc:sldChg>
      <pc:sldChg chg="modSp new del mod modNotesTx">
        <pc:chgData name="Michael Wegelin" userId="44f55030-522d-4388-8c84-12427b5d3861" providerId="ADAL" clId="{0C4B0DB6-929A-4816-82F8-C5CA7CCA52CE}" dt="2026-08-10T07:23:53.686" v="13999" actId="47"/>
        <pc:sldMkLst>
          <pc:docMk/>
          <pc:sldMk cId="4031968825" sldId="302"/>
        </pc:sldMkLst>
      </pc:sldChg>
      <pc:sldChg chg="modSp new del mod modNotesTx">
        <pc:chgData name="Michael Wegelin" userId="44f55030-522d-4388-8c84-12427b5d3861" providerId="ADAL" clId="{0C4B0DB6-929A-4816-82F8-C5CA7CCA52CE}" dt="2026-08-10T07:23:54.213" v="14000" actId="47"/>
        <pc:sldMkLst>
          <pc:docMk/>
          <pc:sldMk cId="1719347554" sldId="303"/>
        </pc:sldMkLst>
      </pc:sldChg>
      <pc:sldChg chg="addSp delSp modSp new mod modClrScheme chgLayout modNotesTx">
        <pc:chgData name="Michael Wegelin" userId="44f55030-522d-4388-8c84-12427b5d3861" providerId="ADAL" clId="{0C4B0DB6-929A-4816-82F8-C5CA7CCA52CE}" dt="2026-08-10T07:57:09.361" v="14321" actId="22"/>
        <pc:sldMkLst>
          <pc:docMk/>
          <pc:sldMk cId="4059057196" sldId="303"/>
        </pc:sldMkLst>
        <pc:spChg chg="mod ord">
          <ac:chgData name="Michael Wegelin" userId="44f55030-522d-4388-8c84-12427b5d3861" providerId="ADAL" clId="{0C4B0DB6-929A-4816-82F8-C5CA7CCA52CE}" dt="2026-08-10T07:52:27.353" v="14318" actId="700"/>
          <ac:spMkLst>
            <pc:docMk/>
            <pc:sldMk cId="4059057196" sldId="303"/>
            <ac:spMk id="2" creationId="{1EC7776A-A5B2-A5D7-C927-E6778ED615B8}"/>
          </ac:spMkLst>
        </pc:spChg>
        <pc:spChg chg="del mod ord">
          <ac:chgData name="Michael Wegelin" userId="44f55030-522d-4388-8c84-12427b5d3861" providerId="ADAL" clId="{0C4B0DB6-929A-4816-82F8-C5CA7CCA52CE}" dt="2026-08-10T07:51:26.724" v="14313" actId="700"/>
          <ac:spMkLst>
            <pc:docMk/>
            <pc:sldMk cId="4059057196" sldId="303"/>
            <ac:spMk id="3" creationId="{2B4DE78C-2BA3-FBB2-EAE9-610C75A13FD8}"/>
          </ac:spMkLst>
        </pc:spChg>
        <pc:spChg chg="del">
          <ac:chgData name="Michael Wegelin" userId="44f55030-522d-4388-8c84-12427b5d3861" providerId="ADAL" clId="{0C4B0DB6-929A-4816-82F8-C5CA7CCA52CE}" dt="2026-08-10T07:51:26.724" v="14313" actId="700"/>
          <ac:spMkLst>
            <pc:docMk/>
            <pc:sldMk cId="4059057196" sldId="303"/>
            <ac:spMk id="4" creationId="{DA213BAC-4537-707B-87F8-4426EB771B45}"/>
          </ac:spMkLst>
        </pc:spChg>
        <pc:spChg chg="add del mod ord">
          <ac:chgData name="Michael Wegelin" userId="44f55030-522d-4388-8c84-12427b5d3861" providerId="ADAL" clId="{0C4B0DB6-929A-4816-82F8-C5CA7CCA52CE}" dt="2026-08-10T07:52:27.353" v="14318" actId="700"/>
          <ac:spMkLst>
            <pc:docMk/>
            <pc:sldMk cId="4059057196" sldId="303"/>
            <ac:spMk id="5" creationId="{E89EF9E7-9C3E-4A19-7627-B6C41393FFEC}"/>
          </ac:spMkLst>
        </pc:spChg>
        <pc:spChg chg="add del mod ord">
          <ac:chgData name="Michael Wegelin" userId="44f55030-522d-4388-8c84-12427b5d3861" providerId="ADAL" clId="{0C4B0DB6-929A-4816-82F8-C5CA7CCA52CE}" dt="2026-08-10T07:57:09.361" v="14321" actId="22"/>
          <ac:spMkLst>
            <pc:docMk/>
            <pc:sldMk cId="4059057196" sldId="303"/>
            <ac:spMk id="6" creationId="{8C4548AE-FB55-F741-14ED-8D013576281E}"/>
          </ac:spMkLst>
        </pc:spChg>
        <pc:spChg chg="add mod ord">
          <ac:chgData name="Michael Wegelin" userId="44f55030-522d-4388-8c84-12427b5d3861" providerId="ADAL" clId="{0C4B0DB6-929A-4816-82F8-C5CA7CCA52CE}" dt="2026-08-10T07:52:44.510" v="14320" actId="5793"/>
          <ac:spMkLst>
            <pc:docMk/>
            <pc:sldMk cId="4059057196" sldId="303"/>
            <ac:spMk id="7" creationId="{FFAB3B82-3784-292E-9D7F-4E3B69ACAF8B}"/>
          </ac:spMkLst>
        </pc:spChg>
        <pc:picChg chg="add mod ord">
          <ac:chgData name="Michael Wegelin" userId="44f55030-522d-4388-8c84-12427b5d3861" providerId="ADAL" clId="{0C4B0DB6-929A-4816-82F8-C5CA7CCA52CE}" dt="2026-08-10T07:57:09.361" v="14321" actId="22"/>
          <ac:picMkLst>
            <pc:docMk/>
            <pc:sldMk cId="4059057196" sldId="303"/>
            <ac:picMk id="9" creationId="{1751161E-A9AB-6375-DCD7-ED269D9A1756}"/>
          </ac:picMkLst>
        </pc:picChg>
      </pc:sldChg>
      <pc:sldChg chg="modSp new mod modNotesTx">
        <pc:chgData name="Michael Wegelin" userId="44f55030-522d-4388-8c84-12427b5d3861" providerId="ADAL" clId="{0C4B0DB6-929A-4816-82F8-C5CA7CCA52CE}" dt="2026-08-10T08:03:15.447" v="14370" actId="20577"/>
        <pc:sldMkLst>
          <pc:docMk/>
          <pc:sldMk cId="923718186" sldId="304"/>
        </pc:sldMkLst>
        <pc:spChg chg="mod">
          <ac:chgData name="Michael Wegelin" userId="44f55030-522d-4388-8c84-12427b5d3861" providerId="ADAL" clId="{0C4B0DB6-929A-4816-82F8-C5CA7CCA52CE}" dt="2026-08-10T07:58:09.848" v="14328" actId="20577"/>
          <ac:spMkLst>
            <pc:docMk/>
            <pc:sldMk cId="923718186" sldId="304"/>
            <ac:spMk id="2" creationId="{DE138D58-1769-0A32-D842-A8AE417967CF}"/>
          </ac:spMkLst>
        </pc:spChg>
        <pc:spChg chg="mod">
          <ac:chgData name="Michael Wegelin" userId="44f55030-522d-4388-8c84-12427b5d3861" providerId="ADAL" clId="{0C4B0DB6-929A-4816-82F8-C5CA7CCA52CE}" dt="2026-08-10T08:02:00.442" v="14358" actId="6549"/>
          <ac:spMkLst>
            <pc:docMk/>
            <pc:sldMk cId="923718186" sldId="304"/>
            <ac:spMk id="3" creationId="{2D23405E-D530-3E98-609F-067288F56066}"/>
          </ac:spMkLst>
        </pc:spChg>
        <pc:spChg chg="mod">
          <ac:chgData name="Michael Wegelin" userId="44f55030-522d-4388-8c84-12427b5d3861" providerId="ADAL" clId="{0C4B0DB6-929A-4816-82F8-C5CA7CCA52CE}" dt="2026-08-10T08:03:15.447" v="14370" actId="20577"/>
          <ac:spMkLst>
            <pc:docMk/>
            <pc:sldMk cId="923718186" sldId="304"/>
            <ac:spMk id="4" creationId="{92D2F8AE-38C5-AD0B-89EE-D2EF0C0EC659}"/>
          </ac:spMkLst>
        </pc:spChg>
      </pc:sldChg>
      <pc:sldChg chg="addSp delSp modSp new del mod modClrScheme chgLayout modNotesTx">
        <pc:chgData name="Michael Wegelin" userId="44f55030-522d-4388-8c84-12427b5d3861" providerId="ADAL" clId="{0C4B0DB6-929A-4816-82F8-C5CA7CCA52CE}" dt="2026-08-10T07:23:54.705" v="14001" actId="47"/>
        <pc:sldMkLst>
          <pc:docMk/>
          <pc:sldMk cId="1202443913" sldId="304"/>
        </pc:sldMkLst>
      </pc:sldChg>
      <pc:sldChg chg="addSp delSp modSp new del mod modClrScheme chgLayout modNotesTx">
        <pc:chgData name="Michael Wegelin" userId="44f55030-522d-4388-8c84-12427b5d3861" providerId="ADAL" clId="{0C4B0DB6-929A-4816-82F8-C5CA7CCA52CE}" dt="2026-08-10T07:23:51.612" v="13995" actId="47"/>
        <pc:sldMkLst>
          <pc:docMk/>
          <pc:sldMk cId="1384603498" sldId="305"/>
        </pc:sldMkLst>
      </pc:sldChg>
      <pc:sldChg chg="addSp delSp modSp new mod modClrScheme chgLayout modNotesTx">
        <pc:chgData name="Michael Wegelin" userId="44f55030-522d-4388-8c84-12427b5d3861" providerId="ADAL" clId="{0C4B0DB6-929A-4816-82F8-C5CA7CCA52CE}" dt="2026-08-10T08:28:56.380" v="14625" actId="20577"/>
        <pc:sldMkLst>
          <pc:docMk/>
          <pc:sldMk cId="2326356364" sldId="305"/>
        </pc:sldMkLst>
        <pc:spChg chg="del mod ord">
          <ac:chgData name="Michael Wegelin" userId="44f55030-522d-4388-8c84-12427b5d3861" providerId="ADAL" clId="{0C4B0DB6-929A-4816-82F8-C5CA7CCA52CE}" dt="2026-08-10T08:15:37.024" v="14372" actId="700"/>
          <ac:spMkLst>
            <pc:docMk/>
            <pc:sldMk cId="2326356364" sldId="305"/>
            <ac:spMk id="2" creationId="{4FC229C2-1C32-FA9C-B00B-A74805590A21}"/>
          </ac:spMkLst>
        </pc:spChg>
        <pc:spChg chg="del mod ord">
          <ac:chgData name="Michael Wegelin" userId="44f55030-522d-4388-8c84-12427b5d3861" providerId="ADAL" clId="{0C4B0DB6-929A-4816-82F8-C5CA7CCA52CE}" dt="2026-08-10T08:15:37.024" v="14372" actId="700"/>
          <ac:spMkLst>
            <pc:docMk/>
            <pc:sldMk cId="2326356364" sldId="305"/>
            <ac:spMk id="3" creationId="{20E68584-6FB6-8B54-6CF2-C501F5AF9EC6}"/>
          </ac:spMkLst>
        </pc:spChg>
        <pc:spChg chg="del">
          <ac:chgData name="Michael Wegelin" userId="44f55030-522d-4388-8c84-12427b5d3861" providerId="ADAL" clId="{0C4B0DB6-929A-4816-82F8-C5CA7CCA52CE}" dt="2026-08-10T08:15:37.024" v="14372" actId="700"/>
          <ac:spMkLst>
            <pc:docMk/>
            <pc:sldMk cId="2326356364" sldId="305"/>
            <ac:spMk id="4" creationId="{B37EAE2E-7BFC-6D4C-EE0D-43918B4B989E}"/>
          </ac:spMkLst>
        </pc:spChg>
        <pc:spChg chg="add mod ord">
          <ac:chgData name="Michael Wegelin" userId="44f55030-522d-4388-8c84-12427b5d3861" providerId="ADAL" clId="{0C4B0DB6-929A-4816-82F8-C5CA7CCA52CE}" dt="2026-08-10T08:28:56.380" v="14625" actId="20577"/>
          <ac:spMkLst>
            <pc:docMk/>
            <pc:sldMk cId="2326356364" sldId="305"/>
            <ac:spMk id="5" creationId="{451A240C-ECFD-7054-7EA6-64BC70F8FED0}"/>
          </ac:spMkLst>
        </pc:spChg>
        <pc:spChg chg="add del mod ord">
          <ac:chgData name="Michael Wegelin" userId="44f55030-522d-4388-8c84-12427b5d3861" providerId="ADAL" clId="{0C4B0DB6-929A-4816-82F8-C5CA7CCA52CE}" dt="2026-08-10T08:28:31.975" v="14612" actId="22"/>
          <ac:spMkLst>
            <pc:docMk/>
            <pc:sldMk cId="2326356364" sldId="305"/>
            <ac:spMk id="6" creationId="{17C43B16-DABA-5813-2025-C631D9DC5592}"/>
          </ac:spMkLst>
        </pc:spChg>
        <pc:picChg chg="add mod ord">
          <ac:chgData name="Michael Wegelin" userId="44f55030-522d-4388-8c84-12427b5d3861" providerId="ADAL" clId="{0C4B0DB6-929A-4816-82F8-C5CA7CCA52CE}" dt="2026-08-10T08:28:31.975" v="14612" actId="22"/>
          <ac:picMkLst>
            <pc:docMk/>
            <pc:sldMk cId="2326356364" sldId="305"/>
            <ac:picMk id="8" creationId="{A8E61B09-1DE5-0048-D976-F8566CCEE16E}"/>
          </ac:picMkLst>
        </pc:picChg>
      </pc:sldChg>
      <pc:sldChg chg="addSp delSp modSp new del mod modNotesTx">
        <pc:chgData name="Michael Wegelin" userId="44f55030-522d-4388-8c84-12427b5d3861" providerId="ADAL" clId="{0C4B0DB6-929A-4816-82F8-C5CA7CCA52CE}" dt="2026-08-10T07:23:55.231" v="14002" actId="47"/>
        <pc:sldMkLst>
          <pc:docMk/>
          <pc:sldMk cId="1786074709" sldId="306"/>
        </pc:sldMkLst>
      </pc:sldChg>
      <pc:sldChg chg="addSp delSp modSp new mod modClrScheme chgLayout modNotesTx">
        <pc:chgData name="Michael Wegelin" userId="44f55030-522d-4388-8c84-12427b5d3861" providerId="ADAL" clId="{0C4B0DB6-929A-4816-82F8-C5CA7CCA52CE}" dt="2026-08-10T08:23:42.884" v="14603" actId="2711"/>
        <pc:sldMkLst>
          <pc:docMk/>
          <pc:sldMk cId="2801675066" sldId="306"/>
        </pc:sldMkLst>
        <pc:spChg chg="mod ord">
          <ac:chgData name="Michael Wegelin" userId="44f55030-522d-4388-8c84-12427b5d3861" providerId="ADAL" clId="{0C4B0DB6-929A-4816-82F8-C5CA7CCA52CE}" dt="2026-08-10T08:21:29.126" v="14382" actId="700"/>
          <ac:spMkLst>
            <pc:docMk/>
            <pc:sldMk cId="2801675066" sldId="306"/>
            <ac:spMk id="2" creationId="{247E7662-1C33-89DC-A903-89BAC84C3F1B}"/>
          </ac:spMkLst>
        </pc:spChg>
        <pc:spChg chg="del mod ord">
          <ac:chgData name="Michael Wegelin" userId="44f55030-522d-4388-8c84-12427b5d3861" providerId="ADAL" clId="{0C4B0DB6-929A-4816-82F8-C5CA7CCA52CE}" dt="2026-08-10T08:21:29.126" v="14382" actId="700"/>
          <ac:spMkLst>
            <pc:docMk/>
            <pc:sldMk cId="2801675066" sldId="306"/>
            <ac:spMk id="3" creationId="{A79C282E-8523-F4E2-5080-B21E5353012A}"/>
          </ac:spMkLst>
        </pc:spChg>
        <pc:spChg chg="add mod ord">
          <ac:chgData name="Michael Wegelin" userId="44f55030-522d-4388-8c84-12427b5d3861" providerId="ADAL" clId="{0C4B0DB6-929A-4816-82F8-C5CA7CCA52CE}" dt="2026-08-10T08:23:29.135" v="14601" actId="2711"/>
          <ac:spMkLst>
            <pc:docMk/>
            <pc:sldMk cId="2801675066" sldId="306"/>
            <ac:spMk id="4" creationId="{2640B576-F0D7-78CB-8F06-0652C67E51FB}"/>
          </ac:spMkLst>
        </pc:spChg>
        <pc:spChg chg="add mod ord">
          <ac:chgData name="Michael Wegelin" userId="44f55030-522d-4388-8c84-12427b5d3861" providerId="ADAL" clId="{0C4B0DB6-929A-4816-82F8-C5CA7CCA52CE}" dt="2026-08-10T08:23:42.884" v="14603" actId="2711"/>
          <ac:spMkLst>
            <pc:docMk/>
            <pc:sldMk cId="2801675066" sldId="306"/>
            <ac:spMk id="5" creationId="{7591E7BA-2178-E468-B982-D81B5D40D7E0}"/>
          </ac:spMkLst>
        </pc:spChg>
      </pc:sldChg>
      <pc:sldChg chg="addSp delSp modSp new mod modClrScheme chgLayout modNotesTx">
        <pc:chgData name="Michael Wegelin" userId="44f55030-522d-4388-8c84-12427b5d3861" providerId="ADAL" clId="{0C4B0DB6-929A-4816-82F8-C5CA7CCA52CE}" dt="2026-08-10T08:33:16.776" v="14710" actId="14734"/>
        <pc:sldMkLst>
          <pc:docMk/>
          <pc:sldMk cId="2983007538" sldId="307"/>
        </pc:sldMkLst>
        <pc:spChg chg="mod ord">
          <ac:chgData name="Michael Wegelin" userId="44f55030-522d-4388-8c84-12427b5d3861" providerId="ADAL" clId="{0C4B0DB6-929A-4816-82F8-C5CA7CCA52CE}" dt="2026-08-10T08:33:08.881" v="14709" actId="700"/>
          <ac:spMkLst>
            <pc:docMk/>
            <pc:sldMk cId="2983007538" sldId="307"/>
            <ac:spMk id="2" creationId="{12A76B18-0E55-E6F2-BDA9-1A24B626AD5A}"/>
          </ac:spMkLst>
        </pc:spChg>
        <pc:spChg chg="del">
          <ac:chgData name="Michael Wegelin" userId="44f55030-522d-4388-8c84-12427b5d3861" providerId="ADAL" clId="{0C4B0DB6-929A-4816-82F8-C5CA7CCA52CE}" dt="2026-08-10T08:31:14.077" v="14660" actId="3680"/>
          <ac:spMkLst>
            <pc:docMk/>
            <pc:sldMk cId="2983007538" sldId="307"/>
            <ac:spMk id="3" creationId="{341884F9-C5E0-AEDF-33FC-97F7AD9C26E5}"/>
          </ac:spMkLst>
        </pc:spChg>
        <pc:spChg chg="del">
          <ac:chgData name="Michael Wegelin" userId="44f55030-522d-4388-8c84-12427b5d3861" providerId="ADAL" clId="{0C4B0DB6-929A-4816-82F8-C5CA7CCA52CE}" dt="2026-08-10T08:33:08.881" v="14709" actId="700"/>
          <ac:spMkLst>
            <pc:docMk/>
            <pc:sldMk cId="2983007538" sldId="307"/>
            <ac:spMk id="4" creationId="{33A77E84-C60E-79AB-DD67-C140E1DAE569}"/>
          </ac:spMkLst>
        </pc:spChg>
        <pc:graphicFrameChg chg="add mod ord modGraphic">
          <ac:chgData name="Michael Wegelin" userId="44f55030-522d-4388-8c84-12427b5d3861" providerId="ADAL" clId="{0C4B0DB6-929A-4816-82F8-C5CA7CCA52CE}" dt="2026-08-10T08:33:16.776" v="14710" actId="14734"/>
          <ac:graphicFrameMkLst>
            <pc:docMk/>
            <pc:sldMk cId="2983007538" sldId="307"/>
            <ac:graphicFrameMk id="5" creationId="{E2526144-FF9A-4C98-CE91-E93EF0C375F9}"/>
          </ac:graphicFrameMkLst>
        </pc:graphicFrameChg>
      </pc:sldChg>
      <pc:sldChg chg="addSp delSp modSp new del mod modNotesTx">
        <pc:chgData name="Michael Wegelin" userId="44f55030-522d-4388-8c84-12427b5d3861" providerId="ADAL" clId="{0C4B0DB6-929A-4816-82F8-C5CA7CCA52CE}" dt="2026-08-10T07:23:56.284" v="14004" actId="47"/>
        <pc:sldMkLst>
          <pc:docMk/>
          <pc:sldMk cId="3846200388" sldId="307"/>
        </pc:sldMkLst>
      </pc:sldChg>
      <pc:sldChg chg="addSp delSp modSp new del mod modClrScheme chgLayout modNotesTx">
        <pc:chgData name="Michael Wegelin" userId="44f55030-522d-4388-8c84-12427b5d3861" providerId="ADAL" clId="{0C4B0DB6-929A-4816-82F8-C5CA7CCA52CE}" dt="2026-08-10T07:23:56.908" v="14005" actId="47"/>
        <pc:sldMkLst>
          <pc:docMk/>
          <pc:sldMk cId="2430094325" sldId="308"/>
        </pc:sldMkLst>
      </pc:sldChg>
      <pc:sldChg chg="addSp delSp modSp new mod modClrScheme chgLayout modNotesTx">
        <pc:chgData name="Michael Wegelin" userId="44f55030-522d-4388-8c84-12427b5d3861" providerId="ADAL" clId="{0C4B0DB6-929A-4816-82F8-C5CA7CCA52CE}" dt="2026-08-10T08:41:32.905" v="14809" actId="20577"/>
        <pc:sldMkLst>
          <pc:docMk/>
          <pc:sldMk cId="2526800824" sldId="308"/>
        </pc:sldMkLst>
        <pc:spChg chg="mod ord">
          <ac:chgData name="Michael Wegelin" userId="44f55030-522d-4388-8c84-12427b5d3861" providerId="ADAL" clId="{0C4B0DB6-929A-4816-82F8-C5CA7CCA52CE}" dt="2026-08-10T08:37:25.938" v="14746" actId="700"/>
          <ac:spMkLst>
            <pc:docMk/>
            <pc:sldMk cId="2526800824" sldId="308"/>
            <ac:spMk id="2" creationId="{E4FEFEBB-7550-6CC5-8B67-412A0107CD60}"/>
          </ac:spMkLst>
        </pc:spChg>
        <pc:spChg chg="del mod ord">
          <ac:chgData name="Michael Wegelin" userId="44f55030-522d-4388-8c84-12427b5d3861" providerId="ADAL" clId="{0C4B0DB6-929A-4816-82F8-C5CA7CCA52CE}" dt="2026-08-10T08:37:25.938" v="14746" actId="700"/>
          <ac:spMkLst>
            <pc:docMk/>
            <pc:sldMk cId="2526800824" sldId="308"/>
            <ac:spMk id="3" creationId="{2F0D8A5B-853D-363D-74D4-C0B0A94B1E8B}"/>
          </ac:spMkLst>
        </pc:spChg>
        <pc:spChg chg="add mod ord">
          <ac:chgData name="Michael Wegelin" userId="44f55030-522d-4388-8c84-12427b5d3861" providerId="ADAL" clId="{0C4B0DB6-929A-4816-82F8-C5CA7CCA52CE}" dt="2026-08-10T08:39:31.360" v="14759" actId="5793"/>
          <ac:spMkLst>
            <pc:docMk/>
            <pc:sldMk cId="2526800824" sldId="308"/>
            <ac:spMk id="4" creationId="{462926B4-6417-D6A0-C317-B882F641810B}"/>
          </ac:spMkLst>
        </pc:spChg>
        <pc:spChg chg="add mod ord">
          <ac:chgData name="Michael Wegelin" userId="44f55030-522d-4388-8c84-12427b5d3861" providerId="ADAL" clId="{0C4B0DB6-929A-4816-82F8-C5CA7CCA52CE}" dt="2026-08-10T08:41:32.905" v="14809" actId="20577"/>
          <ac:spMkLst>
            <pc:docMk/>
            <pc:sldMk cId="2526800824" sldId="308"/>
            <ac:spMk id="5" creationId="{1EE99FF2-199C-4C86-400D-8E7C9012CBBC}"/>
          </ac:spMkLst>
        </pc:spChg>
      </pc:sldChg>
      <pc:sldChg chg="addSp delSp modSp new mod modClrScheme chgLayout modNotesTx">
        <pc:chgData name="Michael Wegelin" userId="44f55030-522d-4388-8c84-12427b5d3861" providerId="ADAL" clId="{0C4B0DB6-929A-4816-82F8-C5CA7CCA52CE}" dt="2026-08-10T08:44:40.709" v="14882" actId="27636"/>
        <pc:sldMkLst>
          <pc:docMk/>
          <pc:sldMk cId="1706218837" sldId="309"/>
        </pc:sldMkLst>
        <pc:spChg chg="mod ord">
          <ac:chgData name="Michael Wegelin" userId="44f55030-522d-4388-8c84-12427b5d3861" providerId="ADAL" clId="{0C4B0DB6-929A-4816-82F8-C5CA7CCA52CE}" dt="2026-08-10T08:43:31.108" v="14864" actId="700"/>
          <ac:spMkLst>
            <pc:docMk/>
            <pc:sldMk cId="1706218837" sldId="309"/>
            <ac:spMk id="2" creationId="{06863491-7B9E-5EC5-243C-7A95D7275C59}"/>
          </ac:spMkLst>
        </pc:spChg>
        <pc:spChg chg="del mod ord">
          <ac:chgData name="Michael Wegelin" userId="44f55030-522d-4388-8c84-12427b5d3861" providerId="ADAL" clId="{0C4B0DB6-929A-4816-82F8-C5CA7CCA52CE}" dt="2026-08-10T08:43:31.108" v="14864" actId="700"/>
          <ac:spMkLst>
            <pc:docMk/>
            <pc:sldMk cId="1706218837" sldId="309"/>
            <ac:spMk id="3" creationId="{72BCCC91-52CC-E67E-08C9-1BCD9D37875B}"/>
          </ac:spMkLst>
        </pc:spChg>
        <pc:spChg chg="del">
          <ac:chgData name="Michael Wegelin" userId="44f55030-522d-4388-8c84-12427b5d3861" providerId="ADAL" clId="{0C4B0DB6-929A-4816-82F8-C5CA7CCA52CE}" dt="2026-08-10T08:43:31.108" v="14864" actId="700"/>
          <ac:spMkLst>
            <pc:docMk/>
            <pc:sldMk cId="1706218837" sldId="309"/>
            <ac:spMk id="4" creationId="{2E2FC139-D81A-D05C-81FB-BE0A615436CE}"/>
          </ac:spMkLst>
        </pc:spChg>
        <pc:spChg chg="add mod ord">
          <ac:chgData name="Michael Wegelin" userId="44f55030-522d-4388-8c84-12427b5d3861" providerId="ADAL" clId="{0C4B0DB6-929A-4816-82F8-C5CA7CCA52CE}" dt="2026-08-10T08:44:40.709" v="14882" actId="27636"/>
          <ac:spMkLst>
            <pc:docMk/>
            <pc:sldMk cId="1706218837" sldId="309"/>
            <ac:spMk id="5" creationId="{747A7D91-D42D-B691-5490-4E8716DC6AC4}"/>
          </ac:spMkLst>
        </pc:spChg>
      </pc:sldChg>
      <pc:sldChg chg="addSp delSp modSp new del mod modNotesTx">
        <pc:chgData name="Michael Wegelin" userId="44f55030-522d-4388-8c84-12427b5d3861" providerId="ADAL" clId="{0C4B0DB6-929A-4816-82F8-C5CA7CCA52CE}" dt="2026-08-10T07:23:57.274" v="14006" actId="47"/>
        <pc:sldMkLst>
          <pc:docMk/>
          <pc:sldMk cId="3590692247" sldId="309"/>
        </pc:sldMkLst>
      </pc:sldChg>
      <pc:sldChg chg="addSp delSp modSp new del mod modClrScheme chgLayout modNotesTx">
        <pc:chgData name="Michael Wegelin" userId="44f55030-522d-4388-8c84-12427b5d3861" providerId="ADAL" clId="{0C4B0DB6-929A-4816-82F8-C5CA7CCA52CE}" dt="2026-08-10T07:23:57.753" v="14007" actId="47"/>
        <pc:sldMkLst>
          <pc:docMk/>
          <pc:sldMk cId="1000559714" sldId="310"/>
        </pc:sldMkLst>
      </pc:sldChg>
      <pc:sldChg chg="modSp new mod modNotesTx">
        <pc:chgData name="Michael Wegelin" userId="44f55030-522d-4388-8c84-12427b5d3861" providerId="ADAL" clId="{0C4B0DB6-929A-4816-82F8-C5CA7CCA52CE}" dt="2026-08-10T08:46:45.417" v="14901" actId="2711"/>
        <pc:sldMkLst>
          <pc:docMk/>
          <pc:sldMk cId="1712992591" sldId="310"/>
        </pc:sldMkLst>
        <pc:spChg chg="mod">
          <ac:chgData name="Michael Wegelin" userId="44f55030-522d-4388-8c84-12427b5d3861" providerId="ADAL" clId="{0C4B0DB6-929A-4816-82F8-C5CA7CCA52CE}" dt="2026-08-10T08:45:10.513" v="14884"/>
          <ac:spMkLst>
            <pc:docMk/>
            <pc:sldMk cId="1712992591" sldId="310"/>
            <ac:spMk id="2" creationId="{C2BDD0C4-A759-9681-D007-680F9A020B6D}"/>
          </ac:spMkLst>
        </pc:spChg>
        <pc:spChg chg="mod">
          <ac:chgData name="Michael Wegelin" userId="44f55030-522d-4388-8c84-12427b5d3861" providerId="ADAL" clId="{0C4B0DB6-929A-4816-82F8-C5CA7CCA52CE}" dt="2026-08-10T08:46:45.417" v="14901" actId="2711"/>
          <ac:spMkLst>
            <pc:docMk/>
            <pc:sldMk cId="1712992591" sldId="310"/>
            <ac:spMk id="3" creationId="{A1E8EAA1-5030-5239-29B4-C9FCB0C3D434}"/>
          </ac:spMkLst>
        </pc:spChg>
      </pc:sldChg>
      <pc:sldChg chg="modSp new mod modNotesTx">
        <pc:chgData name="Michael Wegelin" userId="44f55030-522d-4388-8c84-12427b5d3861" providerId="ADAL" clId="{0C4B0DB6-929A-4816-82F8-C5CA7CCA52CE}" dt="2026-08-10T08:49:25.796" v="14963" actId="13926"/>
        <pc:sldMkLst>
          <pc:docMk/>
          <pc:sldMk cId="1145613476" sldId="311"/>
        </pc:sldMkLst>
        <pc:spChg chg="mod">
          <ac:chgData name="Michael Wegelin" userId="44f55030-522d-4388-8c84-12427b5d3861" providerId="ADAL" clId="{0C4B0DB6-929A-4816-82F8-C5CA7CCA52CE}" dt="2026-08-10T08:47:17.315" v="14927" actId="20577"/>
          <ac:spMkLst>
            <pc:docMk/>
            <pc:sldMk cId="1145613476" sldId="311"/>
            <ac:spMk id="2" creationId="{EB2B317E-CE76-9182-C990-578DF5371C9C}"/>
          </ac:spMkLst>
        </pc:spChg>
        <pc:spChg chg="mod">
          <ac:chgData name="Michael Wegelin" userId="44f55030-522d-4388-8c84-12427b5d3861" providerId="ADAL" clId="{0C4B0DB6-929A-4816-82F8-C5CA7CCA52CE}" dt="2026-08-10T08:49:25.796" v="14963" actId="13926"/>
          <ac:spMkLst>
            <pc:docMk/>
            <pc:sldMk cId="1145613476" sldId="311"/>
            <ac:spMk id="3" creationId="{82AD3FAF-A602-44E1-5E49-447BD0D4F356}"/>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4215782900" sldId="311"/>
        </pc:sldMkLst>
      </pc:sldChg>
      <pc:sldChg chg="delSp modSp new del mod modClrScheme chgLayout modNotesTx">
        <pc:chgData name="Michael Wegelin" userId="44f55030-522d-4388-8c84-12427b5d3861" providerId="ADAL" clId="{0C4B0DB6-929A-4816-82F8-C5CA7CCA52CE}" dt="2026-08-10T07:24:05.818" v="14008" actId="47"/>
        <pc:sldMkLst>
          <pc:docMk/>
          <pc:sldMk cId="942489814" sldId="312"/>
        </pc:sldMkLst>
      </pc:sldChg>
      <pc:sldChg chg="addSp modSp new mod modNotesTx">
        <pc:chgData name="Michael Wegelin" userId="44f55030-522d-4388-8c84-12427b5d3861" providerId="ADAL" clId="{0C4B0DB6-929A-4816-82F8-C5CA7CCA52CE}" dt="2026-08-10T08:53:24.342" v="15075" actId="14734"/>
        <pc:sldMkLst>
          <pc:docMk/>
          <pc:sldMk cId="3628458173" sldId="312"/>
        </pc:sldMkLst>
        <pc:spChg chg="mod">
          <ac:chgData name="Michael Wegelin" userId="44f55030-522d-4388-8c84-12427b5d3861" providerId="ADAL" clId="{0C4B0DB6-929A-4816-82F8-C5CA7CCA52CE}" dt="2026-08-10T08:49:42.976" v="14965"/>
          <ac:spMkLst>
            <pc:docMk/>
            <pc:sldMk cId="3628458173" sldId="312"/>
            <ac:spMk id="2" creationId="{3ADB1288-4DCE-2D9A-0CD6-C62FA24E437D}"/>
          </ac:spMkLst>
        </pc:spChg>
        <pc:spChg chg="mod">
          <ac:chgData name="Michael Wegelin" userId="44f55030-522d-4388-8c84-12427b5d3861" providerId="ADAL" clId="{0C4B0DB6-929A-4816-82F8-C5CA7CCA52CE}" dt="2026-08-10T08:51:08.820" v="15007" actId="20577"/>
          <ac:spMkLst>
            <pc:docMk/>
            <pc:sldMk cId="3628458173" sldId="312"/>
            <ac:spMk id="3" creationId="{541D6F89-CCA6-A613-C18B-882A889AF747}"/>
          </ac:spMkLst>
        </pc:spChg>
        <pc:graphicFrameChg chg="add mod modGraphic">
          <ac:chgData name="Michael Wegelin" userId="44f55030-522d-4388-8c84-12427b5d3861" providerId="ADAL" clId="{0C4B0DB6-929A-4816-82F8-C5CA7CCA52CE}" dt="2026-08-10T08:53:24.342" v="15075" actId="14734"/>
          <ac:graphicFrameMkLst>
            <pc:docMk/>
            <pc:sldMk cId="3628458173" sldId="312"/>
            <ac:graphicFrameMk id="4" creationId="{1CE040BE-9C54-571B-4422-D24345A0D6E1}"/>
          </ac:graphicFrameMkLst>
        </pc:graphicFrameChg>
      </pc:sldChg>
      <pc:sldChg chg="addSp delSp modSp new del mod modClrScheme chgLayout modNotesTx">
        <pc:chgData name="Michael Wegelin" userId="44f55030-522d-4388-8c84-12427b5d3861" providerId="ADAL" clId="{0C4B0DB6-929A-4816-82F8-C5CA7CCA52CE}" dt="2026-08-10T07:24:05.818" v="14008" actId="47"/>
        <pc:sldMkLst>
          <pc:docMk/>
          <pc:sldMk cId="2877870535" sldId="313"/>
        </pc:sldMkLst>
      </pc:sldChg>
      <pc:sldChg chg="addSp delSp modSp new mod">
        <pc:chgData name="Michael Wegelin" userId="44f55030-522d-4388-8c84-12427b5d3861" providerId="ADAL" clId="{0C4B0DB6-929A-4816-82F8-C5CA7CCA52CE}" dt="2026-08-10T08:55:29.645" v="15092" actId="20577"/>
        <pc:sldMkLst>
          <pc:docMk/>
          <pc:sldMk cId="3610546121" sldId="313"/>
        </pc:sldMkLst>
        <pc:spChg chg="mod">
          <ac:chgData name="Michael Wegelin" userId="44f55030-522d-4388-8c84-12427b5d3861" providerId="ADAL" clId="{0C4B0DB6-929A-4816-82F8-C5CA7CCA52CE}" dt="2026-08-10T08:55:29.645" v="15092" actId="20577"/>
          <ac:spMkLst>
            <pc:docMk/>
            <pc:sldMk cId="3610546121" sldId="313"/>
            <ac:spMk id="2" creationId="{95C24494-EE5B-260F-0B65-A9C250E0550E}"/>
          </ac:spMkLst>
        </pc:spChg>
        <pc:spChg chg="del">
          <ac:chgData name="Michael Wegelin" userId="44f55030-522d-4388-8c84-12427b5d3861" providerId="ADAL" clId="{0C4B0DB6-929A-4816-82F8-C5CA7CCA52CE}" dt="2026-08-10T08:54:50.591" v="15078" actId="22"/>
          <ac:spMkLst>
            <pc:docMk/>
            <pc:sldMk cId="3610546121" sldId="313"/>
            <ac:spMk id="3" creationId="{3DCDC0B3-A48B-749D-27CD-AD5F4D9C5E9D}"/>
          </ac:spMkLst>
        </pc:spChg>
        <pc:picChg chg="add mod ord">
          <ac:chgData name="Michael Wegelin" userId="44f55030-522d-4388-8c84-12427b5d3861" providerId="ADAL" clId="{0C4B0DB6-929A-4816-82F8-C5CA7CCA52CE}" dt="2026-08-10T08:54:50.591" v="15078" actId="22"/>
          <ac:picMkLst>
            <pc:docMk/>
            <pc:sldMk cId="3610546121" sldId="313"/>
            <ac:picMk id="5" creationId="{3BCB94BA-07F1-EA56-3299-0DF2C43EB926}"/>
          </ac:picMkLst>
        </pc:picChg>
      </pc:sldChg>
      <pc:sldChg chg="modSp new mod modNotesTx">
        <pc:chgData name="Michael Wegelin" userId="44f55030-522d-4388-8c84-12427b5d3861" providerId="ADAL" clId="{0C4B0DB6-929A-4816-82F8-C5CA7CCA52CE}" dt="2026-08-10T08:58:36.738" v="15100" actId="5793"/>
        <pc:sldMkLst>
          <pc:docMk/>
          <pc:sldMk cId="316401924" sldId="314"/>
        </pc:sldMkLst>
        <pc:spChg chg="mod">
          <ac:chgData name="Michael Wegelin" userId="44f55030-522d-4388-8c84-12427b5d3861" providerId="ADAL" clId="{0C4B0DB6-929A-4816-82F8-C5CA7CCA52CE}" dt="2026-08-10T08:56:18.236" v="15093"/>
          <ac:spMkLst>
            <pc:docMk/>
            <pc:sldMk cId="316401924" sldId="314"/>
            <ac:spMk id="2" creationId="{5F898BD3-91ED-22DA-4DE6-8612FC973B7A}"/>
          </ac:spMkLst>
        </pc:spChg>
        <pc:spChg chg="mod">
          <ac:chgData name="Michael Wegelin" userId="44f55030-522d-4388-8c84-12427b5d3861" providerId="ADAL" clId="{0C4B0DB6-929A-4816-82F8-C5CA7CCA52CE}" dt="2026-08-10T08:58:36.738" v="15100" actId="5793"/>
          <ac:spMkLst>
            <pc:docMk/>
            <pc:sldMk cId="316401924" sldId="314"/>
            <ac:spMk id="3" creationId="{D91FC4B6-CF23-79D3-73ED-0587061F66CD}"/>
          </ac:spMkLst>
        </pc:spChg>
      </pc:sldChg>
      <pc:sldChg chg="addSp delSp modSp add del mod modNotesTx">
        <pc:chgData name="Michael Wegelin" userId="44f55030-522d-4388-8c84-12427b5d3861" providerId="ADAL" clId="{0C4B0DB6-929A-4816-82F8-C5CA7CCA52CE}" dt="2026-08-10T07:23:55.773" v="14003" actId="47"/>
        <pc:sldMkLst>
          <pc:docMk/>
          <pc:sldMk cId="2953263833" sldId="315"/>
        </pc:sldMkLst>
      </pc:sldChg>
      <pc:sldChg chg="modSp new mod modNotesTx">
        <pc:chgData name="Michael Wegelin" userId="44f55030-522d-4388-8c84-12427b5d3861" providerId="ADAL" clId="{0C4B0DB6-929A-4816-82F8-C5CA7CCA52CE}" dt="2026-08-10T09:02:39.786" v="15125" actId="207"/>
        <pc:sldMkLst>
          <pc:docMk/>
          <pc:sldMk cId="4238661724" sldId="315"/>
        </pc:sldMkLst>
        <pc:spChg chg="mod">
          <ac:chgData name="Michael Wegelin" userId="44f55030-522d-4388-8c84-12427b5d3861" providerId="ADAL" clId="{0C4B0DB6-929A-4816-82F8-C5CA7CCA52CE}" dt="2026-08-10T09:00:30.412" v="15106"/>
          <ac:spMkLst>
            <pc:docMk/>
            <pc:sldMk cId="4238661724" sldId="315"/>
            <ac:spMk id="2" creationId="{A27A6A17-58D7-F3CB-BFD3-48127599315A}"/>
          </ac:spMkLst>
        </pc:spChg>
        <pc:spChg chg="mod">
          <ac:chgData name="Michael Wegelin" userId="44f55030-522d-4388-8c84-12427b5d3861" providerId="ADAL" clId="{0C4B0DB6-929A-4816-82F8-C5CA7CCA52CE}" dt="2026-08-10T09:02:39.786" v="15125" actId="207"/>
          <ac:spMkLst>
            <pc:docMk/>
            <pc:sldMk cId="4238661724" sldId="315"/>
            <ac:spMk id="3" creationId="{D0AD6D9F-104D-BB2E-B08C-322418E0E2A4}"/>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3918775705" sldId="316"/>
        </pc:sldMkLst>
      </pc:sldChg>
      <pc:sldChg chg="modSp new mod modNotesTx">
        <pc:chgData name="Michael Wegelin" userId="44f55030-522d-4388-8c84-12427b5d3861" providerId="ADAL" clId="{0C4B0DB6-929A-4816-82F8-C5CA7CCA52CE}" dt="2026-08-10T09:05:12.947" v="15166" actId="207"/>
        <pc:sldMkLst>
          <pc:docMk/>
          <pc:sldMk cId="3941829136" sldId="316"/>
        </pc:sldMkLst>
        <pc:spChg chg="mod">
          <ac:chgData name="Michael Wegelin" userId="44f55030-522d-4388-8c84-12427b5d3861" providerId="ADAL" clId="{0C4B0DB6-929A-4816-82F8-C5CA7CCA52CE}" dt="2026-08-10T09:02:54.995" v="15126"/>
          <ac:spMkLst>
            <pc:docMk/>
            <pc:sldMk cId="3941829136" sldId="316"/>
            <ac:spMk id="2" creationId="{440C5BC5-6473-7F9B-75FA-E2B9764D33C5}"/>
          </ac:spMkLst>
        </pc:spChg>
        <pc:spChg chg="mod">
          <ac:chgData name="Michael Wegelin" userId="44f55030-522d-4388-8c84-12427b5d3861" providerId="ADAL" clId="{0C4B0DB6-929A-4816-82F8-C5CA7CCA52CE}" dt="2026-08-10T09:05:12.947" v="15166" actId="207"/>
          <ac:spMkLst>
            <pc:docMk/>
            <pc:sldMk cId="3941829136" sldId="316"/>
            <ac:spMk id="3" creationId="{BB234749-5CC1-5CC0-83C2-A33D66F69135}"/>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564526553" sldId="317"/>
        </pc:sldMkLst>
      </pc:sldChg>
      <pc:sldChg chg="addSp modSp new mod modClrScheme chgLayout modNotesTx">
        <pc:chgData name="Michael Wegelin" userId="44f55030-522d-4388-8c84-12427b5d3861" providerId="ADAL" clId="{0C4B0DB6-929A-4816-82F8-C5CA7CCA52CE}" dt="2026-08-10T09:09:11.805" v="15198" actId="20577"/>
        <pc:sldMkLst>
          <pc:docMk/>
          <pc:sldMk cId="3840686079" sldId="317"/>
        </pc:sldMkLst>
        <pc:spChg chg="mod ord">
          <ac:chgData name="Michael Wegelin" userId="44f55030-522d-4388-8c84-12427b5d3861" providerId="ADAL" clId="{0C4B0DB6-929A-4816-82F8-C5CA7CCA52CE}" dt="2026-08-10T09:07:53.312" v="15179" actId="700"/>
          <ac:spMkLst>
            <pc:docMk/>
            <pc:sldMk cId="3840686079" sldId="317"/>
            <ac:spMk id="2" creationId="{450EE308-CD5D-D1E4-1D90-B3DB1F923C63}"/>
          </ac:spMkLst>
        </pc:spChg>
        <pc:spChg chg="mod ord">
          <ac:chgData name="Michael Wegelin" userId="44f55030-522d-4388-8c84-12427b5d3861" providerId="ADAL" clId="{0C4B0DB6-929A-4816-82F8-C5CA7CCA52CE}" dt="2026-08-10T09:09:11.805" v="15198" actId="20577"/>
          <ac:spMkLst>
            <pc:docMk/>
            <pc:sldMk cId="3840686079" sldId="317"/>
            <ac:spMk id="3" creationId="{5B0FA3D9-9CDE-C627-411A-7C42362E1DFA}"/>
          </ac:spMkLst>
        </pc:spChg>
        <pc:spChg chg="add mod ord">
          <ac:chgData name="Michael Wegelin" userId="44f55030-522d-4388-8c84-12427b5d3861" providerId="ADAL" clId="{0C4B0DB6-929A-4816-82F8-C5CA7CCA52CE}" dt="2026-08-10T09:08:47.538" v="15195" actId="27636"/>
          <ac:spMkLst>
            <pc:docMk/>
            <pc:sldMk cId="3840686079" sldId="317"/>
            <ac:spMk id="4" creationId="{C0D971E8-EE41-84D7-619B-D7442DE8CC3F}"/>
          </ac:spMkLst>
        </pc:spChg>
      </pc:sldChg>
      <pc:sldChg chg="addSp delSp modSp new del mod modNotesTx">
        <pc:chgData name="Michael Wegelin" userId="44f55030-522d-4388-8c84-12427b5d3861" providerId="ADAL" clId="{0C4B0DB6-929A-4816-82F8-C5CA7CCA52CE}" dt="2026-08-10T07:24:05.818" v="14008" actId="47"/>
        <pc:sldMkLst>
          <pc:docMk/>
          <pc:sldMk cId="3083365034" sldId="318"/>
        </pc:sldMkLst>
      </pc:sldChg>
      <pc:sldChg chg="modSp new mod modNotesTx">
        <pc:chgData name="Michael Wegelin" userId="44f55030-522d-4388-8c84-12427b5d3861" providerId="ADAL" clId="{0C4B0DB6-929A-4816-82F8-C5CA7CCA52CE}" dt="2026-08-10T09:10:53.259" v="15216" actId="20577"/>
        <pc:sldMkLst>
          <pc:docMk/>
          <pc:sldMk cId="3274042602" sldId="318"/>
        </pc:sldMkLst>
        <pc:spChg chg="mod">
          <ac:chgData name="Michael Wegelin" userId="44f55030-522d-4388-8c84-12427b5d3861" providerId="ADAL" clId="{0C4B0DB6-929A-4816-82F8-C5CA7CCA52CE}" dt="2026-08-10T09:09:38.749" v="15199"/>
          <ac:spMkLst>
            <pc:docMk/>
            <pc:sldMk cId="3274042602" sldId="318"/>
            <ac:spMk id="2" creationId="{FB34ECE9-7CB9-F8B8-7049-02F34AF5EAD6}"/>
          </ac:spMkLst>
        </pc:spChg>
        <pc:spChg chg="mod">
          <ac:chgData name="Michael Wegelin" userId="44f55030-522d-4388-8c84-12427b5d3861" providerId="ADAL" clId="{0C4B0DB6-929A-4816-82F8-C5CA7CCA52CE}" dt="2026-08-10T09:10:24.797" v="15212" actId="6549"/>
          <ac:spMkLst>
            <pc:docMk/>
            <pc:sldMk cId="3274042602" sldId="318"/>
            <ac:spMk id="3" creationId="{394D8EE7-9A66-D1FF-C09F-2EC2DB8C5D9D}"/>
          </ac:spMkLst>
        </pc:spChg>
      </pc:sldChg>
      <pc:sldChg chg="addSp delSp modSp new mod modClrScheme chgLayout">
        <pc:chgData name="Michael Wegelin" userId="44f55030-522d-4388-8c84-12427b5d3861" providerId="ADAL" clId="{0C4B0DB6-929A-4816-82F8-C5CA7CCA52CE}" dt="2026-08-10T09:14:41.437" v="15246" actId="20577"/>
        <pc:sldMkLst>
          <pc:docMk/>
          <pc:sldMk cId="2324986770" sldId="319"/>
        </pc:sldMkLst>
        <pc:spChg chg="del mod ord">
          <ac:chgData name="Michael Wegelin" userId="44f55030-522d-4388-8c84-12427b5d3861" providerId="ADAL" clId="{0C4B0DB6-929A-4816-82F8-C5CA7CCA52CE}" dt="2026-08-10T09:12:53.757" v="15217" actId="700"/>
          <ac:spMkLst>
            <pc:docMk/>
            <pc:sldMk cId="2324986770" sldId="319"/>
            <ac:spMk id="2" creationId="{151CDE76-E249-86B7-9E8B-FAC9570D76B5}"/>
          </ac:spMkLst>
        </pc:spChg>
        <pc:spChg chg="del mod ord">
          <ac:chgData name="Michael Wegelin" userId="44f55030-522d-4388-8c84-12427b5d3861" providerId="ADAL" clId="{0C4B0DB6-929A-4816-82F8-C5CA7CCA52CE}" dt="2026-08-10T09:12:53.757" v="15217" actId="700"/>
          <ac:spMkLst>
            <pc:docMk/>
            <pc:sldMk cId="2324986770" sldId="319"/>
            <ac:spMk id="3" creationId="{2A68099A-9D13-802E-0400-C626CDA0019D}"/>
          </ac:spMkLst>
        </pc:spChg>
        <pc:spChg chg="add mod ord">
          <ac:chgData name="Michael Wegelin" userId="44f55030-522d-4388-8c84-12427b5d3861" providerId="ADAL" clId="{0C4B0DB6-929A-4816-82F8-C5CA7CCA52CE}" dt="2026-08-10T09:14:41.437" v="15246" actId="20577"/>
          <ac:spMkLst>
            <pc:docMk/>
            <pc:sldMk cId="2324986770" sldId="319"/>
            <ac:spMk id="4" creationId="{DBA93BBA-E749-5E58-FCEF-D85B3F2F845B}"/>
          </ac:spMkLst>
        </pc:spChg>
        <pc:spChg chg="add del mod ord">
          <ac:chgData name="Michael Wegelin" userId="44f55030-522d-4388-8c84-12427b5d3861" providerId="ADAL" clId="{0C4B0DB6-929A-4816-82F8-C5CA7CCA52CE}" dt="2026-08-10T09:12:57.528" v="15218" actId="22"/>
          <ac:spMkLst>
            <pc:docMk/>
            <pc:sldMk cId="2324986770" sldId="319"/>
            <ac:spMk id="5" creationId="{78458633-32F4-19A9-77AD-E9E73A7B73B5}"/>
          </ac:spMkLst>
        </pc:spChg>
        <pc:spChg chg="add del mod ord">
          <ac:chgData name="Michael Wegelin" userId="44f55030-522d-4388-8c84-12427b5d3861" providerId="ADAL" clId="{0C4B0DB6-929A-4816-82F8-C5CA7CCA52CE}" dt="2026-08-10T09:14:14.609" v="15221" actId="22"/>
          <ac:spMkLst>
            <pc:docMk/>
            <pc:sldMk cId="2324986770" sldId="319"/>
            <ac:spMk id="6" creationId="{FA690544-C0B7-3325-1915-6143E77F2FD7}"/>
          </ac:spMkLst>
        </pc:spChg>
        <pc:spChg chg="add del mod">
          <ac:chgData name="Michael Wegelin" userId="44f55030-522d-4388-8c84-12427b5d3861" providerId="ADAL" clId="{0C4B0DB6-929A-4816-82F8-C5CA7CCA52CE}" dt="2026-08-10T09:13:30.446" v="15220" actId="22"/>
          <ac:spMkLst>
            <pc:docMk/>
            <pc:sldMk cId="2324986770" sldId="319"/>
            <ac:spMk id="10" creationId="{7FD27B9E-21E6-D20E-9F1B-786B412BC27D}"/>
          </ac:spMkLst>
        </pc:spChg>
        <pc:picChg chg="add del mod ord">
          <ac:chgData name="Michael Wegelin" userId="44f55030-522d-4388-8c84-12427b5d3861" providerId="ADAL" clId="{0C4B0DB6-929A-4816-82F8-C5CA7CCA52CE}" dt="2026-08-10T09:13:08.046" v="15219" actId="478"/>
          <ac:picMkLst>
            <pc:docMk/>
            <pc:sldMk cId="2324986770" sldId="319"/>
            <ac:picMk id="8" creationId="{126E5D63-1FB3-E8EB-F35E-95A76F5F386D}"/>
          </ac:picMkLst>
        </pc:picChg>
        <pc:picChg chg="add mod ord">
          <ac:chgData name="Michael Wegelin" userId="44f55030-522d-4388-8c84-12427b5d3861" providerId="ADAL" clId="{0C4B0DB6-929A-4816-82F8-C5CA7CCA52CE}" dt="2026-08-10T09:14:26.745" v="15222" actId="14100"/>
          <ac:picMkLst>
            <pc:docMk/>
            <pc:sldMk cId="2324986770" sldId="319"/>
            <ac:picMk id="12" creationId="{C47AF919-7291-A806-DD04-B7460EE660FB}"/>
          </ac:picMkLst>
        </pc:picChg>
        <pc:picChg chg="add mod ord">
          <ac:chgData name="Michael Wegelin" userId="44f55030-522d-4388-8c84-12427b5d3861" providerId="ADAL" clId="{0C4B0DB6-929A-4816-82F8-C5CA7CCA52CE}" dt="2026-08-10T09:14:14.609" v="15221" actId="22"/>
          <ac:picMkLst>
            <pc:docMk/>
            <pc:sldMk cId="2324986770" sldId="319"/>
            <ac:picMk id="14" creationId="{EC6C609B-7FA7-BE28-D9D6-DDD22B654441}"/>
          </ac:picMkLst>
        </pc:picChg>
      </pc:sldChg>
      <pc:sldChg chg="modSp new del mod modNotesTx">
        <pc:chgData name="Michael Wegelin" userId="44f55030-522d-4388-8c84-12427b5d3861" providerId="ADAL" clId="{0C4B0DB6-929A-4816-82F8-C5CA7CCA52CE}" dt="2026-08-10T07:24:05.818" v="14008" actId="47"/>
        <pc:sldMkLst>
          <pc:docMk/>
          <pc:sldMk cId="3722143606" sldId="319"/>
        </pc:sldMkLst>
      </pc:sldChg>
      <pc:sldChg chg="addSp delSp modSp new mod modClrScheme chgLayout modNotesTx">
        <pc:chgData name="Michael Wegelin" userId="44f55030-522d-4388-8c84-12427b5d3861" providerId="ADAL" clId="{0C4B0DB6-929A-4816-82F8-C5CA7CCA52CE}" dt="2026-08-10T09:16:53.492" v="15256" actId="5793"/>
        <pc:sldMkLst>
          <pc:docMk/>
          <pc:sldMk cId="1087535187" sldId="320"/>
        </pc:sldMkLst>
        <pc:spChg chg="mod ord">
          <ac:chgData name="Michael Wegelin" userId="44f55030-522d-4388-8c84-12427b5d3861" providerId="ADAL" clId="{0C4B0DB6-929A-4816-82F8-C5CA7CCA52CE}" dt="2026-08-10T09:16:48.744" v="15254" actId="700"/>
          <ac:spMkLst>
            <pc:docMk/>
            <pc:sldMk cId="1087535187" sldId="320"/>
            <ac:spMk id="2" creationId="{E023A42B-B134-A22D-D9E0-874CE47C024C}"/>
          </ac:spMkLst>
        </pc:spChg>
        <pc:spChg chg="del mod ord">
          <ac:chgData name="Michael Wegelin" userId="44f55030-522d-4388-8c84-12427b5d3861" providerId="ADAL" clId="{0C4B0DB6-929A-4816-82F8-C5CA7CCA52CE}" dt="2026-08-10T09:16:48.744" v="15254" actId="700"/>
          <ac:spMkLst>
            <pc:docMk/>
            <pc:sldMk cId="1087535187" sldId="320"/>
            <ac:spMk id="3" creationId="{DF737100-0D2F-77E9-AF4A-2355B545C00A}"/>
          </ac:spMkLst>
        </pc:spChg>
        <pc:spChg chg="del">
          <ac:chgData name="Michael Wegelin" userId="44f55030-522d-4388-8c84-12427b5d3861" providerId="ADAL" clId="{0C4B0DB6-929A-4816-82F8-C5CA7CCA52CE}" dt="2026-08-10T09:16:48.744" v="15254" actId="700"/>
          <ac:spMkLst>
            <pc:docMk/>
            <pc:sldMk cId="1087535187" sldId="320"/>
            <ac:spMk id="4" creationId="{0288BAC8-5B2D-2C19-062F-4721CD59A0E2}"/>
          </ac:spMkLst>
        </pc:spChg>
        <pc:spChg chg="add mod ord">
          <ac:chgData name="Michael Wegelin" userId="44f55030-522d-4388-8c84-12427b5d3861" providerId="ADAL" clId="{0C4B0DB6-929A-4816-82F8-C5CA7CCA52CE}" dt="2026-08-10T09:16:53.492" v="15256" actId="5793"/>
          <ac:spMkLst>
            <pc:docMk/>
            <pc:sldMk cId="1087535187" sldId="320"/>
            <ac:spMk id="5" creationId="{4F048D65-20DF-2FAC-E5A0-569BE7E8F76E}"/>
          </ac:spMkLst>
        </pc:spChg>
      </pc:sldChg>
      <pc:sldChg chg="modSp new del mod modNotesTx">
        <pc:chgData name="Michael Wegelin" userId="44f55030-522d-4388-8c84-12427b5d3861" providerId="ADAL" clId="{0C4B0DB6-929A-4816-82F8-C5CA7CCA52CE}" dt="2026-08-10T07:24:05.818" v="14008" actId="47"/>
        <pc:sldMkLst>
          <pc:docMk/>
          <pc:sldMk cId="3824499322" sldId="320"/>
        </pc:sldMkLst>
      </pc:sldChg>
      <pc:sldChg chg="addSp modSp new mod modNotesTx">
        <pc:chgData name="Michael Wegelin" userId="44f55030-522d-4388-8c84-12427b5d3861" providerId="ADAL" clId="{0C4B0DB6-929A-4816-82F8-C5CA7CCA52CE}" dt="2026-08-10T09:28:34.949" v="15462" actId="13926"/>
        <pc:sldMkLst>
          <pc:docMk/>
          <pc:sldMk cId="553407719" sldId="321"/>
        </pc:sldMkLst>
        <pc:spChg chg="mod">
          <ac:chgData name="Michael Wegelin" userId="44f55030-522d-4388-8c84-12427b5d3861" providerId="ADAL" clId="{0C4B0DB6-929A-4816-82F8-C5CA7CCA52CE}" dt="2026-08-10T09:21:16.733" v="15264"/>
          <ac:spMkLst>
            <pc:docMk/>
            <pc:sldMk cId="553407719" sldId="321"/>
            <ac:spMk id="2" creationId="{9813F467-9F5E-34AF-D810-1DFEC336B197}"/>
          </ac:spMkLst>
        </pc:spChg>
        <pc:spChg chg="mod">
          <ac:chgData name="Michael Wegelin" userId="44f55030-522d-4388-8c84-12427b5d3861" providerId="ADAL" clId="{0C4B0DB6-929A-4816-82F8-C5CA7CCA52CE}" dt="2026-08-10T09:25:56.489" v="15363" actId="6549"/>
          <ac:spMkLst>
            <pc:docMk/>
            <pc:sldMk cId="553407719" sldId="321"/>
            <ac:spMk id="3" creationId="{AB60FB1B-EFCA-CBE5-0F50-A22CE1CF3A95}"/>
          </ac:spMkLst>
        </pc:spChg>
        <pc:spChg chg="add mod">
          <ac:chgData name="Michael Wegelin" userId="44f55030-522d-4388-8c84-12427b5d3861" providerId="ADAL" clId="{0C4B0DB6-929A-4816-82F8-C5CA7CCA52CE}" dt="2026-08-10T09:28:34.949" v="15462" actId="13926"/>
          <ac:spMkLst>
            <pc:docMk/>
            <pc:sldMk cId="553407719" sldId="321"/>
            <ac:spMk id="7" creationId="{20C17AA2-CEE3-1497-2887-1CEB18AF9E4E}"/>
          </ac:spMkLst>
        </pc:spChg>
        <pc:graphicFrameChg chg="add mod modGraphic">
          <ac:chgData name="Michael Wegelin" userId="44f55030-522d-4388-8c84-12427b5d3861" providerId="ADAL" clId="{0C4B0DB6-929A-4816-82F8-C5CA7CCA52CE}" dt="2026-08-10T09:25:53.493" v="15362" actId="2165"/>
          <ac:graphicFrameMkLst>
            <pc:docMk/>
            <pc:sldMk cId="553407719" sldId="321"/>
            <ac:graphicFrameMk id="4" creationId="{05EF56B7-4ED4-786A-4A01-F0BC25CB1F8D}"/>
          </ac:graphicFrameMkLst>
        </pc:graphicFrameChg>
        <pc:graphicFrameChg chg="add mod modGraphic">
          <ac:chgData name="Michael Wegelin" userId="44f55030-522d-4388-8c84-12427b5d3861" providerId="ADAL" clId="{0C4B0DB6-929A-4816-82F8-C5CA7CCA52CE}" dt="2026-08-10T09:27:59.621" v="15455" actId="14734"/>
          <ac:graphicFrameMkLst>
            <pc:docMk/>
            <pc:sldMk cId="553407719" sldId="321"/>
            <ac:graphicFrameMk id="5" creationId="{56E44BA9-6ED8-1EF7-CEA5-25A2D32BAF18}"/>
          </ac:graphicFrameMkLst>
        </pc:graphicFrameChg>
      </pc:sldChg>
      <pc:sldChg chg="addSp delSp modSp new del mod modNotesTx">
        <pc:chgData name="Michael Wegelin" userId="44f55030-522d-4388-8c84-12427b5d3861" providerId="ADAL" clId="{0C4B0DB6-929A-4816-82F8-C5CA7CCA52CE}" dt="2026-08-10T07:24:05.818" v="14008" actId="47"/>
        <pc:sldMkLst>
          <pc:docMk/>
          <pc:sldMk cId="2314962445" sldId="321"/>
        </pc:sldMkLst>
      </pc:sldChg>
      <pc:sldChg chg="addSp modSp new mod modNotesTx">
        <pc:chgData name="Michael Wegelin" userId="44f55030-522d-4388-8c84-12427b5d3861" providerId="ADAL" clId="{0C4B0DB6-929A-4816-82F8-C5CA7CCA52CE}" dt="2026-08-10T09:33:21.661" v="15535" actId="404"/>
        <pc:sldMkLst>
          <pc:docMk/>
          <pc:sldMk cId="727698569" sldId="322"/>
        </pc:sldMkLst>
        <pc:spChg chg="mod">
          <ac:chgData name="Michael Wegelin" userId="44f55030-522d-4388-8c84-12427b5d3861" providerId="ADAL" clId="{0C4B0DB6-929A-4816-82F8-C5CA7CCA52CE}" dt="2026-08-10T09:29:01.804" v="15464" actId="2711"/>
          <ac:spMkLst>
            <pc:docMk/>
            <pc:sldMk cId="727698569" sldId="322"/>
            <ac:spMk id="2" creationId="{10FC8A6E-6EC6-E500-5D3D-3E564064C1D4}"/>
          </ac:spMkLst>
        </pc:spChg>
        <pc:spChg chg="mod">
          <ac:chgData name="Michael Wegelin" userId="44f55030-522d-4388-8c84-12427b5d3861" providerId="ADAL" clId="{0C4B0DB6-929A-4816-82F8-C5CA7CCA52CE}" dt="2026-08-10T09:32:06.564" v="15526"/>
          <ac:spMkLst>
            <pc:docMk/>
            <pc:sldMk cId="727698569" sldId="322"/>
            <ac:spMk id="3" creationId="{911A7171-FD44-3F46-5EAD-93A87010B163}"/>
          </ac:spMkLst>
        </pc:spChg>
        <pc:spChg chg="add mod">
          <ac:chgData name="Michael Wegelin" userId="44f55030-522d-4388-8c84-12427b5d3861" providerId="ADAL" clId="{0C4B0DB6-929A-4816-82F8-C5CA7CCA52CE}" dt="2026-08-10T09:33:21.661" v="15535" actId="404"/>
          <ac:spMkLst>
            <pc:docMk/>
            <pc:sldMk cId="727698569" sldId="322"/>
            <ac:spMk id="5" creationId="{A31F9571-7BE3-F5DD-8A13-4F5E7E81F138}"/>
          </ac:spMkLst>
        </pc:spChg>
      </pc:sldChg>
      <pc:sldChg chg="modSp new del mod modNotesTx">
        <pc:chgData name="Michael Wegelin" userId="44f55030-522d-4388-8c84-12427b5d3861" providerId="ADAL" clId="{0C4B0DB6-929A-4816-82F8-C5CA7CCA52CE}" dt="2026-08-10T07:24:05.818" v="14008" actId="47"/>
        <pc:sldMkLst>
          <pc:docMk/>
          <pc:sldMk cId="3911283029" sldId="322"/>
        </pc:sldMkLst>
      </pc:sldChg>
      <pc:sldChg chg="modSp new del mod modNotesTx">
        <pc:chgData name="Michael Wegelin" userId="44f55030-522d-4388-8c84-12427b5d3861" providerId="ADAL" clId="{0C4B0DB6-929A-4816-82F8-C5CA7CCA52CE}" dt="2026-08-10T07:24:05.818" v="14008" actId="47"/>
        <pc:sldMkLst>
          <pc:docMk/>
          <pc:sldMk cId="303445976" sldId="323"/>
        </pc:sldMkLst>
      </pc:sldChg>
      <pc:sldChg chg="addSp modSp new mod modNotesTx">
        <pc:chgData name="Michael Wegelin" userId="44f55030-522d-4388-8c84-12427b5d3861" providerId="ADAL" clId="{0C4B0DB6-929A-4816-82F8-C5CA7CCA52CE}" dt="2026-08-10T09:41:32.879" v="15586" actId="255"/>
        <pc:sldMkLst>
          <pc:docMk/>
          <pc:sldMk cId="1487480560" sldId="323"/>
        </pc:sldMkLst>
        <pc:spChg chg="mod">
          <ac:chgData name="Michael Wegelin" userId="44f55030-522d-4388-8c84-12427b5d3861" providerId="ADAL" clId="{0C4B0DB6-929A-4816-82F8-C5CA7CCA52CE}" dt="2026-08-10T09:35:59.616" v="15562"/>
          <ac:spMkLst>
            <pc:docMk/>
            <pc:sldMk cId="1487480560" sldId="323"/>
            <ac:spMk id="2" creationId="{08FB606F-D5E3-AE90-CC32-A9EADFC86CF1}"/>
          </ac:spMkLst>
        </pc:spChg>
        <pc:spChg chg="mod">
          <ac:chgData name="Michael Wegelin" userId="44f55030-522d-4388-8c84-12427b5d3861" providerId="ADAL" clId="{0C4B0DB6-929A-4816-82F8-C5CA7CCA52CE}" dt="2026-08-10T09:40:28.386" v="15575" actId="15"/>
          <ac:spMkLst>
            <pc:docMk/>
            <pc:sldMk cId="1487480560" sldId="323"/>
            <ac:spMk id="3" creationId="{33A4B4F8-3779-7231-7033-4BFB2FDBFFA7}"/>
          </ac:spMkLst>
        </pc:spChg>
        <pc:spChg chg="add mod">
          <ac:chgData name="Michael Wegelin" userId="44f55030-522d-4388-8c84-12427b5d3861" providerId="ADAL" clId="{0C4B0DB6-929A-4816-82F8-C5CA7CCA52CE}" dt="2026-08-10T09:41:32.879" v="15586" actId="255"/>
          <ac:spMkLst>
            <pc:docMk/>
            <pc:sldMk cId="1487480560" sldId="323"/>
            <ac:spMk id="5" creationId="{F59D593C-5283-C226-3E56-BED5BFF8E026}"/>
          </ac:spMkLst>
        </pc:spChg>
      </pc:sldChg>
      <pc:sldChg chg="modSp new del mod modNotesTx">
        <pc:chgData name="Michael Wegelin" userId="44f55030-522d-4388-8c84-12427b5d3861" providerId="ADAL" clId="{0C4B0DB6-929A-4816-82F8-C5CA7CCA52CE}" dt="2026-08-10T07:24:05.818" v="14008" actId="47"/>
        <pc:sldMkLst>
          <pc:docMk/>
          <pc:sldMk cId="1024400351" sldId="324"/>
        </pc:sldMkLst>
      </pc:sldChg>
      <pc:sldChg chg="addSp modSp new mod ord modNotesTx">
        <pc:chgData name="Michael Wegelin" userId="44f55030-522d-4388-8c84-12427b5d3861" providerId="ADAL" clId="{0C4B0DB6-929A-4816-82F8-C5CA7CCA52CE}" dt="2026-08-10T09:35:41.611" v="15561" actId="13926"/>
        <pc:sldMkLst>
          <pc:docMk/>
          <pc:sldMk cId="2413763748" sldId="324"/>
        </pc:sldMkLst>
        <pc:spChg chg="mod">
          <ac:chgData name="Michael Wegelin" userId="44f55030-522d-4388-8c84-12427b5d3861" providerId="ADAL" clId="{0C4B0DB6-929A-4816-82F8-C5CA7CCA52CE}" dt="2026-08-10T09:32:38.669" v="15527"/>
          <ac:spMkLst>
            <pc:docMk/>
            <pc:sldMk cId="2413763748" sldId="324"/>
            <ac:spMk id="2" creationId="{DBCD726D-D7BE-BCEE-AF20-8C5A8485A024}"/>
          </ac:spMkLst>
        </pc:spChg>
        <pc:spChg chg="mod">
          <ac:chgData name="Michael Wegelin" userId="44f55030-522d-4388-8c84-12427b5d3861" providerId="ADAL" clId="{0C4B0DB6-929A-4816-82F8-C5CA7CCA52CE}" dt="2026-08-10T09:35:14.292" v="15555" actId="20577"/>
          <ac:spMkLst>
            <pc:docMk/>
            <pc:sldMk cId="2413763748" sldId="324"/>
            <ac:spMk id="3" creationId="{98C2DF1E-F4BA-D04F-8463-10103888B430}"/>
          </ac:spMkLst>
        </pc:spChg>
        <pc:spChg chg="add mod">
          <ac:chgData name="Michael Wegelin" userId="44f55030-522d-4388-8c84-12427b5d3861" providerId="ADAL" clId="{0C4B0DB6-929A-4816-82F8-C5CA7CCA52CE}" dt="2026-08-10T09:35:41.611" v="15561" actId="13926"/>
          <ac:spMkLst>
            <pc:docMk/>
            <pc:sldMk cId="2413763748" sldId="324"/>
            <ac:spMk id="5" creationId="{44E1D478-03D2-A6B1-B5D2-DB7951329D31}"/>
          </ac:spMkLst>
        </pc:spChg>
      </pc:sldChg>
      <pc:sldChg chg="modSp new mod modNotesTx">
        <pc:chgData name="Michael Wegelin" userId="44f55030-522d-4388-8c84-12427b5d3861" providerId="ADAL" clId="{0C4B0DB6-929A-4816-82F8-C5CA7CCA52CE}" dt="2026-08-10T09:43:35.508" v="15603" actId="2711"/>
        <pc:sldMkLst>
          <pc:docMk/>
          <pc:sldMk cId="1021498145" sldId="325"/>
        </pc:sldMkLst>
        <pc:spChg chg="mod">
          <ac:chgData name="Michael Wegelin" userId="44f55030-522d-4388-8c84-12427b5d3861" providerId="ADAL" clId="{0C4B0DB6-929A-4816-82F8-C5CA7CCA52CE}" dt="2026-08-10T09:41:55.710" v="15588"/>
          <ac:spMkLst>
            <pc:docMk/>
            <pc:sldMk cId="1021498145" sldId="325"/>
            <ac:spMk id="2" creationId="{8989311E-5178-FF33-0B0F-D9BB26234B24}"/>
          </ac:spMkLst>
        </pc:spChg>
        <pc:spChg chg="mod">
          <ac:chgData name="Michael Wegelin" userId="44f55030-522d-4388-8c84-12427b5d3861" providerId="ADAL" clId="{0C4B0DB6-929A-4816-82F8-C5CA7CCA52CE}" dt="2026-08-10T09:43:35.508" v="15603" actId="2711"/>
          <ac:spMkLst>
            <pc:docMk/>
            <pc:sldMk cId="1021498145" sldId="325"/>
            <ac:spMk id="3" creationId="{84316822-1241-11A3-448C-9DD509FC9FD0}"/>
          </ac:spMkLst>
        </pc:spChg>
      </pc:sldChg>
      <pc:sldChg chg="addSp modSp new del mod modNotesTx">
        <pc:chgData name="Michael Wegelin" userId="44f55030-522d-4388-8c84-12427b5d3861" providerId="ADAL" clId="{0C4B0DB6-929A-4816-82F8-C5CA7CCA52CE}" dt="2026-08-10T07:24:05.818" v="14008" actId="47"/>
        <pc:sldMkLst>
          <pc:docMk/>
          <pc:sldMk cId="3056736286" sldId="325"/>
        </pc:sldMkLst>
      </pc:sldChg>
      <pc:sldChg chg="addSp delSp modSp new del mod modClrScheme chgLayout modNotesTx">
        <pc:chgData name="Michael Wegelin" userId="44f55030-522d-4388-8c84-12427b5d3861" providerId="ADAL" clId="{0C4B0DB6-929A-4816-82F8-C5CA7CCA52CE}" dt="2026-08-10T07:24:05.818" v="14008" actId="47"/>
        <pc:sldMkLst>
          <pc:docMk/>
          <pc:sldMk cId="1061056418" sldId="326"/>
        </pc:sldMkLst>
      </pc:sldChg>
      <pc:sldChg chg="addSp modSp new mod modClrScheme chgLayout">
        <pc:chgData name="Michael Wegelin" userId="44f55030-522d-4388-8c84-12427b5d3861" providerId="ADAL" clId="{0C4B0DB6-929A-4816-82F8-C5CA7CCA52CE}" dt="2026-08-10T09:46:35.264" v="15671" actId="2711"/>
        <pc:sldMkLst>
          <pc:docMk/>
          <pc:sldMk cId="2586359284" sldId="326"/>
        </pc:sldMkLst>
        <pc:spChg chg="mod ord">
          <ac:chgData name="Michael Wegelin" userId="44f55030-522d-4388-8c84-12427b5d3861" providerId="ADAL" clId="{0C4B0DB6-929A-4816-82F8-C5CA7CCA52CE}" dt="2026-08-10T09:45:55.316" v="15658" actId="700"/>
          <ac:spMkLst>
            <pc:docMk/>
            <pc:sldMk cId="2586359284" sldId="326"/>
            <ac:spMk id="2" creationId="{02AF5DF2-0FCF-48F0-E348-505CD5B0B37B}"/>
          </ac:spMkLst>
        </pc:spChg>
        <pc:spChg chg="mod ord">
          <ac:chgData name="Michael Wegelin" userId="44f55030-522d-4388-8c84-12427b5d3861" providerId="ADAL" clId="{0C4B0DB6-929A-4816-82F8-C5CA7CCA52CE}" dt="2026-08-10T09:45:59.931" v="15659" actId="21"/>
          <ac:spMkLst>
            <pc:docMk/>
            <pc:sldMk cId="2586359284" sldId="326"/>
            <ac:spMk id="3" creationId="{6F46D081-F374-EAA9-4596-02530C2D5F7C}"/>
          </ac:spMkLst>
        </pc:spChg>
        <pc:spChg chg="add mod ord">
          <ac:chgData name="Michael Wegelin" userId="44f55030-522d-4388-8c84-12427b5d3861" providerId="ADAL" clId="{0C4B0DB6-929A-4816-82F8-C5CA7CCA52CE}" dt="2026-08-10T09:46:35.264" v="15671" actId="2711"/>
          <ac:spMkLst>
            <pc:docMk/>
            <pc:sldMk cId="2586359284" sldId="326"/>
            <ac:spMk id="10" creationId="{68D392D9-ABA0-CF62-39EB-BFFB6887531F}"/>
          </ac:spMkLst>
        </pc:spChg>
        <pc:graphicFrameChg chg="add mod">
          <ac:chgData name="Michael Wegelin" userId="44f55030-522d-4388-8c84-12427b5d3861" providerId="ADAL" clId="{0C4B0DB6-929A-4816-82F8-C5CA7CCA52CE}" dt="2026-08-10T09:45:27.479" v="15617"/>
          <ac:graphicFrameMkLst>
            <pc:docMk/>
            <pc:sldMk cId="2586359284" sldId="326"/>
            <ac:graphicFrameMk id="4" creationId="{962AE62A-BCF7-950B-63CC-60DEFA5E03F8}"/>
          </ac:graphicFrameMkLst>
        </pc:graphicFrameChg>
        <pc:graphicFrameChg chg="add mod">
          <ac:chgData name="Michael Wegelin" userId="44f55030-522d-4388-8c84-12427b5d3861" providerId="ADAL" clId="{0C4B0DB6-929A-4816-82F8-C5CA7CCA52CE}" dt="2026-08-10T09:45:27.479" v="15617"/>
          <ac:graphicFrameMkLst>
            <pc:docMk/>
            <pc:sldMk cId="2586359284" sldId="326"/>
            <ac:graphicFrameMk id="5" creationId="{67CBC3B9-BA2B-C8F9-2EA7-10AEACFA0057}"/>
          </ac:graphicFrameMkLst>
        </pc:graphicFrameChg>
        <pc:graphicFrameChg chg="add mod">
          <ac:chgData name="Michael Wegelin" userId="44f55030-522d-4388-8c84-12427b5d3861" providerId="ADAL" clId="{0C4B0DB6-929A-4816-82F8-C5CA7CCA52CE}" dt="2026-08-10T09:45:27.479" v="15617"/>
          <ac:graphicFrameMkLst>
            <pc:docMk/>
            <pc:sldMk cId="2586359284" sldId="326"/>
            <ac:graphicFrameMk id="6" creationId="{6842AE94-81E0-CCFA-11E0-37B3A6529CDB}"/>
          </ac:graphicFrameMkLst>
        </pc:graphicFrameChg>
        <pc:graphicFrameChg chg="add mod">
          <ac:chgData name="Michael Wegelin" userId="44f55030-522d-4388-8c84-12427b5d3861" providerId="ADAL" clId="{0C4B0DB6-929A-4816-82F8-C5CA7CCA52CE}" dt="2026-08-10T09:45:27.479" v="15617"/>
          <ac:graphicFrameMkLst>
            <pc:docMk/>
            <pc:sldMk cId="2586359284" sldId="326"/>
            <ac:graphicFrameMk id="7" creationId="{54321522-59A7-235E-6FB8-AE4B281B3162}"/>
          </ac:graphicFrameMkLst>
        </pc:graphicFrameChg>
        <pc:graphicFrameChg chg="add mod">
          <ac:chgData name="Michael Wegelin" userId="44f55030-522d-4388-8c84-12427b5d3861" providerId="ADAL" clId="{0C4B0DB6-929A-4816-82F8-C5CA7CCA52CE}" dt="2026-08-10T09:45:27.479" v="15617"/>
          <ac:graphicFrameMkLst>
            <pc:docMk/>
            <pc:sldMk cId="2586359284" sldId="326"/>
            <ac:graphicFrameMk id="8" creationId="{AA5D2040-9D40-1495-87CD-522E25EE7C97}"/>
          </ac:graphicFrameMkLst>
        </pc:graphicFrameChg>
        <pc:graphicFrameChg chg="add mod">
          <ac:chgData name="Michael Wegelin" userId="44f55030-522d-4388-8c84-12427b5d3861" providerId="ADAL" clId="{0C4B0DB6-929A-4816-82F8-C5CA7CCA52CE}" dt="2026-08-10T09:45:27.479" v="15617"/>
          <ac:graphicFrameMkLst>
            <pc:docMk/>
            <pc:sldMk cId="2586359284" sldId="326"/>
            <ac:graphicFrameMk id="9" creationId="{B584EF67-EDD1-B25F-F2DC-CD45E5A17B37}"/>
          </ac:graphicFrameMkLst>
        </pc:graphicFrameChg>
      </pc:sldChg>
      <pc:sldChg chg="addSp delSp modSp new mod">
        <pc:chgData name="Michael Wegelin" userId="44f55030-522d-4388-8c84-12427b5d3861" providerId="ADAL" clId="{0C4B0DB6-929A-4816-82F8-C5CA7CCA52CE}" dt="2026-08-10T09:48:34.426" v="15683" actId="20577"/>
        <pc:sldMkLst>
          <pc:docMk/>
          <pc:sldMk cId="1160368949" sldId="327"/>
        </pc:sldMkLst>
        <pc:spChg chg="mod">
          <ac:chgData name="Michael Wegelin" userId="44f55030-522d-4388-8c84-12427b5d3861" providerId="ADAL" clId="{0C4B0DB6-929A-4816-82F8-C5CA7CCA52CE}" dt="2026-08-10T09:48:34.426" v="15683" actId="20577"/>
          <ac:spMkLst>
            <pc:docMk/>
            <pc:sldMk cId="1160368949" sldId="327"/>
            <ac:spMk id="2" creationId="{268C9003-63A3-FA70-0520-51FA2B32941B}"/>
          </ac:spMkLst>
        </pc:spChg>
        <pc:spChg chg="del">
          <ac:chgData name="Michael Wegelin" userId="44f55030-522d-4388-8c84-12427b5d3861" providerId="ADAL" clId="{0C4B0DB6-929A-4816-82F8-C5CA7CCA52CE}" dt="2026-08-10T09:48:21.159" v="15672" actId="22"/>
          <ac:spMkLst>
            <pc:docMk/>
            <pc:sldMk cId="1160368949" sldId="327"/>
            <ac:spMk id="3" creationId="{50F35CC1-2FB5-C3CD-9B96-4F81F18EB0D8}"/>
          </ac:spMkLst>
        </pc:spChg>
        <pc:picChg chg="add mod ord">
          <ac:chgData name="Michael Wegelin" userId="44f55030-522d-4388-8c84-12427b5d3861" providerId="ADAL" clId="{0C4B0DB6-929A-4816-82F8-C5CA7CCA52CE}" dt="2026-08-10T09:48:21.159" v="15672" actId="22"/>
          <ac:picMkLst>
            <pc:docMk/>
            <pc:sldMk cId="1160368949" sldId="327"/>
            <ac:picMk id="5" creationId="{49C32902-CFC9-D5D3-7A70-EBAF2CA22BF1}"/>
          </ac:picMkLst>
        </pc:picChg>
      </pc:sldChg>
      <pc:sldChg chg="addSp delSp modSp new del mod modNotesTx">
        <pc:chgData name="Michael Wegelin" userId="44f55030-522d-4388-8c84-12427b5d3861" providerId="ADAL" clId="{0C4B0DB6-929A-4816-82F8-C5CA7CCA52CE}" dt="2026-08-10T07:24:05.818" v="14008" actId="47"/>
        <pc:sldMkLst>
          <pc:docMk/>
          <pc:sldMk cId="2425236672" sldId="327"/>
        </pc:sldMkLst>
      </pc:sldChg>
      <pc:sldChg chg="addSp delSp modSp new del mod modNotesTx">
        <pc:chgData name="Michael Wegelin" userId="44f55030-522d-4388-8c84-12427b5d3861" providerId="ADAL" clId="{0C4B0DB6-929A-4816-82F8-C5CA7CCA52CE}" dt="2026-08-10T07:24:05.818" v="14008" actId="47"/>
        <pc:sldMkLst>
          <pc:docMk/>
          <pc:sldMk cId="1702214743" sldId="328"/>
        </pc:sldMkLst>
      </pc:sldChg>
      <pc:sldChg chg="modSp new mod modNotesTx">
        <pc:chgData name="Michael Wegelin" userId="44f55030-522d-4388-8c84-12427b5d3861" providerId="ADAL" clId="{0C4B0DB6-929A-4816-82F8-C5CA7CCA52CE}" dt="2026-08-10T09:50:21.006" v="15692" actId="20577"/>
        <pc:sldMkLst>
          <pc:docMk/>
          <pc:sldMk cId="3023016842" sldId="328"/>
        </pc:sldMkLst>
        <pc:spChg chg="mod">
          <ac:chgData name="Michael Wegelin" userId="44f55030-522d-4388-8c84-12427b5d3861" providerId="ADAL" clId="{0C4B0DB6-929A-4816-82F8-C5CA7CCA52CE}" dt="2026-08-10T09:49:38.959" v="15685"/>
          <ac:spMkLst>
            <pc:docMk/>
            <pc:sldMk cId="3023016842" sldId="328"/>
            <ac:spMk id="2" creationId="{AC660736-64BB-79E0-67FC-F6CEF300FEB3}"/>
          </ac:spMkLst>
        </pc:spChg>
        <pc:spChg chg="mod">
          <ac:chgData name="Michael Wegelin" userId="44f55030-522d-4388-8c84-12427b5d3861" providerId="ADAL" clId="{0C4B0DB6-929A-4816-82F8-C5CA7CCA52CE}" dt="2026-08-10T09:49:52.953" v="15687" actId="5793"/>
          <ac:spMkLst>
            <pc:docMk/>
            <pc:sldMk cId="3023016842" sldId="328"/>
            <ac:spMk id="3" creationId="{9D50097A-DB49-9934-77DF-CEA4F4B37CC3}"/>
          </ac:spMkLst>
        </pc:spChg>
      </pc:sldChg>
      <pc:sldChg chg="modSp new mod modNotesTx">
        <pc:chgData name="Michael Wegelin" userId="44f55030-522d-4388-8c84-12427b5d3861" providerId="ADAL" clId="{0C4B0DB6-929A-4816-82F8-C5CA7CCA52CE}" dt="2026-08-10T13:45:58.551" v="15726" actId="20577"/>
        <pc:sldMkLst>
          <pc:docMk/>
          <pc:sldMk cId="900885963" sldId="329"/>
        </pc:sldMkLst>
        <pc:spChg chg="mod">
          <ac:chgData name="Michael Wegelin" userId="44f55030-522d-4388-8c84-12427b5d3861" providerId="ADAL" clId="{0C4B0DB6-929A-4816-82F8-C5CA7CCA52CE}" dt="2026-08-10T13:44:18.177" v="15710" actId="20577"/>
          <ac:spMkLst>
            <pc:docMk/>
            <pc:sldMk cId="900885963" sldId="329"/>
            <ac:spMk id="2" creationId="{0A680791-7960-4616-8281-2D00CDFC720D}"/>
          </ac:spMkLst>
        </pc:spChg>
        <pc:spChg chg="mod">
          <ac:chgData name="Michael Wegelin" userId="44f55030-522d-4388-8c84-12427b5d3861" providerId="ADAL" clId="{0C4B0DB6-929A-4816-82F8-C5CA7CCA52CE}" dt="2026-08-10T13:45:22.171" v="15721" actId="20577"/>
          <ac:spMkLst>
            <pc:docMk/>
            <pc:sldMk cId="900885963" sldId="329"/>
            <ac:spMk id="3" creationId="{030E0636-CA6C-FC84-8AA5-1ACA0751B5A9}"/>
          </ac:spMkLst>
        </pc:spChg>
      </pc:sldChg>
      <pc:sldChg chg="modSp new del mod modNotesTx">
        <pc:chgData name="Michael Wegelin" userId="44f55030-522d-4388-8c84-12427b5d3861" providerId="ADAL" clId="{0C4B0DB6-929A-4816-82F8-C5CA7CCA52CE}" dt="2026-08-10T07:24:05.818" v="14008" actId="47"/>
        <pc:sldMkLst>
          <pc:docMk/>
          <pc:sldMk cId="1924473154" sldId="329"/>
        </pc:sldMkLst>
      </pc:sldChg>
      <pc:sldChg chg="modSp new del mod modNotesTx">
        <pc:chgData name="Michael Wegelin" userId="44f55030-522d-4388-8c84-12427b5d3861" providerId="ADAL" clId="{0C4B0DB6-929A-4816-82F8-C5CA7CCA52CE}" dt="2026-08-10T07:24:05.818" v="14008" actId="47"/>
        <pc:sldMkLst>
          <pc:docMk/>
          <pc:sldMk cId="496699501" sldId="330"/>
        </pc:sldMkLst>
      </pc:sldChg>
      <pc:sldChg chg="modSp new mod modNotesTx">
        <pc:chgData name="Michael Wegelin" userId="44f55030-522d-4388-8c84-12427b5d3861" providerId="ADAL" clId="{0C4B0DB6-929A-4816-82F8-C5CA7CCA52CE}" dt="2026-08-10T14:00:44.144" v="15887" actId="20577"/>
        <pc:sldMkLst>
          <pc:docMk/>
          <pc:sldMk cId="1500470203" sldId="330"/>
        </pc:sldMkLst>
        <pc:spChg chg="mod">
          <ac:chgData name="Michael Wegelin" userId="44f55030-522d-4388-8c84-12427b5d3861" providerId="ADAL" clId="{0C4B0DB6-929A-4816-82F8-C5CA7CCA52CE}" dt="2026-08-10T13:46:28.465" v="15727"/>
          <ac:spMkLst>
            <pc:docMk/>
            <pc:sldMk cId="1500470203" sldId="330"/>
            <ac:spMk id="2" creationId="{1607DBB7-493F-2CB8-4AF6-AB9BE50A53DE}"/>
          </ac:spMkLst>
        </pc:spChg>
        <pc:spChg chg="mod">
          <ac:chgData name="Michael Wegelin" userId="44f55030-522d-4388-8c84-12427b5d3861" providerId="ADAL" clId="{0C4B0DB6-929A-4816-82F8-C5CA7CCA52CE}" dt="2026-08-10T13:48:28.854" v="15746" actId="20577"/>
          <ac:spMkLst>
            <pc:docMk/>
            <pc:sldMk cId="1500470203" sldId="330"/>
            <ac:spMk id="3" creationId="{9EB79455-31F6-9B25-DDD2-D4E3A4113F21}"/>
          </ac:spMkLst>
        </pc:spChg>
      </pc:sldChg>
      <pc:sldChg chg="addSp delSp modSp new mod modClrScheme chgLayout modNotesTx">
        <pc:chgData name="Michael Wegelin" userId="44f55030-522d-4388-8c84-12427b5d3861" providerId="ADAL" clId="{0C4B0DB6-929A-4816-82F8-C5CA7CCA52CE}" dt="2026-08-10T13:54:36.710" v="15791" actId="20577"/>
        <pc:sldMkLst>
          <pc:docMk/>
          <pc:sldMk cId="1532596945" sldId="331"/>
        </pc:sldMkLst>
        <pc:spChg chg="mod ord">
          <ac:chgData name="Michael Wegelin" userId="44f55030-522d-4388-8c84-12427b5d3861" providerId="ADAL" clId="{0C4B0DB6-929A-4816-82F8-C5CA7CCA52CE}" dt="2026-08-10T13:49:50.178" v="15754" actId="700"/>
          <ac:spMkLst>
            <pc:docMk/>
            <pc:sldMk cId="1532596945" sldId="331"/>
            <ac:spMk id="2" creationId="{DB706142-9EF4-E8AA-D1C5-34CA8756F77C}"/>
          </ac:spMkLst>
        </pc:spChg>
        <pc:spChg chg="del mod ord">
          <ac:chgData name="Michael Wegelin" userId="44f55030-522d-4388-8c84-12427b5d3861" providerId="ADAL" clId="{0C4B0DB6-929A-4816-82F8-C5CA7CCA52CE}" dt="2026-08-10T13:49:50.178" v="15754" actId="700"/>
          <ac:spMkLst>
            <pc:docMk/>
            <pc:sldMk cId="1532596945" sldId="331"/>
            <ac:spMk id="3" creationId="{BE9FF86D-D34F-97B1-023C-5AD6DDA69DE0}"/>
          </ac:spMkLst>
        </pc:spChg>
        <pc:spChg chg="add mod ord">
          <ac:chgData name="Michael Wegelin" userId="44f55030-522d-4388-8c84-12427b5d3861" providerId="ADAL" clId="{0C4B0DB6-929A-4816-82F8-C5CA7CCA52CE}" dt="2026-08-10T13:53:24.065" v="15787" actId="27636"/>
          <ac:spMkLst>
            <pc:docMk/>
            <pc:sldMk cId="1532596945" sldId="331"/>
            <ac:spMk id="4" creationId="{C80F9FC0-AACC-BAC6-F6D6-F74F59F38133}"/>
          </ac:spMkLst>
        </pc:spChg>
        <pc:spChg chg="add mod ord">
          <ac:chgData name="Michael Wegelin" userId="44f55030-522d-4388-8c84-12427b5d3861" providerId="ADAL" clId="{0C4B0DB6-929A-4816-82F8-C5CA7CCA52CE}" dt="2026-08-10T13:54:36.710" v="15791" actId="20577"/>
          <ac:spMkLst>
            <pc:docMk/>
            <pc:sldMk cId="1532596945" sldId="331"/>
            <ac:spMk id="5" creationId="{58A87A6A-008B-53C1-E86F-FA131B6F07F8}"/>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3624203023" sldId="331"/>
        </pc:sldMkLst>
      </pc:sldChg>
      <pc:sldChg chg="addSp delSp modSp new del mod modClrScheme chgLayout modNotesTx">
        <pc:chgData name="Michael Wegelin" userId="44f55030-522d-4388-8c84-12427b5d3861" providerId="ADAL" clId="{0C4B0DB6-929A-4816-82F8-C5CA7CCA52CE}" dt="2026-08-10T07:24:05.818" v="14008" actId="47"/>
        <pc:sldMkLst>
          <pc:docMk/>
          <pc:sldMk cId="2806977590" sldId="332"/>
        </pc:sldMkLst>
      </pc:sldChg>
      <pc:sldChg chg="modSp new mod modNotesTx">
        <pc:chgData name="Michael Wegelin" userId="44f55030-522d-4388-8c84-12427b5d3861" providerId="ADAL" clId="{0C4B0DB6-929A-4816-82F8-C5CA7CCA52CE}" dt="2026-08-10T14:06:03.737" v="15922" actId="20577"/>
        <pc:sldMkLst>
          <pc:docMk/>
          <pc:sldMk cId="2984833570" sldId="332"/>
        </pc:sldMkLst>
        <pc:spChg chg="mod">
          <ac:chgData name="Michael Wegelin" userId="44f55030-522d-4388-8c84-12427b5d3861" providerId="ADAL" clId="{0C4B0DB6-929A-4816-82F8-C5CA7CCA52CE}" dt="2026-08-10T13:54:52.560" v="15792"/>
          <ac:spMkLst>
            <pc:docMk/>
            <pc:sldMk cId="2984833570" sldId="332"/>
            <ac:spMk id="2" creationId="{270D43D8-0442-3824-B381-51AC303776E4}"/>
          </ac:spMkLst>
        </pc:spChg>
        <pc:spChg chg="mod">
          <ac:chgData name="Michael Wegelin" userId="44f55030-522d-4388-8c84-12427b5d3861" providerId="ADAL" clId="{0C4B0DB6-929A-4816-82F8-C5CA7CCA52CE}" dt="2026-08-10T14:01:36.181" v="15915"/>
          <ac:spMkLst>
            <pc:docMk/>
            <pc:sldMk cId="2984833570" sldId="332"/>
            <ac:spMk id="3" creationId="{B9F9B78F-5231-FF7B-9770-E32C81279DF1}"/>
          </ac:spMkLst>
        </pc:spChg>
      </pc:sldChg>
      <pc:sldChg chg="modSp new del mod modNotesTx">
        <pc:chgData name="Michael Wegelin" userId="44f55030-522d-4388-8c84-12427b5d3861" providerId="ADAL" clId="{0C4B0DB6-929A-4816-82F8-C5CA7CCA52CE}" dt="2026-08-10T07:24:05.818" v="14008" actId="47"/>
        <pc:sldMkLst>
          <pc:docMk/>
          <pc:sldMk cId="26745810" sldId="333"/>
        </pc:sldMkLst>
      </pc:sldChg>
      <pc:sldChg chg="modSp new mod modNotesTx">
        <pc:chgData name="Michael Wegelin" userId="44f55030-522d-4388-8c84-12427b5d3861" providerId="ADAL" clId="{0C4B0DB6-929A-4816-82F8-C5CA7CCA52CE}" dt="2026-08-10T14:07:43.957" v="15940" actId="15"/>
        <pc:sldMkLst>
          <pc:docMk/>
          <pc:sldMk cId="2248340541" sldId="333"/>
        </pc:sldMkLst>
        <pc:spChg chg="mod">
          <ac:chgData name="Michael Wegelin" userId="44f55030-522d-4388-8c84-12427b5d3861" providerId="ADAL" clId="{0C4B0DB6-929A-4816-82F8-C5CA7CCA52CE}" dt="2026-08-10T13:57:01.887" v="15815" actId="20577"/>
          <ac:spMkLst>
            <pc:docMk/>
            <pc:sldMk cId="2248340541" sldId="333"/>
            <ac:spMk id="2" creationId="{209A18BB-F275-CE49-6304-B02CF74D95A6}"/>
          </ac:spMkLst>
        </pc:spChg>
        <pc:spChg chg="mod">
          <ac:chgData name="Michael Wegelin" userId="44f55030-522d-4388-8c84-12427b5d3861" providerId="ADAL" clId="{0C4B0DB6-929A-4816-82F8-C5CA7CCA52CE}" dt="2026-08-10T14:07:43.957" v="15940" actId="15"/>
          <ac:spMkLst>
            <pc:docMk/>
            <pc:sldMk cId="2248340541" sldId="333"/>
            <ac:spMk id="3" creationId="{6CF18562-A3DA-83AE-72A9-04C909063C20}"/>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362061278" sldId="334"/>
        </pc:sldMkLst>
      </pc:sldChg>
      <pc:sldChg chg="addSp delSp modSp new mod">
        <pc:chgData name="Michael Wegelin" userId="44f55030-522d-4388-8c84-12427b5d3861" providerId="ADAL" clId="{0C4B0DB6-929A-4816-82F8-C5CA7CCA52CE}" dt="2026-08-10T13:59:52.643" v="15831" actId="2711"/>
        <pc:sldMkLst>
          <pc:docMk/>
          <pc:sldMk cId="1851608673" sldId="334"/>
        </pc:sldMkLst>
        <pc:spChg chg="mod">
          <ac:chgData name="Michael Wegelin" userId="44f55030-522d-4388-8c84-12427b5d3861" providerId="ADAL" clId="{0C4B0DB6-929A-4816-82F8-C5CA7CCA52CE}" dt="2026-08-10T13:59:52.643" v="15831" actId="2711"/>
          <ac:spMkLst>
            <pc:docMk/>
            <pc:sldMk cId="1851608673" sldId="334"/>
            <ac:spMk id="2" creationId="{6AB80E06-A4EE-8F10-0904-4E2989177827}"/>
          </ac:spMkLst>
        </pc:spChg>
        <pc:spChg chg="del">
          <ac:chgData name="Michael Wegelin" userId="44f55030-522d-4388-8c84-12427b5d3861" providerId="ADAL" clId="{0C4B0DB6-929A-4816-82F8-C5CA7CCA52CE}" dt="2026-08-10T13:59:39.182" v="15821" actId="22"/>
          <ac:spMkLst>
            <pc:docMk/>
            <pc:sldMk cId="1851608673" sldId="334"/>
            <ac:spMk id="3" creationId="{DB5140A9-6AEF-4578-D974-8A5032B1CC53}"/>
          </ac:spMkLst>
        </pc:spChg>
        <pc:picChg chg="add mod ord">
          <ac:chgData name="Michael Wegelin" userId="44f55030-522d-4388-8c84-12427b5d3861" providerId="ADAL" clId="{0C4B0DB6-929A-4816-82F8-C5CA7CCA52CE}" dt="2026-08-10T13:59:39.182" v="15821" actId="22"/>
          <ac:picMkLst>
            <pc:docMk/>
            <pc:sldMk cId="1851608673" sldId="334"/>
            <ac:picMk id="5" creationId="{A9153124-72B1-87D9-D412-93E937F1D34D}"/>
          </ac:picMkLst>
        </pc:picChg>
      </pc:sldChg>
      <pc:sldChg chg="modSp new mod modNotesTx">
        <pc:chgData name="Michael Wegelin" userId="44f55030-522d-4388-8c84-12427b5d3861" providerId="ADAL" clId="{0C4B0DB6-929A-4816-82F8-C5CA7CCA52CE}" dt="2026-08-10T14:09:06.662" v="15948" actId="20577"/>
        <pc:sldMkLst>
          <pc:docMk/>
          <pc:sldMk cId="1419882908" sldId="335"/>
        </pc:sldMkLst>
        <pc:spChg chg="mod">
          <ac:chgData name="Michael Wegelin" userId="44f55030-522d-4388-8c84-12427b5d3861" providerId="ADAL" clId="{0C4B0DB6-929A-4816-82F8-C5CA7CCA52CE}" dt="2026-08-10T14:08:24.051" v="15941"/>
          <ac:spMkLst>
            <pc:docMk/>
            <pc:sldMk cId="1419882908" sldId="335"/>
            <ac:spMk id="2" creationId="{430F3A3B-A757-E428-496F-7F9FCAC8F432}"/>
          </ac:spMkLst>
        </pc:spChg>
        <pc:spChg chg="mod">
          <ac:chgData name="Michael Wegelin" userId="44f55030-522d-4388-8c84-12427b5d3861" providerId="ADAL" clId="{0C4B0DB6-929A-4816-82F8-C5CA7CCA52CE}" dt="2026-08-10T14:08:35.082" v="15943" actId="5793"/>
          <ac:spMkLst>
            <pc:docMk/>
            <pc:sldMk cId="1419882908" sldId="335"/>
            <ac:spMk id="3" creationId="{11B6D407-4007-7455-8CF9-68B6B2827576}"/>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2552200460" sldId="335"/>
        </pc:sldMkLst>
      </pc:sldChg>
      <pc:sldChg chg="modSp new del mod modNotesTx">
        <pc:chgData name="Michael Wegelin" userId="44f55030-522d-4388-8c84-12427b5d3861" providerId="ADAL" clId="{0C4B0DB6-929A-4816-82F8-C5CA7CCA52CE}" dt="2026-08-10T07:24:05.818" v="14008" actId="47"/>
        <pc:sldMkLst>
          <pc:docMk/>
          <pc:sldMk cId="242195655" sldId="336"/>
        </pc:sldMkLst>
      </pc:sldChg>
      <pc:sldChg chg="addSp delSp modSp new mod modClrScheme chgLayout modNotesTx">
        <pc:chgData name="Michael Wegelin" userId="44f55030-522d-4388-8c84-12427b5d3861" providerId="ADAL" clId="{0C4B0DB6-929A-4816-82F8-C5CA7CCA52CE}" dt="2026-08-10T14:23:59.481" v="16109" actId="13926"/>
        <pc:sldMkLst>
          <pc:docMk/>
          <pc:sldMk cId="2853532542" sldId="336"/>
        </pc:sldMkLst>
        <pc:spChg chg="mod ord">
          <ac:chgData name="Michael Wegelin" userId="44f55030-522d-4388-8c84-12427b5d3861" providerId="ADAL" clId="{0C4B0DB6-929A-4816-82F8-C5CA7CCA52CE}" dt="2026-08-10T14:21:16.460" v="15962" actId="700"/>
          <ac:spMkLst>
            <pc:docMk/>
            <pc:sldMk cId="2853532542" sldId="336"/>
            <ac:spMk id="2" creationId="{2E7E4700-4A55-59DB-F774-D85F974A71C6}"/>
          </ac:spMkLst>
        </pc:spChg>
        <pc:spChg chg="del mod ord">
          <ac:chgData name="Michael Wegelin" userId="44f55030-522d-4388-8c84-12427b5d3861" providerId="ADAL" clId="{0C4B0DB6-929A-4816-82F8-C5CA7CCA52CE}" dt="2026-08-10T14:21:16.460" v="15962" actId="700"/>
          <ac:spMkLst>
            <pc:docMk/>
            <pc:sldMk cId="2853532542" sldId="336"/>
            <ac:spMk id="3" creationId="{728CBE75-5326-5EA1-3B66-7691D755B085}"/>
          </ac:spMkLst>
        </pc:spChg>
        <pc:spChg chg="add mod ord">
          <ac:chgData name="Michael Wegelin" userId="44f55030-522d-4388-8c84-12427b5d3861" providerId="ADAL" clId="{0C4B0DB6-929A-4816-82F8-C5CA7CCA52CE}" dt="2026-08-10T14:23:10.082" v="16097" actId="27636"/>
          <ac:spMkLst>
            <pc:docMk/>
            <pc:sldMk cId="2853532542" sldId="336"/>
            <ac:spMk id="4" creationId="{12F67E65-268E-5246-EC2B-51438988FE81}"/>
          </ac:spMkLst>
        </pc:spChg>
        <pc:spChg chg="add mod ord">
          <ac:chgData name="Michael Wegelin" userId="44f55030-522d-4388-8c84-12427b5d3861" providerId="ADAL" clId="{0C4B0DB6-929A-4816-82F8-C5CA7CCA52CE}" dt="2026-08-10T14:23:24.739" v="16102" actId="14100"/>
          <ac:spMkLst>
            <pc:docMk/>
            <pc:sldMk cId="2853532542" sldId="336"/>
            <ac:spMk id="5" creationId="{80FDB110-8664-BE89-2D66-FEA5CEA1CC70}"/>
          </ac:spMkLst>
        </pc:spChg>
        <pc:spChg chg="add mod">
          <ac:chgData name="Michael Wegelin" userId="44f55030-522d-4388-8c84-12427b5d3861" providerId="ADAL" clId="{0C4B0DB6-929A-4816-82F8-C5CA7CCA52CE}" dt="2026-08-10T14:23:59.481" v="16109" actId="13926"/>
          <ac:spMkLst>
            <pc:docMk/>
            <pc:sldMk cId="2853532542" sldId="336"/>
            <ac:spMk id="7" creationId="{73945147-1882-1062-D876-3C8CF1DB7A65}"/>
          </ac:spMkLst>
        </pc:spChg>
      </pc:sldChg>
      <pc:sldChg chg="addSp delSp modSp new mod modClrScheme chgLayout modNotesTx">
        <pc:chgData name="Michael Wegelin" userId="44f55030-522d-4388-8c84-12427b5d3861" providerId="ADAL" clId="{0C4B0DB6-929A-4816-82F8-C5CA7CCA52CE}" dt="2026-08-10T14:27:21.069" v="16218" actId="15"/>
        <pc:sldMkLst>
          <pc:docMk/>
          <pc:sldMk cId="159112063" sldId="337"/>
        </pc:sldMkLst>
        <pc:spChg chg="mod ord">
          <ac:chgData name="Michael Wegelin" userId="44f55030-522d-4388-8c84-12427b5d3861" providerId="ADAL" clId="{0C4B0DB6-929A-4816-82F8-C5CA7CCA52CE}" dt="2026-08-10T14:26:09.388" v="16149" actId="700"/>
          <ac:spMkLst>
            <pc:docMk/>
            <pc:sldMk cId="159112063" sldId="337"/>
            <ac:spMk id="2" creationId="{BD0BFDFA-A7A4-527F-076F-E390D82B998D}"/>
          </ac:spMkLst>
        </pc:spChg>
        <pc:spChg chg="del mod ord">
          <ac:chgData name="Michael Wegelin" userId="44f55030-522d-4388-8c84-12427b5d3861" providerId="ADAL" clId="{0C4B0DB6-929A-4816-82F8-C5CA7CCA52CE}" dt="2026-08-10T14:25:03.800" v="16116" actId="700"/>
          <ac:spMkLst>
            <pc:docMk/>
            <pc:sldMk cId="159112063" sldId="337"/>
            <ac:spMk id="3" creationId="{BAE33A67-DC5A-B0D5-1190-2CB70F21DA41}"/>
          </ac:spMkLst>
        </pc:spChg>
        <pc:spChg chg="add del mod ord">
          <ac:chgData name="Michael Wegelin" userId="44f55030-522d-4388-8c84-12427b5d3861" providerId="ADAL" clId="{0C4B0DB6-929A-4816-82F8-C5CA7CCA52CE}" dt="2026-08-10T14:26:14.417" v="16150" actId="478"/>
          <ac:spMkLst>
            <pc:docMk/>
            <pc:sldMk cId="159112063" sldId="337"/>
            <ac:spMk id="4" creationId="{41587255-1A70-7DE6-18F9-6DFB98CE6616}"/>
          </ac:spMkLst>
        </pc:spChg>
        <pc:spChg chg="add mod ord">
          <ac:chgData name="Michael Wegelin" userId="44f55030-522d-4388-8c84-12427b5d3861" providerId="ADAL" clId="{0C4B0DB6-929A-4816-82F8-C5CA7CCA52CE}" dt="2026-08-10T14:27:21.069" v="16218" actId="15"/>
          <ac:spMkLst>
            <pc:docMk/>
            <pc:sldMk cId="159112063" sldId="337"/>
            <ac:spMk id="5" creationId="{85DFD0DC-FE41-460A-2013-8EA746563FFD}"/>
          </ac:spMkLst>
        </pc:spChg>
        <pc:spChg chg="add del mod ord">
          <ac:chgData name="Michael Wegelin" userId="44f55030-522d-4388-8c84-12427b5d3861" providerId="ADAL" clId="{0C4B0DB6-929A-4816-82F8-C5CA7CCA52CE}" dt="2026-08-10T14:26:09.388" v="16149" actId="700"/>
          <ac:spMkLst>
            <pc:docMk/>
            <pc:sldMk cId="159112063" sldId="337"/>
            <ac:spMk id="6" creationId="{5D33AD4F-0BB6-1A27-5761-F0C6A54A2B23}"/>
          </ac:spMkLst>
        </pc:spChg>
        <pc:spChg chg="add del mod ord">
          <ac:chgData name="Michael Wegelin" userId="44f55030-522d-4388-8c84-12427b5d3861" providerId="ADAL" clId="{0C4B0DB6-929A-4816-82F8-C5CA7CCA52CE}" dt="2026-08-10T14:26:09.388" v="16149" actId="700"/>
          <ac:spMkLst>
            <pc:docMk/>
            <pc:sldMk cId="159112063" sldId="337"/>
            <ac:spMk id="7" creationId="{6C151094-507A-F45B-FE3C-4DD6670C2A9A}"/>
          </ac:spMkLst>
        </pc:spChg>
      </pc:sldChg>
      <pc:sldChg chg="delSp modSp new del mod modClrScheme chgLayout modNotesTx">
        <pc:chgData name="Michael Wegelin" userId="44f55030-522d-4388-8c84-12427b5d3861" providerId="ADAL" clId="{0C4B0DB6-929A-4816-82F8-C5CA7CCA52CE}" dt="2026-08-10T07:24:05.818" v="14008" actId="47"/>
        <pc:sldMkLst>
          <pc:docMk/>
          <pc:sldMk cId="2412011783" sldId="337"/>
        </pc:sldMkLst>
      </pc:sldChg>
      <pc:sldChg chg="addSp delSp modSp new mod modClrScheme chgLayout modNotesTx">
        <pc:chgData name="Michael Wegelin" userId="44f55030-522d-4388-8c84-12427b5d3861" providerId="ADAL" clId="{0C4B0DB6-929A-4816-82F8-C5CA7CCA52CE}" dt="2026-08-10T14:31:17.386" v="16238" actId="5793"/>
        <pc:sldMkLst>
          <pc:docMk/>
          <pc:sldMk cId="431583442" sldId="338"/>
        </pc:sldMkLst>
        <pc:spChg chg="mod ord">
          <ac:chgData name="Michael Wegelin" userId="44f55030-522d-4388-8c84-12427b5d3861" providerId="ADAL" clId="{0C4B0DB6-929A-4816-82F8-C5CA7CCA52CE}" dt="2026-08-10T14:31:00.214" v="16235" actId="700"/>
          <ac:spMkLst>
            <pc:docMk/>
            <pc:sldMk cId="431583442" sldId="338"/>
            <ac:spMk id="2" creationId="{426A7054-ACF0-0B6D-FDFA-AA02D4428E9F}"/>
          </ac:spMkLst>
        </pc:spChg>
        <pc:spChg chg="del">
          <ac:chgData name="Michael Wegelin" userId="44f55030-522d-4388-8c84-12427b5d3861" providerId="ADAL" clId="{0C4B0DB6-929A-4816-82F8-C5CA7CCA52CE}" dt="2026-08-10T14:29:21.614" v="16227" actId="22"/>
          <ac:spMkLst>
            <pc:docMk/>
            <pc:sldMk cId="431583442" sldId="338"/>
            <ac:spMk id="3" creationId="{7E40F5E4-8A28-2667-45E7-74E221625352}"/>
          </ac:spMkLst>
        </pc:spChg>
        <pc:spChg chg="add mod ord">
          <ac:chgData name="Michael Wegelin" userId="44f55030-522d-4388-8c84-12427b5d3861" providerId="ADAL" clId="{0C4B0DB6-929A-4816-82F8-C5CA7CCA52CE}" dt="2026-08-10T14:31:17.386" v="16238" actId="5793"/>
          <ac:spMkLst>
            <pc:docMk/>
            <pc:sldMk cId="431583442" sldId="338"/>
            <ac:spMk id="6" creationId="{555A9358-165A-D8A2-3110-509EBF6909BB}"/>
          </ac:spMkLst>
        </pc:spChg>
        <pc:picChg chg="add mod ord">
          <ac:chgData name="Michael Wegelin" userId="44f55030-522d-4388-8c84-12427b5d3861" providerId="ADAL" clId="{0C4B0DB6-929A-4816-82F8-C5CA7CCA52CE}" dt="2026-08-10T14:31:04.748" v="16236" actId="1076"/>
          <ac:picMkLst>
            <pc:docMk/>
            <pc:sldMk cId="431583442" sldId="338"/>
            <ac:picMk id="5" creationId="{0C308D79-17FC-EC4B-8ED7-49C950FF519D}"/>
          </ac:picMkLst>
        </pc:picChg>
      </pc:sldChg>
      <pc:sldChg chg="modSp new del mod modNotesTx">
        <pc:chgData name="Michael Wegelin" userId="44f55030-522d-4388-8c84-12427b5d3861" providerId="ADAL" clId="{0C4B0DB6-929A-4816-82F8-C5CA7CCA52CE}" dt="2026-08-10T07:24:05.818" v="14008" actId="47"/>
        <pc:sldMkLst>
          <pc:docMk/>
          <pc:sldMk cId="4167221087" sldId="338"/>
        </pc:sldMkLst>
      </pc:sldChg>
      <pc:sldChg chg="addSp delSp modSp new del mod modClrScheme chgLayout modNotesTx">
        <pc:chgData name="Michael Wegelin" userId="44f55030-522d-4388-8c84-12427b5d3861" providerId="ADAL" clId="{0C4B0DB6-929A-4816-82F8-C5CA7CCA52CE}" dt="2026-08-10T07:24:05.818" v="14008" actId="47"/>
        <pc:sldMkLst>
          <pc:docMk/>
          <pc:sldMk cId="642762028" sldId="339"/>
        </pc:sldMkLst>
      </pc:sldChg>
      <pc:sldChg chg="addSp delSp modSp new mod modClrScheme chgLayout modNotesTx">
        <pc:chgData name="Michael Wegelin" userId="44f55030-522d-4388-8c84-12427b5d3861" providerId="ADAL" clId="{0C4B0DB6-929A-4816-82F8-C5CA7CCA52CE}" dt="2026-08-10T14:31:56.895" v="16269" actId="20577"/>
        <pc:sldMkLst>
          <pc:docMk/>
          <pc:sldMk cId="3335776353" sldId="339"/>
        </pc:sldMkLst>
        <pc:spChg chg="mod ord">
          <ac:chgData name="Michael Wegelin" userId="44f55030-522d-4388-8c84-12427b5d3861" providerId="ADAL" clId="{0C4B0DB6-929A-4816-82F8-C5CA7CCA52CE}" dt="2026-08-10T14:31:24.012" v="16239" actId="700"/>
          <ac:spMkLst>
            <pc:docMk/>
            <pc:sldMk cId="3335776353" sldId="339"/>
            <ac:spMk id="2" creationId="{B9BC0F30-6BC3-924E-8FF3-C1116E3B1CDD}"/>
          </ac:spMkLst>
        </pc:spChg>
        <pc:spChg chg="del">
          <ac:chgData name="Michael Wegelin" userId="44f55030-522d-4388-8c84-12427b5d3861" providerId="ADAL" clId="{0C4B0DB6-929A-4816-82F8-C5CA7CCA52CE}" dt="2026-08-10T14:30:11.362" v="16229" actId="22"/>
          <ac:spMkLst>
            <pc:docMk/>
            <pc:sldMk cId="3335776353" sldId="339"/>
            <ac:spMk id="3" creationId="{6191B077-E32B-E222-5989-4553568920D0}"/>
          </ac:spMkLst>
        </pc:spChg>
        <pc:spChg chg="add mod ord">
          <ac:chgData name="Michael Wegelin" userId="44f55030-522d-4388-8c84-12427b5d3861" providerId="ADAL" clId="{0C4B0DB6-929A-4816-82F8-C5CA7CCA52CE}" dt="2026-08-10T14:31:56.895" v="16269" actId="20577"/>
          <ac:spMkLst>
            <pc:docMk/>
            <pc:sldMk cId="3335776353" sldId="339"/>
            <ac:spMk id="6" creationId="{D5F4C8C2-FCED-4318-097F-C4A05B80B6EF}"/>
          </ac:spMkLst>
        </pc:spChg>
        <pc:picChg chg="add mod ord">
          <ac:chgData name="Michael Wegelin" userId="44f55030-522d-4388-8c84-12427b5d3861" providerId="ADAL" clId="{0C4B0DB6-929A-4816-82F8-C5CA7CCA52CE}" dt="2026-08-10T14:31:30.858" v="16240" actId="1076"/>
          <ac:picMkLst>
            <pc:docMk/>
            <pc:sldMk cId="3335776353" sldId="339"/>
            <ac:picMk id="5" creationId="{F479EA76-215B-D307-E846-CFE28B58E7EE}"/>
          </ac:picMkLst>
        </pc:picChg>
      </pc:sldChg>
      <pc:sldChg chg="addSp delSp modSp new del mod modClrScheme chgLayout modNotesTx">
        <pc:chgData name="Michael Wegelin" userId="44f55030-522d-4388-8c84-12427b5d3861" providerId="ADAL" clId="{0C4B0DB6-929A-4816-82F8-C5CA7CCA52CE}" dt="2026-08-10T07:24:05.818" v="14008" actId="47"/>
        <pc:sldMkLst>
          <pc:docMk/>
          <pc:sldMk cId="2783509770" sldId="340"/>
        </pc:sldMkLst>
      </pc:sldChg>
      <pc:sldChg chg="modSp new mod modNotesTx">
        <pc:chgData name="Michael Wegelin" userId="44f55030-522d-4388-8c84-12427b5d3861" providerId="ADAL" clId="{0C4B0DB6-929A-4816-82F8-C5CA7CCA52CE}" dt="2026-08-10T14:34:53.458" v="16288" actId="113"/>
        <pc:sldMkLst>
          <pc:docMk/>
          <pc:sldMk cId="3596407555" sldId="340"/>
        </pc:sldMkLst>
        <pc:spChg chg="mod">
          <ac:chgData name="Michael Wegelin" userId="44f55030-522d-4388-8c84-12427b5d3861" providerId="ADAL" clId="{0C4B0DB6-929A-4816-82F8-C5CA7CCA52CE}" dt="2026-08-10T14:32:21.604" v="16270"/>
          <ac:spMkLst>
            <pc:docMk/>
            <pc:sldMk cId="3596407555" sldId="340"/>
            <ac:spMk id="2" creationId="{3F098076-7E81-5B47-F9A2-9D9DAF11D3FA}"/>
          </ac:spMkLst>
        </pc:spChg>
        <pc:spChg chg="mod">
          <ac:chgData name="Michael Wegelin" userId="44f55030-522d-4388-8c84-12427b5d3861" providerId="ADAL" clId="{0C4B0DB6-929A-4816-82F8-C5CA7CCA52CE}" dt="2026-08-10T14:33:19.220" v="16278" actId="20577"/>
          <ac:spMkLst>
            <pc:docMk/>
            <pc:sldMk cId="3596407555" sldId="340"/>
            <ac:spMk id="3" creationId="{32511A7C-45EC-8049-ABED-2EA1A0F7A32C}"/>
          </ac:spMkLst>
        </pc:spChg>
      </pc:sldChg>
      <pc:sldChg chg="addSp delSp modSp new del mod modClrScheme chgLayout modNotesTx">
        <pc:chgData name="Michael Wegelin" userId="44f55030-522d-4388-8c84-12427b5d3861" providerId="ADAL" clId="{0C4B0DB6-929A-4816-82F8-C5CA7CCA52CE}" dt="2026-08-10T07:24:05.818" v="14008" actId="47"/>
        <pc:sldMkLst>
          <pc:docMk/>
          <pc:sldMk cId="993787136" sldId="341"/>
        </pc:sldMkLst>
      </pc:sldChg>
      <pc:sldChg chg="addSp delSp modSp new mod modNotesTx">
        <pc:chgData name="Michael Wegelin" userId="44f55030-522d-4388-8c84-12427b5d3861" providerId="ADAL" clId="{0C4B0DB6-929A-4816-82F8-C5CA7CCA52CE}" dt="2026-08-10T14:38:04.731" v="16319"/>
        <pc:sldMkLst>
          <pc:docMk/>
          <pc:sldMk cId="2855860497" sldId="341"/>
        </pc:sldMkLst>
        <pc:spChg chg="mod">
          <ac:chgData name="Michael Wegelin" userId="44f55030-522d-4388-8c84-12427b5d3861" providerId="ADAL" clId="{0C4B0DB6-929A-4816-82F8-C5CA7CCA52CE}" dt="2026-08-10T14:35:41.561" v="16294"/>
          <ac:spMkLst>
            <pc:docMk/>
            <pc:sldMk cId="2855860497" sldId="341"/>
            <ac:spMk id="2" creationId="{0165B72F-F336-527C-8DC8-2D5ACAC47451}"/>
          </ac:spMkLst>
        </pc:spChg>
        <pc:spChg chg="del">
          <ac:chgData name="Michael Wegelin" userId="44f55030-522d-4388-8c84-12427b5d3861" providerId="ADAL" clId="{0C4B0DB6-929A-4816-82F8-C5CA7CCA52CE}" dt="2026-08-10T14:36:07.520" v="16295" actId="3680"/>
          <ac:spMkLst>
            <pc:docMk/>
            <pc:sldMk cId="2855860497" sldId="341"/>
            <ac:spMk id="3" creationId="{188574C6-E6AA-83AF-9738-DA10BB3C3DEE}"/>
          </ac:spMkLst>
        </pc:spChg>
        <pc:graphicFrameChg chg="add mod ord modGraphic">
          <ac:chgData name="Michael Wegelin" userId="44f55030-522d-4388-8c84-12427b5d3861" providerId="ADAL" clId="{0C4B0DB6-929A-4816-82F8-C5CA7CCA52CE}" dt="2026-08-10T14:38:04.731" v="16319"/>
          <ac:graphicFrameMkLst>
            <pc:docMk/>
            <pc:sldMk cId="2855860497" sldId="341"/>
            <ac:graphicFrameMk id="4" creationId="{26D15964-22EB-0AAF-BC92-C429337C2B32}"/>
          </ac:graphicFrameMkLst>
        </pc:graphicFrameChg>
      </pc:sldChg>
      <pc:sldChg chg="addSp delSp modSp new del mod modClrScheme chgLayout modNotesTx">
        <pc:chgData name="Michael Wegelin" userId="44f55030-522d-4388-8c84-12427b5d3861" providerId="ADAL" clId="{0C4B0DB6-929A-4816-82F8-C5CA7CCA52CE}" dt="2026-08-10T07:24:05.818" v="14008" actId="47"/>
        <pc:sldMkLst>
          <pc:docMk/>
          <pc:sldMk cId="1416885596" sldId="342"/>
        </pc:sldMkLst>
      </pc:sldChg>
      <pc:sldChg chg="addSp delSp modSp new del mod modNotesTx">
        <pc:chgData name="Michael Wegelin" userId="44f55030-522d-4388-8c84-12427b5d3861" providerId="ADAL" clId="{0C4B0DB6-929A-4816-82F8-C5CA7CCA52CE}" dt="2026-08-10T07:24:05.818" v="14008" actId="47"/>
        <pc:sldMkLst>
          <pc:docMk/>
          <pc:sldMk cId="1212541957" sldId="343"/>
        </pc:sldMkLst>
      </pc:sldChg>
      <pc:sldChg chg="addSp delSp modSp new del mod modNotesTx">
        <pc:chgData name="Michael Wegelin" userId="44f55030-522d-4388-8c84-12427b5d3861" providerId="ADAL" clId="{0C4B0DB6-929A-4816-82F8-C5CA7CCA52CE}" dt="2026-08-10T07:24:05.818" v="14008" actId="47"/>
        <pc:sldMkLst>
          <pc:docMk/>
          <pc:sldMk cId="165571724" sldId="345"/>
        </pc:sldMkLst>
      </pc:sldChg>
      <pc:sldChg chg="modSp new del mod modNotesTx">
        <pc:chgData name="Michael Wegelin" userId="44f55030-522d-4388-8c84-12427b5d3861" providerId="ADAL" clId="{0C4B0DB6-929A-4816-82F8-C5CA7CCA52CE}" dt="2026-08-10T07:24:05.818" v="14008" actId="47"/>
        <pc:sldMkLst>
          <pc:docMk/>
          <pc:sldMk cId="4141588579" sldId="346"/>
        </pc:sldMkLst>
      </pc:sldChg>
      <pc:sldChg chg="modSp new del mod modNotesTx">
        <pc:chgData name="Michael Wegelin" userId="44f55030-522d-4388-8c84-12427b5d3861" providerId="ADAL" clId="{0C4B0DB6-929A-4816-82F8-C5CA7CCA52CE}" dt="2026-08-10T07:24:05.818" v="14008" actId="47"/>
        <pc:sldMkLst>
          <pc:docMk/>
          <pc:sldMk cId="251070278" sldId="347"/>
        </pc:sldMkLst>
      </pc:sldChg>
      <pc:sldChg chg="modSp new del mod">
        <pc:chgData name="Michael Wegelin" userId="44f55030-522d-4388-8c84-12427b5d3861" providerId="ADAL" clId="{0C4B0DB6-929A-4816-82F8-C5CA7CCA52CE}" dt="2026-08-10T07:24:05.818" v="14008" actId="47"/>
        <pc:sldMkLst>
          <pc:docMk/>
          <pc:sldMk cId="2007765496" sldId="348"/>
        </pc:sldMkLst>
      </pc:sldChg>
      <pc:sldChg chg="addSp delSp modSp new del mod modNotesTx">
        <pc:chgData name="Michael Wegelin" userId="44f55030-522d-4388-8c84-12427b5d3861" providerId="ADAL" clId="{0C4B0DB6-929A-4816-82F8-C5CA7CCA52CE}" dt="2026-08-10T07:24:08.586" v="14009" actId="47"/>
        <pc:sldMkLst>
          <pc:docMk/>
          <pc:sldMk cId="2805873464" sldId="349"/>
        </pc:sldMkLst>
      </pc:sldChg>
      <pc:sldChg chg="addSp modSp new del mod modNotesTx">
        <pc:chgData name="Michael Wegelin" userId="44f55030-522d-4388-8c84-12427b5d3861" providerId="ADAL" clId="{0C4B0DB6-929A-4816-82F8-C5CA7CCA52CE}" dt="2026-08-10T07:24:05.818" v="14008" actId="47"/>
        <pc:sldMkLst>
          <pc:docMk/>
          <pc:sldMk cId="3053824072" sldId="351"/>
        </pc:sldMkLst>
      </pc:sldChg>
      <pc:sldChg chg="modSp new del mod">
        <pc:chgData name="Michael Wegelin" userId="44f55030-522d-4388-8c84-12427b5d3861" providerId="ADAL" clId="{0C4B0DB6-929A-4816-82F8-C5CA7CCA52CE}" dt="2026-08-10T07:24:05.818" v="14008" actId="47"/>
        <pc:sldMkLst>
          <pc:docMk/>
          <pc:sldMk cId="3270638657" sldId="3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31E49-3ADF-4A64-8B32-5D33D9E563E5}" type="datetimeFigureOut">
              <a:rPr lang="de-DE" smtClean="0"/>
              <a:t>10.08.2026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75E6B-8EF9-407D-AAC9-FC0EA114427C}" type="slidenum">
              <a:rPr lang="de-DE" smtClean="0"/>
              <a:t>‹Nr.›</a:t>
            </a:fld>
            <a:endParaRPr lang="de-DE" dirty="0"/>
          </a:p>
        </p:txBody>
      </p:sp>
    </p:spTree>
    <p:extLst>
      <p:ext uri="{BB962C8B-B14F-4D97-AF65-F5344CB8AC3E}">
        <p14:creationId xmlns:p14="http://schemas.microsoft.com/office/powerpoint/2010/main" val="16566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Willkommen zum zweiten Teil unserer Workshopreihe über ABAP Core Data Services.</a:t>
            </a:r>
          </a:p>
          <a:p>
            <a:endParaRPr lang="de-DE" dirty="0"/>
          </a:p>
          <a:p>
            <a:r>
              <a:rPr lang="de-DE" dirty="0"/>
              <a:t>Im ersten Teil haben wir mit CDS View </a:t>
            </a:r>
            <a:r>
              <a:rPr lang="de-DE" dirty="0" err="1"/>
              <a:t>Entities</a:t>
            </a:r>
            <a:r>
              <a:rPr lang="de-DE" dirty="0"/>
              <a:t> ein zusammenhängendes Datenmodell für Kunden, Aufträge, Auftragspositionen und Produkte aufgebaut. Dabei ging es vor allem darum, Datenbanktabellen über CDS View </a:t>
            </a:r>
            <a:r>
              <a:rPr lang="de-DE" dirty="0" err="1"/>
              <a:t>Entities</a:t>
            </a:r>
            <a:r>
              <a:rPr lang="de-DE" dirty="0"/>
              <a:t> zugänglich zu machen, Beziehungen durch Assoziationen zu modellieren und den Zugriff mithilfe einer DCL-Rolle einzuschränken.</a:t>
            </a:r>
          </a:p>
          <a:p>
            <a:endParaRPr lang="de-DE" dirty="0"/>
          </a:p>
          <a:p>
            <a:r>
              <a:rPr lang="de-DE" dirty="0"/>
              <a:t>Heute entwickeln wir dieses Modell weiter. Es soll nicht mehr nur Daten bereitstellen, sondern auch fachliche Berechnungen übernehmen. Wir berechnen beispielsweise Brutto-, Rabatt- und Nettobeträge, verwenden eingebaute Funktionen, verdichten die Daten mit Aggregationen und vereinigen unterschiedliche Datenmengen.</a:t>
            </a:r>
          </a:p>
          <a:p>
            <a:endParaRPr lang="de-DE" dirty="0"/>
          </a:p>
          <a:p>
            <a:r>
              <a:rPr lang="de-DE" dirty="0"/>
              <a:t>Das gemeinsame Prinzip hinter diesen Techniken heißt Code </a:t>
            </a:r>
            <a:r>
              <a:rPr lang="de-DE" dirty="0" err="1"/>
              <a:t>Pushdown</a:t>
            </a:r>
            <a:r>
              <a:rPr lang="de-DE" dirty="0"/>
              <a:t>: Berechnungen werden möglichst dort ausgeführt, wo die Daten liegen – in unserem Fall in der SAP-HANA-Datenbank.</a:t>
            </a:r>
          </a:p>
          <a:p>
            <a:endParaRPr lang="de-DE" dirty="0"/>
          </a:p>
          <a:p>
            <a:r>
              <a:rPr lang="de-DE" dirty="0"/>
              <a:t>Am Ende des Workshops betrachten wir außerdem zwei Möglichkeiten, bestehende CDS View </a:t>
            </a:r>
            <a:r>
              <a:rPr lang="de-DE" dirty="0" err="1"/>
              <a:t>Entities</a:t>
            </a:r>
            <a:r>
              <a:rPr lang="de-DE" dirty="0"/>
              <a:t> modifikationsfrei zu erweitern: die View Extension und die </a:t>
            </a:r>
            <a:r>
              <a:rPr lang="de-DE" dirty="0" err="1"/>
              <a:t>Metadata</a:t>
            </a:r>
            <a:r>
              <a:rPr lang="de-DE" dirty="0"/>
              <a:t> Extension.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a:t>
            </a:fld>
            <a:endParaRPr lang="de-DE" dirty="0"/>
          </a:p>
        </p:txBody>
      </p:sp>
    </p:spTree>
    <p:extLst>
      <p:ext uri="{BB962C8B-B14F-4D97-AF65-F5344CB8AC3E}">
        <p14:creationId xmlns:p14="http://schemas.microsoft.com/office/powerpoint/2010/main" val="164424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heutiges Lernziel lässt sich in sechs Themen aufteilen.</a:t>
            </a:r>
          </a:p>
          <a:p>
            <a:endParaRPr lang="de-DE" dirty="0"/>
          </a:p>
          <a:p>
            <a:r>
              <a:rPr lang="de-DE" dirty="0"/>
              <a:t>Zunächst verwenden wir SQL-Ausdrücke in der Elementliste einer CDS View Entity. Damit können wir neue Elemente berechnen, obwohl es dafür kein physisches Feld in einer Datenbanktabelle gibt. Außerdem lernen wir den </a:t>
            </a:r>
            <a:r>
              <a:rPr lang="de-DE" sz="1200" kern="1200" dirty="0">
                <a:solidFill>
                  <a:schemeClr val="tx1"/>
                </a:solidFill>
                <a:latin typeface="+mn-lt"/>
                <a:ea typeface="+mn-ea"/>
                <a:cs typeface="+mn-cs"/>
              </a:rPr>
              <a:t>CASE</a:t>
            </a:r>
            <a:r>
              <a:rPr lang="de-DE" dirty="0"/>
              <a:t>-Ausdruck für fachliche Klassifikationen kennen.</a:t>
            </a:r>
          </a:p>
          <a:p>
            <a:endParaRPr lang="de-DE" dirty="0"/>
          </a:p>
          <a:p>
            <a:r>
              <a:rPr lang="de-DE" dirty="0"/>
              <a:t>Danach betrachten wir eingebaute Funktionen. CDS stellt Funktionen für Zeichenketten, Datumswerte, numerische Werte und Typkonvertierungen bereit.</a:t>
            </a:r>
          </a:p>
          <a:p>
            <a:endParaRPr lang="de-DE" dirty="0"/>
          </a:p>
          <a:p>
            <a:r>
              <a:rPr lang="de-DE" dirty="0"/>
              <a:t>Beim Rechnen mit Mengen und Beträgen genügt es allerdings nicht, nur den richtigen Zahlenwert zu erzeugen. Ein Betrag ist erst zusammen mit seiner Währung fachlich vollständig. Deshalb beschäftigen wir uns auch mit der Mengen- und Währungssemantik.</a:t>
            </a:r>
          </a:p>
          <a:p>
            <a:endParaRPr lang="de-DE" dirty="0"/>
          </a:p>
          <a:p>
            <a:r>
              <a:rPr lang="de-DE" dirty="0"/>
              <a:t>Im zweiten Kursteil verdichten wir Daten mit Aggregatfunktionen und </a:t>
            </a:r>
            <a:r>
              <a:rPr lang="de-DE" sz="1200" kern="1200" dirty="0">
                <a:solidFill>
                  <a:schemeClr val="tx1"/>
                </a:solidFill>
                <a:latin typeface="+mn-lt"/>
                <a:ea typeface="+mn-ea"/>
                <a:cs typeface="+mn-cs"/>
              </a:rPr>
              <a:t>GROUP BY</a:t>
            </a:r>
            <a:r>
              <a:rPr lang="de-DE" dirty="0"/>
              <a:t>. Anschließend führen wir zwei Auftragsmengen mit </a:t>
            </a:r>
            <a:r>
              <a:rPr lang="de-DE" sz="1200" kern="1200" dirty="0">
                <a:solidFill>
                  <a:schemeClr val="tx1"/>
                </a:solidFill>
                <a:latin typeface="+mn-lt"/>
                <a:ea typeface="+mn-ea"/>
                <a:cs typeface="+mn-cs"/>
              </a:rPr>
              <a:t>UNION ALL</a:t>
            </a:r>
            <a:r>
              <a:rPr lang="de-DE" dirty="0"/>
              <a:t> zusammen.</a:t>
            </a:r>
          </a:p>
          <a:p>
            <a:endParaRPr lang="de-DE" dirty="0"/>
          </a:p>
          <a:p>
            <a:r>
              <a:rPr lang="de-DE" dirty="0"/>
              <a:t>Zum Schluss verlassen wir das Thema Code </a:t>
            </a:r>
            <a:r>
              <a:rPr lang="de-DE" dirty="0" err="1"/>
              <a:t>Pushdown</a:t>
            </a:r>
            <a:r>
              <a:rPr lang="de-DE" dirty="0"/>
              <a:t> etwas und betrachten die Erweiterbarkeit. Wir ergänzen eine vorhandene View Entity um neue Elemente und versehen diese Elemente in einer getrennten </a:t>
            </a:r>
            <a:r>
              <a:rPr lang="de-DE" dirty="0" err="1"/>
              <a:t>Metadata</a:t>
            </a:r>
            <a:r>
              <a:rPr lang="de-DE" dirty="0"/>
              <a:t> Extension mit Beschriftungen.</a:t>
            </a:r>
          </a:p>
          <a:p>
            <a:endParaRPr lang="de-DE" dirty="0"/>
          </a:p>
          <a:p>
            <a:r>
              <a:rPr lang="de-DE" dirty="0"/>
              <a:t>Alle sechs Themen werden wir praktisch im Live-Coding umsetzen.</a:t>
            </a:r>
          </a:p>
        </p:txBody>
      </p:sp>
      <p:sp>
        <p:nvSpPr>
          <p:cNvPr id="4" name="Foliennummernplatzhalter 3"/>
          <p:cNvSpPr>
            <a:spLocks noGrp="1"/>
          </p:cNvSpPr>
          <p:nvPr>
            <p:ph type="sldNum" sz="quarter" idx="5"/>
          </p:nvPr>
        </p:nvSpPr>
        <p:spPr/>
        <p:txBody>
          <a:bodyPr/>
          <a:lstStyle/>
          <a:p>
            <a:fld id="{E9475E6B-8EF9-407D-AAC9-FC0EA114427C}" type="slidenum">
              <a:rPr lang="de-DE" smtClean="0"/>
              <a:t>2</a:t>
            </a:fld>
            <a:endParaRPr lang="de-DE" dirty="0"/>
          </a:p>
        </p:txBody>
      </p:sp>
    </p:spTree>
    <p:extLst>
      <p:ext uri="{BB962C8B-B14F-4D97-AF65-F5344CB8AC3E}">
        <p14:creationId xmlns:p14="http://schemas.microsoft.com/office/powerpoint/2010/main" val="223689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werden heute nicht sechs voneinander unabhängige Beispiele entwickeln. Die Live-</a:t>
            </a:r>
            <a:r>
              <a:rPr lang="de-DE" dirty="0" err="1"/>
              <a:t>Codings</a:t>
            </a:r>
            <a:r>
              <a:rPr lang="de-DE" dirty="0"/>
              <a:t> bauen aufeinander und auf dem Datenmodell aus Teil 1 auf.</a:t>
            </a:r>
          </a:p>
          <a:p>
            <a:endParaRPr lang="de-DE" dirty="0"/>
          </a:p>
          <a:p>
            <a:r>
              <a:rPr lang="de-DE" dirty="0"/>
              <a:t>In den ersten drei Live-</a:t>
            </a:r>
            <a:r>
              <a:rPr lang="de-DE" dirty="0" err="1"/>
              <a:t>Codings</a:t>
            </a:r>
            <a:r>
              <a:rPr lang="de-DE" dirty="0"/>
              <a:t> entsteht die View Entity </a:t>
            </a:r>
            <a:r>
              <a:rPr lang="de-DE" sz="1200" kern="1200" dirty="0" err="1">
                <a:solidFill>
                  <a:schemeClr val="tx1"/>
                </a:solidFill>
                <a:latin typeface="+mn-lt"/>
                <a:ea typeface="+mn-ea"/>
                <a:cs typeface="+mn-cs"/>
              </a:rPr>
              <a:t>ZI_CDSOrderItemCalc</a:t>
            </a:r>
            <a:r>
              <a:rPr lang="de-DE" dirty="0"/>
              <a:t>. Sie basiert auf den Auftragspositionen und ergänzt deren Daten zunächst um berechnete Beträge. Danach kommen Funktionen für Zeichenketten und Datumswerte hinzu. Im dritten Schritt vervollständigen wir die fachliche Semantik der berechneten Beträge.</a:t>
            </a:r>
          </a:p>
          <a:p>
            <a:endParaRPr lang="de-DE" dirty="0"/>
          </a:p>
          <a:p>
            <a:r>
              <a:rPr lang="de-DE" dirty="0"/>
              <a:t>Anschließend verwenden wir diese berechneten Positionswerte als Grundlage für eine Aggregation. Dabei ermitteln wir den Umsatz pro Kunde und Währung.</a:t>
            </a:r>
          </a:p>
          <a:p>
            <a:endParaRPr lang="de-DE" dirty="0"/>
          </a:p>
          <a:p>
            <a:r>
              <a:rPr lang="de-DE" dirty="0"/>
              <a:t>Danach sehen wir uns eine andere Form der Datenverarbeitung an. Wir teilen Aufträge nach ihrer Auftragsart in zwei Mengen und führen diese mit </a:t>
            </a:r>
            <a:r>
              <a:rPr lang="de-DE" sz="1200" kern="1200" dirty="0">
                <a:solidFill>
                  <a:schemeClr val="tx1"/>
                </a:solidFill>
                <a:latin typeface="+mn-lt"/>
                <a:ea typeface="+mn-ea"/>
                <a:cs typeface="+mn-cs"/>
              </a:rPr>
              <a:t>UNION ALL</a:t>
            </a:r>
            <a:r>
              <a:rPr lang="de-DE" dirty="0"/>
              <a:t> wieder zu einer gemeinsamen Ergebnismenge zusammen.</a:t>
            </a:r>
          </a:p>
          <a:p>
            <a:endParaRPr lang="de-DE" dirty="0"/>
          </a:p>
          <a:p>
            <a:r>
              <a:rPr lang="de-DE" dirty="0"/>
              <a:t>Im letzten Live-Coding erweitern wir die vorhandene </a:t>
            </a:r>
            <a:r>
              <a:rPr lang="de-DE" sz="1200" kern="1200" dirty="0" err="1">
                <a:solidFill>
                  <a:schemeClr val="tx1"/>
                </a:solidFill>
                <a:latin typeface="+mn-lt"/>
                <a:ea typeface="+mn-ea"/>
                <a:cs typeface="+mn-cs"/>
              </a:rPr>
              <a:t>ZI_CDSOrder</a:t>
            </a:r>
            <a:r>
              <a:rPr lang="de-DE" dirty="0"/>
              <a:t>. Dabei unterscheiden wir zwischen einer strukturellen Erweiterung der Elementliste und einer Erweiterung der Metadaten.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a:t>
            </a:fld>
            <a:endParaRPr lang="de-DE" dirty="0"/>
          </a:p>
        </p:txBody>
      </p:sp>
    </p:spTree>
    <p:extLst>
      <p:ext uri="{BB962C8B-B14F-4D97-AF65-F5344CB8AC3E}">
        <p14:creationId xmlns:p14="http://schemas.microsoft.com/office/powerpoint/2010/main" val="2706142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ist der Ausgangsstand aus Teil 1.</a:t>
            </a:r>
          </a:p>
          <a:p>
            <a:endParaRPr lang="de-DE" dirty="0"/>
          </a:p>
          <a:p>
            <a:r>
              <a:rPr lang="de-DE" dirty="0"/>
              <a:t>Die zentrale View Entity ist </a:t>
            </a:r>
            <a:r>
              <a:rPr lang="de-DE" sz="1200" kern="1200" dirty="0" err="1">
                <a:solidFill>
                  <a:schemeClr val="tx1"/>
                </a:solidFill>
                <a:latin typeface="+mn-lt"/>
                <a:ea typeface="+mn-ea"/>
                <a:cs typeface="+mn-cs"/>
              </a:rPr>
              <a:t>ZI_CDSOrder</a:t>
            </a:r>
            <a:r>
              <a:rPr lang="de-DE" dirty="0"/>
              <a:t>. Sie stellt die Auftragsdaten bereit und besitzt eine Assoziation zum Kunden. Über diese Assoziation können wir beispielsweise vom Auftrag auf den Kundennamen zugreifen.</a:t>
            </a:r>
          </a:p>
          <a:p>
            <a:endParaRPr lang="de-DE" dirty="0"/>
          </a:p>
          <a:p>
            <a:r>
              <a:rPr lang="de-DE" dirty="0"/>
              <a:t>Die Auftragspositionen werden durch </a:t>
            </a:r>
            <a:r>
              <a:rPr lang="de-DE" sz="1200" kern="1200" dirty="0" err="1">
                <a:solidFill>
                  <a:schemeClr val="tx1"/>
                </a:solidFill>
                <a:latin typeface="+mn-lt"/>
                <a:ea typeface="+mn-ea"/>
                <a:cs typeface="+mn-cs"/>
              </a:rPr>
              <a:t>ZI_CDSOrderItem</a:t>
            </a:r>
            <a:r>
              <a:rPr lang="de-DE" dirty="0"/>
              <a:t> bereitgestellt. Jede Position gehört zu einem Auftrag und verweist außerdem auf ein Produkt. Aus einer Auftragsposition heraus können wir daher über Pfadausdrücke sowohl Daten des Auftrags als auch Daten des Produkts lesen.</a:t>
            </a:r>
          </a:p>
          <a:p>
            <a:endParaRPr lang="de-DE" dirty="0"/>
          </a:p>
          <a:p>
            <a:r>
              <a:rPr lang="de-DE" dirty="0"/>
              <a:t>Diese Beziehungen sind für die heutigen Beispiele sehr wichtig. Wir müssen die Daten nicht erneut über explizite Joins zusammensuchen. In der neuen berechneten View können wir beispielsweise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Product.ProductName</a:t>
            </a:r>
            <a:r>
              <a:rPr lang="de-DE" dirty="0"/>
              <a:t> oder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Order.RequestedDate</a:t>
            </a:r>
            <a:r>
              <a:rPr lang="de-DE" dirty="0"/>
              <a:t> verwenden.</a:t>
            </a:r>
          </a:p>
          <a:p>
            <a:endParaRPr lang="de-DE" dirty="0"/>
          </a:p>
          <a:p>
            <a:r>
              <a:rPr lang="de-DE" dirty="0"/>
              <a:t>Außerdem haben wir im ersten Teil den Zugriff auf die Auftragsdaten mit einer DCL-Rolle geschützt. Dieser Schutz bleibt grundsätzlich bestehen. Code </a:t>
            </a:r>
            <a:r>
              <a:rPr lang="de-DE" dirty="0" err="1"/>
              <a:t>Pushdown</a:t>
            </a:r>
            <a:r>
              <a:rPr lang="de-DE" dirty="0"/>
              <a:t> ersetzt keine Berechtigungsprüfung. Berechnung, Datenmodellierung und Zugriffsschutz sind unterschiedliche Aufgaben, die zusammenwirken.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a:t>
            </a:fld>
            <a:endParaRPr lang="de-DE" dirty="0"/>
          </a:p>
        </p:txBody>
      </p:sp>
    </p:spTree>
    <p:extLst>
      <p:ext uri="{BB962C8B-B14F-4D97-AF65-F5344CB8AC3E}">
        <p14:creationId xmlns:p14="http://schemas.microsoft.com/office/powerpoint/2010/main" val="3382124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klassische ABAP-Lösung könnte ungefähr so aussehen.</a:t>
            </a:r>
          </a:p>
          <a:p>
            <a:endParaRPr lang="de-DE" dirty="0"/>
          </a:p>
          <a:p>
            <a:r>
              <a:rPr lang="de-DE" dirty="0"/>
              <a:t>Wir lesen zunächst die benötigten Rohdaten mit einer </a:t>
            </a:r>
            <a:r>
              <a:rPr lang="de-DE" sz="1200" kern="1200" dirty="0">
                <a:solidFill>
                  <a:schemeClr val="tx1"/>
                </a:solidFill>
                <a:latin typeface="+mn-lt"/>
                <a:ea typeface="+mn-ea"/>
                <a:cs typeface="+mn-cs"/>
              </a:rPr>
              <a:t>SELECT</a:t>
            </a:r>
            <a:r>
              <a:rPr lang="de-DE" dirty="0"/>
              <a:t>-Anweisung in eine interne Tabelle. Anschließend durchlaufen wir die Tabelle und berechnen für jede Position die benötigten Werte.</a:t>
            </a:r>
          </a:p>
          <a:p>
            <a:endParaRPr lang="de-DE" dirty="0"/>
          </a:p>
          <a:p>
            <a:r>
              <a:rPr lang="de-DE" dirty="0"/>
              <a:t>Das ist nicht grundsätzlich falsch. Für einzelne Datensätze oder sehr komplexe prozedurale Abläufe kann ABAP weiterhin der richtige Ort sein.</a:t>
            </a:r>
          </a:p>
          <a:p>
            <a:endParaRPr lang="de-DE" dirty="0"/>
          </a:p>
          <a:p>
            <a:r>
              <a:rPr lang="de-DE" dirty="0"/>
              <a:t>Problematisch wird dieser Ansatz, wenn große Datenmengen gelesen werden, obwohl die Anwendung nur ein gefiltertes oder aggregiertes Ergebnis benötigt. Dann werden Daten zunächst von der Datenbank zum ABAP Server übertragen, dort in internen Tabellen gehalten und anschließend verarbeitet.</a:t>
            </a:r>
          </a:p>
          <a:p>
            <a:endParaRPr lang="de-DE" dirty="0"/>
          </a:p>
          <a:p>
            <a:r>
              <a:rPr lang="de-DE" dirty="0"/>
              <a:t>Ein weiteres Problem betrifft die Wiederverwendung. Wenn mehrere Programme denselben Nettobetrag benötigen, könnte jedes Programm seine eigene Berechnung implementieren. Dadurch besteht die Gefahr, dass Rundung, Typkonvertierung oder Rabattbehandlung unterschiedlich umgesetzt werden.</a:t>
            </a:r>
          </a:p>
          <a:p>
            <a:endParaRPr lang="de-DE" dirty="0"/>
          </a:p>
          <a:p>
            <a:r>
              <a:rPr lang="de-DE" dirty="0"/>
              <a:t>Wenn die Berechnung stattdessen Bestandteil des CDS-Datenmodells ist, steht sie allen Konsumenten einheitlich zur Verfügung.</a:t>
            </a:r>
          </a:p>
          <a:p>
            <a:endParaRPr lang="de-DE" dirty="0"/>
          </a:p>
          <a:p>
            <a:r>
              <a:rPr lang="de-DE" dirty="0"/>
              <a:t>Dabei gilt aber nicht die pauschale Regel, dass jede Logik in die Datenbank gehört. CDS und SQL eignen sich besonders gut für mengenorientierte Verarbeitung: Berechnen, Filtern, Verknüpfen, Gruppieren und Aggregieren.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a:t>
            </a:fld>
            <a:endParaRPr lang="de-DE" dirty="0"/>
          </a:p>
        </p:txBody>
      </p:sp>
    </p:spTree>
    <p:extLst>
      <p:ext uri="{BB962C8B-B14F-4D97-AF65-F5344CB8AC3E}">
        <p14:creationId xmlns:p14="http://schemas.microsoft.com/office/powerpoint/2010/main" val="1349988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Code </a:t>
            </a:r>
            <a:r>
              <a:rPr lang="de-DE" dirty="0" err="1"/>
              <a:t>Pushdown</a:t>
            </a:r>
            <a:r>
              <a:rPr lang="de-DE" dirty="0"/>
              <a:t> bedeutet, datenintensive Operationen möglichst nahe an den Daten auszuführen.</a:t>
            </a:r>
          </a:p>
          <a:p>
            <a:endParaRPr lang="de-DE" dirty="0"/>
          </a:p>
          <a:p>
            <a:r>
              <a:rPr lang="de-DE" dirty="0"/>
              <a:t>Die Anwendung fordert dann nicht mehr sämtliche Rohdaten an, um sie anschließend selbst zu verarbeiten. Stattdessen beschreibt die CDS View Entity, welches fachliche Ergebnis benötigt wird. Die Datenbank übernimmt Berechnung, Filterung, Verknüpfung oder Aggregation und liefert das Ergebnis an den ABAP Server.</a:t>
            </a:r>
          </a:p>
          <a:p>
            <a:endParaRPr lang="de-DE" dirty="0"/>
          </a:p>
          <a:p>
            <a:r>
              <a:rPr lang="de-DE" dirty="0"/>
              <a:t>Das reduziert potenziell die zu übertragende Datenmenge und nutzt die Fähigkeiten der SAP-HANA-Datenbank. Besonders wichtig ist dabei die mengenorientierte Arbeitsweise: Wir beschreiben das gewünschte Ergebnis für eine Datenmenge, statt Datensatz für Datensatz in einer Schleife zu verarbeiten.</a:t>
            </a:r>
          </a:p>
          <a:p>
            <a:endParaRPr lang="de-DE" dirty="0"/>
          </a:p>
          <a:p>
            <a:r>
              <a:rPr lang="de-DE" dirty="0"/>
              <a:t>Code </a:t>
            </a:r>
            <a:r>
              <a:rPr lang="de-DE" dirty="0" err="1"/>
              <a:t>Pushdown</a:t>
            </a:r>
            <a:r>
              <a:rPr lang="de-DE" dirty="0"/>
              <a:t> hat außerdem einen Modellierungsaspekt. Ein berechnetes CDS-Element besitzt einen Namen und kann mit Metadaten versehen werden. Dadurch wird aus einem technischen Ausdruck ein wiederverwendbarer Bestandteil des fachlichen Datenmodells.</a:t>
            </a:r>
          </a:p>
          <a:p>
            <a:endParaRPr lang="de-DE" dirty="0"/>
          </a:p>
          <a:p>
            <a:r>
              <a:rPr lang="de-DE" dirty="0"/>
              <a:t>Wir sollten Code </a:t>
            </a:r>
            <a:r>
              <a:rPr lang="de-DE" dirty="0" err="1"/>
              <a:t>Pushdown</a:t>
            </a:r>
            <a:r>
              <a:rPr lang="de-DE" dirty="0"/>
              <a:t> trotzdem nicht als Selbstzweck betrachten. Komplexe prozedurale Abläufe, Zustandsänderungen oder Logik mit vielen aufeinanderfolgenden Verarbeitungsschritten bleiben häufig in ABAP besser verständlich. Heute konzentrieren wir uns auf Operationen, für die CDS und SQL besonders gut geeignet sind.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a:t>
            </a:fld>
            <a:endParaRPr lang="de-DE" dirty="0"/>
          </a:p>
        </p:txBody>
      </p:sp>
    </p:spTree>
    <p:extLst>
      <p:ext uri="{BB962C8B-B14F-4D97-AF65-F5344CB8AC3E}">
        <p14:creationId xmlns:p14="http://schemas.microsoft.com/office/powerpoint/2010/main" val="3125133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ersten Live-Coding legen wir die neue View Entity </a:t>
            </a:r>
            <a:r>
              <a:rPr lang="de-DE" sz="1200" kern="1200" dirty="0" err="1">
                <a:solidFill>
                  <a:schemeClr val="tx1"/>
                </a:solidFill>
                <a:latin typeface="+mn-lt"/>
                <a:ea typeface="+mn-ea"/>
                <a:cs typeface="+mn-cs"/>
              </a:rPr>
              <a:t>ZI_CDSOrderItemCalc</a:t>
            </a:r>
            <a:r>
              <a:rPr lang="de-DE" dirty="0"/>
              <a:t> an. Sie verwendet </a:t>
            </a:r>
            <a:r>
              <a:rPr lang="de-DE" sz="1200" kern="1200" dirty="0" err="1">
                <a:solidFill>
                  <a:schemeClr val="tx1"/>
                </a:solidFill>
                <a:latin typeface="+mn-lt"/>
                <a:ea typeface="+mn-ea"/>
                <a:cs typeface="+mn-cs"/>
              </a:rPr>
              <a:t>ZI_CDSOrderItem</a:t>
            </a:r>
            <a:r>
              <a:rPr lang="de-DE" dirty="0"/>
              <a:t> als Datenquelle und übernimmt zunächst die vorhandenen Positionsdaten.</a:t>
            </a:r>
          </a:p>
          <a:p>
            <a:endParaRPr lang="de-DE" dirty="0"/>
          </a:p>
          <a:p>
            <a:r>
              <a:rPr lang="de-DE" dirty="0"/>
              <a:t>Anschließend ergänzen wir drei berechnete Elemente: den Bruttobetrag, den Rabattbetrag und den Nettobetrag. Dabei werden wir bereits sehen, dass Berechnungen mit Mengen und Beträgen besondere Typ- und Semantikanforderungen besitzen.</a:t>
            </a:r>
          </a:p>
          <a:p>
            <a:endParaRPr lang="de-DE" dirty="0"/>
          </a:p>
          <a:p>
            <a:r>
              <a:rPr lang="de-DE" dirty="0"/>
              <a:t>Zum Schluss verwenden wir einen </a:t>
            </a:r>
            <a:r>
              <a:rPr lang="de-DE" sz="1200" kern="1200" dirty="0">
                <a:solidFill>
                  <a:schemeClr val="tx1"/>
                </a:solidFill>
                <a:latin typeface="+mn-lt"/>
                <a:ea typeface="+mn-ea"/>
                <a:cs typeface="+mn-cs"/>
              </a:rPr>
              <a:t>CASE</a:t>
            </a:r>
            <a:r>
              <a:rPr lang="de-DE" dirty="0"/>
              <a:t>-Ausdruck, um den numerischen Rabattwert in eine verständliche fachliche Kategorie zu übersetzen.</a:t>
            </a:r>
          </a:p>
          <a:p>
            <a:endParaRPr lang="de-DE" dirty="0"/>
          </a:p>
          <a:p>
            <a:r>
              <a:rPr lang="de-DE" dirty="0"/>
              <a:t>Die vollständige Betragssemantik ergänzen wir bewusst erst im dritten Live-Coding. Zunächst konzentrieren wir uns auf SQL-Ausdrücke, Rechenoperationen und Fallunterscheidungen.</a:t>
            </a:r>
          </a:p>
          <a:p>
            <a:endParaRPr lang="de-DE" dirty="0"/>
          </a:p>
          <a:p>
            <a:r>
              <a:rPr lang="de-DE" sz="1200" kern="1200" dirty="0" err="1">
                <a:solidFill>
                  <a:schemeClr val="tx1"/>
                </a:solidFill>
                <a:latin typeface="+mn-lt"/>
                <a:ea typeface="+mn-ea"/>
                <a:cs typeface="+mn-cs"/>
              </a:rPr>
              <a:t>get_numeric_value</a:t>
            </a:r>
            <a:r>
              <a:rPr lang="de-DE" dirty="0"/>
              <a:t> ist hier bewusst sinnvoll: Die Funktion entfernt für die Berechnung zunächst die Währungs- beziehungsweise Mengensemantik. Andernfalls kann die Multiplikation eines Betrags mit einer Menge zu semantischen Prüfmeldungen führen.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a:t>
            </a:fld>
            <a:endParaRPr lang="de-DE" dirty="0"/>
          </a:p>
        </p:txBody>
      </p:sp>
    </p:spTree>
    <p:extLst>
      <p:ext uri="{BB962C8B-B14F-4D97-AF65-F5344CB8AC3E}">
        <p14:creationId xmlns:p14="http://schemas.microsoft.com/office/powerpoint/2010/main" val="1284154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Demoskript für Live-Coding 1</a:t>
            </a:r>
          </a:p>
          <a:p>
            <a:r>
              <a:rPr lang="de-DE" b="1" dirty="0"/>
              <a:t>1. Neue Data Definition anlegen</a:t>
            </a:r>
          </a:p>
          <a:p>
            <a:r>
              <a:rPr lang="de-DE" dirty="0"/>
              <a:t>Im vorgesehenen Paket:</a:t>
            </a:r>
          </a:p>
          <a:p>
            <a:pPr rtl="0"/>
            <a:r>
              <a:rPr lang="de-DE" sz="1200" kern="1200" dirty="0">
                <a:solidFill>
                  <a:schemeClr val="tx1"/>
                </a:solidFill>
                <a:latin typeface="+mn-lt"/>
                <a:ea typeface="+mn-ea"/>
                <a:cs typeface="+mn-cs"/>
              </a:rPr>
              <a:t>Name: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Description: Order Item </a:t>
            </a:r>
            <a:r>
              <a:rPr lang="de-DE" sz="1200" kern="1200" dirty="0" err="1">
                <a:solidFill>
                  <a:schemeClr val="tx1"/>
                </a:solidFill>
                <a:latin typeface="+mn-lt"/>
                <a:ea typeface="+mn-ea"/>
                <a:cs typeface="+mn-cs"/>
              </a:rPr>
              <a:t>with</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Calculations</a:t>
            </a:r>
            <a:endParaRPr lang="de-DE" sz="1200" kern="1200" dirty="0">
              <a:solidFill>
                <a:schemeClr val="tx1"/>
              </a:solidFill>
              <a:latin typeface="+mn-lt"/>
              <a:ea typeface="+mn-ea"/>
              <a:cs typeface="+mn-cs"/>
            </a:endParaRPr>
          </a:p>
          <a:p>
            <a:r>
              <a:rPr lang="de-DE" dirty="0"/>
              <a:t>Leere Grundstruktur:</a:t>
            </a:r>
          </a:p>
          <a:p>
            <a:pPr rtl="0"/>
            <a:r>
              <a:rPr lang="de-DE" sz="1200" kern="1200" dirty="0">
                <a:solidFill>
                  <a:schemeClr val="tx1"/>
                </a:solidFill>
                <a:latin typeface="+mn-lt"/>
                <a:ea typeface="+mn-ea"/>
                <a:cs typeface="+mn-cs"/>
              </a:rPr>
              <a:t>@EndUserText.label: 'Order Item </a:t>
            </a:r>
            <a:r>
              <a:rPr lang="de-DE" sz="1200" kern="1200" dirty="0" err="1">
                <a:solidFill>
                  <a:schemeClr val="tx1"/>
                </a:solidFill>
                <a:latin typeface="+mn-lt"/>
                <a:ea typeface="+mn-ea"/>
                <a:cs typeface="+mn-cs"/>
              </a:rPr>
              <a:t>with</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Calculations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Erläuterung</a:t>
            </a:r>
            <a:endParaRPr lang="de-DE" dirty="0"/>
          </a:p>
          <a:p>
            <a:r>
              <a:rPr lang="de-DE" dirty="0"/>
              <a:t>Die neue View baut bewusst auf der vorhandenen CDS View Entity und nicht direkt auf der Datenbanktabelle auf. Dadurch können wir das Datenmodell aus Teil 1 wiederverwenden, einschließlich seiner Elementnamen und Assoziationen.</a:t>
            </a:r>
          </a:p>
          <a:p>
            <a:br>
              <a:rPr lang="de-DE" dirty="0"/>
            </a:br>
            <a:endParaRPr lang="de-DE" dirty="0"/>
          </a:p>
          <a:p>
            <a:r>
              <a:rPr lang="de-DE" b="1" dirty="0"/>
              <a:t>2. Schlüssel und Positionsdaten übernehmen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ItemNumber</a:t>
            </a:r>
            <a:r>
              <a:rPr lang="de-DE" dirty="0"/>
              <a:t> bilden gemeinsam den Schlüssel. </a:t>
            </a:r>
          </a:p>
          <a:p>
            <a:pPr lvl="0"/>
            <a:r>
              <a:rPr lang="de-DE" dirty="0"/>
              <a:t>Der Produktname wird über einen Pfadausdruck gelesen. </a:t>
            </a:r>
          </a:p>
          <a:p>
            <a:pPr lvl="0"/>
            <a:r>
              <a:rPr lang="de-DE" dirty="0"/>
              <a:t>Menge, Einheit, Preis, Währung und Rabatt sind die Ausgangswerte der Berechnung. </a:t>
            </a:r>
          </a:p>
          <a:p>
            <a:pPr lvl="0"/>
            <a:r>
              <a:rPr lang="de-DE" dirty="0"/>
              <a:t>Die bestehenden Assoziationen werden am Ende der Elementliste ebenfalls veröffentlicht. </a:t>
            </a:r>
          </a:p>
          <a:p>
            <a:br>
              <a:rPr lang="de-DE" dirty="0"/>
            </a:br>
            <a:endParaRPr lang="de-DE" dirty="0"/>
          </a:p>
          <a:p>
            <a:r>
              <a:rPr lang="de-DE" b="1" dirty="0"/>
              <a:t>3. Bruttobetrag ergänzen</a:t>
            </a:r>
          </a:p>
          <a:p>
            <a:r>
              <a:rPr lang="de-DE" dirty="0"/>
              <a:t>Zunächst kann die fachliche Formel besprochen werden:</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UnitPrice</a:t>
            </a:r>
            <a:endParaRPr lang="de-DE" sz="1200" kern="1200" dirty="0">
              <a:solidFill>
                <a:schemeClr val="tx1"/>
              </a:solidFill>
              <a:latin typeface="+mn-lt"/>
              <a:ea typeface="+mn-ea"/>
              <a:cs typeface="+mn-cs"/>
            </a:endParaRPr>
          </a:p>
          <a:p>
            <a:r>
              <a:rPr lang="de-DE" dirty="0"/>
              <a:t>Danach die tatsächlich benötigte CDS-Implementierung:</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r>
              <a:rPr lang="de-DE" b="1" dirty="0"/>
              <a:t>Hinweise für die Vorführung</a:t>
            </a:r>
            <a:endParaRPr lang="de-DE" dirty="0"/>
          </a:p>
          <a:p>
            <a:r>
              <a:rPr lang="de-DE" dirty="0"/>
              <a:t>Falls sinnvoll, zuerst kurz die direkte Multiplikation versuchen oder als Kommentar zeigen: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r>
              <a:rPr lang="de-DE" dirty="0"/>
              <a:t>Die dabei entstehenden Typ- oder Semantikmeldungen dienen als Überleitung zu </a:t>
            </a:r>
            <a:r>
              <a:rPr lang="de-DE" sz="1200" kern="1200" dirty="0" err="1">
                <a:solidFill>
                  <a:schemeClr val="tx1"/>
                </a:solidFill>
                <a:latin typeface="+mn-lt"/>
                <a:ea typeface="+mn-ea"/>
                <a:cs typeface="+mn-cs"/>
              </a:rPr>
              <a:t>get_numeric_value</a:t>
            </a:r>
            <a:r>
              <a:rPr lang="de-DE" dirty="0"/>
              <a:t> und </a:t>
            </a:r>
            <a:r>
              <a:rPr lang="de-DE" sz="1200" kern="1200" dirty="0">
                <a:solidFill>
                  <a:schemeClr val="tx1"/>
                </a:solidFill>
                <a:latin typeface="+mn-lt"/>
                <a:ea typeface="+mn-ea"/>
                <a:cs typeface="+mn-cs"/>
              </a:rPr>
              <a:t>cast</a:t>
            </a:r>
            <a:r>
              <a:rPr lang="de-DE" dirty="0"/>
              <a:t>. Den fehlerhaften Stand nicht unnötig lange stehen lassen.</a:t>
            </a:r>
          </a:p>
          <a:p>
            <a:br>
              <a:rPr lang="de-DE" dirty="0"/>
            </a:br>
            <a:endParaRPr lang="de-DE" dirty="0"/>
          </a:p>
          <a:p>
            <a:r>
              <a:rPr lang="de-DE" b="1" dirty="0"/>
              <a:t>4. Rabattbetrag ergänzen</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a:t>
            </a:r>
          </a:p>
          <a:p>
            <a:r>
              <a:rPr lang="de-DE" b="1" dirty="0"/>
              <a:t>Erläuterung</a:t>
            </a:r>
            <a:endParaRPr lang="de-DE" dirty="0"/>
          </a:p>
          <a:p>
            <a:r>
              <a:rPr lang="de-DE" dirty="0"/>
              <a:t>Der Rabattprozentsatz wird für das Zwischenergebnis in </a:t>
            </a:r>
            <a:r>
              <a:rPr lang="de-DE" sz="1200" kern="1200" dirty="0">
                <a:solidFill>
                  <a:schemeClr val="tx1"/>
                </a:solidFill>
                <a:latin typeface="+mn-lt"/>
                <a:ea typeface="+mn-ea"/>
                <a:cs typeface="+mn-cs"/>
              </a:rPr>
              <a:t>abap.decfloat34</a:t>
            </a:r>
            <a:r>
              <a:rPr lang="de-DE" dirty="0"/>
              <a:t> konvertiert. Das endgültige Ergebnis wird anschließend wieder auf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(15,2)</a:t>
            </a:r>
            <a:r>
              <a:rPr lang="de-DE" dirty="0"/>
              <a:t> gebracht.</a:t>
            </a:r>
          </a:p>
          <a:p>
            <a:br>
              <a:rPr lang="de-DE" dirty="0"/>
            </a:br>
            <a:endParaRPr lang="de-DE" dirty="0"/>
          </a:p>
          <a:p>
            <a:r>
              <a:rPr lang="de-DE" b="1" dirty="0"/>
              <a:t>5. Nettobetrag ergänzen</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r>
              <a:rPr lang="de-DE" b="1" dirty="0"/>
              <a:t>Erläuterung</a:t>
            </a:r>
            <a:endParaRPr lang="de-DE" dirty="0"/>
          </a:p>
          <a:p>
            <a:r>
              <a:rPr lang="de-DE" dirty="0"/>
              <a:t>Hier wird der Nettobetrag direkt mit dem verbleibenden Faktor berechnet:</a:t>
            </a:r>
          </a:p>
          <a:p>
            <a:pPr rtl="0"/>
            <a:r>
              <a:rPr lang="de-DE" sz="1200" kern="1200" dirty="0">
                <a:solidFill>
                  <a:schemeClr val="tx1"/>
                </a:solidFill>
                <a:latin typeface="+mn-lt"/>
                <a:ea typeface="+mn-ea"/>
                <a:cs typeface="+mn-cs"/>
              </a:rPr>
              <a:t>15 % Rabatt → Faktor 0,85</a:t>
            </a:r>
          </a:p>
          <a:p>
            <a:r>
              <a:rPr lang="de-DE" dirty="0"/>
              <a:t>Alternativ könnte der Nettobetrag als Bruttobetrag minus Rabattbetrag formuliert werden. Innerhalb derselben Elementliste können die zuvor vergebenen Aliasnamen jedoch nicht einfach als Operanden nachfolgender Elemente verwendet werden. Deshalb wird der Ausdruck hier vollständig formuliert.</a:t>
            </a:r>
          </a:p>
          <a:p>
            <a:br>
              <a:rPr lang="de-DE" dirty="0"/>
            </a:br>
            <a:endParaRPr lang="de-DE" dirty="0"/>
          </a:p>
          <a:p>
            <a:r>
              <a:rPr lang="de-DE" b="1" dirty="0"/>
              <a:t>6. Rabatt klassifizieren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 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'No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&lt;=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'Standard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'Special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DiscountCategory</a:t>
            </a:r>
            <a:r>
              <a:rPr lang="de-DE" sz="1200" kern="1200" dirty="0">
                <a:solidFill>
                  <a:schemeClr val="tx1"/>
                </a:solidFill>
                <a:latin typeface="+mn-lt"/>
                <a:ea typeface="+mn-ea"/>
                <a:cs typeface="+mn-cs"/>
              </a:rPr>
              <a:t>,</a:t>
            </a:r>
          </a:p>
          <a:p>
            <a:r>
              <a:rPr lang="de-DE" b="1" dirty="0"/>
              <a:t>Frage an die Teilnehmenden</a:t>
            </a:r>
            <a:endParaRPr lang="de-DE" dirty="0"/>
          </a:p>
          <a:p>
            <a:r>
              <a:rPr lang="de-DE" dirty="0"/>
              <a:t>In welche Kategorie fällt ein Rabatt von genau zehn Prozent?</a:t>
            </a:r>
          </a:p>
          <a:p>
            <a:r>
              <a:rPr lang="de-DE" dirty="0"/>
              <a:t>Erwartete Antwort: </a:t>
            </a:r>
            <a:r>
              <a:rPr lang="de-DE" sz="1200" kern="1200" dirty="0">
                <a:solidFill>
                  <a:schemeClr val="tx1"/>
                </a:solidFill>
                <a:latin typeface="+mn-lt"/>
                <a:ea typeface="+mn-ea"/>
                <a:cs typeface="+mn-cs"/>
              </a:rPr>
              <a:t>Standard </a:t>
            </a:r>
            <a:r>
              <a:rPr lang="de-DE" sz="1200" kern="1200" dirty="0" err="1">
                <a:solidFill>
                  <a:schemeClr val="tx1"/>
                </a:solidFill>
                <a:latin typeface="+mn-lt"/>
                <a:ea typeface="+mn-ea"/>
                <a:cs typeface="+mn-cs"/>
              </a:rPr>
              <a:t>discount</a:t>
            </a:r>
            <a:r>
              <a:rPr lang="de-DE" dirty="0"/>
              <a:t>, weil die zweite Bedingung </a:t>
            </a:r>
            <a:r>
              <a:rPr lang="de-DE" sz="1200" kern="1200" dirty="0">
                <a:solidFill>
                  <a:schemeClr val="tx1"/>
                </a:solidFill>
                <a:latin typeface="+mn-lt"/>
                <a:ea typeface="+mn-ea"/>
                <a:cs typeface="+mn-cs"/>
              </a:rPr>
              <a:t>&lt;= 10</a:t>
            </a:r>
            <a:r>
              <a:rPr lang="de-DE" dirty="0"/>
              <a:t> lautet.</a:t>
            </a:r>
          </a:p>
          <a:p>
            <a:br>
              <a:rPr lang="de-DE" dirty="0"/>
            </a:br>
            <a:endParaRPr lang="de-DE" dirty="0"/>
          </a:p>
          <a:p>
            <a:r>
              <a:rPr lang="de-DE" b="1" dirty="0"/>
              <a:t>7. Assoziationen veröffentlichen</a:t>
            </a:r>
          </a:p>
          <a:p>
            <a:pPr rtl="0"/>
            <a:r>
              <a:rPr lang="de-DE" sz="1200" kern="1200" dirty="0">
                <a:solidFill>
                  <a:schemeClr val="tx1"/>
                </a:solidFill>
                <a:latin typeface="+mn-lt"/>
                <a:ea typeface="+mn-ea"/>
                <a:cs typeface="+mn-cs"/>
              </a:rPr>
              <a:t>      _Order,</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r>
              <a:rPr lang="de-DE" dirty="0"/>
              <a:t>Damit lautet der vollständige Entwicklungsstand:</a:t>
            </a:r>
          </a:p>
          <a:p>
            <a:pPr rtl="0"/>
            <a:r>
              <a:rPr lang="de-DE" sz="1200" kern="1200" dirty="0">
                <a:solidFill>
                  <a:schemeClr val="tx1"/>
                </a:solidFill>
                <a:latin typeface="+mn-lt"/>
                <a:ea typeface="+mn-ea"/>
                <a:cs typeface="+mn-cs"/>
              </a:rPr>
              <a:t>@EndUserText.label: 'Order Item </a:t>
            </a:r>
            <a:r>
              <a:rPr lang="de-DE" sz="1200" kern="1200" dirty="0" err="1">
                <a:solidFill>
                  <a:schemeClr val="tx1"/>
                </a:solidFill>
                <a:latin typeface="+mn-lt"/>
                <a:ea typeface="+mn-ea"/>
                <a:cs typeface="+mn-cs"/>
              </a:rPr>
              <a:t>with</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Calculations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 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'No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&lt;= 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'Standard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'Special </a:t>
            </a:r>
            <a:r>
              <a:rPr lang="de-DE" sz="1200" kern="1200" dirty="0" err="1">
                <a:solidFill>
                  <a:schemeClr val="tx1"/>
                </a:solidFill>
                <a:latin typeface="+mn-lt"/>
                <a:ea typeface="+mn-ea"/>
                <a:cs typeface="+mn-cs"/>
              </a:rPr>
              <a:t>discount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DiscountCategory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_Order,</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br>
              <a:rPr lang="de-DE" dirty="0"/>
            </a:br>
            <a:endParaRPr lang="de-DE" dirty="0"/>
          </a:p>
          <a:p>
            <a:r>
              <a:rPr lang="de-DE" b="1" dirty="0"/>
              <a:t>8. Aktivieren und Datenvorschau öffnen</a:t>
            </a:r>
          </a:p>
          <a:p>
            <a:r>
              <a:rPr lang="de-DE" dirty="0"/>
              <a:t>In der Datenvorschau besonders zeigen:</a:t>
            </a:r>
          </a:p>
          <a:p>
            <a:pPr lvl="0"/>
            <a:r>
              <a:rPr lang="de-DE" sz="1200" kern="1200" dirty="0" err="1">
                <a:solidFill>
                  <a:schemeClr val="tx1"/>
                </a:solidFill>
                <a:latin typeface="+mn-lt"/>
                <a:ea typeface="+mn-ea"/>
                <a:cs typeface="+mn-cs"/>
              </a:rPr>
              <a:t>Quantity</a:t>
            </a:r>
            <a:r>
              <a:rPr lang="de-DE" dirty="0"/>
              <a:t> </a:t>
            </a:r>
          </a:p>
          <a:p>
            <a:pPr lvl="0"/>
            <a:r>
              <a:rPr lang="de-DE" sz="1200" kern="1200" dirty="0" err="1">
                <a:solidFill>
                  <a:schemeClr val="tx1"/>
                </a:solidFill>
                <a:latin typeface="+mn-lt"/>
                <a:ea typeface="+mn-ea"/>
                <a:cs typeface="+mn-cs"/>
              </a:rPr>
              <a:t>UnitPrice</a:t>
            </a:r>
            <a:r>
              <a:rPr lang="de-DE" dirty="0"/>
              <a:t> </a:t>
            </a:r>
          </a:p>
          <a:p>
            <a:pPr lvl="0"/>
            <a:r>
              <a:rPr lang="de-DE" sz="1200" kern="1200" dirty="0" err="1">
                <a:solidFill>
                  <a:schemeClr val="tx1"/>
                </a:solidFill>
                <a:latin typeface="+mn-lt"/>
                <a:ea typeface="+mn-ea"/>
                <a:cs typeface="+mn-cs"/>
              </a:rPr>
              <a:t>DiscountPercent</a:t>
            </a:r>
            <a:r>
              <a:rPr lang="de-DE" dirty="0"/>
              <a:t> </a:t>
            </a:r>
          </a:p>
          <a:p>
            <a:pPr lvl="0"/>
            <a:r>
              <a:rPr lang="de-DE" sz="1200" kern="1200" dirty="0" err="1">
                <a:solidFill>
                  <a:schemeClr val="tx1"/>
                </a:solidFill>
                <a:latin typeface="+mn-lt"/>
                <a:ea typeface="+mn-ea"/>
                <a:cs typeface="+mn-cs"/>
              </a:rPr>
              <a:t>GrossAmount</a:t>
            </a:r>
            <a:r>
              <a:rPr lang="de-DE" dirty="0"/>
              <a:t> </a:t>
            </a:r>
          </a:p>
          <a:p>
            <a:pPr lvl="0"/>
            <a:r>
              <a:rPr lang="de-DE" sz="1200" kern="1200" dirty="0" err="1">
                <a:solidFill>
                  <a:schemeClr val="tx1"/>
                </a:solidFill>
                <a:latin typeface="+mn-lt"/>
                <a:ea typeface="+mn-ea"/>
                <a:cs typeface="+mn-cs"/>
              </a:rPr>
              <a:t>DiscountAmount</a:t>
            </a:r>
            <a:r>
              <a:rPr lang="de-DE" dirty="0"/>
              <a:t> </a:t>
            </a:r>
          </a:p>
          <a:p>
            <a:pPr lvl="0"/>
            <a:r>
              <a:rPr lang="de-DE" sz="1200" kern="1200" dirty="0" err="1">
                <a:solidFill>
                  <a:schemeClr val="tx1"/>
                </a:solidFill>
                <a:latin typeface="+mn-lt"/>
                <a:ea typeface="+mn-ea"/>
                <a:cs typeface="+mn-cs"/>
              </a:rPr>
              <a:t>NetAmount</a:t>
            </a:r>
            <a:r>
              <a:rPr lang="de-DE" dirty="0"/>
              <a:t> </a:t>
            </a:r>
          </a:p>
          <a:p>
            <a:pPr lvl="0"/>
            <a:r>
              <a:rPr lang="de-DE" sz="1200" kern="1200" dirty="0" err="1">
                <a:solidFill>
                  <a:schemeClr val="tx1"/>
                </a:solidFill>
                <a:latin typeface="+mn-lt"/>
                <a:ea typeface="+mn-ea"/>
                <a:cs typeface="+mn-cs"/>
              </a:rPr>
              <a:t>DiscountCategory</a:t>
            </a:r>
            <a:r>
              <a:rPr lang="de-DE" dirty="0"/>
              <a:t> </a:t>
            </a:r>
          </a:p>
          <a:p>
            <a:r>
              <a:rPr lang="de-DE" dirty="0"/>
              <a:t>Mindestens je ein Beispiel auswählen für:</a:t>
            </a:r>
          </a:p>
          <a:p>
            <a:pPr lvl="0"/>
            <a:r>
              <a:rPr lang="de-DE" dirty="0"/>
              <a:t>keinen Rabatt </a:t>
            </a:r>
          </a:p>
          <a:p>
            <a:pPr lvl="0"/>
            <a:r>
              <a:rPr lang="de-DE" dirty="0"/>
              <a:t>Standardrabatt </a:t>
            </a:r>
          </a:p>
          <a:p>
            <a:pPr lvl="0"/>
            <a:r>
              <a:rPr lang="de-DE" dirty="0"/>
              <a:t>Sonderrabatt </a:t>
            </a:r>
          </a:p>
          <a:p>
            <a:r>
              <a:rPr lang="de-DE" b="1" dirty="0"/>
              <a:t>Mögliche Kontrollrechnung</a:t>
            </a:r>
            <a:endParaRPr lang="de-DE" dirty="0"/>
          </a:p>
          <a:p>
            <a:r>
              <a:rPr lang="de-DE" dirty="0"/>
              <a:t>Bei:</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5</a:t>
            </a:r>
          </a:p>
          <a:p>
            <a:pPr rtl="0"/>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 20,00</a:t>
            </a:r>
          </a:p>
          <a:p>
            <a:pPr rtl="0"/>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 10</a:t>
            </a:r>
          </a:p>
          <a:p>
            <a:r>
              <a:rPr lang="de-DE" dirty="0"/>
              <a:t>erwarten wir:</a:t>
            </a:r>
          </a:p>
          <a:p>
            <a:pPr rtl="0"/>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100,00</a:t>
            </a:r>
          </a:p>
          <a:p>
            <a:pPr rtl="0"/>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10,00</a:t>
            </a:r>
          </a:p>
          <a:p>
            <a:pPr rtl="0"/>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90,00</a:t>
            </a:r>
          </a:p>
          <a:p>
            <a:pPr rtl="0"/>
            <a:r>
              <a:rPr lang="de-DE" sz="1200" kern="1200" dirty="0" err="1">
                <a:solidFill>
                  <a:schemeClr val="tx1"/>
                </a:solidFill>
                <a:latin typeface="+mn-lt"/>
                <a:ea typeface="+mn-ea"/>
                <a:cs typeface="+mn-cs"/>
              </a:rPr>
              <a:t>DiscountCategory</a:t>
            </a:r>
            <a:r>
              <a:rPr lang="de-DE" sz="1200" kern="1200" dirty="0">
                <a:solidFill>
                  <a:schemeClr val="tx1"/>
                </a:solidFill>
                <a:latin typeface="+mn-lt"/>
                <a:ea typeface="+mn-ea"/>
                <a:cs typeface="+mn-cs"/>
              </a:rPr>
              <a:t>   = Standard </a:t>
            </a:r>
            <a:r>
              <a:rPr lang="de-DE" sz="1200" kern="1200" dirty="0" err="1">
                <a:solidFill>
                  <a:schemeClr val="tx1"/>
                </a:solidFill>
                <a:latin typeface="+mn-lt"/>
                <a:ea typeface="+mn-ea"/>
                <a:cs typeface="+mn-cs"/>
              </a:rPr>
              <a:t>discount</a:t>
            </a:r>
            <a:endParaRPr lang="de-DE" sz="1200" kern="1200" dirty="0">
              <a:solidFill>
                <a:schemeClr val="tx1"/>
              </a:solidFill>
              <a:latin typeface="+mn-lt"/>
              <a:ea typeface="+mn-ea"/>
              <a:cs typeface="+mn-cs"/>
            </a:endParaRPr>
          </a:p>
          <a:p>
            <a:br>
              <a:rPr lang="de-DE" dirty="0"/>
            </a:br>
            <a:endParaRPr lang="de-DE" dirty="0"/>
          </a:p>
          <a:p>
            <a:r>
              <a:rPr lang="de-DE" b="1" dirty="0"/>
              <a:t>Typische Stolperstellen im Live-Coding</a:t>
            </a:r>
          </a:p>
          <a:p>
            <a:r>
              <a:rPr lang="de-DE" b="1" dirty="0"/>
              <a:t>Semantische Prüfung bei Menge und Betrag</a:t>
            </a:r>
          </a:p>
          <a:p>
            <a:r>
              <a:rPr lang="de-DE" dirty="0"/>
              <a:t>Eine direkte Multiplikation kann aufgrund der Mengen- und Betragssemantik beanstandet werden. Daher:</a:t>
            </a:r>
          </a:p>
          <a:p>
            <a:pPr rtl="0"/>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r>
              <a:rPr lang="de-DE" b="1" dirty="0"/>
              <a:t>Numerischer Typ des Rabattprozentsatzes</a:t>
            </a:r>
          </a:p>
          <a:p>
            <a:r>
              <a:rPr lang="de-DE" dirty="0"/>
              <a:t>Für die Berechnung wird der Prozentwert konvertiert:</a:t>
            </a:r>
          </a:p>
          <a:p>
            <a:pPr rtl="0"/>
            <a:r>
              <a:rPr lang="de-DE" sz="1200" kern="1200" dirty="0">
                <a:solidFill>
                  <a:schemeClr val="tx1"/>
                </a:solidFill>
                <a:latin typeface="+mn-lt"/>
                <a:ea typeface="+mn-ea"/>
                <a:cs typeface="+mn-cs"/>
              </a:rPr>
              <a:t>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r>
              <a:rPr lang="de-DE" b="1" dirty="0"/>
              <a:t>Länge der </a:t>
            </a:r>
            <a:r>
              <a:rPr lang="de-DE" sz="1200" b="1" kern="1200" dirty="0">
                <a:solidFill>
                  <a:schemeClr val="tx1"/>
                </a:solidFill>
                <a:latin typeface="+mn-lt"/>
                <a:ea typeface="+mn-ea"/>
                <a:cs typeface="+mn-cs"/>
              </a:rPr>
              <a:t>CASE</a:t>
            </a:r>
            <a:r>
              <a:rPr lang="de-DE" b="1" dirty="0"/>
              <a:t>-Ergebnisse</a:t>
            </a:r>
          </a:p>
          <a:p>
            <a:r>
              <a:rPr lang="de-DE" dirty="0"/>
              <a:t>Die Textliterale besitzen unterschiedliche Längen. CDS bestimmt daraus einen gemeinsamen Ergebnistyp. Für die Datenvorschau ist das unproblematisch; bei einer stabilen öffentlichen Schnittstelle könnte ein expliziter </a:t>
            </a:r>
            <a:r>
              <a:rPr lang="de-DE" sz="1200" kern="1200" dirty="0">
                <a:solidFill>
                  <a:schemeClr val="tx1"/>
                </a:solidFill>
                <a:latin typeface="+mn-lt"/>
                <a:ea typeface="+mn-ea"/>
                <a:cs typeface="+mn-cs"/>
              </a:rPr>
              <a:t>cast</a:t>
            </a:r>
            <a:r>
              <a:rPr lang="de-DE" dirty="0"/>
              <a:t> sinnvoll sein.</a:t>
            </a:r>
          </a:p>
          <a:p>
            <a:r>
              <a:rPr lang="de-DE" b="1" dirty="0"/>
              <a:t>Fehlende Währungsanzeige</a:t>
            </a:r>
          </a:p>
          <a:p>
            <a:r>
              <a:rPr lang="de-DE" dirty="0"/>
              <a:t>Die berechneten Beträge haben nach diesem Entwicklungsstand noch keine eigene Betragssemantik. Das ist kein versehentlich ausgelassener Schritt, sondern Gegenstand von Live-Coding 3.</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a:t>
            </a:fld>
            <a:endParaRPr lang="de-DE" dirty="0"/>
          </a:p>
        </p:txBody>
      </p:sp>
    </p:spTree>
    <p:extLst>
      <p:ext uri="{BB962C8B-B14F-4D97-AF65-F5344CB8AC3E}">
        <p14:creationId xmlns:p14="http://schemas.microsoft.com/office/powerpoint/2010/main" val="1340489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neue View Entity ergänzt die vorhandenen Auftragspositionen um vier fachlich relevante Informationen.</a:t>
            </a:r>
          </a:p>
          <a:p>
            <a:endParaRPr lang="de-DE" dirty="0"/>
          </a:p>
          <a:p>
            <a:r>
              <a:rPr lang="de-DE" dirty="0"/>
              <a:t>Die drei Beträge werden aus Menge, Einzelpreis und Rabatt berechnet. Der </a:t>
            </a:r>
            <a:r>
              <a:rPr lang="de-DE" sz="1200" kern="1200" dirty="0">
                <a:solidFill>
                  <a:schemeClr val="tx1"/>
                </a:solidFill>
                <a:latin typeface="+mn-lt"/>
                <a:ea typeface="+mn-ea"/>
                <a:cs typeface="+mn-cs"/>
              </a:rPr>
              <a:t>CASE</a:t>
            </a:r>
            <a:r>
              <a:rPr lang="de-DE" dirty="0"/>
              <a:t>-Ausdruck übersetzt den numerischen Rabatt außerdem in eine fachlich verständliche Kategorie.</a:t>
            </a:r>
          </a:p>
          <a:p>
            <a:endParaRPr lang="de-DE" dirty="0"/>
          </a:p>
          <a:p>
            <a:r>
              <a:rPr lang="de-DE" dirty="0"/>
              <a:t>Die gesamte Logik wird in der Datenbank ausgeführt. Wir benötigen weder eine interne Tabelle noch eine Schleife auf dem ABAP Server. Gleichzeitig steht die Berechnung allen Konsumenten der neuen View Entity einheitlich zur Verfügung.</a:t>
            </a:r>
          </a:p>
          <a:p>
            <a:endParaRPr lang="de-DE" dirty="0"/>
          </a:p>
          <a:p>
            <a:r>
              <a:rPr lang="de-DE" dirty="0"/>
              <a:t>Wir haben dabei bereits zwei eingebaute Funktionen verwendet: </a:t>
            </a:r>
            <a:r>
              <a:rPr lang="de-DE" sz="1200" kern="1200" dirty="0" err="1">
                <a:solidFill>
                  <a:schemeClr val="tx1"/>
                </a:solidFill>
                <a:latin typeface="+mn-lt"/>
                <a:ea typeface="+mn-ea"/>
                <a:cs typeface="+mn-cs"/>
              </a:rPr>
              <a:t>get_numeric_value</a:t>
            </a:r>
            <a:r>
              <a:rPr lang="de-DE" dirty="0"/>
              <a:t> und </a:t>
            </a:r>
            <a:r>
              <a:rPr lang="de-DE" sz="1200" kern="1200" dirty="0">
                <a:solidFill>
                  <a:schemeClr val="tx1"/>
                </a:solidFill>
                <a:latin typeface="+mn-lt"/>
                <a:ea typeface="+mn-ea"/>
                <a:cs typeface="+mn-cs"/>
              </a:rPr>
              <a:t>cast</a:t>
            </a:r>
            <a:r>
              <a:rPr lang="de-DE" dirty="0"/>
              <a:t>. CDS bietet jedoch noch zahlreiche weitere Funktionen, beispielsweise für Zeichenketten und Datumswerte.</a:t>
            </a:r>
          </a:p>
          <a:p>
            <a:endParaRPr lang="de-DE" dirty="0"/>
          </a:p>
          <a:p>
            <a:r>
              <a:rPr lang="de-DE" dirty="0"/>
              <a:t>Genau darum geht es im nächsten Abschnitt. Wir ergänzen den Produktnamen um eine formatierte Positionsbeschreibung und werten Auftragsdatum sowie gewünschten Liefertermin aus.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10</a:t>
            </a:fld>
            <a:endParaRPr lang="de-DE" dirty="0"/>
          </a:p>
        </p:txBody>
      </p:sp>
    </p:spTree>
    <p:extLst>
      <p:ext uri="{BB962C8B-B14F-4D97-AF65-F5344CB8AC3E}">
        <p14:creationId xmlns:p14="http://schemas.microsoft.com/office/powerpoint/2010/main" val="2430223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ersten Live-Coding haben wir bereits zwei eingebaute Funktionen verwendet: </a:t>
            </a:r>
            <a:r>
              <a:rPr lang="de-DE" sz="1200" kern="1200" dirty="0" err="1">
                <a:solidFill>
                  <a:schemeClr val="tx1"/>
                </a:solidFill>
                <a:latin typeface="+mn-lt"/>
                <a:ea typeface="+mn-ea"/>
                <a:cs typeface="+mn-cs"/>
              </a:rPr>
              <a:t>get_numeric_value</a:t>
            </a:r>
            <a:r>
              <a:rPr lang="de-DE" dirty="0"/>
              <a:t> und </a:t>
            </a:r>
            <a:r>
              <a:rPr lang="de-DE" sz="1200" kern="1200" dirty="0">
                <a:solidFill>
                  <a:schemeClr val="tx1"/>
                </a:solidFill>
                <a:latin typeface="+mn-lt"/>
                <a:ea typeface="+mn-ea"/>
                <a:cs typeface="+mn-cs"/>
              </a:rPr>
              <a:t>cast</a:t>
            </a:r>
            <a:r>
              <a:rPr lang="de-DE" dirty="0"/>
              <a:t>.</a:t>
            </a:r>
          </a:p>
          <a:p>
            <a:endParaRPr lang="de-DE" dirty="0"/>
          </a:p>
          <a:p>
            <a:r>
              <a:rPr lang="de-DE" dirty="0"/>
              <a:t>CDS stellt darüber hinaus Funktionen für Zeichenketten, Datums- und Zeitwerte sowie numerische Werte bereit. Diese Funktionen werden direkt in der Elementliste oder in anderen SQL-Ausdrücken aufgerufen.</a:t>
            </a:r>
          </a:p>
          <a:p>
            <a:endParaRPr lang="de-DE" dirty="0"/>
          </a:p>
          <a:p>
            <a:r>
              <a:rPr lang="de-DE" dirty="0"/>
              <a:t>Eine Zeichenkettenfunktion kann beispielsweise einen Produktnamen in Großbuchstaben umwandeln oder mehrere Texte miteinander verbinden. Datumsfunktionen können ermitteln, wie viele Tage zwischen zwei Datumswerten liegen.</a:t>
            </a:r>
          </a:p>
          <a:p>
            <a:endParaRPr lang="de-DE" dirty="0"/>
          </a:p>
          <a:p>
            <a:r>
              <a:rPr lang="de-DE" dirty="0"/>
              <a:t>Mit </a:t>
            </a:r>
            <a:r>
              <a:rPr lang="de-DE" sz="1200" kern="1200" dirty="0">
                <a:solidFill>
                  <a:schemeClr val="tx1"/>
                </a:solidFill>
                <a:latin typeface="+mn-lt"/>
                <a:ea typeface="+mn-ea"/>
                <a:cs typeface="+mn-cs"/>
              </a:rPr>
              <a:t>cast</a:t>
            </a:r>
            <a:r>
              <a:rPr lang="de-DE" dirty="0"/>
              <a:t> konvertieren wir einen Wert in einen ausdrücklich angegebenen Datentyp. Das benötigen wir nicht nur bei numerischen Berechnungen. Soll beispielsweise eine numerische Positionsnummer in einen Beschreibungstext aufgenommen werden, muss sie zuvor in einen zeichenartigen Datentyp konvertiert werden.</a:t>
            </a:r>
          </a:p>
          <a:p>
            <a:endParaRPr lang="de-DE" dirty="0"/>
          </a:p>
          <a:p>
            <a:r>
              <a:rPr lang="de-DE" dirty="0"/>
              <a:t>Funktionen können außerdem verschachtelt werden. Das Ergebnis einer Funktion wird dann zum Argument einer anderen Funktion. Dadurch lassen sich auch komplexere Ausdrücke formulieren.</a:t>
            </a:r>
          </a:p>
          <a:p>
            <a:endParaRPr lang="de-DE" dirty="0"/>
          </a:p>
          <a:p>
            <a:r>
              <a:rPr lang="de-DE" dirty="0"/>
              <a:t>Wie bei allen Code-</a:t>
            </a:r>
            <a:r>
              <a:rPr lang="de-DE" dirty="0" err="1"/>
              <a:t>Pushdown</a:t>
            </a:r>
            <a:r>
              <a:rPr lang="de-DE" dirty="0"/>
              <a:t>-Techniken gilt: Die Funktion wird für die gesamte von der Abfrage verarbeitete Datenmenge in der Datenbank ausgeführt.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11</a:t>
            </a:fld>
            <a:endParaRPr lang="de-DE" dirty="0"/>
          </a:p>
        </p:txBody>
      </p:sp>
    </p:spTree>
    <p:extLst>
      <p:ext uri="{BB962C8B-B14F-4D97-AF65-F5344CB8AC3E}">
        <p14:creationId xmlns:p14="http://schemas.microsoft.com/office/powerpoint/2010/main" val="1544694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Zeichenkettenfunktionen helfen uns, vorhandene Texte aufzubereiten oder neue Anzeigeelemente zu erzeugen.</a:t>
            </a:r>
          </a:p>
          <a:p>
            <a:endParaRPr lang="de-DE" dirty="0"/>
          </a:p>
          <a:p>
            <a:r>
              <a:rPr lang="de-DE" dirty="0"/>
              <a:t>Mit </a:t>
            </a:r>
            <a:r>
              <a:rPr lang="de-DE" sz="1200" kern="1200" dirty="0" err="1">
                <a:solidFill>
                  <a:schemeClr val="tx1"/>
                </a:solidFill>
                <a:latin typeface="+mn-lt"/>
                <a:ea typeface="+mn-ea"/>
                <a:cs typeface="+mn-cs"/>
              </a:rPr>
              <a:t>upper</a:t>
            </a:r>
            <a:r>
              <a:rPr lang="de-DE" dirty="0"/>
              <a:t> wandeln wir den Produktnamen in Großbuchstaben um. Eine solche Umwandlung kann beispielsweise für eine technische Klassifikation oder eine vereinheitlichte Darstellung sinnvoll sein. Die Originaldaten werden dabei nicht verändert. Lediglich das Ergebnis der View Entity enthält das zusätzliche berechnete Element.</a:t>
            </a:r>
          </a:p>
          <a:p>
            <a:endParaRPr lang="de-DE" dirty="0"/>
          </a:p>
          <a:p>
            <a:r>
              <a:rPr lang="de-DE" dirty="0"/>
              <a:t>Mit </a:t>
            </a:r>
            <a:r>
              <a:rPr lang="de-DE" sz="1200" kern="1200" dirty="0" err="1">
                <a:solidFill>
                  <a:schemeClr val="tx1"/>
                </a:solidFill>
                <a:latin typeface="+mn-lt"/>
                <a:ea typeface="+mn-ea"/>
                <a:cs typeface="+mn-cs"/>
              </a:rPr>
              <a:t>concat_with_space</a:t>
            </a:r>
            <a:r>
              <a:rPr lang="de-DE" dirty="0"/>
              <a:t> verbinden wir die Produktnummer und den Produktnamen. Das dritte Argument gibt an, wie viele Leerzeichen zwischen den beiden Werten eingefügt werden. In unserem Beispiel ist das genau ein Leerzeichen.</a:t>
            </a:r>
          </a:p>
          <a:p>
            <a:endParaRPr lang="de-DE" dirty="0"/>
          </a:p>
          <a:p>
            <a:r>
              <a:rPr lang="de-DE" dirty="0"/>
              <a:t>Das Ergebnis ist eine kompakte Produktbeschreibung, die sowohl den technischen Schlüssel als auch den verständlichen Namen enthält.</a:t>
            </a:r>
          </a:p>
          <a:p>
            <a:endParaRPr lang="de-DE" dirty="0"/>
          </a:p>
          <a:p>
            <a:r>
              <a:rPr lang="de-DE" dirty="0"/>
              <a:t>Die Verkettung könnte selbstverständlich auch in einer Benutzeroberfläche erfolgen. Wenn dieselbe Produktbeschreibung aber von mehreren Anwendungen benötigt wird, kann ein zentral definiertes CDS-Element sinnvoll sein.</a:t>
            </a:r>
          </a:p>
          <a:p>
            <a:endParaRPr lang="de-DE" dirty="0"/>
          </a:p>
          <a:p>
            <a:r>
              <a:rPr lang="de-DE" dirty="0"/>
              <a:t>Dabei sollte man Anzeigeformatierung und Fachlogik trotzdem unterscheiden. Sprachabhängige Texte oder sehr spezifische Darstellungsregeln gehören häufig eher in die Benutzeroberfläche. Eine allgemein wiederverwendbare Beschreibung kann dagegen gut Bestandteil des CDS-Modells sein.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12</a:t>
            </a:fld>
            <a:endParaRPr lang="de-DE" dirty="0"/>
          </a:p>
        </p:txBody>
      </p:sp>
    </p:spTree>
    <p:extLst>
      <p:ext uri="{BB962C8B-B14F-4D97-AF65-F5344CB8AC3E}">
        <p14:creationId xmlns:p14="http://schemas.microsoft.com/office/powerpoint/2010/main" val="4199727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Nicht jeder Datentyp kann als Argument jeder Funktion verwendet werden.</a:t>
            </a:r>
          </a:p>
          <a:p>
            <a:endParaRPr lang="de-DE" dirty="0"/>
          </a:p>
          <a:p>
            <a:r>
              <a:rPr lang="de-DE" dirty="0"/>
              <a:t>Unsere Positionsnummer ist ein numerischer Wert. Eine Zeichenkettenfunktion erwartet jedoch zeichenartige Operanden. Deshalb konvertieren wir die Positionsnummer zunächst mit </a:t>
            </a:r>
            <a:r>
              <a:rPr lang="de-DE" sz="1200" kern="1200" dirty="0">
                <a:solidFill>
                  <a:schemeClr val="tx1"/>
                </a:solidFill>
                <a:latin typeface="+mn-lt"/>
                <a:ea typeface="+mn-ea"/>
                <a:cs typeface="+mn-cs"/>
              </a:rPr>
              <a:t>cast</a:t>
            </a:r>
            <a:r>
              <a:rPr lang="de-DE" dirty="0"/>
              <a:t> in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(6)</a:t>
            </a:r>
            <a:r>
              <a:rPr lang="de-DE" dirty="0"/>
              <a:t>.</a:t>
            </a:r>
          </a:p>
          <a:p>
            <a:endParaRPr lang="de-DE" dirty="0"/>
          </a:p>
          <a:p>
            <a:r>
              <a:rPr lang="de-DE" dirty="0"/>
              <a:t>Anschließend kann sie gemeinsam mit einem Textliteral an </a:t>
            </a:r>
            <a:r>
              <a:rPr lang="de-DE" sz="1200" kern="1200" dirty="0" err="1">
                <a:solidFill>
                  <a:schemeClr val="tx1"/>
                </a:solidFill>
                <a:latin typeface="+mn-lt"/>
                <a:ea typeface="+mn-ea"/>
                <a:cs typeface="+mn-cs"/>
              </a:rPr>
              <a:t>concat_with_space</a:t>
            </a:r>
            <a:r>
              <a:rPr lang="de-DE" dirty="0"/>
              <a:t> übergeben werden. So entsteht beispielsweise die Beschreibung </a:t>
            </a:r>
            <a:r>
              <a:rPr lang="de-DE" sz="1200" kern="1200" dirty="0">
                <a:solidFill>
                  <a:schemeClr val="tx1"/>
                </a:solidFill>
                <a:latin typeface="+mn-lt"/>
                <a:ea typeface="+mn-ea"/>
                <a:cs typeface="+mn-cs"/>
              </a:rPr>
              <a:t>Item 10</a:t>
            </a:r>
            <a:r>
              <a:rPr lang="de-DE" dirty="0"/>
              <a:t>.</a:t>
            </a:r>
          </a:p>
          <a:p>
            <a:endParaRPr lang="de-DE" dirty="0"/>
          </a:p>
          <a:p>
            <a:r>
              <a:rPr lang="de-DE" dirty="0"/>
              <a:t>Die Konvertierung betrifft ausschließlich das berechnete Element. Die Positionsnummer selbst bleibt in der Datenquelle unverändert und behält auch in der View Entity ihren ursprünglichen Datentyp.</a:t>
            </a:r>
          </a:p>
          <a:p>
            <a:endParaRPr lang="de-DE" dirty="0"/>
          </a:p>
          <a:p>
            <a:r>
              <a:rPr lang="de-DE" dirty="0"/>
              <a:t>Bei der Wahl des </a:t>
            </a:r>
            <a:r>
              <a:rPr lang="de-DE" dirty="0" err="1"/>
              <a:t>Zieltyps</a:t>
            </a:r>
            <a:r>
              <a:rPr lang="de-DE" dirty="0"/>
              <a:t> müssen wir eine ausreichende Länge vorsehen. Ist der </a:t>
            </a:r>
            <a:r>
              <a:rPr lang="de-DE" dirty="0" err="1"/>
              <a:t>Zieltyp</a:t>
            </a:r>
            <a:r>
              <a:rPr lang="de-DE" dirty="0"/>
              <a:t> zu kurz, kann der Wert nicht vollständig dargestellt werden oder die Aktivierung wird bereits wegen einer unzulässigen Konvertierung abgelehnt.</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cast</a:t>
            </a:r>
            <a:r>
              <a:rPr lang="de-DE" dirty="0"/>
              <a:t> erfüllt damit zwei verschiedene Aufgaben in unserem Beispielmodell:</a:t>
            </a:r>
          </a:p>
          <a:p>
            <a:pPr marL="171450" lvl="0" indent="-171450">
              <a:buFont typeface="Arial" panose="020B0604020202020204" pitchFamily="34" charset="0"/>
              <a:buChar char="•"/>
            </a:pPr>
            <a:r>
              <a:rPr lang="de-DE" dirty="0"/>
              <a:t>Bei den Betragsberechnungen legt es den numerischen Ergebnistyp fest. </a:t>
            </a:r>
          </a:p>
          <a:p>
            <a:pPr marL="171450" lvl="0" indent="-171450">
              <a:buFont typeface="Arial" panose="020B0604020202020204" pitchFamily="34" charset="0"/>
              <a:buChar char="•"/>
            </a:pPr>
            <a:r>
              <a:rPr lang="de-DE" dirty="0"/>
              <a:t>Bei der Positionsbeschreibung macht es einen numerischen Wert für eine Zeichenkettenfunktion verwendbar.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13</a:t>
            </a:fld>
            <a:endParaRPr lang="de-DE" dirty="0"/>
          </a:p>
        </p:txBody>
      </p:sp>
    </p:spTree>
    <p:extLst>
      <p:ext uri="{BB962C8B-B14F-4D97-AF65-F5344CB8AC3E}">
        <p14:creationId xmlns:p14="http://schemas.microsoft.com/office/powerpoint/2010/main" val="2839968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err="1">
                <a:solidFill>
                  <a:schemeClr val="tx1"/>
                </a:solidFill>
                <a:latin typeface="+mn-lt"/>
                <a:ea typeface="+mn-ea"/>
                <a:cs typeface="+mn-cs"/>
              </a:rPr>
              <a:t>dats_days_between</a:t>
            </a:r>
            <a:r>
              <a:rPr lang="de-DE" dirty="0"/>
              <a:t> berechnen wir die Anzahl der Tage zwischen zwei Datumswerten.</a:t>
            </a:r>
          </a:p>
          <a:p>
            <a:endParaRPr lang="de-DE" dirty="0"/>
          </a:p>
          <a:p>
            <a:r>
              <a:rPr lang="de-DE" dirty="0"/>
              <a:t>Die Reihenfolge der Argumente ist dabei entscheidend. Vereinfacht liefert die Funktion das zweite Datum abzüglich des ersten Datums.</a:t>
            </a:r>
          </a:p>
          <a:p>
            <a:endParaRPr lang="de-DE" dirty="0"/>
          </a:p>
          <a:p>
            <a:r>
              <a:rPr lang="de-DE" dirty="0"/>
              <a:t>Für das Alter des Auftrags verwenden wir daher zuerst das Auftragsdatum und anschließend das aktuelle Systemdatum. Das Ergebnis gibt an, wie viele Tage seit der Auftragserfassung vergangen sind.</a:t>
            </a:r>
          </a:p>
          <a:p>
            <a:endParaRPr lang="de-DE" dirty="0"/>
          </a:p>
          <a:p>
            <a:r>
              <a:rPr lang="de-DE" dirty="0"/>
              <a:t>Beim gewünschten Liefertermin drehen wir die Betrachtungsrichtung um. Wir verwenden zuerst das aktuelle Systemdatum und danach </a:t>
            </a:r>
            <a:r>
              <a:rPr lang="de-DE" sz="1200" kern="1200" dirty="0" err="1">
                <a:solidFill>
                  <a:schemeClr val="tx1"/>
                </a:solidFill>
                <a:latin typeface="+mn-lt"/>
                <a:ea typeface="+mn-ea"/>
                <a:cs typeface="+mn-cs"/>
              </a:rPr>
              <a:t>RequestedDate</a:t>
            </a:r>
            <a:r>
              <a:rPr lang="de-DE" dirty="0"/>
              <a:t>. Ein positives Ergebnis bedeutet somit, dass der gewünschte Termin noch in der Zukunft liegt. Null bedeutet, dass der Termin heute ist. Ein negativer Wert weist auf einen bereits überschrittenen Termin hin.</a:t>
            </a:r>
          </a:p>
          <a:p>
            <a:endParaRPr lang="de-DE" dirty="0"/>
          </a:p>
          <a:p>
            <a:r>
              <a:rPr lang="de-DE" dirty="0"/>
              <a:t>Das aktuelle Datum erhalten wir aus der Sitzung:</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session.system_date</a:t>
            </a:r>
            <a:endParaRPr lang="de-DE" sz="1200" kern="1200" dirty="0">
              <a:solidFill>
                <a:schemeClr val="tx1"/>
              </a:solidFill>
              <a:latin typeface="+mn-lt"/>
              <a:ea typeface="+mn-ea"/>
              <a:cs typeface="+mn-cs"/>
            </a:endParaRPr>
          </a:p>
          <a:p>
            <a:endParaRPr lang="de-DE" dirty="0"/>
          </a:p>
          <a:p>
            <a:r>
              <a:rPr lang="de-DE" dirty="0"/>
              <a:t>Dadurch hängt das Ergebnis vom Ausführungszeitpunkt der Abfrage ab. </a:t>
            </a:r>
            <a:r>
              <a:rPr lang="de-DE" sz="1200" kern="1200" dirty="0" err="1">
                <a:solidFill>
                  <a:schemeClr val="tx1"/>
                </a:solidFill>
                <a:latin typeface="+mn-lt"/>
                <a:ea typeface="+mn-ea"/>
                <a:cs typeface="+mn-cs"/>
              </a:rPr>
              <a:t>OrderAgeInDays</a:t>
            </a:r>
            <a:r>
              <a:rPr lang="de-DE" dirty="0"/>
              <a:t> und </a:t>
            </a:r>
            <a:r>
              <a:rPr lang="de-DE" sz="1200" kern="1200" dirty="0" err="1">
                <a:solidFill>
                  <a:schemeClr val="tx1"/>
                </a:solidFill>
                <a:latin typeface="+mn-lt"/>
                <a:ea typeface="+mn-ea"/>
                <a:cs typeface="+mn-cs"/>
              </a:rPr>
              <a:t>DaysUntilRequestedDate</a:t>
            </a:r>
            <a:r>
              <a:rPr lang="de-DE" dirty="0"/>
              <a:t> sind also keine dauerhaft gespeicherten Werte. Sie werden bei jeder Ausführung neu berechnet.</a:t>
            </a:r>
          </a:p>
          <a:p>
            <a:endParaRPr lang="de-DE" dirty="0"/>
          </a:p>
          <a:p>
            <a:r>
              <a:rPr lang="de-DE" dirty="0"/>
              <a:t>Auf </a:t>
            </a:r>
            <a:r>
              <a:rPr lang="de-DE" sz="1200" kern="1200" dirty="0" err="1">
                <a:solidFill>
                  <a:schemeClr val="tx1"/>
                </a:solidFill>
                <a:latin typeface="+mn-lt"/>
                <a:ea typeface="+mn-ea"/>
                <a:cs typeface="+mn-cs"/>
              </a:rPr>
              <a:t>OrderDate</a:t>
            </a:r>
            <a:r>
              <a:rPr lang="de-DE" dirty="0"/>
              <a:t> und </a:t>
            </a:r>
            <a:r>
              <a:rPr lang="de-DE" sz="1200" kern="1200" dirty="0" err="1">
                <a:solidFill>
                  <a:schemeClr val="tx1"/>
                </a:solidFill>
                <a:latin typeface="+mn-lt"/>
                <a:ea typeface="+mn-ea"/>
                <a:cs typeface="+mn-cs"/>
              </a:rPr>
              <a:t>RequestedDate</a:t>
            </a:r>
            <a:r>
              <a:rPr lang="de-DE" dirty="0"/>
              <a:t> greifen wir über die bereits vorhandene Assoziation </a:t>
            </a:r>
            <a:r>
              <a:rPr lang="de-DE" sz="1200" kern="1200" dirty="0">
                <a:solidFill>
                  <a:schemeClr val="tx1"/>
                </a:solidFill>
                <a:latin typeface="+mn-lt"/>
                <a:ea typeface="+mn-ea"/>
                <a:cs typeface="+mn-cs"/>
              </a:rPr>
              <a:t>_Order</a:t>
            </a:r>
            <a:r>
              <a:rPr lang="de-DE" dirty="0"/>
              <a:t> zu. Anders als bei der späteren View Extension verwenden wir hier die veröffentlichten CDS-Elementnamen der assoziierten View Entity.</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14</a:t>
            </a:fld>
            <a:endParaRPr lang="de-DE" dirty="0"/>
          </a:p>
        </p:txBody>
      </p:sp>
    </p:spTree>
    <p:extLst>
      <p:ext uri="{BB962C8B-B14F-4D97-AF65-F5344CB8AC3E}">
        <p14:creationId xmlns:p14="http://schemas.microsoft.com/office/powerpoint/2010/main" val="2811014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CDS-Ausdrücke sind nicht auf einen einzigen Funktionsaufruf beschränkt. Wir können Funktionen miteinander kombinieren und verschachteln.</a:t>
            </a:r>
          </a:p>
          <a:p>
            <a:endParaRPr lang="de-DE" dirty="0"/>
          </a:p>
          <a:p>
            <a:r>
              <a:rPr lang="de-DE" dirty="0"/>
              <a:t>In diesem Beispiel wird der Produktname zunächst mit </a:t>
            </a:r>
            <a:r>
              <a:rPr lang="de-DE" sz="1200" kern="1200" dirty="0" err="1">
                <a:solidFill>
                  <a:schemeClr val="tx1"/>
                </a:solidFill>
                <a:latin typeface="+mn-lt"/>
                <a:ea typeface="+mn-ea"/>
                <a:cs typeface="+mn-cs"/>
              </a:rPr>
              <a:t>upper</a:t>
            </a:r>
            <a:r>
              <a:rPr lang="de-DE" dirty="0"/>
              <a:t> in Großbuchstaben umgewandelt. Gleichzeitig wird die Positionsnummer mit </a:t>
            </a:r>
            <a:r>
              <a:rPr lang="de-DE" sz="1200" kern="1200" dirty="0">
                <a:solidFill>
                  <a:schemeClr val="tx1"/>
                </a:solidFill>
                <a:latin typeface="+mn-lt"/>
                <a:ea typeface="+mn-ea"/>
                <a:cs typeface="+mn-cs"/>
              </a:rPr>
              <a:t>cast</a:t>
            </a:r>
            <a:r>
              <a:rPr lang="de-DE" dirty="0"/>
              <a:t> in einen zeichenartigen Wert konvertiert. Erst danach können beide Ergebnisse mit </a:t>
            </a:r>
            <a:r>
              <a:rPr lang="de-DE" sz="1200" kern="1200" dirty="0" err="1">
                <a:solidFill>
                  <a:schemeClr val="tx1"/>
                </a:solidFill>
                <a:latin typeface="+mn-lt"/>
                <a:ea typeface="+mn-ea"/>
                <a:cs typeface="+mn-cs"/>
              </a:rPr>
              <a:t>concat_with_space</a:t>
            </a:r>
            <a:r>
              <a:rPr lang="de-DE" dirty="0"/>
              <a:t> verbunden werden.</a:t>
            </a:r>
          </a:p>
          <a:p>
            <a:endParaRPr lang="de-DE" dirty="0"/>
          </a:p>
          <a:p>
            <a:r>
              <a:rPr lang="de-DE" dirty="0"/>
              <a:t>Die Auswertung lässt sich am besten von innen nach außen lesen. Zuerst werden die inneren Funktionen ausgeführt. Deren Ergebnisse bilden anschließend die Argumente der äußeren Funktion.</a:t>
            </a:r>
          </a:p>
          <a:p>
            <a:endParaRPr lang="de-DE" dirty="0"/>
          </a:p>
          <a:p>
            <a:r>
              <a:rPr lang="de-DE" dirty="0"/>
              <a:t>Bei verschachtelten Funktionen ist besonders auf die Datentypen zu achten. Das Ergebnis einer inneren Funktion muss als Operand der äußeren Funktion zulässig sein.</a:t>
            </a:r>
          </a:p>
          <a:p>
            <a:endParaRPr lang="de-DE" dirty="0"/>
          </a:p>
          <a:p>
            <a:r>
              <a:rPr lang="de-DE" dirty="0"/>
              <a:t>Technisch können wir mit solchen Verschachtelungen sehr umfangreiche Ausdrücke aufbauen. Für die Wartbarkeit sollte ein Ausdruck aber verständlich bleiben. Wenn dieselbe komplexe Berechnung mehrfach benötigt wird, kann eine zusätzliche CDS View Entity als Zwischenschicht übersichtlicher sein.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15</a:t>
            </a:fld>
            <a:endParaRPr lang="de-DE" dirty="0"/>
          </a:p>
        </p:txBody>
      </p:sp>
    </p:spTree>
    <p:extLst>
      <p:ext uri="{BB962C8B-B14F-4D97-AF65-F5344CB8AC3E}">
        <p14:creationId xmlns:p14="http://schemas.microsoft.com/office/powerpoint/2010/main" val="1788661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zweiten Live-Coding erweitern wir die bereits vorhandene </a:t>
            </a:r>
            <a:r>
              <a:rPr lang="de-DE" sz="1200" kern="1200" dirty="0" err="1">
                <a:solidFill>
                  <a:schemeClr val="tx1"/>
                </a:solidFill>
                <a:latin typeface="+mn-lt"/>
                <a:ea typeface="+mn-ea"/>
                <a:cs typeface="+mn-cs"/>
              </a:rPr>
              <a:t>ZI_CDSOrderItemCalc</a:t>
            </a:r>
            <a:r>
              <a:rPr lang="de-DE" dirty="0"/>
              <a:t>.</a:t>
            </a:r>
          </a:p>
          <a:p>
            <a:endParaRPr lang="de-DE" dirty="0"/>
          </a:p>
          <a:p>
            <a:r>
              <a:rPr lang="de-DE" dirty="0"/>
              <a:t>Zunächst erzeugen wir aus dem Produktnamen und der Produktnummer zusätzliche Textelemente. Dabei verwenden wir </a:t>
            </a:r>
            <a:r>
              <a:rPr lang="de-DE" sz="1200" kern="1200" dirty="0" err="1">
                <a:solidFill>
                  <a:schemeClr val="tx1"/>
                </a:solidFill>
                <a:latin typeface="+mn-lt"/>
                <a:ea typeface="+mn-ea"/>
                <a:cs typeface="+mn-cs"/>
              </a:rPr>
              <a:t>upper</a:t>
            </a:r>
            <a:r>
              <a:rPr lang="de-DE" dirty="0"/>
              <a:t> und </a:t>
            </a:r>
            <a:r>
              <a:rPr lang="de-DE" sz="1200" kern="1200" dirty="0" err="1">
                <a:solidFill>
                  <a:schemeClr val="tx1"/>
                </a:solidFill>
                <a:latin typeface="+mn-lt"/>
                <a:ea typeface="+mn-ea"/>
                <a:cs typeface="+mn-cs"/>
              </a:rPr>
              <a:t>concat_with_space</a:t>
            </a:r>
            <a:r>
              <a:rPr lang="de-DE" dirty="0"/>
              <a:t>.</a:t>
            </a:r>
          </a:p>
          <a:p>
            <a:endParaRPr lang="de-DE" dirty="0"/>
          </a:p>
          <a:p>
            <a:r>
              <a:rPr lang="de-DE" dirty="0"/>
              <a:t>Danach erstellen wir eine Positionsbeschreibung. Weil </a:t>
            </a:r>
            <a:r>
              <a:rPr lang="de-DE" sz="1200" kern="1200" dirty="0" err="1">
                <a:solidFill>
                  <a:schemeClr val="tx1"/>
                </a:solidFill>
                <a:latin typeface="+mn-lt"/>
                <a:ea typeface="+mn-ea"/>
                <a:cs typeface="+mn-cs"/>
              </a:rPr>
              <a:t>ItemNumber</a:t>
            </a:r>
            <a:r>
              <a:rPr lang="de-DE" dirty="0"/>
              <a:t> nicht zeichenartig ist, müssen wir diesen Wert zunächst mit </a:t>
            </a:r>
            <a:r>
              <a:rPr lang="de-DE" sz="1200" kern="1200" dirty="0">
                <a:solidFill>
                  <a:schemeClr val="tx1"/>
                </a:solidFill>
                <a:latin typeface="+mn-lt"/>
                <a:ea typeface="+mn-ea"/>
                <a:cs typeface="+mn-cs"/>
              </a:rPr>
              <a:t>cast</a:t>
            </a:r>
            <a:r>
              <a:rPr lang="de-DE" dirty="0"/>
              <a:t> konvertieren.</a:t>
            </a:r>
          </a:p>
          <a:p>
            <a:endParaRPr lang="de-DE" dirty="0"/>
          </a:p>
          <a:p>
            <a:r>
              <a:rPr lang="de-DE" dirty="0"/>
              <a:t>Anschließend berechnen wir zwei Datumsdifferenzen. </a:t>
            </a:r>
            <a:r>
              <a:rPr lang="de-DE" sz="1200" kern="1200" dirty="0" err="1">
                <a:solidFill>
                  <a:schemeClr val="tx1"/>
                </a:solidFill>
                <a:latin typeface="+mn-lt"/>
                <a:ea typeface="+mn-ea"/>
                <a:cs typeface="+mn-cs"/>
              </a:rPr>
              <a:t>OrderAgeInDays</a:t>
            </a:r>
            <a:r>
              <a:rPr lang="de-DE" dirty="0"/>
              <a:t> gibt das Alter des Auftrags an. </a:t>
            </a:r>
            <a:r>
              <a:rPr lang="de-DE" sz="1200" kern="1200" dirty="0" err="1">
                <a:solidFill>
                  <a:schemeClr val="tx1"/>
                </a:solidFill>
                <a:latin typeface="+mn-lt"/>
                <a:ea typeface="+mn-ea"/>
                <a:cs typeface="+mn-cs"/>
              </a:rPr>
              <a:t>DaysUntilRequestedDate</a:t>
            </a:r>
            <a:r>
              <a:rPr lang="de-DE" dirty="0"/>
              <a:t> zeigt, wie viele Tage bis zum gewünschten Liefertermin verbleiben beziehungsweise seit wie vielen Tagen dieser überschritten ist.</a:t>
            </a:r>
          </a:p>
          <a:p>
            <a:endParaRPr lang="de-DE" dirty="0"/>
          </a:p>
          <a:p>
            <a:r>
              <a:rPr lang="de-DE" dirty="0"/>
              <a:t>Zum Abschluss öffnen wir erneut die Datenvorschau und prüfen insbesondere die Vorzeichen der Datumsdifferenzen.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16</a:t>
            </a:fld>
            <a:endParaRPr lang="de-DE" dirty="0"/>
          </a:p>
        </p:txBody>
      </p:sp>
    </p:spTree>
    <p:extLst>
      <p:ext uri="{BB962C8B-B14F-4D97-AF65-F5344CB8AC3E}">
        <p14:creationId xmlns:p14="http://schemas.microsoft.com/office/powerpoint/2010/main" val="1129553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1. Ausgangsstand öffnen</a:t>
            </a:r>
          </a:p>
          <a:p>
            <a:r>
              <a:rPr lang="de-DE" dirty="0"/>
              <a:t>Die im ersten Live-Coding erstellte View Entity öffnen:</a:t>
            </a:r>
          </a:p>
          <a:p>
            <a:pPr rtl="0"/>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r>
              <a:rPr lang="de-DE" dirty="0"/>
              <a:t>In der Datenvorschau kurz die bisherigen Ergebnisse zeigen:</a:t>
            </a:r>
          </a:p>
          <a:p>
            <a:pPr lvl="0"/>
            <a:r>
              <a:rPr lang="de-DE" sz="1200" kern="1200" dirty="0" err="1">
                <a:solidFill>
                  <a:schemeClr val="tx1"/>
                </a:solidFill>
                <a:latin typeface="+mn-lt"/>
                <a:ea typeface="+mn-ea"/>
                <a:cs typeface="+mn-cs"/>
              </a:rPr>
              <a:t>GrossAmount</a:t>
            </a:r>
            <a:r>
              <a:rPr lang="de-DE" dirty="0"/>
              <a:t> </a:t>
            </a:r>
          </a:p>
          <a:p>
            <a:pPr lvl="0"/>
            <a:r>
              <a:rPr lang="de-DE" sz="1200" kern="1200" dirty="0" err="1">
                <a:solidFill>
                  <a:schemeClr val="tx1"/>
                </a:solidFill>
                <a:latin typeface="+mn-lt"/>
                <a:ea typeface="+mn-ea"/>
                <a:cs typeface="+mn-cs"/>
              </a:rPr>
              <a:t>DiscountAmount</a:t>
            </a:r>
            <a:r>
              <a:rPr lang="de-DE" dirty="0"/>
              <a:t> </a:t>
            </a:r>
          </a:p>
          <a:p>
            <a:pPr lvl="0"/>
            <a:r>
              <a:rPr lang="de-DE" sz="1200" kern="1200" dirty="0" err="1">
                <a:solidFill>
                  <a:schemeClr val="tx1"/>
                </a:solidFill>
                <a:latin typeface="+mn-lt"/>
                <a:ea typeface="+mn-ea"/>
                <a:cs typeface="+mn-cs"/>
              </a:rPr>
              <a:t>NetAmount</a:t>
            </a:r>
            <a:r>
              <a:rPr lang="de-DE" dirty="0"/>
              <a:t> </a:t>
            </a:r>
          </a:p>
          <a:p>
            <a:pPr lvl="0"/>
            <a:r>
              <a:rPr lang="de-DE" sz="1200" kern="1200" dirty="0" err="1">
                <a:solidFill>
                  <a:schemeClr val="tx1"/>
                </a:solidFill>
                <a:latin typeface="+mn-lt"/>
                <a:ea typeface="+mn-ea"/>
                <a:cs typeface="+mn-cs"/>
              </a:rPr>
              <a:t>DiscountCategory</a:t>
            </a:r>
            <a:r>
              <a:rPr lang="de-DE" dirty="0"/>
              <a:t> </a:t>
            </a:r>
          </a:p>
          <a:p>
            <a:r>
              <a:rPr lang="de-DE" b="1" dirty="0"/>
              <a:t>Überleitung</a:t>
            </a:r>
            <a:endParaRPr lang="de-DE" dirty="0"/>
          </a:p>
          <a:p>
            <a:r>
              <a:rPr lang="de-DE" dirty="0"/>
              <a:t>Die Beträge und die Rabattkategorie sind bereits berechnet. Nun ergänzen wir weitere Informationen mithilfe eingebauter Funktionen.</a:t>
            </a:r>
          </a:p>
          <a:p>
            <a:br>
              <a:rPr lang="de-DE" dirty="0"/>
            </a:br>
            <a:endParaRPr lang="de-DE" dirty="0"/>
          </a:p>
          <a:p>
            <a:r>
              <a:rPr lang="de-DE" b="1" dirty="0"/>
              <a:t>2. Produktname in Großbuchstaben ergänzen</a:t>
            </a:r>
          </a:p>
          <a:p>
            <a:r>
              <a:rPr lang="de-DE" dirty="0"/>
              <a:t>Nach dem vorhandenen Produktnamen: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upper</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ProductNameUpper</a:t>
            </a:r>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dirty="0"/>
              <a:t>Das Argument stammt aus der Assoziation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a:t>
            </a:r>
          </a:p>
          <a:p>
            <a:pPr lvl="0"/>
            <a:r>
              <a:rPr lang="de-DE" dirty="0"/>
              <a:t>Die Funktion verändert nicht den gespeicherten Produktnamen. </a:t>
            </a:r>
          </a:p>
          <a:p>
            <a:pPr lvl="0"/>
            <a:r>
              <a:rPr lang="de-DE" dirty="0"/>
              <a:t>Es entsteht ein zusätzliches Element der neuen View Entity. </a:t>
            </a:r>
          </a:p>
          <a:p>
            <a:br>
              <a:rPr lang="de-DE" dirty="0"/>
            </a:br>
            <a:endParaRPr lang="de-DE" dirty="0"/>
          </a:p>
          <a:p>
            <a:r>
              <a:rPr lang="de-DE" b="1" dirty="0"/>
              <a:t>3. Produktnummer und Produktname verbinden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concat_with_space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ProductDescription</a:t>
            </a:r>
            <a:r>
              <a:rPr lang="de-DE" sz="1200" kern="1200" dirty="0">
                <a:solidFill>
                  <a:schemeClr val="tx1"/>
                </a:solidFill>
                <a:latin typeface="+mn-lt"/>
                <a:ea typeface="+mn-ea"/>
                <a:cs typeface="+mn-cs"/>
              </a:rPr>
              <a:t>,</a:t>
            </a:r>
          </a:p>
          <a:p>
            <a:r>
              <a:rPr lang="de-DE" b="1" dirty="0"/>
              <a:t>Erläuterung</a:t>
            </a:r>
            <a:endParaRPr lang="de-DE" dirty="0"/>
          </a:p>
          <a:p>
            <a:r>
              <a:rPr lang="de-DE" dirty="0"/>
              <a:t>Das dritte Argument gibt die Zahl der Leerzeichen zwischen den beiden Texten an.</a:t>
            </a:r>
          </a:p>
          <a:p>
            <a:r>
              <a:rPr lang="de-DE" b="1" dirty="0"/>
              <a:t>Kontrollbeispiel</a:t>
            </a:r>
            <a:endParaRPr lang="de-DE" dirty="0"/>
          </a:p>
          <a:p>
            <a:pPr rtl="0"/>
            <a:r>
              <a:rPr lang="de-DE" sz="1200" kern="1200" dirty="0">
                <a:solidFill>
                  <a:schemeClr val="tx1"/>
                </a:solidFill>
                <a:latin typeface="+mn-lt"/>
                <a:ea typeface="+mn-ea"/>
                <a:cs typeface="+mn-cs"/>
              </a:rPr>
              <a:t>P1001 + Notebook Pro → P1001 Notebook Pro</a:t>
            </a:r>
          </a:p>
          <a:p>
            <a:br>
              <a:rPr lang="de-DE" dirty="0"/>
            </a:br>
            <a:endParaRPr lang="de-DE" dirty="0"/>
          </a:p>
          <a:p>
            <a:r>
              <a:rPr lang="de-DE" b="1" dirty="0"/>
              <a:t>4. Positionsbeschreibung mit Typkonvertierung erzeugen</a:t>
            </a:r>
          </a:p>
          <a:p>
            <a:r>
              <a:rPr lang="de-DE" dirty="0"/>
              <a:t>Zunächst kann der gewünschte Ausdruck erläutert werden:</a:t>
            </a:r>
          </a:p>
          <a:p>
            <a:pPr rtl="0"/>
            <a:r>
              <a:rPr lang="de-DE" sz="1200" kern="1200" dirty="0">
                <a:solidFill>
                  <a:schemeClr val="tx1"/>
                </a:solidFill>
                <a:latin typeface="+mn-lt"/>
                <a:ea typeface="+mn-ea"/>
                <a:cs typeface="+mn-cs"/>
              </a:rPr>
              <a:t>"Item" + </a:t>
            </a:r>
            <a:r>
              <a:rPr lang="de-DE" sz="1200" kern="1200" dirty="0" err="1">
                <a:solidFill>
                  <a:schemeClr val="tx1"/>
                </a:solidFill>
                <a:latin typeface="+mn-lt"/>
                <a:ea typeface="+mn-ea"/>
                <a:cs typeface="+mn-cs"/>
              </a:rPr>
              <a:t>ItemNumber</a:t>
            </a:r>
            <a:endParaRPr lang="de-DE" sz="1200" kern="1200" dirty="0">
              <a:solidFill>
                <a:schemeClr val="tx1"/>
              </a:solidFill>
              <a:latin typeface="+mn-lt"/>
              <a:ea typeface="+mn-ea"/>
              <a:cs typeface="+mn-cs"/>
            </a:endParaRPr>
          </a:p>
          <a:p>
            <a:r>
              <a:rPr lang="de-DE" dirty="0"/>
              <a:t>Da </a:t>
            </a:r>
            <a:r>
              <a:rPr lang="de-DE" sz="1200" kern="1200" dirty="0" err="1">
                <a:solidFill>
                  <a:schemeClr val="tx1"/>
                </a:solidFill>
                <a:latin typeface="+mn-lt"/>
                <a:ea typeface="+mn-ea"/>
                <a:cs typeface="+mn-cs"/>
              </a:rPr>
              <a:t>ItemNumber</a:t>
            </a:r>
            <a:r>
              <a:rPr lang="de-DE" dirty="0"/>
              <a:t> numerisch ist, wird sie konvertiert: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concat_with_space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'Item',</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( 6 )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ItemDescription</a:t>
            </a:r>
            <a:r>
              <a:rPr lang="de-DE" sz="1200" kern="1200" dirty="0">
                <a:solidFill>
                  <a:schemeClr val="tx1"/>
                </a:solidFill>
                <a:latin typeface="+mn-lt"/>
                <a:ea typeface="+mn-ea"/>
                <a:cs typeface="+mn-cs"/>
              </a:rPr>
              <a:t>,</a:t>
            </a:r>
          </a:p>
          <a:p>
            <a:r>
              <a:rPr lang="de-DE" b="1" dirty="0"/>
              <a:t>Hinweis für die Vorführung</a:t>
            </a:r>
            <a:endParaRPr lang="de-DE" dirty="0"/>
          </a:p>
          <a:p>
            <a:r>
              <a:rPr lang="de-DE" dirty="0"/>
              <a:t>Es bietet sich an, die Positionsnummer zunächst ohne </a:t>
            </a:r>
            <a:r>
              <a:rPr lang="de-DE" sz="1200" kern="1200" dirty="0">
                <a:solidFill>
                  <a:schemeClr val="tx1"/>
                </a:solidFill>
                <a:latin typeface="+mn-lt"/>
                <a:ea typeface="+mn-ea"/>
                <a:cs typeface="+mn-cs"/>
              </a:rPr>
              <a:t>cast</a:t>
            </a:r>
            <a:r>
              <a:rPr lang="de-DE" dirty="0"/>
              <a:t> einzusetzen. Die Fehlermeldung zeigt, dass </a:t>
            </a:r>
            <a:r>
              <a:rPr lang="de-DE" sz="1200" kern="1200" dirty="0" err="1">
                <a:solidFill>
                  <a:schemeClr val="tx1"/>
                </a:solidFill>
                <a:latin typeface="+mn-lt"/>
                <a:ea typeface="+mn-ea"/>
                <a:cs typeface="+mn-cs"/>
              </a:rPr>
              <a:t>concat_with_space</a:t>
            </a:r>
            <a:r>
              <a:rPr lang="de-DE" dirty="0"/>
              <a:t> einen passenden zeichenartigen Operanden benötigt.</a:t>
            </a:r>
          </a:p>
          <a:p>
            <a:r>
              <a:rPr lang="de-DE" dirty="0"/>
              <a:t>Den Fehler anschließend durch die Typkonvertierung auflösen.</a:t>
            </a:r>
          </a:p>
          <a:p>
            <a:r>
              <a:rPr lang="de-DE" dirty="0"/>
              <a:t>Je nach Ausgangstyp kann die Darstellung der konvertierten Zahl Auffüllzeichen oder führende Leerstellen enthalten. Entscheidend für dieses Beispiel ist die notwendige Typanpassung; eine perfekte UI-Formatierung ist nicht das Lernziel.</a:t>
            </a:r>
          </a:p>
          <a:p>
            <a:br>
              <a:rPr lang="de-DE" dirty="0"/>
            </a:br>
            <a:endParaRPr lang="de-DE" dirty="0"/>
          </a:p>
          <a:p>
            <a:r>
              <a:rPr lang="de-DE" b="1" dirty="0"/>
              <a:t>5. Alter des Auftrags berechnen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dats_days_between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session.system_date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OrderAgeInDays</a:t>
            </a:r>
            <a:r>
              <a:rPr lang="de-DE" sz="1200" kern="1200" dirty="0">
                <a:solidFill>
                  <a:schemeClr val="tx1"/>
                </a:solidFill>
                <a:latin typeface="+mn-lt"/>
                <a:ea typeface="+mn-ea"/>
                <a:cs typeface="+mn-cs"/>
              </a:rPr>
              <a:t>,</a:t>
            </a:r>
          </a:p>
          <a:p>
            <a:r>
              <a:rPr lang="de-DE" b="1" dirty="0"/>
              <a:t>Erläuterung</a:t>
            </a:r>
            <a:endParaRPr lang="de-DE" dirty="0"/>
          </a:p>
          <a:p>
            <a:pPr lvl="0"/>
            <a:r>
              <a:rPr lang="de-DE" sz="1200" kern="1200" dirty="0" err="1">
                <a:solidFill>
                  <a:schemeClr val="tx1"/>
                </a:solidFill>
                <a:latin typeface="+mn-lt"/>
                <a:ea typeface="+mn-ea"/>
                <a:cs typeface="+mn-cs"/>
              </a:rPr>
              <a:t>OrderDate</a:t>
            </a:r>
            <a:r>
              <a:rPr lang="de-DE" dirty="0"/>
              <a:t> wird über die Assoziation </a:t>
            </a:r>
            <a:r>
              <a:rPr lang="de-DE" sz="1200" kern="1200" dirty="0">
                <a:solidFill>
                  <a:schemeClr val="tx1"/>
                </a:solidFill>
                <a:latin typeface="+mn-lt"/>
                <a:ea typeface="+mn-ea"/>
                <a:cs typeface="+mn-cs"/>
              </a:rPr>
              <a:t>_Order</a:t>
            </a:r>
            <a:r>
              <a:rPr lang="de-DE" dirty="0"/>
              <a:t> gelesen. </a:t>
            </a:r>
          </a:p>
          <a:p>
            <a:pPr lv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session.system_date</a:t>
            </a:r>
            <a:r>
              <a:rPr lang="de-DE" dirty="0"/>
              <a:t> liefert das aktuelle Sitzungsdatum. </a:t>
            </a:r>
          </a:p>
          <a:p>
            <a:pPr lvl="0"/>
            <a:r>
              <a:rPr lang="de-DE" dirty="0"/>
              <a:t>Ein Auftrag vom heutigen Tag besitzt das Alter null. </a:t>
            </a:r>
          </a:p>
          <a:p>
            <a:br>
              <a:rPr lang="de-DE" dirty="0"/>
            </a:br>
            <a:endParaRPr lang="de-DE" dirty="0"/>
          </a:p>
          <a:p>
            <a:r>
              <a:rPr lang="de-DE" b="1" dirty="0"/>
              <a:t>6. Abstand zum gewünschten Liefertermin berechnen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dats_days_between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session.system_date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Order.RequestedDate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DaysUntilRequestedDate</a:t>
            </a:r>
            <a:r>
              <a:rPr lang="de-DE" sz="1200" kern="1200" dirty="0">
                <a:solidFill>
                  <a:schemeClr val="tx1"/>
                </a:solidFill>
                <a:latin typeface="+mn-lt"/>
                <a:ea typeface="+mn-ea"/>
                <a:cs typeface="+mn-cs"/>
              </a:rPr>
              <a:t>,</a:t>
            </a:r>
          </a:p>
          <a:p>
            <a:r>
              <a:rPr lang="de-DE" b="1" dirty="0"/>
              <a:t>Frage an die Teilnehmenden</a:t>
            </a:r>
            <a:endParaRPr lang="de-DE" dirty="0"/>
          </a:p>
          <a:p>
            <a:r>
              <a:rPr lang="de-DE" dirty="0"/>
              <a:t>Welches Vorzeichen erwarten wir bei einem bereits überschrittenen Liefertermin?</a:t>
            </a:r>
          </a:p>
          <a:p>
            <a:r>
              <a:rPr lang="de-DE" dirty="0"/>
              <a:t>Erwartete Antwort: ein negatives Ergebnis.</a:t>
            </a:r>
          </a:p>
          <a:p>
            <a:r>
              <a:rPr lang="de-DE" dirty="0"/>
              <a:t>Anschließend die Reihenfolge der Argumente nochmals hervorheben:</a:t>
            </a:r>
          </a:p>
          <a:p>
            <a:pPr rtl="0"/>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 − Systemdatum</a:t>
            </a:r>
          </a:p>
          <a:p>
            <a:br>
              <a:rPr lang="de-DE" dirty="0"/>
            </a:br>
            <a:endParaRPr lang="de-DE" dirty="0"/>
          </a:p>
          <a:p>
            <a:r>
              <a:rPr lang="de-DE" b="1" dirty="0"/>
              <a:t>7. Vollständigen Funktionsblock kontrollieren</a:t>
            </a:r>
          </a:p>
          <a:p>
            <a:r>
              <a:rPr lang="de-DE" dirty="0"/>
              <a:t>Der neu ergänzte Teil lautet: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upper</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ProductNameUpper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concat_with_space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ProductDescription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concat_with_space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'Item',</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( 6 )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ItemDescription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dats_days_between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session.system_date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OrderAgeInDays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dats_days_between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session.system_date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Order.RequestedDate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DaysUntilRequestedDate</a:t>
            </a:r>
            <a:r>
              <a:rPr lang="de-DE" sz="1200" kern="1200" dirty="0">
                <a:solidFill>
                  <a:schemeClr val="tx1"/>
                </a:solidFill>
                <a:latin typeface="+mn-lt"/>
                <a:ea typeface="+mn-ea"/>
                <a:cs typeface="+mn-cs"/>
              </a:rPr>
              <a:t>,</a:t>
            </a:r>
          </a:p>
          <a:p>
            <a:r>
              <a:rPr lang="de-DE" dirty="0"/>
              <a:t>Die bereits vorhandenen Berechnungen und die veröffentlichten Assoziationen bleiben unverändert.</a:t>
            </a:r>
          </a:p>
          <a:p>
            <a:br>
              <a:rPr lang="de-DE" dirty="0"/>
            </a:br>
            <a:endParaRPr lang="de-DE" dirty="0"/>
          </a:p>
          <a:p>
            <a:r>
              <a:rPr lang="de-DE" b="1" dirty="0"/>
              <a:t>8. Aktivieren und Datenvorschau öffnen</a:t>
            </a:r>
          </a:p>
          <a:p>
            <a:r>
              <a:rPr lang="de-DE" dirty="0"/>
              <a:t>In der Datenvorschau besonders zeigen:</a:t>
            </a:r>
          </a:p>
          <a:p>
            <a:pPr lvl="0"/>
            <a:r>
              <a:rPr lang="de-DE" sz="1200" kern="1200" dirty="0" err="1">
                <a:solidFill>
                  <a:schemeClr val="tx1"/>
                </a:solidFill>
                <a:latin typeface="+mn-lt"/>
                <a:ea typeface="+mn-ea"/>
                <a:cs typeface="+mn-cs"/>
              </a:rPr>
              <a:t>ProductName</a:t>
            </a:r>
            <a:r>
              <a:rPr lang="de-DE" dirty="0"/>
              <a:t> </a:t>
            </a:r>
          </a:p>
          <a:p>
            <a:pPr lvl="0"/>
            <a:r>
              <a:rPr lang="de-DE" sz="1200" kern="1200" dirty="0" err="1">
                <a:solidFill>
                  <a:schemeClr val="tx1"/>
                </a:solidFill>
                <a:latin typeface="+mn-lt"/>
                <a:ea typeface="+mn-ea"/>
                <a:cs typeface="+mn-cs"/>
              </a:rPr>
              <a:t>ProductNameUpper</a:t>
            </a:r>
            <a:r>
              <a:rPr lang="de-DE" dirty="0"/>
              <a:t> </a:t>
            </a:r>
          </a:p>
          <a:p>
            <a:pPr lvl="0"/>
            <a:r>
              <a:rPr lang="de-DE" sz="1200" kern="1200" dirty="0" err="1">
                <a:solidFill>
                  <a:schemeClr val="tx1"/>
                </a:solidFill>
                <a:latin typeface="+mn-lt"/>
                <a:ea typeface="+mn-ea"/>
                <a:cs typeface="+mn-cs"/>
              </a:rPr>
              <a:t>ProductDescription</a:t>
            </a:r>
            <a:r>
              <a:rPr lang="de-DE" dirty="0"/>
              <a:t> </a:t>
            </a:r>
          </a:p>
          <a:p>
            <a:pPr lvl="0"/>
            <a:r>
              <a:rPr lang="de-DE" sz="1200" kern="1200" dirty="0" err="1">
                <a:solidFill>
                  <a:schemeClr val="tx1"/>
                </a:solidFill>
                <a:latin typeface="+mn-lt"/>
                <a:ea typeface="+mn-ea"/>
                <a:cs typeface="+mn-cs"/>
              </a:rPr>
              <a:t>ItemDescription</a:t>
            </a:r>
            <a:r>
              <a:rPr lang="de-DE" dirty="0"/>
              <a:t> </a:t>
            </a:r>
          </a:p>
          <a:p>
            <a:pPr lvl="0"/>
            <a:r>
              <a:rPr lang="de-DE" sz="1200" kern="1200" dirty="0" err="1">
                <a:solidFill>
                  <a:schemeClr val="tx1"/>
                </a:solidFill>
                <a:latin typeface="+mn-lt"/>
                <a:ea typeface="+mn-ea"/>
                <a:cs typeface="+mn-cs"/>
              </a:rPr>
              <a:t>OrderDate</a:t>
            </a:r>
            <a:r>
              <a:rPr lang="de-DE" dirty="0"/>
              <a:t> </a:t>
            </a:r>
          </a:p>
          <a:p>
            <a:pPr lvl="0"/>
            <a:r>
              <a:rPr lang="de-DE" sz="1200" kern="1200" dirty="0" err="1">
                <a:solidFill>
                  <a:schemeClr val="tx1"/>
                </a:solidFill>
                <a:latin typeface="+mn-lt"/>
                <a:ea typeface="+mn-ea"/>
                <a:cs typeface="+mn-cs"/>
              </a:rPr>
              <a:t>RequestedDate</a:t>
            </a:r>
            <a:r>
              <a:rPr lang="de-DE" dirty="0"/>
              <a:t> </a:t>
            </a:r>
          </a:p>
          <a:p>
            <a:pPr lvl="0"/>
            <a:r>
              <a:rPr lang="de-DE" sz="1200" kern="1200" dirty="0" err="1">
                <a:solidFill>
                  <a:schemeClr val="tx1"/>
                </a:solidFill>
                <a:latin typeface="+mn-lt"/>
                <a:ea typeface="+mn-ea"/>
                <a:cs typeface="+mn-cs"/>
              </a:rPr>
              <a:t>OrderAgeInDays</a:t>
            </a:r>
            <a:r>
              <a:rPr lang="de-DE" dirty="0"/>
              <a:t> </a:t>
            </a:r>
          </a:p>
          <a:p>
            <a:pPr lvl="0"/>
            <a:r>
              <a:rPr lang="de-DE" sz="1200" kern="1200" dirty="0" err="1">
                <a:solidFill>
                  <a:schemeClr val="tx1"/>
                </a:solidFill>
                <a:latin typeface="+mn-lt"/>
                <a:ea typeface="+mn-ea"/>
                <a:cs typeface="+mn-cs"/>
              </a:rPr>
              <a:t>DaysUntilRequestedDate</a:t>
            </a:r>
            <a:r>
              <a:rPr lang="de-DE" dirty="0"/>
              <a:t> </a:t>
            </a:r>
          </a:p>
          <a:p>
            <a:r>
              <a:rPr lang="de-DE" dirty="0"/>
              <a:t>Die Datumsfelder können über die Assoziation oder zusätzlich als Elemente in die View aufgenommen werden, wenn sie in der tabellarischen Vorschau unmittelbar nebeneinander gezeigt werden sollen: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Order.OrderDate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Order.RequestedDate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r>
              <a:rPr lang="de-DE" dirty="0"/>
              <a:t>Mindestens drei Fälle suchen:</a:t>
            </a:r>
          </a:p>
          <a:p>
            <a:pPr lvl="0"/>
            <a:r>
              <a:rPr lang="de-DE" dirty="0"/>
              <a:t>gewünschter Termin in der Zukunft </a:t>
            </a:r>
          </a:p>
          <a:p>
            <a:pPr lvl="0"/>
            <a:r>
              <a:rPr lang="de-DE" dirty="0"/>
              <a:t>gewünschter Termin am aktuellen Tag, sofern Beispieldaten vorhanden sind </a:t>
            </a:r>
          </a:p>
          <a:p>
            <a:pPr lvl="0"/>
            <a:r>
              <a:rPr lang="de-DE" dirty="0"/>
              <a:t>gewünschter Termin in der Vergangenheit </a:t>
            </a:r>
          </a:p>
          <a:p>
            <a:br>
              <a:rPr lang="de-DE" dirty="0"/>
            </a:br>
            <a:endParaRPr lang="de-DE" dirty="0"/>
          </a:p>
          <a:p>
            <a:r>
              <a:rPr lang="de-DE" b="1" dirty="0"/>
              <a:t>Typische Stolperstellen im Live-Coding</a:t>
            </a:r>
          </a:p>
          <a:p>
            <a:r>
              <a:rPr lang="de-DE" b="1" dirty="0"/>
              <a:t>Falsche Reihenfolge bei </a:t>
            </a:r>
            <a:r>
              <a:rPr lang="de-DE" sz="1200" b="1" kern="1200" dirty="0" err="1">
                <a:solidFill>
                  <a:schemeClr val="tx1"/>
                </a:solidFill>
                <a:latin typeface="+mn-lt"/>
                <a:ea typeface="+mn-ea"/>
                <a:cs typeface="+mn-cs"/>
              </a:rPr>
              <a:t>dats_days_between</a:t>
            </a:r>
            <a:endParaRPr lang="de-DE" b="1" dirty="0"/>
          </a:p>
          <a:p>
            <a:r>
              <a:rPr lang="de-DE" dirty="0"/>
              <a:t>Die Funktion berücksichtigt die Richtung der Differenz:</a:t>
            </a:r>
          </a:p>
          <a:p>
            <a:pPr rtl="0"/>
            <a:r>
              <a:rPr lang="de-DE" sz="1200" kern="1200" dirty="0" err="1">
                <a:solidFill>
                  <a:schemeClr val="tx1"/>
                </a:solidFill>
                <a:latin typeface="+mn-lt"/>
                <a:ea typeface="+mn-ea"/>
                <a:cs typeface="+mn-cs"/>
              </a:rPr>
              <a:t>dats_days_between</a:t>
            </a:r>
            <a:r>
              <a:rPr lang="de-DE" sz="1200" kern="1200" dirty="0">
                <a:solidFill>
                  <a:schemeClr val="tx1"/>
                </a:solidFill>
                <a:latin typeface="+mn-lt"/>
                <a:ea typeface="+mn-ea"/>
                <a:cs typeface="+mn-cs"/>
              </a:rPr>
              <a:t>( Date1, Date2 )</a:t>
            </a:r>
          </a:p>
          <a:p>
            <a:r>
              <a:rPr lang="de-DE" dirty="0"/>
              <a:t>entspricht fachlich:</a:t>
            </a:r>
          </a:p>
          <a:p>
            <a:pPr rtl="0"/>
            <a:r>
              <a:rPr lang="de-DE" sz="1200" kern="1200" dirty="0">
                <a:solidFill>
                  <a:schemeClr val="tx1"/>
                </a:solidFill>
                <a:latin typeface="+mn-lt"/>
                <a:ea typeface="+mn-ea"/>
                <a:cs typeface="+mn-cs"/>
              </a:rPr>
              <a:t>Date2 − Date1</a:t>
            </a:r>
          </a:p>
          <a:p>
            <a:r>
              <a:rPr lang="de-DE" dirty="0"/>
              <a:t>Werden die Argumente vertauscht, kehrt sich das Vorzeichen um.</a:t>
            </a:r>
          </a:p>
          <a:p>
            <a:r>
              <a:rPr lang="de-DE" b="1" dirty="0"/>
              <a:t>Nicht passender Operand für eine Zeichenkettenfunktion</a:t>
            </a:r>
          </a:p>
          <a:p>
            <a:r>
              <a:rPr lang="de-DE" dirty="0"/>
              <a:t>Ein numerischer Wert kann nicht ohne Weiteres mit einem Text verbunden werden. Daher wird </a:t>
            </a:r>
            <a:r>
              <a:rPr lang="de-DE" sz="1200" kern="1200" dirty="0" err="1">
                <a:solidFill>
                  <a:schemeClr val="tx1"/>
                </a:solidFill>
                <a:latin typeface="+mn-lt"/>
                <a:ea typeface="+mn-ea"/>
                <a:cs typeface="+mn-cs"/>
              </a:rPr>
              <a:t>ItemNumber</a:t>
            </a:r>
            <a:r>
              <a:rPr lang="de-DE" dirty="0"/>
              <a:t> konvertiert:</a:t>
            </a:r>
          </a:p>
          <a:p>
            <a:pPr rtl="0"/>
            <a:r>
              <a:rPr lang="de-DE" sz="1200" kern="1200" dirty="0">
                <a:solidFill>
                  <a:schemeClr val="tx1"/>
                </a:solidFill>
                <a:latin typeface="+mn-lt"/>
                <a:ea typeface="+mn-ea"/>
                <a:cs typeface="+mn-cs"/>
              </a:rPr>
              <a:t>cast(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( 6 ) )</a:t>
            </a:r>
          </a:p>
          <a:p>
            <a:r>
              <a:rPr lang="de-DE" b="1" dirty="0"/>
              <a:t>Zugriff über Assoziationen</a:t>
            </a:r>
          </a:p>
          <a:p>
            <a:r>
              <a:rPr lang="de-DE" dirty="0"/>
              <a:t>In dieser View stehen die veröffentlichten CDS-Assoziationen zur Verfügung:</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Order.OrderDate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Order.RequestedDate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Product.ProductName</a:t>
            </a:r>
            <a:endParaRPr lang="de-DE" sz="1200" kern="1200" dirty="0">
              <a:solidFill>
                <a:schemeClr val="tx1"/>
              </a:solidFill>
              <a:latin typeface="+mn-lt"/>
              <a:ea typeface="+mn-ea"/>
              <a:cs typeface="+mn-cs"/>
            </a:endParaRPr>
          </a:p>
          <a:p>
            <a:r>
              <a:rPr lang="de-DE" dirty="0"/>
              <a:t>Das unterscheidet sich von der späteren View Extension. Dort musste auf das qualifizierte Feld der ursprünglichen Datenquelle zugegriffen werden:</a:t>
            </a:r>
          </a:p>
          <a:p>
            <a:pPr rtl="0"/>
            <a:r>
              <a:rPr lang="de-DE" sz="1200" kern="1200" dirty="0" err="1">
                <a:solidFill>
                  <a:schemeClr val="tx1"/>
                </a:solidFill>
                <a:latin typeface="+mn-lt"/>
                <a:ea typeface="+mn-ea"/>
                <a:cs typeface="+mn-cs"/>
              </a:rPr>
              <a:t>zcds_order.requested_date</a:t>
            </a:r>
            <a:endParaRPr lang="de-DE" sz="1200" kern="1200" dirty="0">
              <a:solidFill>
                <a:schemeClr val="tx1"/>
              </a:solidFill>
              <a:latin typeface="+mn-lt"/>
              <a:ea typeface="+mn-ea"/>
              <a:cs typeface="+mn-cs"/>
            </a:endParaRPr>
          </a:p>
          <a:p>
            <a:r>
              <a:rPr lang="de-DE" b="1" dirty="0"/>
              <a:t>Abhängigkeit vom aktuellen Datum</a:t>
            </a:r>
          </a:p>
          <a:p>
            <a:r>
              <a:rPr lang="de-DE" dirty="0"/>
              <a:t>Elemente mit:</a:t>
            </a:r>
          </a:p>
          <a:p>
            <a:pPr rt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session.system_date</a:t>
            </a:r>
            <a:endParaRPr lang="de-DE" sz="1200" kern="1200" dirty="0">
              <a:solidFill>
                <a:schemeClr val="tx1"/>
              </a:solidFill>
              <a:latin typeface="+mn-lt"/>
              <a:ea typeface="+mn-ea"/>
              <a:cs typeface="+mn-cs"/>
            </a:endParaRPr>
          </a:p>
          <a:p>
            <a:r>
              <a:rPr lang="de-DE" dirty="0"/>
              <a:t>können an unterschiedlichen Tagen unterschiedliche Ergebnisse liefern. Das ist beabsichtigt und sollte bei Tests berücksichtigt werden.</a:t>
            </a:r>
          </a:p>
          <a:p>
            <a:r>
              <a:rPr lang="de-DE" b="1" dirty="0"/>
              <a:t>Darstellung konvertierter Zahlen</a:t>
            </a:r>
          </a:p>
          <a:p>
            <a:r>
              <a:rPr lang="de-DE" dirty="0"/>
              <a:t>Eine technische Konvertierung nach </a:t>
            </a:r>
            <a:r>
              <a:rPr lang="de-DE" sz="1200" kern="1200" dirty="0" err="1">
                <a:solidFill>
                  <a:schemeClr val="tx1"/>
                </a:solidFill>
                <a:latin typeface="+mn-lt"/>
                <a:ea typeface="+mn-ea"/>
                <a:cs typeface="+mn-cs"/>
              </a:rPr>
              <a:t>abap.char</a:t>
            </a:r>
            <a:r>
              <a:rPr lang="de-DE" dirty="0"/>
              <a:t> ist nicht automatisch eine ideale Benutzerformatierung. Führende Leerzeichen oder andere typabhängige Darstellungen sollten bei produktiven Anzeigeelementen ausdrücklich geprüft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17</a:t>
            </a:fld>
            <a:endParaRPr lang="de-DE" dirty="0"/>
          </a:p>
        </p:txBody>
      </p:sp>
    </p:spTree>
    <p:extLst>
      <p:ext uri="{BB962C8B-B14F-4D97-AF65-F5344CB8AC3E}">
        <p14:creationId xmlns:p14="http://schemas.microsoft.com/office/powerpoint/2010/main" val="976965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berechnete View Entity enthält nun nicht mehr nur Beträge und eine Rabattklassifikation.</a:t>
            </a:r>
          </a:p>
          <a:p>
            <a:endParaRPr lang="de-DE" dirty="0"/>
          </a:p>
          <a:p>
            <a:r>
              <a:rPr lang="de-DE" dirty="0"/>
              <a:t>Mit Zeichenkettenfunktionen haben wir vorhandene Produkt- und Positionsdaten zu neuen Textinformationen verbunden. Die Typkonvertierung ermöglicht dabei, auch die numerische Positionsnummer in einen Textausdruck aufzunehmen.</a:t>
            </a:r>
          </a:p>
          <a:p>
            <a:endParaRPr lang="de-DE" dirty="0"/>
          </a:p>
          <a:p>
            <a:r>
              <a:rPr lang="de-DE" dirty="0"/>
              <a:t>Mit </a:t>
            </a:r>
            <a:r>
              <a:rPr lang="de-DE" sz="1200" kern="1200" dirty="0" err="1">
                <a:solidFill>
                  <a:schemeClr val="tx1"/>
                </a:solidFill>
                <a:latin typeface="+mn-lt"/>
                <a:ea typeface="+mn-ea"/>
                <a:cs typeface="+mn-cs"/>
              </a:rPr>
              <a:t>dats_days_between</a:t>
            </a:r>
            <a:r>
              <a:rPr lang="de-DE" dirty="0"/>
              <a:t> haben wir aus einfachen Datumswerten zeitliche Informationen erzeugt. Das Alter eines Auftrags und der Abstand zum gewünschten Liefertermin werden bei jeder Abfrage auf Grundlage des aktuellen Systemdatums neu bestimmt.</a:t>
            </a:r>
          </a:p>
          <a:p>
            <a:endParaRPr lang="de-DE" dirty="0"/>
          </a:p>
          <a:p>
            <a:r>
              <a:rPr lang="de-DE" dirty="0"/>
              <a:t>Wir sehen hier erneut das Prinzip des Code </a:t>
            </a:r>
            <a:r>
              <a:rPr lang="de-DE" dirty="0" err="1"/>
              <a:t>Pushdown</a:t>
            </a:r>
            <a:r>
              <a:rPr lang="de-DE" dirty="0"/>
              <a:t>: Die Anwendung erhält bereits die benötigte Information. Sie muss weder Texte zusammensetzen noch Datumswerte voneinander abziehen.</a:t>
            </a:r>
          </a:p>
          <a:p>
            <a:endParaRPr lang="de-DE" dirty="0"/>
          </a:p>
          <a:p>
            <a:r>
              <a:rPr lang="de-DE" dirty="0"/>
              <a:t>Unsere Betragsberechnungen sind allerdings fachlich noch nicht vollständig. </a:t>
            </a:r>
            <a:r>
              <a:rPr lang="de-DE" sz="1200" kern="1200" dirty="0" err="1">
                <a:solidFill>
                  <a:schemeClr val="tx1"/>
                </a:solidFill>
                <a:latin typeface="+mn-lt"/>
                <a:ea typeface="+mn-ea"/>
                <a:cs typeface="+mn-cs"/>
              </a:rPr>
              <a:t>GrossAmount</a:t>
            </a:r>
            <a:r>
              <a:rPr lang="de-DE" dirty="0"/>
              <a:t>, </a:t>
            </a:r>
            <a:r>
              <a:rPr lang="de-DE" sz="1200" kern="1200" dirty="0" err="1">
                <a:solidFill>
                  <a:schemeClr val="tx1"/>
                </a:solidFill>
                <a:latin typeface="+mn-lt"/>
                <a:ea typeface="+mn-ea"/>
                <a:cs typeface="+mn-cs"/>
              </a:rPr>
              <a:t>DiscountAmount</a:t>
            </a:r>
            <a:r>
              <a:rPr lang="de-DE" dirty="0"/>
              <a:t> und </a:t>
            </a:r>
            <a:r>
              <a:rPr lang="de-DE" sz="1200" kern="1200" dirty="0" err="1">
                <a:solidFill>
                  <a:schemeClr val="tx1"/>
                </a:solidFill>
                <a:latin typeface="+mn-lt"/>
                <a:ea typeface="+mn-ea"/>
                <a:cs typeface="+mn-cs"/>
              </a:rPr>
              <a:t>NetAmount</a:t>
            </a:r>
            <a:r>
              <a:rPr lang="de-DE" dirty="0"/>
              <a:t> enthalten zwar die richtigen Zahlenwerte, sind aber noch nicht als Währungsbeträge ausgezeichnet.</a:t>
            </a:r>
          </a:p>
          <a:p>
            <a:endParaRPr lang="de-DE" dirty="0"/>
          </a:p>
          <a:p>
            <a:r>
              <a:rPr lang="de-DE" dirty="0"/>
              <a:t>Im nächsten Abschnitt beschäftigen wir uns deshalb mit Mengen-, Währungs- und Nullwertsemantik und ergänzen anschließend die fehlenden Annotationen im dritten Live-Coding.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18</a:t>
            </a:fld>
            <a:endParaRPr lang="de-DE" dirty="0"/>
          </a:p>
        </p:txBody>
      </p:sp>
    </p:spTree>
    <p:extLst>
      <p:ext uri="{BB962C8B-B14F-4D97-AF65-F5344CB8AC3E}">
        <p14:creationId xmlns:p14="http://schemas.microsoft.com/office/powerpoint/2010/main" val="110055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numerischer Datentyp beschreibt zunächst nur, wie ein Wert technisch gespeichert und verarbeitet wird.</a:t>
            </a:r>
          </a:p>
          <a:p>
            <a:endParaRPr lang="de-DE" dirty="0"/>
          </a:p>
          <a:p>
            <a:r>
              <a:rPr lang="de-DE" dirty="0"/>
              <a:t>Der Wert </a:t>
            </a:r>
            <a:r>
              <a:rPr lang="de-DE" sz="1200" kern="1200" dirty="0">
                <a:solidFill>
                  <a:schemeClr val="tx1"/>
                </a:solidFill>
                <a:latin typeface="+mn-lt"/>
                <a:ea typeface="+mn-ea"/>
                <a:cs typeface="+mn-cs"/>
              </a:rPr>
              <a:t>5</a:t>
            </a:r>
            <a:r>
              <a:rPr lang="de-DE" dirty="0"/>
              <a:t> sagt noch nicht, ob es sich um fünf Stück, fünf Kilogramm oder fünf Liter handelt. Ebenso ist bei einem Preis von </a:t>
            </a:r>
            <a:r>
              <a:rPr lang="de-DE" sz="1200" kern="1200" dirty="0">
                <a:solidFill>
                  <a:schemeClr val="tx1"/>
                </a:solidFill>
                <a:latin typeface="+mn-lt"/>
                <a:ea typeface="+mn-ea"/>
                <a:cs typeface="+mn-cs"/>
              </a:rPr>
              <a:t>899,00</a:t>
            </a:r>
            <a:r>
              <a:rPr lang="de-DE" dirty="0"/>
              <a:t> ohne zusätzliche Information nicht erkennbar, ob dieser Betrag in Euro, US-Dollar oder einer anderen Währung angegeben ist.</a:t>
            </a:r>
          </a:p>
          <a:p>
            <a:endParaRPr lang="de-DE" dirty="0"/>
          </a:p>
          <a:p>
            <a:r>
              <a:rPr lang="de-DE" dirty="0"/>
              <a:t>CDS bildet solche Zusammenhänge durch semantische Annotationen ab. Das Mengenelement </a:t>
            </a:r>
            <a:r>
              <a:rPr lang="de-DE" sz="1200" kern="1200" dirty="0" err="1">
                <a:solidFill>
                  <a:schemeClr val="tx1"/>
                </a:solidFill>
                <a:latin typeface="+mn-lt"/>
                <a:ea typeface="+mn-ea"/>
                <a:cs typeface="+mn-cs"/>
              </a:rPr>
              <a:t>Quantity</a:t>
            </a:r>
            <a:r>
              <a:rPr lang="de-DE" dirty="0"/>
              <a:t> verweist mit </a:t>
            </a:r>
            <a:r>
              <a:rPr lang="de-DE" sz="1200" kern="1200" dirty="0">
                <a:solidFill>
                  <a:schemeClr val="tx1"/>
                </a:solidFill>
                <a:latin typeface="+mn-lt"/>
                <a:ea typeface="+mn-ea"/>
                <a:cs typeface="+mn-cs"/>
              </a:rPr>
              <a:t>@Semantics.quantity.unitOfMeasure</a:t>
            </a:r>
            <a:r>
              <a:rPr lang="de-DE" dirty="0"/>
              <a:t> auf das Einheitenelement </a:t>
            </a:r>
            <a:r>
              <a:rPr lang="de-DE" sz="1200" kern="1200" dirty="0" err="1">
                <a:solidFill>
                  <a:schemeClr val="tx1"/>
                </a:solidFill>
                <a:latin typeface="+mn-lt"/>
                <a:ea typeface="+mn-ea"/>
                <a:cs typeface="+mn-cs"/>
              </a:rPr>
              <a:t>UnitCode</a:t>
            </a:r>
            <a:r>
              <a:rPr lang="de-DE" dirty="0"/>
              <a:t>. Der Preis </a:t>
            </a:r>
            <a:r>
              <a:rPr lang="de-DE" sz="1200" kern="1200" dirty="0" err="1">
                <a:solidFill>
                  <a:schemeClr val="tx1"/>
                </a:solidFill>
                <a:latin typeface="+mn-lt"/>
                <a:ea typeface="+mn-ea"/>
                <a:cs typeface="+mn-cs"/>
              </a:rPr>
              <a:t>UnitPrice</a:t>
            </a:r>
            <a:r>
              <a:rPr lang="de-DE" dirty="0"/>
              <a:t> verweist mit </a:t>
            </a:r>
            <a:r>
              <a:rPr lang="de-DE" sz="1200" kern="1200" dirty="0">
                <a:solidFill>
                  <a:schemeClr val="tx1"/>
                </a:solidFill>
                <a:latin typeface="+mn-lt"/>
                <a:ea typeface="+mn-ea"/>
                <a:cs typeface="+mn-cs"/>
              </a:rPr>
              <a:t>@Semantics.amount.currencyCode</a:t>
            </a:r>
            <a:r>
              <a:rPr lang="de-DE" dirty="0"/>
              <a:t> auf </a:t>
            </a:r>
            <a:r>
              <a:rPr lang="de-DE" sz="1200" kern="1200" dirty="0" err="1">
                <a:solidFill>
                  <a:schemeClr val="tx1"/>
                </a:solidFill>
                <a:latin typeface="+mn-lt"/>
                <a:ea typeface="+mn-ea"/>
                <a:cs typeface="+mn-cs"/>
              </a:rPr>
              <a:t>CurrencyCode</a:t>
            </a:r>
            <a:r>
              <a:rPr lang="de-DE" dirty="0"/>
              <a:t>.</a:t>
            </a:r>
          </a:p>
          <a:p>
            <a:endParaRPr lang="de-DE" dirty="0"/>
          </a:p>
          <a:p>
            <a:r>
              <a:rPr lang="de-DE" dirty="0"/>
              <a:t>Die Annotation steht also am fachlichen Zahlenwert. Ihr Wert ist der Name des zugehörigen Referenzelements.</a:t>
            </a:r>
          </a:p>
          <a:p>
            <a:endParaRPr lang="de-DE" dirty="0"/>
          </a:p>
          <a:p>
            <a:r>
              <a:rPr lang="de-DE" dirty="0"/>
              <a:t>Konsumierende Frameworks können diesen Zusammenhang auswerten. Eine Benutzeroberfläche kann beispielsweise Menge und Einheit gemeinsam anzeigen. Analytische Werkzeuge wissen, dass Beträge verschiedener Währungen nicht bedenkenlos addiert werden dürfen.</a:t>
            </a:r>
          </a:p>
          <a:p>
            <a:endParaRPr lang="de-DE" dirty="0"/>
          </a:p>
          <a:p>
            <a:r>
              <a:rPr lang="de-DE" dirty="0"/>
              <a:t>Bei CDS View </a:t>
            </a:r>
            <a:r>
              <a:rPr lang="de-DE" dirty="0" err="1"/>
              <a:t>Entities</a:t>
            </a:r>
            <a:r>
              <a:rPr lang="de-DE" dirty="0"/>
              <a:t> werden die Referenzelemente nicht zusätzlich mit </a:t>
            </a:r>
            <a:r>
              <a:rPr lang="de-DE" sz="1200" kern="1200" dirty="0">
                <a:solidFill>
                  <a:schemeClr val="tx1"/>
                </a:solidFill>
                <a:latin typeface="+mn-lt"/>
                <a:ea typeface="+mn-ea"/>
                <a:cs typeface="+mn-cs"/>
              </a:rPr>
              <a:t>@Semantics.currencyCode: </a:t>
            </a:r>
            <a:r>
              <a:rPr lang="de-DE" sz="1200" kern="1200" dirty="0" err="1">
                <a:solidFill>
                  <a:schemeClr val="tx1"/>
                </a:solidFill>
                <a:latin typeface="+mn-lt"/>
                <a:ea typeface="+mn-ea"/>
                <a:cs typeface="+mn-cs"/>
              </a:rPr>
              <a:t>true</a:t>
            </a:r>
            <a:r>
              <a:rPr lang="de-DE" dirty="0"/>
              <a:t> oder </a:t>
            </a:r>
            <a:r>
              <a:rPr lang="de-DE" sz="1200" kern="1200" dirty="0">
                <a:solidFill>
                  <a:schemeClr val="tx1"/>
                </a:solidFill>
                <a:latin typeface="+mn-lt"/>
                <a:ea typeface="+mn-ea"/>
                <a:cs typeface="+mn-cs"/>
              </a:rPr>
              <a:t>@Semantics.unitOfMeasure: </a:t>
            </a:r>
            <a:r>
              <a:rPr lang="de-DE" sz="1200" kern="1200" dirty="0" err="1">
                <a:solidFill>
                  <a:schemeClr val="tx1"/>
                </a:solidFill>
                <a:latin typeface="+mn-lt"/>
                <a:ea typeface="+mn-ea"/>
                <a:cs typeface="+mn-cs"/>
              </a:rPr>
              <a:t>true</a:t>
            </a:r>
            <a:r>
              <a:rPr lang="de-DE" dirty="0"/>
              <a:t> ausgezeichnet. Entscheidend ist die Referenz vom Mengen- beziehungsweise Betragsfeld auf das entsprechende Element.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19</a:t>
            </a:fld>
            <a:endParaRPr lang="de-DE" dirty="0"/>
          </a:p>
        </p:txBody>
      </p:sp>
    </p:spTree>
    <p:extLst>
      <p:ext uri="{BB962C8B-B14F-4D97-AF65-F5344CB8AC3E}">
        <p14:creationId xmlns:p14="http://schemas.microsoft.com/office/powerpoint/2010/main" val="1738845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berechneten Beträge enthalten bereits die richtigen Zahlenwerte. Fachlich ist die Modellierung aber noch nicht vollständig.</a:t>
            </a:r>
          </a:p>
          <a:p>
            <a:endParaRPr lang="de-DE" dirty="0"/>
          </a:p>
          <a:p>
            <a:r>
              <a:rPr lang="de-DE" dirty="0"/>
              <a:t>Bei der Berechnung haben wir mit </a:t>
            </a:r>
            <a:r>
              <a:rPr lang="de-DE" sz="1200" kern="1200" dirty="0" err="1">
                <a:solidFill>
                  <a:schemeClr val="tx1"/>
                </a:solidFill>
                <a:latin typeface="+mn-lt"/>
                <a:ea typeface="+mn-ea"/>
                <a:cs typeface="+mn-cs"/>
              </a:rPr>
              <a:t>get_numeric_value</a:t>
            </a:r>
            <a:r>
              <a:rPr lang="de-DE" dirty="0"/>
              <a:t> die numerischen Werte von Menge und Einzelpreis verwendet. Das Ergebnis des Ausdrucks ist dadurch zunächst ein gewöhnlicher Dezimalwert.</a:t>
            </a:r>
          </a:p>
          <a:p>
            <a:endParaRPr lang="de-DE" dirty="0"/>
          </a:p>
          <a:p>
            <a:r>
              <a:rPr lang="de-DE" dirty="0"/>
              <a:t>CDS leitet aus diesem Ausdruck nicht automatisch ab, dass </a:t>
            </a:r>
            <a:r>
              <a:rPr lang="de-DE" sz="1200" kern="1200" dirty="0" err="1">
                <a:solidFill>
                  <a:schemeClr val="tx1"/>
                </a:solidFill>
                <a:latin typeface="+mn-lt"/>
                <a:ea typeface="+mn-ea"/>
                <a:cs typeface="+mn-cs"/>
              </a:rPr>
              <a:t>GrossAmount</a:t>
            </a:r>
            <a:r>
              <a:rPr lang="de-DE" dirty="0"/>
              <a:t> ein Betrag in der Währung </a:t>
            </a:r>
            <a:r>
              <a:rPr lang="de-DE" sz="1200" kern="1200" dirty="0" err="1">
                <a:solidFill>
                  <a:schemeClr val="tx1"/>
                </a:solidFill>
                <a:latin typeface="+mn-lt"/>
                <a:ea typeface="+mn-ea"/>
                <a:cs typeface="+mn-cs"/>
              </a:rPr>
              <a:t>CurrencyCode</a:t>
            </a:r>
            <a:r>
              <a:rPr lang="de-DE" dirty="0"/>
              <a:t> sein soll. Diese Beziehung müssen wir ausdrücklich durch eine Annotation festlegen.</a:t>
            </a:r>
          </a:p>
          <a:p>
            <a:endParaRPr lang="de-DE" dirty="0"/>
          </a:p>
          <a:p>
            <a:r>
              <a:rPr lang="de-DE" dirty="0"/>
              <a:t>Dasselbe gilt für </a:t>
            </a:r>
            <a:r>
              <a:rPr lang="de-DE" sz="1200" kern="1200" dirty="0" err="1">
                <a:solidFill>
                  <a:schemeClr val="tx1"/>
                </a:solidFill>
                <a:latin typeface="+mn-lt"/>
                <a:ea typeface="+mn-ea"/>
                <a:cs typeface="+mn-cs"/>
              </a:rPr>
              <a:t>DiscountAmount</a:t>
            </a:r>
            <a:r>
              <a:rPr lang="de-DE" dirty="0"/>
              <a:t> und </a:t>
            </a:r>
            <a:r>
              <a:rPr lang="de-DE" sz="1200" kern="1200" dirty="0" err="1">
                <a:solidFill>
                  <a:schemeClr val="tx1"/>
                </a:solidFill>
                <a:latin typeface="+mn-lt"/>
                <a:ea typeface="+mn-ea"/>
                <a:cs typeface="+mn-cs"/>
              </a:rPr>
              <a:t>NetAmount</a:t>
            </a:r>
            <a:r>
              <a:rPr lang="de-DE" dirty="0"/>
              <a:t>. Alle drei Ergebnisse gehören zur Währung des Einzelpreises und verweisen daher auf dasselbe Element </a:t>
            </a:r>
            <a:r>
              <a:rPr lang="de-DE" sz="1200" kern="1200" dirty="0" err="1">
                <a:solidFill>
                  <a:schemeClr val="tx1"/>
                </a:solidFill>
                <a:latin typeface="+mn-lt"/>
                <a:ea typeface="+mn-ea"/>
                <a:cs typeface="+mn-cs"/>
              </a:rPr>
              <a:t>CurrencyCode</a:t>
            </a:r>
            <a:r>
              <a:rPr lang="de-DE" dirty="0"/>
              <a:t>.</a:t>
            </a:r>
          </a:p>
          <a:p>
            <a:endParaRPr lang="de-DE" dirty="0"/>
          </a:p>
          <a:p>
            <a:r>
              <a:rPr lang="de-DE" dirty="0"/>
              <a:t>Das Referenzelement muss Teil der Elementliste der View Entity sein. Ein Verweis auf ein Element, das die View nicht bereitstellt, wäre keine vollständige Schnittstellendefinition.</a:t>
            </a:r>
          </a:p>
          <a:p>
            <a:endParaRPr lang="de-DE" dirty="0"/>
          </a:p>
          <a:p>
            <a:r>
              <a:rPr lang="de-DE" dirty="0"/>
              <a:t>Bei direkt übernommenen Elementen kann Semantik aus der zugrunde liegenden View propagiert werden. Für neu berechnete Elemente sollten wir uns darauf jedoch nicht verlassen: Ihre fachliche Bedeutung wird an der Stelle dokumentiert, an der das neue Element definiert wird.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20</a:t>
            </a:fld>
            <a:endParaRPr lang="de-DE" dirty="0"/>
          </a:p>
        </p:txBody>
      </p:sp>
    </p:spTree>
    <p:extLst>
      <p:ext uri="{BB962C8B-B14F-4D97-AF65-F5344CB8AC3E}">
        <p14:creationId xmlns:p14="http://schemas.microsoft.com/office/powerpoint/2010/main" val="218792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Datenbankabfragen müssen wir zwischen einem initialen ABAP-Wert und einem SQL-Nullwert unterscheiden.</a:t>
            </a:r>
          </a:p>
          <a:p>
            <a:endParaRPr lang="de-DE" dirty="0"/>
          </a:p>
          <a:p>
            <a:r>
              <a:rPr lang="de-DE" dirty="0"/>
              <a:t>Die Zahl null ist ein vorhandener numerischer Wert. Eine leere Zeichenkette beziehungsweise ein mit Leerzeichen gefülltes Zeichenfeld ist ebenfalls ein vorhandener Wert. Ein Nullwert sagt dagegen aus, dass für den Ausdruck kein Wert vorhanden ist.</a:t>
            </a:r>
          </a:p>
          <a:p>
            <a:endParaRPr lang="de-DE" dirty="0"/>
          </a:p>
          <a:p>
            <a:r>
              <a:rPr lang="de-DE" dirty="0"/>
              <a:t>Nullwerte können beispielsweise durch einen Outer </a:t>
            </a:r>
            <a:r>
              <a:rPr lang="de-DE" dirty="0" err="1"/>
              <a:t>Join</a:t>
            </a:r>
            <a:r>
              <a:rPr lang="de-DE" dirty="0"/>
              <a:t> entstehen. Der Datensatz der linken Datenquelle bleibt im Ergebnis erhalten, obwohl auf der rechten Seite kein passender Datensatz gefunden wurde. Die Elemente der rechten Seite enthalten dann </a:t>
            </a:r>
            <a:r>
              <a:rPr lang="de-DE" sz="1200" kern="1200" dirty="0">
                <a:solidFill>
                  <a:schemeClr val="tx1"/>
                </a:solidFill>
                <a:latin typeface="+mn-lt"/>
                <a:ea typeface="+mn-ea"/>
                <a:cs typeface="+mn-cs"/>
              </a:rPr>
              <a:t>NULL</a:t>
            </a:r>
            <a:r>
              <a:rPr lang="de-DE" dirty="0"/>
              <a:t>.</a:t>
            </a:r>
          </a:p>
          <a:p>
            <a:endParaRPr lang="de-DE" dirty="0"/>
          </a:p>
          <a:p>
            <a:r>
              <a:rPr lang="de-DE" dirty="0"/>
              <a:t>Eine ähnliche Situation kann beim Zugriff über eine optionale Assoziation auftreten, wenn kein passender Zieldatensatz existiert.</a:t>
            </a:r>
          </a:p>
          <a:p>
            <a:endParaRPr lang="de-DE" dirty="0"/>
          </a:p>
          <a:p>
            <a:r>
              <a:rPr lang="de-DE" dirty="0"/>
              <a:t>Mit </a:t>
            </a:r>
            <a:r>
              <a:rPr lang="de-DE" sz="1200" kern="1200" dirty="0" err="1">
                <a:solidFill>
                  <a:schemeClr val="tx1"/>
                </a:solidFill>
                <a:latin typeface="+mn-lt"/>
                <a:ea typeface="+mn-ea"/>
                <a:cs typeface="+mn-cs"/>
              </a:rPr>
              <a:t>coalesce</a:t>
            </a:r>
            <a:r>
              <a:rPr lang="de-DE" dirty="0"/>
              <a:t> können wir einen Nullwert durch einen Ersatzwert ersetzen. Die Funktion liefert das erste Argument, sofern dieses nicht null ist. Anderenfalls liefert sie das zweite Argument.</a:t>
            </a:r>
          </a:p>
          <a:p>
            <a:endParaRPr lang="de-DE" dirty="0"/>
          </a:p>
          <a:p>
            <a:r>
              <a:rPr lang="de-DE" dirty="0"/>
              <a:t>Alternativ können wir einen Nullwert in einem </a:t>
            </a:r>
            <a:r>
              <a:rPr lang="de-DE" sz="1200" kern="1200" dirty="0">
                <a:solidFill>
                  <a:schemeClr val="tx1"/>
                </a:solidFill>
                <a:latin typeface="+mn-lt"/>
                <a:ea typeface="+mn-ea"/>
                <a:cs typeface="+mn-cs"/>
              </a:rPr>
              <a:t>CASE</a:t>
            </a:r>
            <a:r>
              <a:rPr lang="de-DE" dirty="0"/>
              <a:t>-Ausdruck mit </a:t>
            </a:r>
            <a:r>
              <a:rPr lang="de-DE" sz="1200" kern="1200" dirty="0">
                <a:solidFill>
                  <a:schemeClr val="tx1"/>
                </a:solidFill>
                <a:latin typeface="+mn-lt"/>
                <a:ea typeface="+mn-ea"/>
                <a:cs typeface="+mn-cs"/>
              </a:rPr>
              <a:t>IS NULL</a:t>
            </a:r>
            <a:r>
              <a:rPr lang="de-DE" dirty="0"/>
              <a:t> prüfen.</a:t>
            </a:r>
          </a:p>
          <a:p>
            <a:endParaRPr lang="de-DE" dirty="0"/>
          </a:p>
          <a:p>
            <a:r>
              <a:rPr lang="de-DE" dirty="0"/>
              <a:t>Eine Prüfung mit Gleichheitsoperator wäre nicht richtig:</a:t>
            </a:r>
          </a:p>
          <a:p>
            <a:pPr rtl="0"/>
            <a:r>
              <a:rPr lang="de-DE" sz="1200" kern="1200" dirty="0">
                <a:solidFill>
                  <a:schemeClr val="tx1"/>
                </a:solidFill>
                <a:latin typeface="+mn-lt"/>
                <a:ea typeface="+mn-ea"/>
                <a:cs typeface="+mn-cs"/>
              </a:rPr>
              <a:t>Value = null</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NULL</a:t>
            </a:r>
            <a:r>
              <a:rPr lang="de-DE" dirty="0"/>
              <a:t> ist kein gewöhnlicher Vergleichswert. SQL arbeitet bei solchen Ausdrücken mit einer dreiwertigen Logik: Eine Aussage kann wahr, falsch oder unbekannt sein.</a:t>
            </a:r>
          </a:p>
          <a:p>
            <a:endParaRPr lang="de-DE" dirty="0"/>
          </a:p>
          <a:p>
            <a:r>
              <a:rPr lang="de-DE" dirty="0"/>
              <a:t>In unserem aktuellen Datenbestand sind zu allen Positionen passende Produkte vorhanden. Deshalb benötigen wir </a:t>
            </a:r>
            <a:r>
              <a:rPr lang="de-DE" sz="1200" kern="1200" dirty="0" err="1">
                <a:solidFill>
                  <a:schemeClr val="tx1"/>
                </a:solidFill>
                <a:latin typeface="+mn-lt"/>
                <a:ea typeface="+mn-ea"/>
                <a:cs typeface="+mn-cs"/>
              </a:rPr>
              <a:t>coalesce</a:t>
            </a:r>
            <a:r>
              <a:rPr lang="de-DE" dirty="0"/>
              <a:t> nicht zwingend in der produktiven View. Das Beispiel zeigt aber, wie eine View bei optionalen Beziehungen gegen fehlende Werte abgesichert werden kann.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21</a:t>
            </a:fld>
            <a:endParaRPr lang="de-DE" dirty="0"/>
          </a:p>
        </p:txBody>
      </p:sp>
    </p:spTree>
    <p:extLst>
      <p:ext uri="{BB962C8B-B14F-4D97-AF65-F5344CB8AC3E}">
        <p14:creationId xmlns:p14="http://schemas.microsoft.com/office/powerpoint/2010/main" val="969734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dritten Live-Coding vervollständigen wir die fachliche Beschreibung unserer berechneten Elemente.</a:t>
            </a:r>
          </a:p>
          <a:p>
            <a:endParaRPr lang="de-DE" dirty="0"/>
          </a:p>
          <a:p>
            <a:r>
              <a:rPr lang="de-DE" dirty="0"/>
              <a:t>Zunächst kontrollieren wir die bereits vorhandene Semantik von </a:t>
            </a:r>
            <a:r>
              <a:rPr lang="de-DE" sz="1200" kern="1200" dirty="0" err="1">
                <a:solidFill>
                  <a:schemeClr val="tx1"/>
                </a:solidFill>
                <a:latin typeface="+mn-lt"/>
                <a:ea typeface="+mn-ea"/>
                <a:cs typeface="+mn-cs"/>
              </a:rPr>
              <a:t>Quantity</a:t>
            </a:r>
            <a:r>
              <a:rPr lang="de-DE" dirty="0"/>
              <a:t> und </a:t>
            </a:r>
            <a:r>
              <a:rPr lang="de-DE" sz="1200" kern="1200" dirty="0" err="1">
                <a:solidFill>
                  <a:schemeClr val="tx1"/>
                </a:solidFill>
                <a:latin typeface="+mn-lt"/>
                <a:ea typeface="+mn-ea"/>
                <a:cs typeface="+mn-cs"/>
              </a:rPr>
              <a:t>UnitPrice</a:t>
            </a:r>
            <a:r>
              <a:rPr lang="de-DE" dirty="0"/>
              <a:t>. Diese Elemente stammen aus </a:t>
            </a:r>
            <a:r>
              <a:rPr lang="de-DE" sz="1200" kern="1200" dirty="0" err="1">
                <a:solidFill>
                  <a:schemeClr val="tx1"/>
                </a:solidFill>
                <a:latin typeface="+mn-lt"/>
                <a:ea typeface="+mn-ea"/>
                <a:cs typeface="+mn-cs"/>
              </a:rPr>
              <a:t>ZI_CDSOrderItem</a:t>
            </a:r>
            <a:r>
              <a:rPr lang="de-DE" dirty="0"/>
              <a:t> und besitzen dort eine Referenz auf Einheit beziehungsweise Währung.</a:t>
            </a:r>
          </a:p>
          <a:p>
            <a:endParaRPr lang="de-DE" dirty="0"/>
          </a:p>
          <a:p>
            <a:r>
              <a:rPr lang="de-DE" dirty="0"/>
              <a:t>Danach versehen wir </a:t>
            </a:r>
            <a:r>
              <a:rPr lang="de-DE" sz="1200" kern="1200" dirty="0" err="1">
                <a:solidFill>
                  <a:schemeClr val="tx1"/>
                </a:solidFill>
                <a:latin typeface="+mn-lt"/>
                <a:ea typeface="+mn-ea"/>
                <a:cs typeface="+mn-cs"/>
              </a:rPr>
              <a:t>GrossAmount</a:t>
            </a:r>
            <a:r>
              <a:rPr lang="de-DE" dirty="0"/>
              <a:t>, </a:t>
            </a:r>
            <a:r>
              <a:rPr lang="de-DE" sz="1200" kern="1200" dirty="0" err="1">
                <a:solidFill>
                  <a:schemeClr val="tx1"/>
                </a:solidFill>
                <a:latin typeface="+mn-lt"/>
                <a:ea typeface="+mn-ea"/>
                <a:cs typeface="+mn-cs"/>
              </a:rPr>
              <a:t>DiscountAmount</a:t>
            </a:r>
            <a:r>
              <a:rPr lang="de-DE" dirty="0"/>
              <a:t> und </a:t>
            </a:r>
            <a:r>
              <a:rPr lang="de-DE" sz="1200" kern="1200" dirty="0" err="1">
                <a:solidFill>
                  <a:schemeClr val="tx1"/>
                </a:solidFill>
                <a:latin typeface="+mn-lt"/>
                <a:ea typeface="+mn-ea"/>
                <a:cs typeface="+mn-cs"/>
              </a:rPr>
              <a:t>NetAmount</a:t>
            </a:r>
            <a:r>
              <a:rPr lang="de-DE" dirty="0"/>
              <a:t> jeweils mit </a:t>
            </a:r>
            <a:r>
              <a:rPr lang="de-DE" sz="1200" kern="1200" dirty="0">
                <a:solidFill>
                  <a:schemeClr val="tx1"/>
                </a:solidFill>
                <a:latin typeface="+mn-lt"/>
                <a:ea typeface="+mn-ea"/>
                <a:cs typeface="+mn-cs"/>
              </a:rPr>
              <a:t>@Semantics.amount.currencyCode</a:t>
            </a:r>
            <a:r>
              <a:rPr lang="de-DE" dirty="0"/>
              <a:t>. Alle drei Annotationen verweisen auf das vorhandene Element </a:t>
            </a:r>
            <a:r>
              <a:rPr lang="de-DE" sz="1200" kern="1200" dirty="0" err="1">
                <a:solidFill>
                  <a:schemeClr val="tx1"/>
                </a:solidFill>
                <a:latin typeface="+mn-lt"/>
                <a:ea typeface="+mn-ea"/>
                <a:cs typeface="+mn-cs"/>
              </a:rPr>
              <a:t>CurrencyCode</a:t>
            </a:r>
            <a:r>
              <a:rPr lang="de-DE" dirty="0"/>
              <a:t>.</a:t>
            </a:r>
          </a:p>
          <a:p>
            <a:endParaRPr lang="de-DE" dirty="0"/>
          </a:p>
          <a:p>
            <a:r>
              <a:rPr lang="de-DE" dirty="0"/>
              <a:t>Anschließend aktivieren wir die View Entity und prüfen in den Elementinformationen beziehungsweise in der Datenvorschau, ob die berechneten Werte nun als Beträge erkannt werden.</a:t>
            </a:r>
          </a:p>
          <a:p>
            <a:endParaRPr lang="de-DE" dirty="0"/>
          </a:p>
          <a:p>
            <a:r>
              <a:rPr lang="de-DE" dirty="0"/>
              <a:t>Zum Abschluss können wir kurz zeigen, wie </a:t>
            </a:r>
            <a:r>
              <a:rPr lang="de-DE" sz="1200" kern="1200" dirty="0" err="1">
                <a:solidFill>
                  <a:schemeClr val="tx1"/>
                </a:solidFill>
                <a:latin typeface="+mn-lt"/>
                <a:ea typeface="+mn-ea"/>
                <a:cs typeface="+mn-cs"/>
              </a:rPr>
              <a:t>coalesce</a:t>
            </a:r>
            <a:r>
              <a:rPr lang="de-DE" dirty="0"/>
              <a:t> einen fehlenden Produktnamen ersetzen würde. Da unser konsistenter Beispieldatenbestand keine fehlenden Produkte enthält, nehmen wir dieses Element nicht dauerhaft in die View auf.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22</a:t>
            </a:fld>
            <a:endParaRPr lang="de-DE" dirty="0"/>
          </a:p>
        </p:txBody>
      </p:sp>
    </p:spTree>
    <p:extLst>
      <p:ext uri="{BB962C8B-B14F-4D97-AF65-F5344CB8AC3E}">
        <p14:creationId xmlns:p14="http://schemas.microsoft.com/office/powerpoint/2010/main" val="3182614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1. Ausgangsstand kontrollieren</a:t>
            </a:r>
          </a:p>
          <a:p>
            <a:r>
              <a:rPr lang="de-DE" sz="1200" kern="1200" dirty="0" err="1">
                <a:solidFill>
                  <a:schemeClr val="tx1"/>
                </a:solidFill>
                <a:latin typeface="+mn-lt"/>
                <a:ea typeface="+mn-ea"/>
                <a:cs typeface="+mn-cs"/>
              </a:rPr>
              <a:t>ZI_CDSOrderItemCalc</a:t>
            </a:r>
            <a:r>
              <a:rPr lang="de-DE" dirty="0"/>
              <a:t> öffnen und die relevanten Elemente zeigen:</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a:t>
            </a:r>
          </a:p>
          <a:p>
            <a:r>
              <a:rPr lang="de-DE" dirty="0"/>
              <a:t>Anschließend die drei bereits vorhandenen Berechnungen zeigen:</a:t>
            </a:r>
          </a:p>
          <a:p>
            <a:pPr rtl="0"/>
            <a:r>
              <a:rPr lang="de-DE" sz="1200" kern="1200" dirty="0" err="1">
                <a:solidFill>
                  <a:schemeClr val="tx1"/>
                </a:solidFill>
                <a:latin typeface="+mn-lt"/>
                <a:ea typeface="+mn-ea"/>
                <a:cs typeface="+mn-cs"/>
              </a:rPr>
              <a:t>GrossAmount</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DiscountAmount</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NetAmount</a:t>
            </a:r>
            <a:endParaRPr lang="de-DE" sz="1200" kern="1200" dirty="0">
              <a:solidFill>
                <a:schemeClr val="tx1"/>
              </a:solidFill>
              <a:latin typeface="+mn-lt"/>
              <a:ea typeface="+mn-ea"/>
              <a:cs typeface="+mn-cs"/>
            </a:endParaRPr>
          </a:p>
          <a:p>
            <a:r>
              <a:rPr lang="de-DE" b="1" dirty="0"/>
              <a:t>Erläuterung</a:t>
            </a:r>
            <a:endParaRPr lang="de-DE" dirty="0"/>
          </a:p>
          <a:p>
            <a:r>
              <a:rPr lang="de-DE" dirty="0"/>
              <a:t>Die Zahlenwerte sind korrekt. Die berechneten Elemente besitzen bislang aber noch keine ausdrückliche Beziehung zu </a:t>
            </a:r>
            <a:r>
              <a:rPr lang="de-DE" sz="1200" kern="1200" dirty="0" err="1">
                <a:solidFill>
                  <a:schemeClr val="tx1"/>
                </a:solidFill>
                <a:latin typeface="+mn-lt"/>
                <a:ea typeface="+mn-ea"/>
                <a:cs typeface="+mn-cs"/>
              </a:rPr>
              <a:t>CurrencyCode</a:t>
            </a:r>
            <a:r>
              <a:rPr lang="de-DE" dirty="0"/>
              <a:t>.</a:t>
            </a:r>
          </a:p>
          <a:p>
            <a:br>
              <a:rPr lang="de-DE" dirty="0"/>
            </a:br>
            <a:endParaRPr lang="de-DE" dirty="0"/>
          </a:p>
          <a:p>
            <a:r>
              <a:rPr lang="de-DE" b="1" dirty="0"/>
              <a:t>2. Vorhandene Mengensemantik prüfen</a:t>
            </a:r>
          </a:p>
          <a:p>
            <a:r>
              <a:rPr lang="de-DE" dirty="0"/>
              <a:t>In </a:t>
            </a:r>
            <a:r>
              <a:rPr lang="de-DE" sz="1200" kern="1200" dirty="0" err="1">
                <a:solidFill>
                  <a:schemeClr val="tx1"/>
                </a:solidFill>
                <a:latin typeface="+mn-lt"/>
                <a:ea typeface="+mn-ea"/>
                <a:cs typeface="+mn-cs"/>
              </a:rPr>
              <a:t>ZI_CDSOrderItem</a:t>
            </a:r>
            <a:r>
              <a:rPr lang="de-DE" dirty="0"/>
              <a:t> die Definition von </a:t>
            </a:r>
            <a:r>
              <a:rPr lang="de-DE" sz="1200" kern="1200" dirty="0" err="1">
                <a:solidFill>
                  <a:schemeClr val="tx1"/>
                </a:solidFill>
                <a:latin typeface="+mn-lt"/>
                <a:ea typeface="+mn-ea"/>
                <a:cs typeface="+mn-cs"/>
              </a:rPr>
              <a:t>Quantity</a:t>
            </a:r>
            <a:r>
              <a:rPr lang="de-DE" dirty="0"/>
              <a:t> kontrollieren:</a:t>
            </a:r>
          </a:p>
          <a:p>
            <a:pPr rtl="0"/>
            <a:r>
              <a:rPr lang="de-DE" sz="1200" kern="1200" dirty="0">
                <a:solidFill>
                  <a:schemeClr val="tx1"/>
                </a:solidFill>
                <a:latin typeface="+mn-lt"/>
                <a:ea typeface="+mn-ea"/>
                <a:cs typeface="+mn-cs"/>
              </a:rPr>
              <a:t>@Semantics.quantity.unitOfMeasure: '</a:t>
            </a:r>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r>
              <a:rPr lang="de-DE" b="1" dirty="0"/>
              <a:t>Während der Vorführung erläutern</a:t>
            </a:r>
            <a:endParaRPr lang="de-DE" dirty="0"/>
          </a:p>
          <a:p>
            <a:pPr lvl="0"/>
            <a:r>
              <a:rPr lang="de-DE" dirty="0"/>
              <a:t>Die Annotation steht an </a:t>
            </a:r>
            <a:r>
              <a:rPr lang="de-DE" sz="1200" kern="1200" dirty="0" err="1">
                <a:solidFill>
                  <a:schemeClr val="tx1"/>
                </a:solidFill>
                <a:latin typeface="+mn-lt"/>
                <a:ea typeface="+mn-ea"/>
                <a:cs typeface="+mn-cs"/>
              </a:rPr>
              <a:t>Quantity</a:t>
            </a:r>
            <a:r>
              <a:rPr lang="de-DE" dirty="0"/>
              <a:t>. </a:t>
            </a:r>
          </a:p>
          <a:p>
            <a:pPr lvl="0"/>
            <a:r>
              <a:rPr lang="de-DE" dirty="0"/>
              <a:t>Der Annotationswert enthält den Namen des Referenzelements. </a:t>
            </a:r>
          </a:p>
          <a:p>
            <a:pPr lvl="0"/>
            <a:r>
              <a:rPr lang="de-DE" sz="1200" kern="1200" dirty="0" err="1">
                <a:solidFill>
                  <a:schemeClr val="tx1"/>
                </a:solidFill>
                <a:latin typeface="+mn-lt"/>
                <a:ea typeface="+mn-ea"/>
                <a:cs typeface="+mn-cs"/>
              </a:rPr>
              <a:t>UnitCode</a:t>
            </a:r>
            <a:r>
              <a:rPr lang="de-DE" dirty="0"/>
              <a:t> muss in derselben View Entity verfügbar sein. </a:t>
            </a:r>
          </a:p>
          <a:p>
            <a:pPr lvl="0"/>
            <a:r>
              <a:rPr lang="de-DE" sz="1200" kern="1200" dirty="0" err="1">
                <a:solidFill>
                  <a:schemeClr val="tx1"/>
                </a:solidFill>
                <a:latin typeface="+mn-lt"/>
                <a:ea typeface="+mn-ea"/>
                <a:cs typeface="+mn-cs"/>
              </a:rPr>
              <a:t>Quantity</a:t>
            </a:r>
            <a:r>
              <a:rPr lang="de-DE" dirty="0"/>
              <a:t> und </a:t>
            </a:r>
            <a:r>
              <a:rPr lang="de-DE" sz="1200" kern="1200" dirty="0" err="1">
                <a:solidFill>
                  <a:schemeClr val="tx1"/>
                </a:solidFill>
                <a:latin typeface="+mn-lt"/>
                <a:ea typeface="+mn-ea"/>
                <a:cs typeface="+mn-cs"/>
              </a:rPr>
              <a:t>UnitCode</a:t>
            </a:r>
            <a:r>
              <a:rPr lang="de-DE" dirty="0"/>
              <a:t> bilden fachlich ein zusammengehöriges Paar. </a:t>
            </a:r>
          </a:p>
          <a:p>
            <a:r>
              <a:rPr lang="de-DE" dirty="0"/>
              <a:t>Falls die Annotation aus der zugrunde liegenden View propagiert wird, muss sie in </a:t>
            </a:r>
            <a:r>
              <a:rPr lang="de-DE" sz="1200" kern="1200" dirty="0" err="1">
                <a:solidFill>
                  <a:schemeClr val="tx1"/>
                </a:solidFill>
                <a:latin typeface="+mn-lt"/>
                <a:ea typeface="+mn-ea"/>
                <a:cs typeface="+mn-cs"/>
              </a:rPr>
              <a:t>ZI_CDSOrderItemCalc</a:t>
            </a:r>
            <a:r>
              <a:rPr lang="de-DE" dirty="0"/>
              <a:t> nicht erneut angegeben werden.</a:t>
            </a:r>
          </a:p>
          <a:p>
            <a:br>
              <a:rPr lang="de-DE" dirty="0"/>
            </a:br>
            <a:endParaRPr lang="de-DE" dirty="0"/>
          </a:p>
          <a:p>
            <a:r>
              <a:rPr lang="de-DE" b="1" dirty="0"/>
              <a:t>3. Vorhandene Betragssemantik prüfen</a:t>
            </a:r>
          </a:p>
          <a:p>
            <a:r>
              <a:rPr lang="de-DE" dirty="0"/>
              <a:t>Ebenfalls in </a:t>
            </a:r>
            <a:r>
              <a:rPr lang="de-DE" sz="1200" kern="1200" dirty="0" err="1">
                <a:solidFill>
                  <a:schemeClr val="tx1"/>
                </a:solidFill>
                <a:latin typeface="+mn-lt"/>
                <a:ea typeface="+mn-ea"/>
                <a:cs typeface="+mn-cs"/>
              </a:rPr>
              <a:t>ZI_CDSOrderItem</a:t>
            </a:r>
            <a:r>
              <a:rPr lang="de-DE" dirty="0"/>
              <a:t>:</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b="1" dirty="0"/>
              <a:t>Erläuterung</a:t>
            </a:r>
            <a:endParaRPr lang="de-DE" dirty="0"/>
          </a:p>
          <a:p>
            <a:r>
              <a:rPr lang="de-DE" sz="1200" kern="1200" dirty="0" err="1">
                <a:solidFill>
                  <a:schemeClr val="tx1"/>
                </a:solidFill>
                <a:latin typeface="+mn-lt"/>
                <a:ea typeface="+mn-ea"/>
                <a:cs typeface="+mn-cs"/>
              </a:rPr>
              <a:t>UnitPrice</a:t>
            </a:r>
            <a:r>
              <a:rPr lang="de-DE" dirty="0"/>
              <a:t> ist ein Betrag in der durch </a:t>
            </a:r>
            <a:r>
              <a:rPr lang="de-DE" sz="1200" kern="1200" dirty="0" err="1">
                <a:solidFill>
                  <a:schemeClr val="tx1"/>
                </a:solidFill>
                <a:latin typeface="+mn-lt"/>
                <a:ea typeface="+mn-ea"/>
                <a:cs typeface="+mn-cs"/>
              </a:rPr>
              <a:t>CurrencyCode</a:t>
            </a:r>
            <a:r>
              <a:rPr lang="de-DE" dirty="0"/>
              <a:t> angegebenen Währung. Die Währungsbeziehung gehört zum Betragsfeld und nicht zum technischen Dezimaltyp.</a:t>
            </a:r>
          </a:p>
          <a:p>
            <a:br>
              <a:rPr lang="de-DE" dirty="0"/>
            </a:br>
            <a:endParaRPr lang="de-DE" dirty="0"/>
          </a:p>
          <a:p>
            <a:r>
              <a:rPr lang="de-DE" b="1" dirty="0"/>
              <a:t>4. Bruttobetrag auszeichnen</a:t>
            </a:r>
          </a:p>
          <a:p>
            <a:r>
              <a:rPr lang="de-DE" dirty="0"/>
              <a:t>Unmittelbar vor der Berechnung:</a:t>
            </a: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r>
              <a:rPr lang="de-DE" b="1" dirty="0"/>
              <a:t>Während der Eingabe erläutern</a:t>
            </a:r>
            <a:endParaRPr lang="de-DE" dirty="0"/>
          </a:p>
          <a:p>
            <a:r>
              <a:rPr lang="de-DE" dirty="0"/>
              <a:t>Die Annotation verändert die Berechnung nicht. Sie ergänzt Metadaten über die fachliche Bedeutung des Ergebnisses.</a:t>
            </a:r>
          </a:p>
          <a:p>
            <a:br>
              <a:rPr lang="de-DE" dirty="0"/>
            </a:br>
            <a:endParaRPr lang="de-DE" dirty="0"/>
          </a:p>
          <a:p>
            <a:r>
              <a:rPr lang="de-DE" b="1" dirty="0"/>
              <a:t>5. Rabattbetrag auszeichnen</a:t>
            </a: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a:t>
            </a:r>
          </a:p>
          <a:p>
            <a:r>
              <a:rPr lang="de-DE" b="1" dirty="0"/>
              <a:t>Erläuterung</a:t>
            </a:r>
            <a:endParaRPr lang="de-DE" dirty="0"/>
          </a:p>
          <a:p>
            <a:r>
              <a:rPr lang="de-DE" dirty="0"/>
              <a:t>Der Rabattbetrag wird aus einem Preis derselben Währung berechnet. Deshalb verweist auch dieses Element auf </a:t>
            </a:r>
            <a:r>
              <a:rPr lang="de-DE" sz="1200" kern="1200" dirty="0" err="1">
                <a:solidFill>
                  <a:schemeClr val="tx1"/>
                </a:solidFill>
                <a:latin typeface="+mn-lt"/>
                <a:ea typeface="+mn-ea"/>
                <a:cs typeface="+mn-cs"/>
              </a:rPr>
              <a:t>CurrencyCode</a:t>
            </a:r>
            <a:r>
              <a:rPr lang="de-DE" dirty="0"/>
              <a:t>.</a:t>
            </a:r>
          </a:p>
          <a:p>
            <a:br>
              <a:rPr lang="de-DE" dirty="0"/>
            </a:br>
            <a:endParaRPr lang="de-DE" dirty="0"/>
          </a:p>
          <a:p>
            <a:r>
              <a:rPr lang="de-DE" b="1" dirty="0"/>
              <a:t>6. Nettobetrag auszeichnen</a:t>
            </a: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r>
              <a:rPr lang="de-DE" dirty="0"/>
              <a:t>Damit besitzen alle berechneten Beträge dieselbe Währungsreferenz.</a:t>
            </a:r>
          </a:p>
          <a:p>
            <a:br>
              <a:rPr lang="de-DE" dirty="0"/>
            </a:br>
            <a:endParaRPr lang="de-DE" dirty="0"/>
          </a:p>
          <a:p>
            <a:r>
              <a:rPr lang="de-DE" b="1" dirty="0"/>
              <a:t>7. Vollständigen relevanten Entwicklungsstand zeigen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get_numeric_value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 (</a:t>
            </a:r>
          </a:p>
          <a:p>
            <a:pPr rtl="0"/>
            <a:r>
              <a:rPr lang="de-DE" sz="1200" kern="1200" dirty="0">
                <a:solidFill>
                  <a:schemeClr val="tx1"/>
                </a:solidFill>
                <a:latin typeface="+mn-lt"/>
                <a:ea typeface="+mn-ea"/>
                <a:cs typeface="+mn-cs"/>
              </a:rPr>
              <a:t>                  1</a:t>
            </a:r>
          </a:p>
          <a:p>
            <a:pPr rtl="0"/>
            <a:r>
              <a:rPr lang="de-DE" sz="1200" kern="1200" dirty="0">
                <a:solidFill>
                  <a:schemeClr val="tx1"/>
                </a:solidFill>
                <a:latin typeface="+mn-lt"/>
                <a:ea typeface="+mn-ea"/>
                <a:cs typeface="+mn-cs"/>
              </a:rPr>
              <a:t>                  - cast(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as abap.decfloat34 )</a:t>
            </a:r>
          </a:p>
          <a:p>
            <a:pPr rtl="0"/>
            <a:r>
              <a:rPr lang="de-DE" sz="1200" kern="1200" dirty="0">
                <a:solidFill>
                  <a:schemeClr val="tx1"/>
                </a:solidFill>
                <a:latin typeface="+mn-lt"/>
                <a:ea typeface="+mn-ea"/>
                <a:cs typeface="+mn-cs"/>
              </a:rPr>
              <a:t>                    / 100</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r>
              <a:rPr lang="de-DE" dirty="0"/>
              <a:t>Die in Live-Coding 2 ergänzten Text- und Datumsfunktionen bleiben unverändert erhalten.</a:t>
            </a:r>
          </a:p>
          <a:p>
            <a:br>
              <a:rPr lang="de-DE" dirty="0"/>
            </a:br>
            <a:endParaRPr lang="de-DE" dirty="0"/>
          </a:p>
          <a:p>
            <a:r>
              <a:rPr lang="de-DE" b="1" dirty="0"/>
              <a:t>8. Optional: Nullwertbehandlung kurz demonstrieren</a:t>
            </a:r>
          </a:p>
          <a:p>
            <a:r>
              <a:rPr lang="de-DE" dirty="0"/>
              <a:t>Als vorübergehendes Element einfügen: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coalesce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'Unknown </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ProductNameSafe</a:t>
            </a:r>
            <a:r>
              <a:rPr lang="de-DE" sz="1200" kern="1200" dirty="0">
                <a:solidFill>
                  <a:schemeClr val="tx1"/>
                </a:solidFill>
                <a:latin typeface="+mn-lt"/>
                <a:ea typeface="+mn-ea"/>
                <a:cs typeface="+mn-cs"/>
              </a:rPr>
              <a:t>,</a:t>
            </a:r>
          </a:p>
          <a:p>
            <a:r>
              <a:rPr lang="de-DE" b="1" dirty="0"/>
              <a:t>Dazu erläutern</a:t>
            </a:r>
            <a:endParaRPr lang="de-DE" dirty="0"/>
          </a:p>
          <a:p>
            <a:pPr lvl="0"/>
            <a:r>
              <a:rPr lang="de-DE" dirty="0"/>
              <a:t>Bei den aktuellen Beispieldaten bleibt der Produktname unverändert. </a:t>
            </a:r>
          </a:p>
          <a:p>
            <a:pPr lvl="0"/>
            <a:r>
              <a:rPr lang="de-DE" dirty="0"/>
              <a:t>Der Ersatztext würde nur bei einem Nullwert verwendet. </a:t>
            </a:r>
          </a:p>
          <a:p>
            <a:pPr lvl="0"/>
            <a:r>
              <a:rPr lang="de-DE" dirty="0"/>
              <a:t>Ein leerer Produktname ist nicht automatisch ein Nullwert. </a:t>
            </a:r>
          </a:p>
          <a:p>
            <a:pPr lvl="0"/>
            <a:r>
              <a:rPr lang="de-DE" dirty="0"/>
              <a:t>Das Element kann nach der Demonstration wieder entfernt werden. </a:t>
            </a:r>
          </a:p>
          <a:p>
            <a:r>
              <a:rPr lang="de-DE" dirty="0"/>
              <a:t>Die Demonstration sollte kurz bleiben, da im aktuellen Datenmodell kein absichtlich fehlender Produktdatensatz vorgesehen ist.</a:t>
            </a:r>
          </a:p>
          <a:p>
            <a:br>
              <a:rPr lang="de-DE" dirty="0"/>
            </a:br>
            <a:endParaRPr lang="de-DE" dirty="0"/>
          </a:p>
          <a:p>
            <a:r>
              <a:rPr lang="de-DE" b="1" dirty="0"/>
              <a:t>9. Aktivieren und Ergebnis prüfen</a:t>
            </a:r>
          </a:p>
          <a:p>
            <a:r>
              <a:rPr lang="de-DE" dirty="0"/>
              <a:t>Nach der Aktivierung kontrollieren:</a:t>
            </a:r>
          </a:p>
          <a:p>
            <a:pPr lvl="0"/>
            <a:r>
              <a:rPr lang="de-DE" dirty="0"/>
              <a:t>Lassen sich alle drei Beträge weiterhin korrekt berechnen? </a:t>
            </a:r>
          </a:p>
          <a:p>
            <a:pPr lvl="0"/>
            <a:r>
              <a:rPr lang="de-DE" dirty="0"/>
              <a:t>Ist </a:t>
            </a:r>
            <a:r>
              <a:rPr lang="de-DE" sz="1200" kern="1200" dirty="0" err="1">
                <a:solidFill>
                  <a:schemeClr val="tx1"/>
                </a:solidFill>
                <a:latin typeface="+mn-lt"/>
                <a:ea typeface="+mn-ea"/>
                <a:cs typeface="+mn-cs"/>
              </a:rPr>
              <a:t>CurrencyCode</a:t>
            </a:r>
            <a:r>
              <a:rPr lang="de-DE" dirty="0"/>
              <a:t> Bestandteil der View? </a:t>
            </a:r>
          </a:p>
          <a:p>
            <a:pPr lvl="0"/>
            <a:r>
              <a:rPr lang="de-DE" dirty="0"/>
              <a:t>Zeigen die Elementinformationen die Währungsreferenz? </a:t>
            </a:r>
          </a:p>
          <a:p>
            <a:pPr lvl="0"/>
            <a:r>
              <a:rPr lang="de-DE" dirty="0"/>
              <a:t>Werden Betrag und Währung in der Vorschau nachvollziehbar gemeinsam dargestellt? </a:t>
            </a:r>
          </a:p>
          <a:p>
            <a:r>
              <a:rPr lang="de-DE" b="1" dirty="0"/>
              <a:t>Mögliche Kontrollrechnung</a:t>
            </a:r>
            <a:endParaRPr lang="de-DE" dirty="0"/>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5 PC</a:t>
            </a:r>
          </a:p>
          <a:p>
            <a:pPr rtl="0"/>
            <a:r>
              <a:rPr lang="de-DE" sz="1200" kern="1200" dirty="0" err="1">
                <a:solidFill>
                  <a:schemeClr val="tx1"/>
                </a:solidFill>
                <a:latin typeface="+mn-lt"/>
                <a:ea typeface="+mn-ea"/>
                <a:cs typeface="+mn-cs"/>
              </a:rPr>
              <a:t>UnitPrice</a:t>
            </a:r>
            <a:r>
              <a:rPr lang="de-DE" sz="1200" kern="1200" dirty="0">
                <a:solidFill>
                  <a:schemeClr val="tx1"/>
                </a:solidFill>
                <a:latin typeface="+mn-lt"/>
                <a:ea typeface="+mn-ea"/>
                <a:cs typeface="+mn-cs"/>
              </a:rPr>
              <a:t>         = 20,00 EUR</a:t>
            </a:r>
          </a:p>
          <a:p>
            <a:pPr rtl="0"/>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 10</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100,00 EUR</a:t>
            </a:r>
          </a:p>
          <a:p>
            <a:pPr rtl="0"/>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10,00 EUR</a:t>
            </a:r>
          </a:p>
          <a:p>
            <a:pPr rtl="0"/>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90,00 EUR</a:t>
            </a:r>
          </a:p>
          <a:p>
            <a:br>
              <a:rPr lang="de-DE" dirty="0"/>
            </a:br>
            <a:endParaRPr lang="de-DE" dirty="0"/>
          </a:p>
          <a:p>
            <a:r>
              <a:rPr lang="de-DE" b="1" dirty="0"/>
              <a:t>Typische Stolperstellen im Live-Coding</a:t>
            </a:r>
          </a:p>
          <a:p>
            <a:r>
              <a:rPr lang="de-DE" b="1" dirty="0"/>
              <a:t>Annotation am falschen Element</a:t>
            </a:r>
          </a:p>
          <a:p>
            <a:r>
              <a:rPr lang="de-DE" dirty="0"/>
              <a:t>Richtig:</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NetAmount</a:t>
            </a:r>
            <a:endParaRPr lang="de-DE" sz="1200" kern="1200" dirty="0">
              <a:solidFill>
                <a:schemeClr val="tx1"/>
              </a:solidFill>
              <a:latin typeface="+mn-lt"/>
              <a:ea typeface="+mn-ea"/>
              <a:cs typeface="+mn-cs"/>
            </a:endParaRPr>
          </a:p>
          <a:p>
            <a:r>
              <a:rPr lang="de-DE" dirty="0"/>
              <a:t>Die Annotation gehört an den Betrag und verweist auf das Währungselement.</a:t>
            </a:r>
          </a:p>
          <a:p>
            <a:r>
              <a:rPr lang="de-DE" b="1" dirty="0"/>
              <a:t>Referenzelement fehlt in der View</a:t>
            </a:r>
          </a:p>
          <a:p>
            <a:r>
              <a:rPr lang="de-DE" dirty="0"/>
              <a:t>Wenn ein Betrag auf </a:t>
            </a:r>
            <a:r>
              <a:rPr lang="de-DE" sz="1200" kern="1200" dirty="0" err="1">
                <a:solidFill>
                  <a:schemeClr val="tx1"/>
                </a:solidFill>
                <a:latin typeface="+mn-lt"/>
                <a:ea typeface="+mn-ea"/>
                <a:cs typeface="+mn-cs"/>
              </a:rPr>
              <a:t>CurrencyCode</a:t>
            </a:r>
            <a:r>
              <a:rPr lang="de-DE" dirty="0"/>
              <a:t> verweist, muss </a:t>
            </a:r>
            <a:r>
              <a:rPr lang="de-DE" sz="1200" kern="1200" dirty="0" err="1">
                <a:solidFill>
                  <a:schemeClr val="tx1"/>
                </a:solidFill>
                <a:latin typeface="+mn-lt"/>
                <a:ea typeface="+mn-ea"/>
                <a:cs typeface="+mn-cs"/>
              </a:rPr>
              <a:t>CurrencyCode</a:t>
            </a:r>
            <a:r>
              <a:rPr lang="de-DE" dirty="0"/>
              <a:t> auch in der Elementliste bereitgestellt werden.</a:t>
            </a:r>
          </a:p>
          <a:p>
            <a:r>
              <a:rPr lang="de-DE" b="1" dirty="0"/>
              <a:t>Verwechslung von Datentyp und Semantik</a:t>
            </a:r>
          </a:p>
          <a:p>
            <a:pPr rtl="0"/>
            <a:r>
              <a:rPr lang="de-DE" sz="1200" kern="1200" dirty="0">
                <a:solidFill>
                  <a:schemeClr val="tx1"/>
                </a:solidFill>
                <a:latin typeface="+mn-lt"/>
                <a:ea typeface="+mn-ea"/>
                <a:cs typeface="+mn-cs"/>
              </a:rPr>
              <a:t>cast( ... as </a:t>
            </a:r>
            <a:r>
              <a:rPr lang="de-DE" sz="1200" kern="1200" dirty="0" err="1">
                <a:solidFill>
                  <a:schemeClr val="tx1"/>
                </a:solidFill>
                <a:latin typeface="+mn-lt"/>
                <a:ea typeface="+mn-ea"/>
                <a:cs typeface="+mn-cs"/>
              </a:rPr>
              <a:t>abap.dec</a:t>
            </a:r>
            <a:r>
              <a:rPr lang="de-DE" sz="1200" kern="1200" dirty="0">
                <a:solidFill>
                  <a:schemeClr val="tx1"/>
                </a:solidFill>
                <a:latin typeface="+mn-lt"/>
                <a:ea typeface="+mn-ea"/>
                <a:cs typeface="+mn-cs"/>
              </a:rPr>
              <a:t>( 15, 2 ) )</a:t>
            </a:r>
          </a:p>
          <a:p>
            <a:r>
              <a:rPr lang="de-DE" dirty="0"/>
              <a:t>legt den technischen Ergebnistyp fest.</a:t>
            </a:r>
          </a:p>
          <a:p>
            <a:pPr rtl="0"/>
            <a:r>
              <a:rPr lang="de-DE" sz="1200" kern="1200" dirty="0">
                <a:solidFill>
                  <a:schemeClr val="tx1"/>
                </a:solidFill>
                <a:latin typeface="+mn-lt"/>
                <a:ea typeface="+mn-ea"/>
                <a:cs typeface="+mn-cs"/>
              </a:rPr>
              <a:t>@Semantics.amount.currencyCode: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dirty="0"/>
              <a:t>beschreibt die fachliche Bedeutung.</a:t>
            </a:r>
          </a:p>
          <a:p>
            <a:r>
              <a:rPr lang="de-DE" dirty="0"/>
              <a:t>Beide Angaben erfüllen unterschiedliche Aufgaben.</a:t>
            </a:r>
          </a:p>
          <a:p>
            <a:r>
              <a:rPr lang="de-DE" b="1" dirty="0"/>
              <a:t>Annahme, Semantik werde aus der Formel abgeleitet</a:t>
            </a:r>
          </a:p>
          <a:p>
            <a:r>
              <a:rPr lang="de-DE" dirty="0"/>
              <a:t>CDS erkennt nicht allein anhand von:</a:t>
            </a:r>
          </a:p>
          <a:p>
            <a:pPr rtl="0"/>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UnitPrice</a:t>
            </a:r>
            <a:endParaRPr lang="de-DE" sz="1200" kern="1200" dirty="0">
              <a:solidFill>
                <a:schemeClr val="tx1"/>
              </a:solidFill>
              <a:latin typeface="+mn-lt"/>
              <a:ea typeface="+mn-ea"/>
              <a:cs typeface="+mn-cs"/>
            </a:endParaRPr>
          </a:p>
          <a:p>
            <a:r>
              <a:rPr lang="de-DE" dirty="0"/>
              <a:t>dass das Ergebnis ein Währungsbetrag sein soll. Die berechneten Elemente erhalten daher ausdrückliche Annotationen.</a:t>
            </a:r>
          </a:p>
          <a:p>
            <a:r>
              <a:rPr lang="de-DE" b="1" dirty="0"/>
              <a:t>Nullwert mit Initialwert verwechseln</a:t>
            </a:r>
          </a:p>
          <a:p>
            <a:r>
              <a:rPr lang="de-DE" dirty="0"/>
              <a:t>Ein Rabatt von null ist ein vorhandener Wert:</a:t>
            </a:r>
          </a:p>
          <a:p>
            <a:pPr rtl="0"/>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 0</a:t>
            </a:r>
          </a:p>
          <a:p>
            <a:r>
              <a:rPr lang="de-DE" dirty="0"/>
              <a:t>Er ist kein SQL-Nullwert. </a:t>
            </a:r>
            <a:r>
              <a:rPr lang="de-DE" sz="1200" kern="1200" dirty="0" err="1">
                <a:solidFill>
                  <a:schemeClr val="tx1"/>
                </a:solidFill>
                <a:latin typeface="+mn-lt"/>
                <a:ea typeface="+mn-ea"/>
                <a:cs typeface="+mn-cs"/>
              </a:rPr>
              <a:t>coalesce</a:t>
            </a:r>
            <a:r>
              <a:rPr lang="de-DE" dirty="0"/>
              <a:t> ersetzt nur </a:t>
            </a:r>
            <a:r>
              <a:rPr lang="de-DE" sz="1200" kern="1200" dirty="0">
                <a:solidFill>
                  <a:schemeClr val="tx1"/>
                </a:solidFill>
                <a:latin typeface="+mn-lt"/>
                <a:ea typeface="+mn-ea"/>
                <a:cs typeface="+mn-cs"/>
              </a:rPr>
              <a:t>NULL</a:t>
            </a:r>
            <a:r>
              <a:rPr lang="de-DE" dirty="0"/>
              <a:t>, nicht die Zahl null.</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23</a:t>
            </a:fld>
            <a:endParaRPr lang="de-DE" dirty="0"/>
          </a:p>
        </p:txBody>
      </p:sp>
    </p:spTree>
    <p:extLst>
      <p:ext uri="{BB962C8B-B14F-4D97-AF65-F5344CB8AC3E}">
        <p14:creationId xmlns:p14="http://schemas.microsoft.com/office/powerpoint/2010/main" val="2479301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berechneten Auftragspositionen sind nun nicht nur numerisch, sondern auch fachlich vollständig beschrieben.</a:t>
            </a:r>
          </a:p>
          <a:p>
            <a:endParaRPr lang="de-DE" dirty="0"/>
          </a:p>
          <a:p>
            <a:r>
              <a:rPr lang="de-DE" sz="1200" kern="1200" dirty="0" err="1">
                <a:solidFill>
                  <a:schemeClr val="tx1"/>
                </a:solidFill>
                <a:latin typeface="+mn-lt"/>
                <a:ea typeface="+mn-ea"/>
                <a:cs typeface="+mn-cs"/>
              </a:rPr>
              <a:t>Quantity</a:t>
            </a:r>
            <a:r>
              <a:rPr lang="de-DE" dirty="0"/>
              <a:t> ist mit seiner Einheit verbunden. Der Einzelpreis und alle drei berechneten Beträge verweisen auf </a:t>
            </a:r>
            <a:r>
              <a:rPr lang="de-DE" sz="1200" kern="1200" dirty="0" err="1">
                <a:solidFill>
                  <a:schemeClr val="tx1"/>
                </a:solidFill>
                <a:latin typeface="+mn-lt"/>
                <a:ea typeface="+mn-ea"/>
                <a:cs typeface="+mn-cs"/>
              </a:rPr>
              <a:t>CurrencyCode</a:t>
            </a:r>
            <a:r>
              <a:rPr lang="de-DE" dirty="0"/>
              <a:t>. Ein Konsument erhält dadurch nicht nur Dezimalwerte, sondern weiß, wie diese Werte fachlich zu interpretieren sind.</a:t>
            </a:r>
          </a:p>
          <a:p>
            <a:endParaRPr lang="de-DE" dirty="0"/>
          </a:p>
          <a:p>
            <a:r>
              <a:rPr lang="de-DE" dirty="0"/>
              <a:t>Wir haben außerdem Nullwerte von gewöhnlichen initialen Werten abgegrenzt. Mit </a:t>
            </a:r>
            <a:r>
              <a:rPr lang="de-DE" sz="1200" kern="1200" dirty="0" err="1">
                <a:solidFill>
                  <a:schemeClr val="tx1"/>
                </a:solidFill>
                <a:latin typeface="+mn-lt"/>
                <a:ea typeface="+mn-ea"/>
                <a:cs typeface="+mn-cs"/>
              </a:rPr>
              <a:t>coalesce</a:t>
            </a:r>
            <a:r>
              <a:rPr lang="de-DE" dirty="0"/>
              <a:t> können wir fehlende Werte bei Bedarf durch einen definierten Ersatzwert ersetzen.</a:t>
            </a:r>
          </a:p>
          <a:p>
            <a:endParaRPr lang="de-DE" dirty="0"/>
          </a:p>
          <a:p>
            <a:r>
              <a:rPr lang="de-DE" dirty="0"/>
              <a:t>Damit ist der erste größere Block des Kurses abgeschlossen. Wir haben einzelne Datensätze durch Berechnungen, Fallunterscheidungen und Funktionen angereichert.</a:t>
            </a:r>
          </a:p>
          <a:p>
            <a:endParaRPr lang="de-DE" dirty="0"/>
          </a:p>
          <a:p>
            <a:r>
              <a:rPr lang="de-DE" dirty="0"/>
              <a:t>Nach der Pause wechseln wir die Perspektive: Statt jede Auftragsposition einzeln auszugeben, fassen wir mehrere Positionen zusammen. Im nächsten Abschnitt beschäftigen wir uns mit Aggregatfunktionen und </a:t>
            </a:r>
            <a:r>
              <a:rPr lang="de-DE" sz="1200" kern="1200" dirty="0">
                <a:solidFill>
                  <a:schemeClr val="tx1"/>
                </a:solidFill>
                <a:latin typeface="+mn-lt"/>
                <a:ea typeface="+mn-ea"/>
                <a:cs typeface="+mn-cs"/>
              </a:rPr>
              <a:t>GROUP BY</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24</a:t>
            </a:fld>
            <a:endParaRPr lang="de-DE" dirty="0"/>
          </a:p>
        </p:txBody>
      </p:sp>
    </p:spTree>
    <p:extLst>
      <p:ext uri="{BB962C8B-B14F-4D97-AF65-F5344CB8AC3E}">
        <p14:creationId xmlns:p14="http://schemas.microsoft.com/office/powerpoint/2010/main" val="4042645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Bislang haben unsere CDS View </a:t>
            </a:r>
            <a:r>
              <a:rPr lang="de-DE" dirty="0" err="1"/>
              <a:t>Entities</a:t>
            </a:r>
            <a:r>
              <a:rPr lang="de-DE" dirty="0"/>
              <a:t> jede Auftragsposition einzeln ausgegeben. Berechnungen wie </a:t>
            </a:r>
            <a:r>
              <a:rPr lang="de-DE" sz="1200" kern="1200" dirty="0" err="1">
                <a:solidFill>
                  <a:schemeClr val="tx1"/>
                </a:solidFill>
                <a:latin typeface="+mn-lt"/>
                <a:ea typeface="+mn-ea"/>
                <a:cs typeface="+mn-cs"/>
              </a:rPr>
              <a:t>GrossAmount</a:t>
            </a:r>
            <a:r>
              <a:rPr lang="de-DE" dirty="0"/>
              <a:t> oder </a:t>
            </a:r>
            <a:r>
              <a:rPr lang="de-DE" sz="1200" kern="1200" dirty="0" err="1">
                <a:solidFill>
                  <a:schemeClr val="tx1"/>
                </a:solidFill>
                <a:latin typeface="+mn-lt"/>
                <a:ea typeface="+mn-ea"/>
                <a:cs typeface="+mn-cs"/>
              </a:rPr>
              <a:t>NetAmount</a:t>
            </a:r>
            <a:r>
              <a:rPr lang="de-DE" dirty="0"/>
              <a:t> wurden zwar in der Datenbank ausgeführt, aber immer für genau eine Position.</a:t>
            </a:r>
          </a:p>
          <a:p>
            <a:endParaRPr lang="de-DE" dirty="0"/>
          </a:p>
          <a:p>
            <a:r>
              <a:rPr lang="de-DE" dirty="0"/>
              <a:t>Nun wechseln wir die Betrachtungsebene. Wir möchten nicht mehr wissen, welchen Nettobetrag eine einzelne Position besitzt, sondern beispielsweise, welcher Nettoumsatz insgesamt mit einem Kunden erzielt wurde.</a:t>
            </a:r>
          </a:p>
          <a:p>
            <a:endParaRPr lang="de-DE" dirty="0"/>
          </a:p>
          <a:p>
            <a:r>
              <a:rPr lang="de-DE" dirty="0"/>
              <a:t>Dazu stellt SQL Aggregatfunktionen bereit. </a:t>
            </a:r>
            <a:r>
              <a:rPr lang="de-DE" sz="1200" kern="1200" dirty="0" err="1">
                <a:solidFill>
                  <a:schemeClr val="tx1"/>
                </a:solidFill>
                <a:latin typeface="+mn-lt"/>
                <a:ea typeface="+mn-ea"/>
                <a:cs typeface="+mn-cs"/>
              </a:rPr>
              <a:t>sum</a:t>
            </a:r>
            <a:r>
              <a:rPr lang="de-DE" dirty="0"/>
              <a:t> addiert mehrere Werte. </a:t>
            </a:r>
            <a:r>
              <a:rPr lang="de-DE" sz="1200" kern="1200" dirty="0" err="1">
                <a:solidFill>
                  <a:schemeClr val="tx1"/>
                </a:solidFill>
                <a:latin typeface="+mn-lt"/>
                <a:ea typeface="+mn-ea"/>
                <a:cs typeface="+mn-cs"/>
              </a:rPr>
              <a:t>avg</a:t>
            </a:r>
            <a:r>
              <a:rPr lang="de-DE" dirty="0"/>
              <a:t> berechnet einen Mittelwert. </a:t>
            </a:r>
            <a:r>
              <a:rPr lang="de-DE" sz="1200" kern="1200" dirty="0">
                <a:solidFill>
                  <a:schemeClr val="tx1"/>
                </a:solidFill>
                <a:latin typeface="+mn-lt"/>
                <a:ea typeface="+mn-ea"/>
                <a:cs typeface="+mn-cs"/>
              </a:rPr>
              <a:t>min</a:t>
            </a:r>
            <a:r>
              <a:rPr lang="de-DE" dirty="0"/>
              <a:t> und </a:t>
            </a:r>
            <a:r>
              <a:rPr lang="de-DE" sz="1200" kern="1200" dirty="0" err="1">
                <a:solidFill>
                  <a:schemeClr val="tx1"/>
                </a:solidFill>
                <a:latin typeface="+mn-lt"/>
                <a:ea typeface="+mn-ea"/>
                <a:cs typeface="+mn-cs"/>
              </a:rPr>
              <a:t>max</a:t>
            </a:r>
            <a:r>
              <a:rPr lang="de-DE" dirty="0"/>
              <a:t> liefern den kleinsten beziehungsweise größten Wert. Mit </a:t>
            </a:r>
            <a:r>
              <a:rPr lang="de-DE" sz="1200" kern="1200" dirty="0" err="1">
                <a:solidFill>
                  <a:schemeClr val="tx1"/>
                </a:solidFill>
                <a:latin typeface="+mn-lt"/>
                <a:ea typeface="+mn-ea"/>
                <a:cs typeface="+mn-cs"/>
              </a:rPr>
              <a:t>count</a:t>
            </a:r>
            <a:r>
              <a:rPr lang="de-DE" dirty="0"/>
              <a:t> zählen wir Datensätze oder unterschiedliche Werte.</a:t>
            </a:r>
          </a:p>
          <a:p>
            <a:endParaRPr lang="de-DE" dirty="0"/>
          </a:p>
          <a:p>
            <a:r>
              <a:rPr lang="de-DE" dirty="0"/>
              <a:t>Eine Aggregation reduziert damit die Anzahl der Ergebniszeilen. Aus mehreren Auftragspositionen entsteht beispielsweise genau eine Ergebniszeile pro Kunde.</a:t>
            </a:r>
          </a:p>
          <a:p>
            <a:endParaRPr lang="de-DE" dirty="0"/>
          </a:p>
          <a:p>
            <a:r>
              <a:rPr lang="de-DE" dirty="0"/>
              <a:t>Das ist ein klassischer Anwendungsfall für Code </a:t>
            </a:r>
            <a:r>
              <a:rPr lang="de-DE" dirty="0" err="1"/>
              <a:t>Pushdown</a:t>
            </a:r>
            <a:r>
              <a:rPr lang="de-DE" dirty="0"/>
              <a:t>. Die Datenbank fasst die Daten zusammen und überträgt an den ABAP Server nur noch das wesentlich kleinere Aggregationsergebnis.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25</a:t>
            </a:fld>
            <a:endParaRPr lang="de-DE" dirty="0"/>
          </a:p>
        </p:txBody>
      </p:sp>
    </p:spTree>
    <p:extLst>
      <p:ext uri="{BB962C8B-B14F-4D97-AF65-F5344CB8AC3E}">
        <p14:creationId xmlns:p14="http://schemas.microsoft.com/office/powerpoint/2010/main" val="130179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GROUP BY</a:t>
            </a:r>
            <a:r>
              <a:rPr lang="de-DE" dirty="0"/>
              <a:t> legen wir fest, welche Datensätze jeweils zu einer Gruppe gehören.</a:t>
            </a:r>
          </a:p>
          <a:p>
            <a:endParaRPr lang="de-DE" dirty="0"/>
          </a:p>
          <a:p>
            <a:r>
              <a:rPr lang="de-DE" dirty="0"/>
              <a:t>In unserem Beispiel gruppieren wir nach Kunde und Währung. Alle Auftragspositionen mit derselben Kombination aus </a:t>
            </a:r>
            <a:r>
              <a:rPr lang="de-DE" sz="1200" kern="1200" dirty="0" err="1">
                <a:solidFill>
                  <a:schemeClr val="tx1"/>
                </a:solidFill>
                <a:latin typeface="+mn-lt"/>
                <a:ea typeface="+mn-ea"/>
                <a:cs typeface="+mn-cs"/>
              </a:rPr>
              <a:t>CustomerId</a:t>
            </a:r>
            <a:r>
              <a:rPr lang="de-DE" dirty="0"/>
              <a:t> und </a:t>
            </a:r>
            <a:r>
              <a:rPr lang="de-DE" sz="1200" kern="1200" dirty="0" err="1">
                <a:solidFill>
                  <a:schemeClr val="tx1"/>
                </a:solidFill>
                <a:latin typeface="+mn-lt"/>
                <a:ea typeface="+mn-ea"/>
                <a:cs typeface="+mn-cs"/>
              </a:rPr>
              <a:t>CurrencyCode</a:t>
            </a:r>
            <a:r>
              <a:rPr lang="de-DE" dirty="0"/>
              <a:t> werden zu einer Gruppe zusammengefasst.</a:t>
            </a:r>
          </a:p>
          <a:p>
            <a:endParaRPr lang="de-DE" dirty="0"/>
          </a:p>
          <a:p>
            <a:r>
              <a:rPr lang="de-DE" dirty="0"/>
              <a:t>Die Aggregatfunktion </a:t>
            </a:r>
            <a:r>
              <a:rPr lang="de-DE" sz="1200" kern="1200" dirty="0" err="1">
                <a:solidFill>
                  <a:schemeClr val="tx1"/>
                </a:solidFill>
                <a:latin typeface="+mn-lt"/>
                <a:ea typeface="+mn-ea"/>
                <a:cs typeface="+mn-cs"/>
              </a:rPr>
              <a:t>sum</a:t>
            </a:r>
            <a:r>
              <a:rPr lang="de-DE" dirty="0"/>
              <a:t> wird anschließend innerhalb jeder dieser Gruppen ausgeführt. Das Ergebnis enthält deshalb nicht nur eine Gesamtsumme über alle Kunden, sondern jeweils eine Summe pro Kunde und Währung.</a:t>
            </a:r>
          </a:p>
          <a:p>
            <a:endParaRPr lang="de-DE" dirty="0"/>
          </a:p>
          <a:p>
            <a:r>
              <a:rPr lang="de-DE" dirty="0"/>
              <a:t>Dabei gilt eine wichtige syntaktische Regel: Jedes Element der Elementliste, das nicht mit einer Aggregatfunktion berechnet wird, muss auch in der </a:t>
            </a:r>
            <a:r>
              <a:rPr lang="de-DE" sz="1200" kern="1200" dirty="0">
                <a:solidFill>
                  <a:schemeClr val="tx1"/>
                </a:solidFill>
                <a:latin typeface="+mn-lt"/>
                <a:ea typeface="+mn-ea"/>
                <a:cs typeface="+mn-cs"/>
              </a:rPr>
              <a:t>GROUP BY</a:t>
            </a:r>
            <a:r>
              <a:rPr lang="de-DE" dirty="0"/>
              <a:t>-Klausel erscheinen.</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CustomerId</a:t>
            </a:r>
            <a:r>
              <a:rPr lang="de-DE" dirty="0"/>
              <a:t> und </a:t>
            </a:r>
            <a:r>
              <a:rPr lang="de-DE" sz="1200" kern="1200" dirty="0" err="1">
                <a:solidFill>
                  <a:schemeClr val="tx1"/>
                </a:solidFill>
                <a:latin typeface="+mn-lt"/>
                <a:ea typeface="+mn-ea"/>
                <a:cs typeface="+mn-cs"/>
              </a:rPr>
              <a:t>CurrencyCode</a:t>
            </a:r>
            <a:r>
              <a:rPr lang="de-DE" dirty="0"/>
              <a:t> sind normale Gruppierungsfelder. Sie müssen deshalb in </a:t>
            </a:r>
            <a:r>
              <a:rPr lang="de-DE" sz="1200" kern="1200" dirty="0">
                <a:solidFill>
                  <a:schemeClr val="tx1"/>
                </a:solidFill>
                <a:latin typeface="+mn-lt"/>
                <a:ea typeface="+mn-ea"/>
                <a:cs typeface="+mn-cs"/>
              </a:rPr>
              <a:t>GROUP BY</a:t>
            </a:r>
            <a:r>
              <a:rPr lang="de-DE" dirty="0"/>
              <a:t> aufgeführt werden. </a:t>
            </a:r>
            <a:r>
              <a:rPr lang="de-DE" sz="1200" kern="1200" dirty="0" err="1">
                <a:solidFill>
                  <a:schemeClr val="tx1"/>
                </a:solidFill>
                <a:latin typeface="+mn-lt"/>
                <a:ea typeface="+mn-ea"/>
                <a:cs typeface="+mn-cs"/>
              </a:rPr>
              <a:t>TotalNetAmount</a:t>
            </a:r>
            <a:r>
              <a:rPr lang="de-DE" dirty="0"/>
              <a:t> entsteht dagegen durch </a:t>
            </a:r>
            <a:r>
              <a:rPr lang="de-DE" sz="1200" kern="1200" dirty="0" err="1">
                <a:solidFill>
                  <a:schemeClr val="tx1"/>
                </a:solidFill>
                <a:latin typeface="+mn-lt"/>
                <a:ea typeface="+mn-ea"/>
                <a:cs typeface="+mn-cs"/>
              </a:rPr>
              <a:t>sum</a:t>
            </a:r>
            <a:r>
              <a:rPr lang="de-DE" dirty="0"/>
              <a:t> und darf dort nicht nochmals angegeben werden.</a:t>
            </a:r>
          </a:p>
          <a:p>
            <a:endParaRPr lang="de-DE" dirty="0"/>
          </a:p>
          <a:p>
            <a:r>
              <a:rPr lang="de-DE" dirty="0"/>
              <a:t>Die Währung gehört ausdrücklich zur Gruppierung. Anderenfalls könnten Beträge unterschiedlicher Währungen in einer gemeinsamen Summe landen.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26</a:t>
            </a:fld>
            <a:endParaRPr lang="de-DE" dirty="0"/>
          </a:p>
        </p:txBody>
      </p:sp>
    </p:spTree>
    <p:extLst>
      <p:ext uri="{BB962C8B-B14F-4D97-AF65-F5344CB8AC3E}">
        <p14:creationId xmlns:p14="http://schemas.microsoft.com/office/powerpoint/2010/main" val="908323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Beim Zählen müssen wir genau überlegen, welche fachliche Information wir benötigen.</a:t>
            </a:r>
          </a:p>
          <a:p>
            <a:endParaRPr lang="de-DE" dirty="0"/>
          </a:p>
          <a:p>
            <a:r>
              <a:rPr lang="de-DE" dirty="0"/>
              <a:t>Unsere Datenquelle liefert eine Zeile pro Auftragsposition.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dirty="0"/>
              <a:t> zählt deshalb die Positionen und nicht die Aufträge. Enthält ein Auftrag drei Positionen, erhöht er </a:t>
            </a:r>
            <a:r>
              <a:rPr lang="de-DE" sz="1200" kern="1200" dirty="0" err="1">
                <a:solidFill>
                  <a:schemeClr val="tx1"/>
                </a:solidFill>
                <a:latin typeface="+mn-lt"/>
                <a:ea typeface="+mn-ea"/>
                <a:cs typeface="+mn-cs"/>
              </a:rPr>
              <a:t>ItemCount</a:t>
            </a:r>
            <a:r>
              <a:rPr lang="de-DE" dirty="0"/>
              <a:t> um drei.</a:t>
            </a:r>
          </a:p>
          <a:p>
            <a:endParaRPr lang="de-DE" dirty="0"/>
          </a:p>
          <a:p>
            <a:r>
              <a:rPr lang="de-DE" dirty="0"/>
              <a:t>Möchten wir dagegen wissen, wie viele unterschiedliche Aufträge ein Kunde besitzt, verwenden wir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r>
              <a:rPr lang="de-DE" dirty="0"/>
              <a:t>. Mehrere Positionen desselben Auftrags werden dann nur einmal gezählt.</a:t>
            </a:r>
          </a:p>
          <a:p>
            <a:endParaRPr lang="de-DE" dirty="0"/>
          </a:p>
          <a:p>
            <a:r>
              <a:rPr lang="de-DE" dirty="0"/>
              <a:t>Das Ergebnis hängt also von der Granularität der Datenquelle ab. Diese Granularität sollten wir bei jeder Aggregation ausdrücklich benennen.</a:t>
            </a:r>
          </a:p>
          <a:p>
            <a:endParaRPr lang="de-DE" dirty="0"/>
          </a:p>
          <a:p>
            <a:r>
              <a:rPr lang="de-DE" dirty="0"/>
              <a:t>Für unsere neue View gilt:</a:t>
            </a:r>
          </a:p>
          <a:p>
            <a:pPr marL="171450" lvl="0" indent="-171450">
              <a:buFont typeface="Arial" panose="020B0604020202020204" pitchFamily="34" charset="0"/>
              <a:buChar char="•"/>
            </a:pPr>
            <a:r>
              <a:rPr lang="de-DE" dirty="0"/>
              <a:t>Eine Eingabezeile entspricht einer Auftragsposition. </a:t>
            </a:r>
          </a:p>
          <a:p>
            <a:pPr marL="171450" lvl="0" indent="-171450">
              <a:buFont typeface="Arial" panose="020B0604020202020204" pitchFamily="34" charset="0"/>
              <a:buChar char="•"/>
            </a:pPr>
            <a:r>
              <a:rPr lang="de-DE" dirty="0"/>
              <a:t>Eine Ergebniszeile entspricht einer Kombination aus Kunde und Währung. </a:t>
            </a:r>
          </a:p>
          <a:p>
            <a:pPr marL="171450" lvl="0" indent="-171450">
              <a:buFont typeface="Arial" panose="020B0604020202020204" pitchFamily="34" charset="0"/>
              <a:buChar char="•"/>
            </a:pPr>
            <a:r>
              <a:rPr lang="de-DE" sz="1200" kern="1200" dirty="0" err="1">
                <a:solidFill>
                  <a:schemeClr val="tx1"/>
                </a:solidFill>
                <a:latin typeface="+mn-lt"/>
                <a:ea typeface="+mn-ea"/>
                <a:cs typeface="+mn-cs"/>
              </a:rPr>
              <a:t>ItemCount</a:t>
            </a:r>
            <a:r>
              <a:rPr lang="de-DE" dirty="0"/>
              <a:t> zählt Positionen. </a:t>
            </a:r>
          </a:p>
          <a:p>
            <a:pPr marL="171450" lvl="0" indent="-171450">
              <a:buFont typeface="Arial" panose="020B0604020202020204" pitchFamily="34" charset="0"/>
              <a:buChar char="•"/>
            </a:pPr>
            <a:r>
              <a:rPr lang="de-DE" sz="1200" kern="1200" dirty="0" err="1">
                <a:solidFill>
                  <a:schemeClr val="tx1"/>
                </a:solidFill>
                <a:latin typeface="+mn-lt"/>
                <a:ea typeface="+mn-ea"/>
                <a:cs typeface="+mn-cs"/>
              </a:rPr>
              <a:t>OrderCount</a:t>
            </a:r>
            <a:r>
              <a:rPr lang="de-DE" dirty="0"/>
              <a:t> zählt unterschiedliche Aufträge. </a:t>
            </a:r>
          </a:p>
          <a:p>
            <a:pPr marL="171450" lvl="0" indent="-171450">
              <a:buFont typeface="Arial" panose="020B0604020202020204" pitchFamily="34" charset="0"/>
              <a:buChar char="•"/>
            </a:pPr>
            <a:endParaRPr lang="de-DE" dirty="0"/>
          </a:p>
          <a:p>
            <a:r>
              <a:rPr lang="de-DE" dirty="0"/>
              <a:t>Gerade bei analytischen Abfragen ist diese Unterscheidung entscheidend. Eine technisch korrekte Aggregation kann fachlich trotzdem falsch sein, wenn die falsche Ebene gezählt wird.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27</a:t>
            </a:fld>
            <a:endParaRPr lang="de-DE" dirty="0"/>
          </a:p>
        </p:txBody>
      </p:sp>
    </p:spTree>
    <p:extLst>
      <p:ext uri="{BB962C8B-B14F-4D97-AF65-F5344CB8AC3E}">
        <p14:creationId xmlns:p14="http://schemas.microsoft.com/office/powerpoint/2010/main" val="3097974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Datenbank kann jeden numerischen Wert technisch addieren. Ob diese Addition fachlich sinnvoll ist, muss jedoch unser Datenmodell festlegen.</a:t>
            </a:r>
          </a:p>
          <a:p>
            <a:endParaRPr lang="de-DE" dirty="0"/>
          </a:p>
          <a:p>
            <a:r>
              <a:rPr lang="de-DE" dirty="0"/>
              <a:t>Zehn Euro und zwanzig US-Dollar dürfen nicht einfach zu dreißig Geldeinheiten zusammengefasst werden. Deshalb nehmen wir </a:t>
            </a:r>
            <a:r>
              <a:rPr lang="de-DE" sz="1200" kern="1200" dirty="0" err="1">
                <a:solidFill>
                  <a:schemeClr val="tx1"/>
                </a:solidFill>
                <a:latin typeface="+mn-lt"/>
                <a:ea typeface="+mn-ea"/>
                <a:cs typeface="+mn-cs"/>
              </a:rPr>
              <a:t>CurrencyCode</a:t>
            </a:r>
            <a:r>
              <a:rPr lang="de-DE" dirty="0"/>
              <a:t> in die Gruppierung auf. Pro Kunde können dadurch mehrere Ergebniszeilen entstehen, wenn Aufträge in unterschiedlichen Währungen vorhanden sind.</a:t>
            </a:r>
          </a:p>
          <a:p>
            <a:endParaRPr lang="de-DE" dirty="0"/>
          </a:p>
          <a:p>
            <a:r>
              <a:rPr lang="de-DE" dirty="0"/>
              <a:t>Auch der aggregierte Nettobetrag erhält wieder eine Währungssemantik. </a:t>
            </a:r>
            <a:r>
              <a:rPr lang="de-DE" sz="1200" kern="1200" dirty="0" err="1">
                <a:solidFill>
                  <a:schemeClr val="tx1"/>
                </a:solidFill>
                <a:latin typeface="+mn-lt"/>
                <a:ea typeface="+mn-ea"/>
                <a:cs typeface="+mn-cs"/>
              </a:rPr>
              <a:t>TotalNetAmount</a:t>
            </a:r>
            <a:r>
              <a:rPr lang="de-DE" dirty="0"/>
              <a:t> verweist mit </a:t>
            </a:r>
            <a:r>
              <a:rPr lang="de-DE" sz="1200" kern="1200" dirty="0">
                <a:solidFill>
                  <a:schemeClr val="tx1"/>
                </a:solidFill>
                <a:latin typeface="+mn-lt"/>
                <a:ea typeface="+mn-ea"/>
                <a:cs typeface="+mn-cs"/>
              </a:rPr>
              <a:t>@Semantics.amount.currencyCode</a:t>
            </a:r>
            <a:r>
              <a:rPr lang="de-DE" dirty="0"/>
              <a:t> auf </a:t>
            </a:r>
            <a:r>
              <a:rPr lang="de-DE" sz="1200" kern="1200" dirty="0" err="1">
                <a:solidFill>
                  <a:schemeClr val="tx1"/>
                </a:solidFill>
                <a:latin typeface="+mn-lt"/>
                <a:ea typeface="+mn-ea"/>
                <a:cs typeface="+mn-cs"/>
              </a:rPr>
              <a:t>CurrencyCode</a:t>
            </a:r>
            <a:r>
              <a:rPr lang="de-DE" dirty="0"/>
              <a:t>.</a:t>
            </a:r>
          </a:p>
          <a:p>
            <a:endParaRPr lang="de-DE" dirty="0"/>
          </a:p>
          <a:p>
            <a:r>
              <a:rPr lang="de-DE" dirty="0"/>
              <a:t>Bei Mengen besteht dasselbe Problem. Fünf Stück und drei Kilogramm ergeben keine sinnvolle gemeinsame Gesamtmenge. Wollten wir </a:t>
            </a:r>
            <a:r>
              <a:rPr lang="de-DE" sz="1200" kern="1200" dirty="0" err="1">
                <a:solidFill>
                  <a:schemeClr val="tx1"/>
                </a:solidFill>
                <a:latin typeface="+mn-lt"/>
                <a:ea typeface="+mn-ea"/>
                <a:cs typeface="+mn-cs"/>
              </a:rPr>
              <a:t>Quantity</a:t>
            </a:r>
            <a:r>
              <a:rPr lang="de-DE" dirty="0"/>
              <a:t> summieren, müssten wir deshalb auch nach </a:t>
            </a:r>
            <a:r>
              <a:rPr lang="de-DE" sz="1200" kern="1200" dirty="0" err="1">
                <a:solidFill>
                  <a:schemeClr val="tx1"/>
                </a:solidFill>
                <a:latin typeface="+mn-lt"/>
                <a:ea typeface="+mn-ea"/>
                <a:cs typeface="+mn-cs"/>
              </a:rPr>
              <a:t>UnitCode</a:t>
            </a:r>
            <a:r>
              <a:rPr lang="de-DE" dirty="0"/>
              <a:t> gruppieren.</a:t>
            </a:r>
          </a:p>
          <a:p>
            <a:endParaRPr lang="de-DE" dirty="0"/>
          </a:p>
          <a:p>
            <a:r>
              <a:rPr lang="de-DE" dirty="0"/>
              <a:t>Für unsere Umsatzsicht benötigen wir keine Gesamtmenge. Wir lassen die Mengensumme bewusst weg und vermeiden dadurch eine zusätzliche Gruppierung nach Einheit.</a:t>
            </a:r>
          </a:p>
          <a:p>
            <a:endParaRPr lang="de-DE" dirty="0"/>
          </a:p>
          <a:p>
            <a:r>
              <a:rPr lang="de-DE" dirty="0"/>
              <a:t>Aggregation ist somit nicht nur eine technische SQL-Aufgabe. Vor allem müssen wir entscheiden, welche Werte fachlich überhaupt miteinander verrechnet werden dürfen.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28</a:t>
            </a:fld>
            <a:endParaRPr lang="de-DE" dirty="0"/>
          </a:p>
        </p:txBody>
      </p:sp>
    </p:spTree>
    <p:extLst>
      <p:ext uri="{BB962C8B-B14F-4D97-AF65-F5344CB8AC3E}">
        <p14:creationId xmlns:p14="http://schemas.microsoft.com/office/powerpoint/2010/main" val="3727726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SQL bietet zwei unterschiedliche Stellen zum Filtern.</a:t>
            </a:r>
          </a:p>
          <a:p>
            <a:endParaRPr lang="de-DE" dirty="0"/>
          </a:p>
          <a:p>
            <a:r>
              <a:rPr lang="de-DE" dirty="0"/>
              <a:t>Die </a:t>
            </a:r>
            <a:r>
              <a:rPr lang="de-DE" sz="1200" kern="1200" dirty="0">
                <a:solidFill>
                  <a:schemeClr val="tx1"/>
                </a:solidFill>
                <a:latin typeface="+mn-lt"/>
                <a:ea typeface="+mn-ea"/>
                <a:cs typeface="+mn-cs"/>
              </a:rPr>
              <a:t>WHERE</a:t>
            </a:r>
            <a:r>
              <a:rPr lang="de-DE" dirty="0"/>
              <a:t>-Klausel wird vor der Gruppierung angewendet. Sie entscheidet, welche einzelnen Eingabezeilen überhaupt in die Aggregation einfließen.</a:t>
            </a:r>
          </a:p>
          <a:p>
            <a:r>
              <a:rPr lang="de-DE" dirty="0"/>
              <a:t>Mit einer Bedingung wie </a:t>
            </a:r>
            <a:r>
              <a:rPr lang="de-DE" sz="1200" kern="1200" dirty="0" err="1">
                <a:solidFill>
                  <a:schemeClr val="tx1"/>
                </a:solidFill>
                <a:latin typeface="+mn-lt"/>
                <a:ea typeface="+mn-ea"/>
                <a:cs typeface="+mn-cs"/>
              </a:rPr>
              <a:t>DiscountPercent</a:t>
            </a:r>
            <a:r>
              <a:rPr lang="de-DE" sz="1200" kern="1200" dirty="0">
                <a:solidFill>
                  <a:schemeClr val="tx1"/>
                </a:solidFill>
                <a:latin typeface="+mn-lt"/>
                <a:ea typeface="+mn-ea"/>
                <a:cs typeface="+mn-cs"/>
              </a:rPr>
              <a:t> &gt; 0</a:t>
            </a:r>
            <a:r>
              <a:rPr lang="de-DE" dirty="0"/>
              <a:t> würden wir beispielsweise nur rabattierte Positionen berücksichtigen. Alle anderen Positionen wären bereits vor der Summenbildung entfernt.</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HAVING</a:t>
            </a:r>
            <a:r>
              <a:rPr lang="de-DE" dirty="0"/>
              <a:t> wird dagegen auf die gebildeten Gruppen angewendet. Damit können wir Bedingungen an ein Aggregationsergebnis formulieren. </a:t>
            </a:r>
            <a:r>
              <a:rPr lang="de-DE" sz="1200" kern="1200" dirty="0" err="1">
                <a:solidFill>
                  <a:schemeClr val="tx1"/>
                </a:solidFill>
                <a:latin typeface="+mn-lt"/>
                <a:ea typeface="+mn-ea"/>
                <a:cs typeface="+mn-cs"/>
              </a:rPr>
              <a:t>having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&gt; 1000</a:t>
            </a:r>
            <a:r>
              <a:rPr lang="de-DE" dirty="0"/>
              <a:t> liefert beispielsweise nur Kunden-Währungs-Gruppen, deren Nettoumsatz größer als 1.000 ist.</a:t>
            </a:r>
          </a:p>
          <a:p>
            <a:endParaRPr lang="de-DE" dirty="0"/>
          </a:p>
          <a:p>
            <a:r>
              <a:rPr lang="de-DE" dirty="0"/>
              <a:t>Der Unterschied lässt sich als Frage formulieren:</a:t>
            </a:r>
          </a:p>
          <a:p>
            <a:pPr marL="171450" lvl="0" indent="-171450">
              <a:buFont typeface="Arial" panose="020B0604020202020204" pitchFamily="34" charset="0"/>
              <a:buChar char="•"/>
            </a:pPr>
            <a:r>
              <a:rPr lang="de-DE" dirty="0"/>
              <a:t>Bezieht sich die Bedingung auf einzelne Ausgangsdatensätze? Dann verwenden wir </a:t>
            </a:r>
            <a:r>
              <a:rPr lang="de-DE" sz="1200" kern="1200" dirty="0">
                <a:solidFill>
                  <a:schemeClr val="tx1"/>
                </a:solidFill>
                <a:latin typeface="+mn-lt"/>
                <a:ea typeface="+mn-ea"/>
                <a:cs typeface="+mn-cs"/>
              </a:rPr>
              <a:t>WHERE</a:t>
            </a:r>
            <a:r>
              <a:rPr lang="de-DE" dirty="0"/>
              <a:t>. </a:t>
            </a:r>
          </a:p>
          <a:p>
            <a:pPr marL="171450" lvl="0" indent="-171450">
              <a:buFont typeface="Arial" panose="020B0604020202020204" pitchFamily="34" charset="0"/>
              <a:buChar char="•"/>
            </a:pPr>
            <a:r>
              <a:rPr lang="de-DE" dirty="0"/>
              <a:t>Bezieht sie sich auf eine berechnete Gruppe? Dann verwenden wir </a:t>
            </a:r>
            <a:r>
              <a:rPr lang="de-DE" sz="1200" kern="1200" dirty="0">
                <a:solidFill>
                  <a:schemeClr val="tx1"/>
                </a:solidFill>
                <a:latin typeface="+mn-lt"/>
                <a:ea typeface="+mn-ea"/>
                <a:cs typeface="+mn-cs"/>
              </a:rPr>
              <a:t>HAVING</a:t>
            </a:r>
            <a:r>
              <a:rPr lang="de-DE" dirty="0"/>
              <a:t>. </a:t>
            </a:r>
          </a:p>
          <a:p>
            <a:endParaRPr lang="de-DE" dirty="0"/>
          </a:p>
          <a:p>
            <a:r>
              <a:rPr lang="de-DE" dirty="0"/>
              <a:t>In unserem Live-Coding erstellen wir zunächst eine vollständige Umsatzübersicht. Eine </a:t>
            </a:r>
            <a:r>
              <a:rPr lang="de-DE" sz="1200" kern="1200" dirty="0">
                <a:solidFill>
                  <a:schemeClr val="tx1"/>
                </a:solidFill>
                <a:latin typeface="+mn-lt"/>
                <a:ea typeface="+mn-ea"/>
                <a:cs typeface="+mn-cs"/>
              </a:rPr>
              <a:t>HAVING</a:t>
            </a:r>
            <a:r>
              <a:rPr lang="de-DE" dirty="0"/>
              <a:t>-Bedingung können wir anschließend kurz ergänzen und wieder entfernen, um ihre Wirkung zu demonstrieren.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29</a:t>
            </a:fld>
            <a:endParaRPr lang="de-DE" dirty="0"/>
          </a:p>
        </p:txBody>
      </p:sp>
    </p:spTree>
    <p:extLst>
      <p:ext uri="{BB962C8B-B14F-4D97-AF65-F5344CB8AC3E}">
        <p14:creationId xmlns:p14="http://schemas.microsoft.com/office/powerpoint/2010/main" val="32874746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1. Granularität der Datenquelle zeigen</a:t>
            </a:r>
          </a:p>
          <a:p>
            <a:r>
              <a:rPr lang="de-DE" dirty="0"/>
              <a:t>Zunächst die Datenvorschau von </a:t>
            </a:r>
            <a:r>
              <a:rPr lang="de-DE" sz="1200" kern="1200" dirty="0" err="1">
                <a:solidFill>
                  <a:schemeClr val="tx1"/>
                </a:solidFill>
                <a:latin typeface="+mn-lt"/>
                <a:ea typeface="+mn-ea"/>
                <a:cs typeface="+mn-cs"/>
              </a:rPr>
              <a:t>ZI_CDSOrderItemCalc</a:t>
            </a:r>
            <a:r>
              <a:rPr lang="de-DE" dirty="0"/>
              <a:t> öffnen.</a:t>
            </a:r>
          </a:p>
          <a:p>
            <a:r>
              <a:rPr lang="de-DE" dirty="0"/>
              <a:t>Relevante Felder einblenden:</a:t>
            </a:r>
          </a:p>
          <a:p>
            <a:pPr lvl="0"/>
            <a:r>
              <a:rPr lang="de-DE" sz="1200" kern="1200" dirty="0" err="1">
                <a:solidFill>
                  <a:schemeClr val="tx1"/>
                </a:solidFill>
                <a:latin typeface="+mn-lt"/>
                <a:ea typeface="+mn-ea"/>
                <a:cs typeface="+mn-cs"/>
              </a:rPr>
              <a:t>OrderId</a:t>
            </a:r>
            <a:r>
              <a:rPr lang="de-DE" dirty="0"/>
              <a:t> </a:t>
            </a:r>
          </a:p>
          <a:p>
            <a:pPr lvl="0"/>
            <a:r>
              <a:rPr lang="de-DE" sz="1200" kern="1200" dirty="0" err="1">
                <a:solidFill>
                  <a:schemeClr val="tx1"/>
                </a:solidFill>
                <a:latin typeface="+mn-lt"/>
                <a:ea typeface="+mn-ea"/>
                <a:cs typeface="+mn-cs"/>
              </a:rPr>
              <a:t>ItemNumber</a:t>
            </a:r>
            <a:r>
              <a:rPr lang="de-DE" dirty="0"/>
              <a:t> </a:t>
            </a:r>
          </a:p>
          <a:p>
            <a:pPr lvl="0"/>
            <a:r>
              <a:rPr lang="de-DE" sz="1200" kern="1200" dirty="0" err="1">
                <a:solidFill>
                  <a:schemeClr val="tx1"/>
                </a:solidFill>
                <a:latin typeface="+mn-lt"/>
                <a:ea typeface="+mn-ea"/>
                <a:cs typeface="+mn-cs"/>
              </a:rPr>
              <a:t>CustomerId</a:t>
            </a:r>
            <a:r>
              <a:rPr lang="de-DE" dirty="0"/>
              <a:t> über </a:t>
            </a:r>
            <a:r>
              <a:rPr lang="de-DE" sz="1200" kern="1200" dirty="0">
                <a:solidFill>
                  <a:schemeClr val="tx1"/>
                </a:solidFill>
                <a:latin typeface="+mn-lt"/>
                <a:ea typeface="+mn-ea"/>
                <a:cs typeface="+mn-cs"/>
              </a:rPr>
              <a:t>_Order</a:t>
            </a:r>
            <a:r>
              <a:rPr lang="de-DE" dirty="0"/>
              <a:t> </a:t>
            </a:r>
          </a:p>
          <a:p>
            <a:pPr lvl="0"/>
            <a:r>
              <a:rPr lang="de-DE" sz="1200" kern="1200" dirty="0" err="1">
                <a:solidFill>
                  <a:schemeClr val="tx1"/>
                </a:solidFill>
                <a:latin typeface="+mn-lt"/>
                <a:ea typeface="+mn-ea"/>
                <a:cs typeface="+mn-cs"/>
              </a:rPr>
              <a:t>GrossAmount</a:t>
            </a:r>
            <a:r>
              <a:rPr lang="de-DE" dirty="0"/>
              <a:t> </a:t>
            </a:r>
          </a:p>
          <a:p>
            <a:pPr lvl="0"/>
            <a:r>
              <a:rPr lang="de-DE" sz="1200" kern="1200" dirty="0" err="1">
                <a:solidFill>
                  <a:schemeClr val="tx1"/>
                </a:solidFill>
                <a:latin typeface="+mn-lt"/>
                <a:ea typeface="+mn-ea"/>
                <a:cs typeface="+mn-cs"/>
              </a:rPr>
              <a:t>DiscountAmount</a:t>
            </a:r>
            <a:r>
              <a:rPr lang="de-DE" dirty="0"/>
              <a:t> </a:t>
            </a:r>
          </a:p>
          <a:p>
            <a:pPr lvl="0"/>
            <a:r>
              <a:rPr lang="de-DE" sz="1200" kern="1200" dirty="0" err="1">
                <a:solidFill>
                  <a:schemeClr val="tx1"/>
                </a:solidFill>
                <a:latin typeface="+mn-lt"/>
                <a:ea typeface="+mn-ea"/>
                <a:cs typeface="+mn-cs"/>
              </a:rPr>
              <a:t>NetAmount</a:t>
            </a:r>
            <a:r>
              <a:rPr lang="de-DE" dirty="0"/>
              <a:t> </a:t>
            </a:r>
          </a:p>
          <a:p>
            <a:pPr lvl="0"/>
            <a:r>
              <a:rPr lang="de-DE" sz="1200" kern="1200" dirty="0" err="1">
                <a:solidFill>
                  <a:schemeClr val="tx1"/>
                </a:solidFill>
                <a:latin typeface="+mn-lt"/>
                <a:ea typeface="+mn-ea"/>
                <a:cs typeface="+mn-cs"/>
              </a:rPr>
              <a:t>CurrencyCode</a:t>
            </a:r>
            <a:r>
              <a:rPr lang="de-DE" dirty="0"/>
              <a:t> </a:t>
            </a:r>
          </a:p>
          <a:p>
            <a:r>
              <a:rPr lang="de-DE" b="1" dirty="0"/>
              <a:t>Frage an die Teilnehmenden</a:t>
            </a:r>
            <a:endParaRPr lang="de-DE" dirty="0"/>
          </a:p>
          <a:p>
            <a:r>
              <a:rPr lang="de-DE" dirty="0"/>
              <a:t>Was entspricht in dieser Datenvorschau einer einzelnen Zeile?</a:t>
            </a:r>
          </a:p>
          <a:p>
            <a:r>
              <a:rPr lang="de-DE" dirty="0"/>
              <a:t>Erwartete Antwort: eine Auftragsposition, eindeutig bestimmt durch </a:t>
            </a:r>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ItemNumber</a:t>
            </a:r>
            <a:r>
              <a:rPr lang="de-DE" dirty="0"/>
              <a:t>.</a:t>
            </a:r>
          </a:p>
          <a:p>
            <a:r>
              <a:rPr lang="de-DE" b="1" dirty="0"/>
              <a:t>Überleitung</a:t>
            </a:r>
            <a:endParaRPr lang="de-DE" dirty="0"/>
          </a:p>
          <a:p>
            <a:r>
              <a:rPr lang="de-DE" dirty="0"/>
              <a:t>Wir wollen nun mehrere dieser Positionszeilen zu einer Ergebniszeile pro Kunde und Währung zusammenfassen.</a:t>
            </a:r>
          </a:p>
          <a:p>
            <a:br>
              <a:rPr lang="de-DE" dirty="0"/>
            </a:br>
            <a:endParaRPr lang="de-DE" dirty="0"/>
          </a:p>
          <a:p>
            <a:r>
              <a:rPr lang="de-DE" b="1" dirty="0"/>
              <a:t>2. Neue View Entity anlegen</a:t>
            </a:r>
          </a:p>
          <a:p>
            <a:pPr rtl="0"/>
            <a:r>
              <a:rPr lang="de-DE" sz="1200" kern="1200" dirty="0">
                <a:solidFill>
                  <a:schemeClr val="tx1"/>
                </a:solidFill>
                <a:latin typeface="+mn-lt"/>
                <a:ea typeface="+mn-ea"/>
                <a:cs typeface="+mn-cs"/>
              </a:rPr>
              <a:t>@EndUserText.label: 'Revenue by Customer'</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ZI_CDSRevenueByCustomer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dirty="0"/>
              <a:t>Die berechnete Positionssicht wird wiederverwendet. </a:t>
            </a:r>
          </a:p>
          <a:p>
            <a:pPr lvl="0"/>
            <a:r>
              <a:rPr lang="de-DE" dirty="0"/>
              <a:t>Brutto-, Rabatt- und Nettobeträge müssen nicht erneut formuliert werden. </a:t>
            </a:r>
          </a:p>
          <a:p>
            <a:pPr lvl="0"/>
            <a:r>
              <a:rPr lang="de-DE" dirty="0"/>
              <a:t>Die neue View verändert die Granularität der Daten. </a:t>
            </a:r>
          </a:p>
          <a:p>
            <a:br>
              <a:rPr lang="de-DE" dirty="0"/>
            </a:br>
            <a:endParaRPr lang="de-DE" dirty="0"/>
          </a:p>
          <a:p>
            <a:r>
              <a:rPr lang="de-DE" b="1" dirty="0"/>
              <a:t>3. Kundenschlüssel aufnehmen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r>
              <a:rPr lang="de-DE" dirty="0"/>
              <a:t>Falls </a:t>
            </a:r>
            <a:r>
              <a:rPr lang="de-DE" sz="1200" kern="1200" dirty="0" err="1">
                <a:solidFill>
                  <a:schemeClr val="tx1"/>
                </a:solidFill>
                <a:latin typeface="+mn-lt"/>
                <a:ea typeface="+mn-ea"/>
                <a:cs typeface="+mn-cs"/>
              </a:rPr>
              <a:t>CustomerId</a:t>
            </a:r>
            <a:r>
              <a:rPr lang="de-DE" dirty="0"/>
              <a:t> bereits unmittelbar in </a:t>
            </a:r>
            <a:r>
              <a:rPr lang="de-DE" sz="1200" kern="1200" dirty="0" err="1">
                <a:solidFill>
                  <a:schemeClr val="tx1"/>
                </a:solidFill>
                <a:latin typeface="+mn-lt"/>
                <a:ea typeface="+mn-ea"/>
                <a:cs typeface="+mn-cs"/>
              </a:rPr>
              <a:t>ZI_CDSOrderItemCalc</a:t>
            </a:r>
            <a:r>
              <a:rPr lang="de-DE" dirty="0"/>
              <a:t> veröffentlicht wurde, kann stattdessen geschrieben werden: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r>
              <a:rPr lang="de-DE" dirty="0"/>
              <a:t>Anschließend zunächst aktivieren beziehungsweise die Syntaxprüfung ausführen.</a:t>
            </a:r>
          </a:p>
          <a:p>
            <a:r>
              <a:rPr lang="de-DE" dirty="0"/>
              <a:t>Ohne Aggregatfunktion ist dies noch eine gewöhnliche Projektion. Die Gruppierung ergänzen wir in den nächsten Schritten.</a:t>
            </a:r>
          </a:p>
          <a:p>
            <a:br>
              <a:rPr lang="de-DE" dirty="0"/>
            </a:br>
            <a:endParaRPr lang="de-DE" dirty="0"/>
          </a:p>
          <a:p>
            <a:r>
              <a:rPr lang="de-DE" b="1" dirty="0"/>
              <a:t>4. Kundenname ergänzen</a:t>
            </a:r>
          </a:p>
          <a:p>
            <a:r>
              <a:rPr lang="de-DE" dirty="0"/>
              <a:t>Über die Assoziation des Auftrags zum Kunden:</a:t>
            </a: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r>
              <a:rPr lang="de-DE" dirty="0"/>
              <a:t>Die genaue Schreibweise richtet sich nach der in </a:t>
            </a:r>
            <a:r>
              <a:rPr lang="de-DE" sz="1200" kern="1200" dirty="0" err="1">
                <a:solidFill>
                  <a:schemeClr val="tx1"/>
                </a:solidFill>
                <a:latin typeface="+mn-lt"/>
                <a:ea typeface="+mn-ea"/>
                <a:cs typeface="+mn-cs"/>
              </a:rPr>
              <a:t>ZI_CDSOrder</a:t>
            </a:r>
            <a:r>
              <a:rPr lang="de-DE" dirty="0"/>
              <a:t> veröffentlichten Kundenassoziation. Falls der Kundenname bereits in </a:t>
            </a:r>
            <a:r>
              <a:rPr lang="de-DE" sz="1200" kern="1200" dirty="0" err="1">
                <a:solidFill>
                  <a:schemeClr val="tx1"/>
                </a:solidFill>
                <a:latin typeface="+mn-lt"/>
                <a:ea typeface="+mn-ea"/>
                <a:cs typeface="+mn-cs"/>
              </a:rPr>
              <a:t>ZI_CDSOrderItemCalc</a:t>
            </a:r>
            <a:r>
              <a:rPr lang="de-DE" dirty="0"/>
              <a:t> aufgenommen wurde, kann unmittelbar darauf zugegriffen werden: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r>
              <a:rPr lang="de-DE" b="1" dirty="0"/>
              <a:t>Erläuterung</a:t>
            </a:r>
            <a:endParaRPr lang="de-DE" dirty="0"/>
          </a:p>
          <a:p>
            <a:r>
              <a:rPr lang="de-DE" dirty="0"/>
              <a:t>Kundenschlüssel und Kundenname sind keine Kennzahlen. Beide müssen später Bestandteil von </a:t>
            </a:r>
            <a:r>
              <a:rPr lang="de-DE" sz="1200" kern="1200" dirty="0">
                <a:solidFill>
                  <a:schemeClr val="tx1"/>
                </a:solidFill>
                <a:latin typeface="+mn-lt"/>
                <a:ea typeface="+mn-ea"/>
                <a:cs typeface="+mn-cs"/>
              </a:rPr>
              <a:t>GROUP BY</a:t>
            </a:r>
            <a:r>
              <a:rPr lang="de-DE" dirty="0"/>
              <a:t> werden.</a:t>
            </a:r>
          </a:p>
          <a:p>
            <a:r>
              <a:rPr lang="de-DE" dirty="0"/>
              <a:t>Für die stabile Gruppierung ist der Kundenschlüssel entscheidend. Der Name wird zusätzlich für eine verständliche Ausgabe aufgenommen.</a:t>
            </a:r>
          </a:p>
          <a:p>
            <a:br>
              <a:rPr lang="de-DE" dirty="0"/>
            </a:br>
            <a:endParaRPr lang="de-DE" dirty="0"/>
          </a:p>
          <a:p>
            <a:r>
              <a:rPr lang="de-DE" b="1" dirty="0"/>
              <a:t>5. Währung aufnehmen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b="1" dirty="0"/>
              <a:t>Frage an die Teilnehmenden</a:t>
            </a:r>
            <a:endParaRPr lang="de-DE" dirty="0"/>
          </a:p>
          <a:p>
            <a:r>
              <a:rPr lang="de-DE" dirty="0"/>
              <a:t>Warum gruppieren wir nicht ausschließlich nach dem Kunden?</a:t>
            </a:r>
          </a:p>
          <a:p>
            <a:r>
              <a:rPr lang="de-DE" dirty="0"/>
              <a:t>Erwartete Antwort: Ein Kunde könnte Aufträge in unterschiedlichen Währungen besitzen. Diese Beträge dürfen nicht ohne Währungsumrechnung addiert werden.</a:t>
            </a:r>
          </a:p>
          <a:p>
            <a:br>
              <a:rPr lang="de-DE" dirty="0"/>
            </a:br>
            <a:endParaRPr lang="de-DE" dirty="0"/>
          </a:p>
          <a:p>
            <a:r>
              <a:rPr lang="de-DE" b="1" dirty="0"/>
              <a:t>6. Positionen zählen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 ) as </a:t>
            </a:r>
            <a:r>
              <a:rPr lang="de-DE" sz="1200" kern="1200" dirty="0" err="1">
                <a:solidFill>
                  <a:schemeClr val="tx1"/>
                </a:solidFill>
                <a:latin typeface="+mn-lt"/>
                <a:ea typeface="+mn-ea"/>
                <a:cs typeface="+mn-cs"/>
              </a:rPr>
              <a:t>ItemCount</a:t>
            </a:r>
            <a:r>
              <a:rPr lang="de-DE" sz="1200" kern="1200" dirty="0">
                <a:solidFill>
                  <a:schemeClr val="tx1"/>
                </a:solidFill>
                <a:latin typeface="+mn-lt"/>
                <a:ea typeface="+mn-ea"/>
                <a:cs typeface="+mn-cs"/>
              </a:rPr>
              <a:t>,</a:t>
            </a:r>
          </a:p>
          <a:p>
            <a:r>
              <a:rPr lang="de-DE" b="1" dirty="0"/>
              <a:t>Erläuterung</a:t>
            </a:r>
            <a:endParaRPr lang="de-DE" dirty="0"/>
          </a:p>
          <a:p>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dirty="0"/>
              <a:t> zählt die Zeilen von </a:t>
            </a:r>
            <a:r>
              <a:rPr lang="de-DE" sz="1200" kern="1200" dirty="0" err="1">
                <a:solidFill>
                  <a:schemeClr val="tx1"/>
                </a:solidFill>
                <a:latin typeface="+mn-lt"/>
                <a:ea typeface="+mn-ea"/>
                <a:cs typeface="+mn-cs"/>
              </a:rPr>
              <a:t>ZI_CDSOrderItemCalc</a:t>
            </a:r>
            <a:r>
              <a:rPr lang="de-DE" dirty="0"/>
              <a:t>. Da eine Zeile einer Position entspricht, ist das Ergebnis die Anzahl der Positionen.</a:t>
            </a:r>
          </a:p>
          <a:p>
            <a:r>
              <a:rPr lang="de-DE" dirty="0"/>
              <a:t>Der Ergebnistyp von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dirty="0"/>
              <a:t> wird von CDS bestimmt. Ein zusätzlicher </a:t>
            </a:r>
            <a:r>
              <a:rPr lang="de-DE" sz="1200" kern="1200" dirty="0">
                <a:solidFill>
                  <a:schemeClr val="tx1"/>
                </a:solidFill>
                <a:latin typeface="+mn-lt"/>
                <a:ea typeface="+mn-ea"/>
                <a:cs typeface="+mn-cs"/>
              </a:rPr>
              <a:t>cast</a:t>
            </a:r>
            <a:r>
              <a:rPr lang="de-DE" dirty="0"/>
              <a:t> ist für diese Kennzahl nicht erforderlich.</a:t>
            </a:r>
          </a:p>
          <a:p>
            <a:br>
              <a:rPr lang="de-DE" dirty="0"/>
            </a:br>
            <a:endParaRPr lang="de-DE" dirty="0"/>
          </a:p>
          <a:p>
            <a:r>
              <a:rPr lang="de-DE" b="1" dirty="0"/>
              <a:t>7. Unterschiedliche Aufträge zählen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OrderCount</a:t>
            </a:r>
            <a:r>
              <a:rPr lang="de-DE" sz="1200" kern="1200" dirty="0">
                <a:solidFill>
                  <a:schemeClr val="tx1"/>
                </a:solidFill>
                <a:latin typeface="+mn-lt"/>
                <a:ea typeface="+mn-ea"/>
                <a:cs typeface="+mn-cs"/>
              </a:rPr>
              <a:t>,</a:t>
            </a:r>
          </a:p>
          <a:p>
            <a:r>
              <a:rPr lang="de-DE" b="1" dirty="0"/>
              <a:t>Kontrollfrage</a:t>
            </a:r>
            <a:endParaRPr lang="de-DE" dirty="0"/>
          </a:p>
          <a:p>
            <a:r>
              <a:rPr lang="de-DE" dirty="0"/>
              <a:t>Ein Auftrag besitzt fünf Positionen. Um welchen Wert erhöht er </a:t>
            </a:r>
            <a:r>
              <a:rPr lang="de-DE" sz="1200" kern="1200" dirty="0" err="1">
                <a:solidFill>
                  <a:schemeClr val="tx1"/>
                </a:solidFill>
                <a:latin typeface="+mn-lt"/>
                <a:ea typeface="+mn-ea"/>
                <a:cs typeface="+mn-cs"/>
              </a:rPr>
              <a:t>ItemCount</a:t>
            </a:r>
            <a:r>
              <a:rPr lang="de-DE" dirty="0"/>
              <a:t> und </a:t>
            </a:r>
            <a:r>
              <a:rPr lang="de-DE" sz="1200" kern="1200" dirty="0" err="1">
                <a:solidFill>
                  <a:schemeClr val="tx1"/>
                </a:solidFill>
                <a:latin typeface="+mn-lt"/>
                <a:ea typeface="+mn-ea"/>
                <a:cs typeface="+mn-cs"/>
              </a:rPr>
              <a:t>OrderCount</a:t>
            </a:r>
            <a:r>
              <a:rPr lang="de-DE" dirty="0"/>
              <a:t>?</a:t>
            </a:r>
          </a:p>
          <a:p>
            <a:r>
              <a:rPr lang="de-DE" dirty="0"/>
              <a:t>Erwartete Antwort:</a:t>
            </a:r>
          </a:p>
          <a:p>
            <a:pPr rtl="0"/>
            <a:r>
              <a:rPr lang="de-DE" sz="1200" kern="1200" dirty="0" err="1">
                <a:solidFill>
                  <a:schemeClr val="tx1"/>
                </a:solidFill>
                <a:latin typeface="+mn-lt"/>
                <a:ea typeface="+mn-ea"/>
                <a:cs typeface="+mn-cs"/>
              </a:rPr>
              <a:t>ItemCount</a:t>
            </a:r>
            <a:r>
              <a:rPr lang="de-DE" sz="1200" kern="1200" dirty="0">
                <a:solidFill>
                  <a:schemeClr val="tx1"/>
                </a:solidFill>
                <a:latin typeface="+mn-lt"/>
                <a:ea typeface="+mn-ea"/>
                <a:cs typeface="+mn-cs"/>
              </a:rPr>
              <a:t>  +5</a:t>
            </a:r>
          </a:p>
          <a:p>
            <a:pPr rtl="0"/>
            <a:r>
              <a:rPr lang="de-DE" sz="1200" kern="1200" dirty="0" err="1">
                <a:solidFill>
                  <a:schemeClr val="tx1"/>
                </a:solidFill>
                <a:latin typeface="+mn-lt"/>
                <a:ea typeface="+mn-ea"/>
                <a:cs typeface="+mn-cs"/>
              </a:rPr>
              <a:t>OrderCount</a:t>
            </a:r>
            <a:r>
              <a:rPr lang="de-DE" sz="1200" kern="1200" dirty="0">
                <a:solidFill>
                  <a:schemeClr val="tx1"/>
                </a:solidFill>
                <a:latin typeface="+mn-lt"/>
                <a:ea typeface="+mn-ea"/>
                <a:cs typeface="+mn-cs"/>
              </a:rPr>
              <a:t> +1</a:t>
            </a:r>
          </a:p>
          <a:p>
            <a:br>
              <a:rPr lang="de-DE" dirty="0"/>
            </a:br>
            <a:endParaRPr lang="de-DE" dirty="0"/>
          </a:p>
          <a:p>
            <a:r>
              <a:rPr lang="de-DE" b="1" dirty="0"/>
              <a:t>8. Beträge summieren</a:t>
            </a: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TotalGrossAmount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TotalDiscountAmount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TotalNetAmount</a:t>
            </a:r>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sz="1200" kern="1200" dirty="0" err="1">
                <a:solidFill>
                  <a:schemeClr val="tx1"/>
                </a:solidFill>
                <a:latin typeface="+mn-lt"/>
                <a:ea typeface="+mn-ea"/>
                <a:cs typeface="+mn-cs"/>
              </a:rPr>
              <a:t>sum</a:t>
            </a:r>
            <a:r>
              <a:rPr lang="de-DE" dirty="0"/>
              <a:t> wird jeweils innerhalb einer Gruppe ausgeführt. </a:t>
            </a:r>
          </a:p>
          <a:p>
            <a:pPr lvl="0"/>
            <a:r>
              <a:rPr lang="de-DE" sz="1200" kern="1200" dirty="0" err="1">
                <a:solidFill>
                  <a:schemeClr val="tx1"/>
                </a:solidFill>
                <a:latin typeface="+mn-lt"/>
                <a:ea typeface="+mn-ea"/>
                <a:cs typeface="+mn-cs"/>
              </a:rPr>
              <a:t>CurrencyCode</a:t>
            </a:r>
            <a:r>
              <a:rPr lang="de-DE" dirty="0"/>
              <a:t> ist Bestandteil der Gruppierung. </a:t>
            </a:r>
          </a:p>
          <a:p>
            <a:pPr lvl="0"/>
            <a:r>
              <a:rPr lang="de-DE" dirty="0"/>
              <a:t>Die neuen Betragselemente erhalten eine eigene Währungsreferenz. </a:t>
            </a:r>
          </a:p>
          <a:p>
            <a:pPr lvl="0"/>
            <a:r>
              <a:rPr lang="de-DE" dirty="0"/>
              <a:t>Die Berechnungslogik der Einzelbeträge bleibt in </a:t>
            </a:r>
            <a:r>
              <a:rPr lang="de-DE" sz="1200" kern="1200" dirty="0" err="1">
                <a:solidFill>
                  <a:schemeClr val="tx1"/>
                </a:solidFill>
                <a:latin typeface="+mn-lt"/>
                <a:ea typeface="+mn-ea"/>
                <a:cs typeface="+mn-cs"/>
              </a:rPr>
              <a:t>ZI_CDSOrderItemCalc</a:t>
            </a:r>
            <a:r>
              <a:rPr lang="de-DE" dirty="0"/>
              <a:t>. </a:t>
            </a:r>
          </a:p>
          <a:p>
            <a:br>
              <a:rPr lang="de-DE" dirty="0"/>
            </a:br>
            <a:endParaRPr lang="de-DE" dirty="0"/>
          </a:p>
          <a:p>
            <a:r>
              <a:rPr lang="de-DE" b="1" dirty="0"/>
              <a:t>9. Durchschnittlichen Positionswert berechnen</a:t>
            </a: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avg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AverageNetAmount</a:t>
            </a:r>
            <a:endParaRPr lang="de-DE" sz="1200" kern="1200" dirty="0">
              <a:solidFill>
                <a:schemeClr val="tx1"/>
              </a:solidFill>
              <a:latin typeface="+mn-lt"/>
              <a:ea typeface="+mn-ea"/>
              <a:cs typeface="+mn-cs"/>
            </a:endParaRPr>
          </a:p>
          <a:p>
            <a:r>
              <a:rPr lang="de-DE" b="1" dirty="0"/>
              <a:t>Wichtiger fachlicher Hinweis</a:t>
            </a:r>
            <a:endParaRPr lang="de-DE" dirty="0"/>
          </a:p>
          <a:p>
            <a:r>
              <a:rPr lang="de-DE" dirty="0"/>
              <a:t>Das ist der durchschnittliche Nettobetrag einer Auftragsposition, nicht der durchschnittliche Umsatz je Auftrag:</a:t>
            </a:r>
          </a:p>
          <a:p>
            <a:pPr rtl="0"/>
            <a:r>
              <a:rPr lang="de-DE" sz="1200" kern="1200" dirty="0" err="1">
                <a:solidFill>
                  <a:schemeClr val="tx1"/>
                </a:solidFill>
                <a:latin typeface="+mn-lt"/>
                <a:ea typeface="+mn-ea"/>
                <a:cs typeface="+mn-cs"/>
              </a:rPr>
              <a:t>AverageNetAmount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Summe der Positionsnettobeträge / Anzahl der Positionen</a:t>
            </a:r>
          </a:p>
          <a:p>
            <a:r>
              <a:rPr lang="de-DE" dirty="0"/>
              <a:t>Ein Durchschnitt je Auftrag würde eine andere Aggregationsebene oder eine zusätzliche CDS View Entity erfordern.</a:t>
            </a:r>
          </a:p>
          <a:p>
            <a:br>
              <a:rPr lang="de-DE" dirty="0"/>
            </a:br>
            <a:endParaRPr lang="de-DE" dirty="0"/>
          </a:p>
          <a:p>
            <a:r>
              <a:rPr lang="de-DE" b="1" dirty="0"/>
              <a:t>10. </a:t>
            </a:r>
            <a:r>
              <a:rPr lang="de-DE" sz="1200" b="1" kern="1200" dirty="0">
                <a:solidFill>
                  <a:schemeClr val="tx1"/>
                </a:solidFill>
                <a:latin typeface="+mn-lt"/>
                <a:ea typeface="+mn-ea"/>
                <a:cs typeface="+mn-cs"/>
              </a:rPr>
              <a:t>GROUP BY</a:t>
            </a:r>
            <a:r>
              <a:rPr lang="de-DE" b="1" dirty="0"/>
              <a:t> ergänzen</a:t>
            </a:r>
          </a:p>
          <a:p>
            <a:r>
              <a:rPr lang="de-DE" dirty="0"/>
              <a:t>Nach der Elementliste:</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r>
              <a:rPr lang="de-DE" dirty="0"/>
              <a:t>Falls </a:t>
            </a:r>
            <a:r>
              <a:rPr lang="de-DE" sz="1200" kern="1200" dirty="0" err="1">
                <a:solidFill>
                  <a:schemeClr val="tx1"/>
                </a:solidFill>
                <a:latin typeface="+mn-lt"/>
                <a:ea typeface="+mn-ea"/>
                <a:cs typeface="+mn-cs"/>
              </a:rPr>
              <a:t>CustomerId</a:t>
            </a:r>
            <a:r>
              <a:rPr lang="de-DE" dirty="0"/>
              <a:t> und </a:t>
            </a:r>
            <a:r>
              <a:rPr lang="de-DE" sz="1200" kern="1200" dirty="0" err="1">
                <a:solidFill>
                  <a:schemeClr val="tx1"/>
                </a:solidFill>
                <a:latin typeface="+mn-lt"/>
                <a:ea typeface="+mn-ea"/>
                <a:cs typeface="+mn-cs"/>
              </a:rPr>
              <a:t>CustomerName</a:t>
            </a:r>
            <a:r>
              <a:rPr lang="de-DE" dirty="0"/>
              <a:t> unmittelbar aus der Datenquelle gelesen werden, entsprechend:</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r>
              <a:rPr lang="de-DE" b="1" dirty="0"/>
              <a:t>Während der Eingabe erläutern</a:t>
            </a:r>
            <a:endParaRPr lang="de-DE" dirty="0"/>
          </a:p>
          <a:p>
            <a:r>
              <a:rPr lang="de-DE" dirty="0"/>
              <a:t>Die Ausdrücke aus der Elementliste werden in </a:t>
            </a:r>
            <a:r>
              <a:rPr lang="de-DE" sz="1200" kern="1200" dirty="0">
                <a:solidFill>
                  <a:schemeClr val="tx1"/>
                </a:solidFill>
                <a:latin typeface="+mn-lt"/>
                <a:ea typeface="+mn-ea"/>
                <a:cs typeface="+mn-cs"/>
              </a:rPr>
              <a:t>GROUP BY</a:t>
            </a:r>
            <a:r>
              <a:rPr lang="de-DE" dirty="0"/>
              <a:t> grundsätzlich ohne ihre neu vergebenen Aliasnamen angegeben.</a:t>
            </a:r>
          </a:p>
          <a:p>
            <a:r>
              <a:rPr lang="de-DE" dirty="0"/>
              <a:t>Beispiel:</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endParaRPr lang="de-DE" sz="1200" kern="1200" dirty="0">
              <a:solidFill>
                <a:schemeClr val="tx1"/>
              </a:solidFill>
              <a:latin typeface="+mn-lt"/>
              <a:ea typeface="+mn-ea"/>
              <a:cs typeface="+mn-cs"/>
            </a:endParaRPr>
          </a:p>
          <a:p>
            <a:r>
              <a:rPr lang="de-DE" dirty="0"/>
              <a:t>führt zu:</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 _</a:t>
            </a:r>
            <a:r>
              <a:rPr lang="de-DE" sz="1200" kern="1200" dirty="0" err="1">
                <a:solidFill>
                  <a:schemeClr val="tx1"/>
                </a:solidFill>
                <a:latin typeface="+mn-lt"/>
                <a:ea typeface="+mn-ea"/>
                <a:cs typeface="+mn-cs"/>
              </a:rPr>
              <a:t>Order.CustomerId</a:t>
            </a:r>
            <a:endParaRPr lang="de-DE" sz="1200" kern="1200" dirty="0">
              <a:solidFill>
                <a:schemeClr val="tx1"/>
              </a:solidFill>
              <a:latin typeface="+mn-lt"/>
              <a:ea typeface="+mn-ea"/>
              <a:cs typeface="+mn-cs"/>
            </a:endParaRPr>
          </a:p>
          <a:p>
            <a:r>
              <a:rPr lang="de-DE" dirty="0"/>
              <a:t>und nicht zu einer Wiederverwendung des Aliasnamens, sofern </a:t>
            </a:r>
            <a:r>
              <a:rPr lang="de-DE" sz="1200" kern="1200" dirty="0" err="1">
                <a:solidFill>
                  <a:schemeClr val="tx1"/>
                </a:solidFill>
                <a:latin typeface="+mn-lt"/>
                <a:ea typeface="+mn-ea"/>
                <a:cs typeface="+mn-cs"/>
              </a:rPr>
              <a:t>CustomerId</a:t>
            </a:r>
            <a:r>
              <a:rPr lang="de-DE" dirty="0"/>
              <a:t> nicht bereits ein direktes Element der Datenquelle ist.</a:t>
            </a:r>
          </a:p>
          <a:p>
            <a:br>
              <a:rPr lang="de-DE" dirty="0"/>
            </a:br>
            <a:endParaRPr lang="de-DE" dirty="0"/>
          </a:p>
          <a:p>
            <a:r>
              <a:rPr lang="de-DE" b="1" dirty="0"/>
              <a:t>11. Vollständiger Entwicklungsstand</a:t>
            </a:r>
          </a:p>
          <a:p>
            <a:r>
              <a:rPr lang="de-DE" dirty="0"/>
              <a:t>Bei Zugriff über die veröffentlichten Assoziationen kann die View folgendermaßen aussehen:</a:t>
            </a:r>
          </a:p>
          <a:p>
            <a:pPr rtl="0"/>
            <a:r>
              <a:rPr lang="de-DE" sz="1200" kern="1200" dirty="0">
                <a:solidFill>
                  <a:schemeClr val="tx1"/>
                </a:solidFill>
                <a:latin typeface="+mn-lt"/>
                <a:ea typeface="+mn-ea"/>
                <a:cs typeface="+mn-cs"/>
              </a:rPr>
              <a:t>@EndUserText.label: 'Revenue by Customer'</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ZI_CDSRevenueByCustomer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 )                           as </a:t>
            </a:r>
            <a:r>
              <a:rPr lang="de-DE" sz="1200" kern="1200" dirty="0" err="1">
                <a:solidFill>
                  <a:schemeClr val="tx1"/>
                </a:solidFill>
                <a:latin typeface="+mn-lt"/>
                <a:ea typeface="+mn-ea"/>
                <a:cs typeface="+mn-cs"/>
              </a:rPr>
              <a:t>ItemCount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OrderCount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TotalGrossAmount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TotalDiscountAmount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avg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AverageNetAmount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CustomerId</a:t>
            </a:r>
            <a:r>
              <a:rPr lang="de-DE" dirty="0"/>
              <a:t> ist hier als Schlüssel gekennzeichnet. Zusammen mit </a:t>
            </a:r>
            <a:r>
              <a:rPr lang="de-DE" sz="1200" kern="1200" dirty="0" err="1">
                <a:solidFill>
                  <a:schemeClr val="tx1"/>
                </a:solidFill>
                <a:latin typeface="+mn-lt"/>
                <a:ea typeface="+mn-ea"/>
                <a:cs typeface="+mn-cs"/>
              </a:rPr>
              <a:t>CurrencyCode</a:t>
            </a:r>
            <a:r>
              <a:rPr lang="de-DE" dirty="0"/>
              <a:t> bestimmt es jedoch erst die tatsächliche Granularität des Ergebnisses. Deshalb ist die vollständigere Schlüsseldefinition: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dirty="0"/>
              <a:t>Damit lautet der vorzuziehende Entwicklungsstand:</a:t>
            </a:r>
          </a:p>
          <a:p>
            <a:pPr rtl="0"/>
            <a:r>
              <a:rPr lang="de-DE" sz="1200" kern="1200" dirty="0">
                <a:solidFill>
                  <a:schemeClr val="tx1"/>
                </a:solidFill>
                <a:latin typeface="+mn-lt"/>
                <a:ea typeface="+mn-ea"/>
                <a:cs typeface="+mn-cs"/>
              </a:rPr>
              <a:t>@EndUserText.label: 'Revenue by Customer'</a:t>
            </a:r>
          </a:p>
          <a:p>
            <a:pPr rtl="0"/>
            <a:r>
              <a:rPr lang="de-DE" sz="1200" kern="1200" dirty="0">
                <a:solidFill>
                  <a:schemeClr val="tx1"/>
                </a:solidFill>
                <a:latin typeface="+mn-lt"/>
                <a:ea typeface="+mn-ea"/>
                <a:cs typeface="+mn-cs"/>
              </a:rPr>
              <a:t>@AccessControl.authorizationCheck: #NOT_REQUIRED</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ZI_CDSRevenueByCustomer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ZI_CDSOrderItemCalc</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 )                           as </a:t>
            </a:r>
            <a:r>
              <a:rPr lang="de-DE" sz="1200" kern="1200" dirty="0" err="1">
                <a:solidFill>
                  <a:schemeClr val="tx1"/>
                </a:solidFill>
                <a:latin typeface="+mn-lt"/>
                <a:ea typeface="+mn-ea"/>
                <a:cs typeface="+mn-cs"/>
              </a:rPr>
              <a:t>ItemCount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OrderCount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TotalGrossAmount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TotalDiscountAmount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@Semantics.amount.currencyCode: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avg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AverageNetAmount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br>
              <a:rPr lang="de-DE" dirty="0"/>
            </a:br>
            <a:endParaRPr lang="de-DE" dirty="0"/>
          </a:p>
          <a:p>
            <a:r>
              <a:rPr lang="de-DE" b="1" dirty="0"/>
              <a:t>12. Aktivieren und Datenvorschau prüfen</a:t>
            </a:r>
          </a:p>
          <a:p>
            <a:r>
              <a:rPr lang="de-DE" dirty="0"/>
              <a:t>In der Datenvorschau besonders zeigen:</a:t>
            </a:r>
          </a:p>
          <a:p>
            <a:pPr lvl="0"/>
            <a:r>
              <a:rPr lang="de-DE" sz="1200" kern="1200" dirty="0" err="1">
                <a:solidFill>
                  <a:schemeClr val="tx1"/>
                </a:solidFill>
                <a:latin typeface="+mn-lt"/>
                <a:ea typeface="+mn-ea"/>
                <a:cs typeface="+mn-cs"/>
              </a:rPr>
              <a:t>CustomerId</a:t>
            </a:r>
            <a:r>
              <a:rPr lang="de-DE" dirty="0"/>
              <a:t> </a:t>
            </a:r>
          </a:p>
          <a:p>
            <a:pPr lvl="0"/>
            <a:r>
              <a:rPr lang="de-DE" sz="1200" kern="1200" dirty="0" err="1">
                <a:solidFill>
                  <a:schemeClr val="tx1"/>
                </a:solidFill>
                <a:latin typeface="+mn-lt"/>
                <a:ea typeface="+mn-ea"/>
                <a:cs typeface="+mn-cs"/>
              </a:rPr>
              <a:t>CustomerName</a:t>
            </a:r>
            <a:r>
              <a:rPr lang="de-DE" dirty="0"/>
              <a:t> </a:t>
            </a:r>
          </a:p>
          <a:p>
            <a:pPr lvl="0"/>
            <a:r>
              <a:rPr lang="de-DE" sz="1200" kern="1200" dirty="0" err="1">
                <a:solidFill>
                  <a:schemeClr val="tx1"/>
                </a:solidFill>
                <a:latin typeface="+mn-lt"/>
                <a:ea typeface="+mn-ea"/>
                <a:cs typeface="+mn-cs"/>
              </a:rPr>
              <a:t>CurrencyCode</a:t>
            </a:r>
            <a:r>
              <a:rPr lang="de-DE" dirty="0"/>
              <a:t> </a:t>
            </a:r>
          </a:p>
          <a:p>
            <a:pPr lvl="0"/>
            <a:r>
              <a:rPr lang="de-DE" sz="1200" kern="1200" dirty="0" err="1">
                <a:solidFill>
                  <a:schemeClr val="tx1"/>
                </a:solidFill>
                <a:latin typeface="+mn-lt"/>
                <a:ea typeface="+mn-ea"/>
                <a:cs typeface="+mn-cs"/>
              </a:rPr>
              <a:t>ItemCount</a:t>
            </a:r>
            <a:r>
              <a:rPr lang="de-DE" dirty="0"/>
              <a:t> </a:t>
            </a:r>
          </a:p>
          <a:p>
            <a:pPr lvl="0"/>
            <a:r>
              <a:rPr lang="de-DE" sz="1200" kern="1200" dirty="0" err="1">
                <a:solidFill>
                  <a:schemeClr val="tx1"/>
                </a:solidFill>
                <a:latin typeface="+mn-lt"/>
                <a:ea typeface="+mn-ea"/>
                <a:cs typeface="+mn-cs"/>
              </a:rPr>
              <a:t>OrderCount</a:t>
            </a:r>
            <a:r>
              <a:rPr lang="de-DE" dirty="0"/>
              <a:t> </a:t>
            </a:r>
          </a:p>
          <a:p>
            <a:pPr lvl="0"/>
            <a:r>
              <a:rPr lang="de-DE" sz="1200" kern="1200" dirty="0" err="1">
                <a:solidFill>
                  <a:schemeClr val="tx1"/>
                </a:solidFill>
                <a:latin typeface="+mn-lt"/>
                <a:ea typeface="+mn-ea"/>
                <a:cs typeface="+mn-cs"/>
              </a:rPr>
              <a:t>TotalGrossAmount</a:t>
            </a:r>
            <a:r>
              <a:rPr lang="de-DE" dirty="0"/>
              <a:t> </a:t>
            </a:r>
          </a:p>
          <a:p>
            <a:pPr lvl="0"/>
            <a:r>
              <a:rPr lang="de-DE" sz="1200" kern="1200" dirty="0" err="1">
                <a:solidFill>
                  <a:schemeClr val="tx1"/>
                </a:solidFill>
                <a:latin typeface="+mn-lt"/>
                <a:ea typeface="+mn-ea"/>
                <a:cs typeface="+mn-cs"/>
              </a:rPr>
              <a:t>TotalDiscountAmount</a:t>
            </a:r>
            <a:r>
              <a:rPr lang="de-DE" dirty="0"/>
              <a:t> </a:t>
            </a:r>
          </a:p>
          <a:p>
            <a:pPr lvl="0"/>
            <a:r>
              <a:rPr lang="de-DE" sz="1200" kern="1200" dirty="0" err="1">
                <a:solidFill>
                  <a:schemeClr val="tx1"/>
                </a:solidFill>
                <a:latin typeface="+mn-lt"/>
                <a:ea typeface="+mn-ea"/>
                <a:cs typeface="+mn-cs"/>
              </a:rPr>
              <a:t>TotalNetAmount</a:t>
            </a:r>
            <a:r>
              <a:rPr lang="de-DE" dirty="0"/>
              <a:t> </a:t>
            </a:r>
          </a:p>
          <a:p>
            <a:pPr lvl="0"/>
            <a:r>
              <a:rPr lang="de-DE" sz="1200" kern="1200" dirty="0" err="1">
                <a:solidFill>
                  <a:schemeClr val="tx1"/>
                </a:solidFill>
                <a:latin typeface="+mn-lt"/>
                <a:ea typeface="+mn-ea"/>
                <a:cs typeface="+mn-cs"/>
              </a:rPr>
              <a:t>AverageNetAmount</a:t>
            </a:r>
            <a:r>
              <a:rPr lang="de-DE" dirty="0"/>
              <a:t> </a:t>
            </a:r>
          </a:p>
          <a:p>
            <a:r>
              <a:rPr lang="de-DE" dirty="0"/>
              <a:t>Für einen Kunden die zugehörigen Positionen in </a:t>
            </a:r>
            <a:r>
              <a:rPr lang="de-DE" sz="1200" kern="1200" dirty="0" err="1">
                <a:solidFill>
                  <a:schemeClr val="tx1"/>
                </a:solidFill>
                <a:latin typeface="+mn-lt"/>
                <a:ea typeface="+mn-ea"/>
                <a:cs typeface="+mn-cs"/>
              </a:rPr>
              <a:t>ZI_CDSOrderItemCalc</a:t>
            </a:r>
            <a:r>
              <a:rPr lang="de-DE" dirty="0"/>
              <a:t> filtern und kontrollieren:</a:t>
            </a:r>
          </a:p>
          <a:p>
            <a:pPr rtl="0"/>
            <a:r>
              <a:rPr lang="de-DE" sz="1200" kern="1200" dirty="0">
                <a:solidFill>
                  <a:schemeClr val="tx1"/>
                </a:solidFill>
                <a:latin typeface="+mn-lt"/>
                <a:ea typeface="+mn-ea"/>
                <a:cs typeface="+mn-cs"/>
              </a:rPr>
              <a:t>Summe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TotalGrossAmount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Summe </a:t>
            </a:r>
            <a:r>
              <a:rPr lang="de-DE" sz="1200" kern="1200" dirty="0" err="1">
                <a:solidFill>
                  <a:schemeClr val="tx1"/>
                </a:solidFill>
                <a:latin typeface="+mn-lt"/>
                <a:ea typeface="+mn-ea"/>
                <a:cs typeface="+mn-cs"/>
              </a:rPr>
              <a:t>DiscountAmount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TotalDiscountAmount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Summe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TotalNetAmount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Anzahl Zeilen        → </a:t>
            </a:r>
            <a:r>
              <a:rPr lang="de-DE" sz="1200" kern="1200" dirty="0" err="1">
                <a:solidFill>
                  <a:schemeClr val="tx1"/>
                </a:solidFill>
                <a:latin typeface="+mn-lt"/>
                <a:ea typeface="+mn-ea"/>
                <a:cs typeface="+mn-cs"/>
              </a:rPr>
              <a:t>ItemCount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Verschiedene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OrderCount</a:t>
            </a:r>
            <a:endParaRPr lang="de-DE" sz="1200" kern="1200" dirty="0">
              <a:solidFill>
                <a:schemeClr val="tx1"/>
              </a:solidFill>
              <a:latin typeface="+mn-lt"/>
              <a:ea typeface="+mn-ea"/>
              <a:cs typeface="+mn-cs"/>
            </a:endParaRPr>
          </a:p>
          <a:p>
            <a:r>
              <a:rPr lang="de-DE" dirty="0"/>
              <a:t>Außerdem kontrollieren:</a:t>
            </a:r>
          </a:p>
          <a:p>
            <a:pPr rtl="0"/>
            <a:r>
              <a:rPr lang="de-DE" sz="1200" kern="1200" dirty="0" err="1">
                <a:solidFill>
                  <a:schemeClr val="tx1"/>
                </a:solidFill>
                <a:latin typeface="+mn-lt"/>
                <a:ea typeface="+mn-ea"/>
                <a:cs typeface="+mn-cs"/>
              </a:rPr>
              <a:t>TotalGrossAmount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TotalDiscountAmount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TotalNetAmount</a:t>
            </a:r>
            <a:endParaRPr lang="de-DE" sz="1200" kern="1200" dirty="0">
              <a:solidFill>
                <a:schemeClr val="tx1"/>
              </a:solidFill>
              <a:latin typeface="+mn-lt"/>
              <a:ea typeface="+mn-ea"/>
              <a:cs typeface="+mn-cs"/>
            </a:endParaRPr>
          </a:p>
          <a:p>
            <a:r>
              <a:rPr lang="de-DE" dirty="0"/>
              <a:t>Kleine Rundungsabweichungen wären möglich, wenn Eingabewerte oder Zwischenergebnisse mit unterschiedlichen Dezimalstellen verarbeitet werden.</a:t>
            </a:r>
          </a:p>
          <a:p>
            <a:br>
              <a:rPr lang="de-DE" dirty="0"/>
            </a:br>
            <a:endParaRPr lang="de-DE" dirty="0"/>
          </a:p>
          <a:p>
            <a:r>
              <a:rPr lang="de-DE" b="1" dirty="0"/>
              <a:t>13. Optional: </a:t>
            </a:r>
            <a:r>
              <a:rPr lang="de-DE" sz="1200" b="1" kern="1200" dirty="0">
                <a:solidFill>
                  <a:schemeClr val="tx1"/>
                </a:solidFill>
                <a:latin typeface="+mn-lt"/>
                <a:ea typeface="+mn-ea"/>
                <a:cs typeface="+mn-cs"/>
              </a:rPr>
              <a:t>HAVING</a:t>
            </a:r>
            <a:r>
              <a:rPr lang="de-DE" b="1" dirty="0"/>
              <a:t> demonstrieren</a:t>
            </a:r>
          </a:p>
          <a:p>
            <a:r>
              <a:rPr lang="de-DE" dirty="0"/>
              <a:t>Vorübergehend ergänzen:</a:t>
            </a:r>
          </a:p>
          <a:p>
            <a:pPr rtl="0"/>
            <a:r>
              <a:rPr lang="de-DE" sz="1200" kern="1200" dirty="0" err="1">
                <a:solidFill>
                  <a:schemeClr val="tx1"/>
                </a:solidFill>
                <a:latin typeface="+mn-lt"/>
                <a:ea typeface="+mn-ea"/>
                <a:cs typeface="+mn-cs"/>
              </a:rPr>
              <a:t>having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&gt; 1000</a:t>
            </a:r>
          </a:p>
          <a:p>
            <a:r>
              <a:rPr lang="de-DE" dirty="0"/>
              <a:t>Danach die Datenvorschau erneut öffnen.</a:t>
            </a:r>
          </a:p>
          <a:p>
            <a:r>
              <a:rPr lang="de-DE" b="1" dirty="0"/>
              <a:t>Frage an die Teilnehmenden</a:t>
            </a:r>
            <a:endParaRPr lang="de-DE" dirty="0"/>
          </a:p>
          <a:p>
            <a:r>
              <a:rPr lang="de-DE" dirty="0"/>
              <a:t>Warum können wir diese Bedingung nicht als gewöhnliches </a:t>
            </a:r>
            <a:r>
              <a:rPr lang="de-DE" sz="1200" kern="1200" dirty="0">
                <a:solidFill>
                  <a:schemeClr val="tx1"/>
                </a:solidFill>
                <a:latin typeface="+mn-lt"/>
                <a:ea typeface="+mn-ea"/>
                <a:cs typeface="+mn-cs"/>
              </a:rPr>
              <a:t>WHERE </a:t>
            </a:r>
            <a:r>
              <a:rPr lang="de-DE" sz="1200" kern="1200" dirty="0" err="1">
                <a:solidFill>
                  <a:schemeClr val="tx1"/>
                </a:solidFill>
                <a:latin typeface="+mn-lt"/>
                <a:ea typeface="+mn-ea"/>
                <a:cs typeface="+mn-cs"/>
              </a:rPr>
              <a:t>TotalNetAmount</a:t>
            </a:r>
            <a:r>
              <a:rPr lang="de-DE" sz="1200" kern="1200" dirty="0">
                <a:solidFill>
                  <a:schemeClr val="tx1"/>
                </a:solidFill>
                <a:latin typeface="+mn-lt"/>
                <a:ea typeface="+mn-ea"/>
                <a:cs typeface="+mn-cs"/>
              </a:rPr>
              <a:t> &gt; 1000</a:t>
            </a:r>
            <a:r>
              <a:rPr lang="de-DE" dirty="0"/>
              <a:t> formulieren?</a:t>
            </a:r>
          </a:p>
          <a:p>
            <a:r>
              <a:rPr lang="de-DE" dirty="0"/>
              <a:t>Erwartete Antwort:</a:t>
            </a:r>
          </a:p>
          <a:p>
            <a:pPr lvl="0"/>
            <a:r>
              <a:rPr lang="de-DE" sz="1200" kern="1200" dirty="0" err="1">
                <a:solidFill>
                  <a:schemeClr val="tx1"/>
                </a:solidFill>
                <a:latin typeface="+mn-lt"/>
                <a:ea typeface="+mn-ea"/>
                <a:cs typeface="+mn-cs"/>
              </a:rPr>
              <a:t>TotalNetAmount</a:t>
            </a:r>
            <a:r>
              <a:rPr lang="de-DE" dirty="0"/>
              <a:t> entsteht erst durch die Aggregation. </a:t>
            </a:r>
          </a:p>
          <a:p>
            <a:pPr lvl="0"/>
            <a:r>
              <a:rPr lang="de-DE" sz="1200" kern="1200" dirty="0">
                <a:solidFill>
                  <a:schemeClr val="tx1"/>
                </a:solidFill>
                <a:latin typeface="+mn-lt"/>
                <a:ea typeface="+mn-ea"/>
                <a:cs typeface="+mn-cs"/>
              </a:rPr>
              <a:t>WHERE</a:t>
            </a:r>
            <a:r>
              <a:rPr lang="de-DE" dirty="0"/>
              <a:t> wird vor der Aggregation ausgewertet. </a:t>
            </a:r>
          </a:p>
          <a:p>
            <a:pPr lvl="0"/>
            <a:r>
              <a:rPr lang="de-DE" sz="1200" kern="1200" dirty="0">
                <a:solidFill>
                  <a:schemeClr val="tx1"/>
                </a:solidFill>
                <a:latin typeface="+mn-lt"/>
                <a:ea typeface="+mn-ea"/>
                <a:cs typeface="+mn-cs"/>
              </a:rPr>
              <a:t>HAVING</a:t>
            </a:r>
            <a:r>
              <a:rPr lang="de-DE" dirty="0"/>
              <a:t> filtert das Aggregationsergebnis. </a:t>
            </a:r>
          </a:p>
          <a:p>
            <a:r>
              <a:rPr lang="de-DE" dirty="0"/>
              <a:t>Die Bedingung anschließend wieder entfernen, damit die View alle Kunden ausgibt.</a:t>
            </a:r>
          </a:p>
          <a:p>
            <a:br>
              <a:rPr lang="de-DE" dirty="0"/>
            </a:br>
            <a:endParaRPr lang="de-DE" dirty="0"/>
          </a:p>
          <a:p>
            <a:r>
              <a:rPr lang="de-DE" b="1" dirty="0"/>
              <a:t>Typische Stolperstellen im Live-Coding</a:t>
            </a:r>
          </a:p>
          <a:p>
            <a:r>
              <a:rPr lang="de-DE" b="1" dirty="0"/>
              <a:t>Nicht aggregiertes Element fehlt in </a:t>
            </a:r>
            <a:r>
              <a:rPr lang="de-DE" sz="1200" b="1" kern="1200" dirty="0">
                <a:solidFill>
                  <a:schemeClr val="tx1"/>
                </a:solidFill>
                <a:latin typeface="+mn-lt"/>
                <a:ea typeface="+mn-ea"/>
                <a:cs typeface="+mn-cs"/>
              </a:rPr>
              <a:t>GROUP BY</a:t>
            </a:r>
            <a:endParaRPr lang="de-DE" b="1" dirty="0"/>
          </a:p>
          <a:p>
            <a:r>
              <a:rPr lang="de-DE" dirty="0"/>
              <a:t>Fehlerhaft:</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TotalNetAmount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CustomerName</a:t>
            </a:r>
            <a:r>
              <a:rPr lang="de-DE" dirty="0"/>
              <a:t> ist weder aggregiert noch Bestandteil von </a:t>
            </a:r>
            <a:r>
              <a:rPr lang="de-DE" sz="1200" kern="1200" dirty="0">
                <a:solidFill>
                  <a:schemeClr val="tx1"/>
                </a:solidFill>
                <a:latin typeface="+mn-lt"/>
                <a:ea typeface="+mn-ea"/>
                <a:cs typeface="+mn-cs"/>
              </a:rPr>
              <a:t>GROUP BY</a:t>
            </a:r>
            <a:r>
              <a:rPr lang="de-DE" dirty="0"/>
              <a:t>.</a:t>
            </a:r>
          </a:p>
          <a:p>
            <a:r>
              <a:rPr lang="de-DE" dirty="0"/>
              <a:t>Korrekt:</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br>
              <a:rPr lang="de-DE" dirty="0"/>
            </a:br>
            <a:endParaRPr lang="de-DE" dirty="0"/>
          </a:p>
          <a:p>
            <a:r>
              <a:rPr lang="de-DE" b="1" dirty="0"/>
              <a:t>Aliasname in </a:t>
            </a:r>
            <a:r>
              <a:rPr lang="de-DE" sz="1200" b="1" kern="1200" dirty="0">
                <a:solidFill>
                  <a:schemeClr val="tx1"/>
                </a:solidFill>
                <a:latin typeface="+mn-lt"/>
                <a:ea typeface="+mn-ea"/>
                <a:cs typeface="+mn-cs"/>
              </a:rPr>
              <a:t>GROUP BY</a:t>
            </a:r>
            <a:r>
              <a:rPr lang="de-DE" b="1" dirty="0"/>
              <a:t> verwendet</a:t>
            </a:r>
          </a:p>
          <a:p>
            <a:r>
              <a:rPr lang="de-DE" dirty="0"/>
              <a:t>In der Elementliste:</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Order.CustomerId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endParaRPr lang="de-DE" sz="1200" kern="1200" dirty="0">
              <a:solidFill>
                <a:schemeClr val="tx1"/>
              </a:solidFill>
              <a:latin typeface="+mn-lt"/>
              <a:ea typeface="+mn-ea"/>
              <a:cs typeface="+mn-cs"/>
            </a:endParaRPr>
          </a:p>
          <a:p>
            <a:r>
              <a:rPr lang="de-DE" dirty="0"/>
              <a:t>Die Gruppierung bezieht sich auf den ursprünglichen Ausdruck:</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Order.CustomerId</a:t>
            </a:r>
            <a:endParaRPr lang="de-DE" sz="1200" kern="1200" dirty="0">
              <a:solidFill>
                <a:schemeClr val="tx1"/>
              </a:solidFill>
              <a:latin typeface="+mn-lt"/>
              <a:ea typeface="+mn-ea"/>
              <a:cs typeface="+mn-cs"/>
            </a:endParaRPr>
          </a:p>
          <a:p>
            <a:r>
              <a:rPr lang="de-DE" dirty="0"/>
              <a:t>Der innerhalb derselben Elementliste neu eingeführte Aliasname steht für nachfolgende Bestandteile der Abfrage nicht automatisch zur Verfügung.</a:t>
            </a:r>
          </a:p>
          <a:p>
            <a:br>
              <a:rPr lang="de-DE" dirty="0"/>
            </a:br>
            <a:endParaRPr lang="de-DE" dirty="0"/>
          </a:p>
          <a:p>
            <a:r>
              <a:rPr lang="de-DE" b="1" dirty="0"/>
              <a:t>Aufträge und Positionen verwechselt</a:t>
            </a:r>
          </a:p>
          <a:p>
            <a:pPr rtl="0"/>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 )</a:t>
            </a:r>
          </a:p>
          <a:p>
            <a:r>
              <a:rPr lang="de-DE" dirty="0"/>
              <a:t>zählt die Zeilen der Datenquelle und damit Positionen.</a:t>
            </a:r>
          </a:p>
          <a:p>
            <a:r>
              <a:rPr lang="de-DE" dirty="0"/>
              <a:t>Für unterschiedliche Aufträge:</a:t>
            </a:r>
          </a:p>
          <a:p>
            <a:pPr rtl="0"/>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a:t>
            </a:r>
          </a:p>
          <a:p>
            <a:br>
              <a:rPr lang="de-DE" dirty="0"/>
            </a:br>
            <a:endParaRPr lang="de-DE" dirty="0"/>
          </a:p>
          <a:p>
            <a:r>
              <a:rPr lang="de-DE" b="1" dirty="0"/>
              <a:t>Währung nicht gruppiert</a:t>
            </a:r>
          </a:p>
          <a:p>
            <a:r>
              <a:rPr lang="de-DE" dirty="0"/>
              <a:t>Problematisch:</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 </a:t>
            </a:r>
            <a:r>
              <a:rPr lang="de-DE" sz="1200" kern="1200" dirty="0" err="1">
                <a:solidFill>
                  <a:schemeClr val="tx1"/>
                </a:solidFill>
                <a:latin typeface="+mn-lt"/>
                <a:ea typeface="+mn-ea"/>
                <a:cs typeface="+mn-cs"/>
              </a:rPr>
              <a:t>CustomerId</a:t>
            </a:r>
            <a:endParaRPr lang="de-DE" sz="1200" kern="1200" dirty="0">
              <a:solidFill>
                <a:schemeClr val="tx1"/>
              </a:solidFill>
              <a:latin typeface="+mn-lt"/>
              <a:ea typeface="+mn-ea"/>
              <a:cs typeface="+mn-cs"/>
            </a:endParaRPr>
          </a:p>
          <a:p>
            <a:r>
              <a:rPr lang="de-DE" dirty="0"/>
              <a:t>Ein Kunde mit EUR- und USD-Aufträgen erhielte eine fachlich unzulässige gemeinsame Summe.</a:t>
            </a:r>
          </a:p>
          <a:p>
            <a:r>
              <a:rPr lang="de-DE" dirty="0"/>
              <a:t>Deshalb:</a:t>
            </a:r>
          </a:p>
          <a:p>
            <a:pPr rtl="0"/>
            <a:r>
              <a:rPr lang="de-DE" sz="1200" kern="1200" dirty="0" err="1">
                <a:solidFill>
                  <a:schemeClr val="tx1"/>
                </a:solidFill>
                <a:latin typeface="+mn-lt"/>
                <a:ea typeface="+mn-ea"/>
                <a:cs typeface="+mn-cs"/>
              </a:rPr>
              <a:t>group</a:t>
            </a:r>
            <a:r>
              <a:rPr lang="de-DE" sz="1200" kern="1200" dirty="0">
                <a:solidFill>
                  <a:schemeClr val="tx1"/>
                </a:solidFill>
                <a:latin typeface="+mn-lt"/>
                <a:ea typeface="+mn-ea"/>
                <a:cs typeface="+mn-cs"/>
              </a:rPr>
              <a:t> by</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br>
              <a:rPr lang="de-DE" dirty="0"/>
            </a:br>
            <a:endParaRPr lang="de-DE" dirty="0"/>
          </a:p>
          <a:p>
            <a:r>
              <a:rPr lang="de-DE" b="1" dirty="0"/>
              <a:t>Mengensumme ohne Einheit</a:t>
            </a:r>
          </a:p>
          <a:p>
            <a:r>
              <a:rPr lang="de-DE" dirty="0"/>
              <a:t>Problematisch:</a:t>
            </a:r>
          </a:p>
          <a:p>
            <a:pPr rtl="0"/>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TotalQuantity</a:t>
            </a:r>
            <a:endParaRPr lang="de-DE" sz="1200" kern="1200" dirty="0">
              <a:solidFill>
                <a:schemeClr val="tx1"/>
              </a:solidFill>
              <a:latin typeface="+mn-lt"/>
              <a:ea typeface="+mn-ea"/>
              <a:cs typeface="+mn-cs"/>
            </a:endParaRPr>
          </a:p>
          <a:p>
            <a:r>
              <a:rPr lang="de-DE" dirty="0"/>
              <a:t>wenn verschiedene Einheiten vorkommen.</a:t>
            </a:r>
          </a:p>
          <a:p>
            <a:r>
              <a:rPr lang="de-DE" dirty="0"/>
              <a:t>Eine sinnvolle Mengensumme erfordert mindestens:</a:t>
            </a:r>
          </a:p>
          <a:p>
            <a:pPr rtl="0"/>
            <a:r>
              <a:rPr lang="de-DE" sz="1200" kern="1200" dirty="0" err="1">
                <a:solidFill>
                  <a:schemeClr val="tx1"/>
                </a:solidFill>
                <a:latin typeface="+mn-lt"/>
                <a:ea typeface="+mn-ea"/>
                <a:cs typeface="+mn-cs"/>
              </a:rPr>
              <a:t>UnitCode</a:t>
            </a:r>
            <a:endParaRPr lang="de-DE" sz="1200" kern="1200" dirty="0">
              <a:solidFill>
                <a:schemeClr val="tx1"/>
              </a:solidFill>
              <a:latin typeface="+mn-lt"/>
              <a:ea typeface="+mn-ea"/>
              <a:cs typeface="+mn-cs"/>
            </a:endParaRPr>
          </a:p>
          <a:p>
            <a:r>
              <a:rPr lang="de-DE" dirty="0"/>
              <a:t>als Gruppierungsfeld und als semantisches Referenzelement.</a:t>
            </a:r>
          </a:p>
          <a:p>
            <a:r>
              <a:rPr lang="de-DE" dirty="0"/>
              <a:t>Für die Umsatzsicht verzichten wir deshalb auf </a:t>
            </a:r>
            <a:r>
              <a:rPr lang="de-DE" sz="1200" kern="1200" dirty="0" err="1">
                <a:solidFill>
                  <a:schemeClr val="tx1"/>
                </a:solidFill>
                <a:latin typeface="+mn-lt"/>
                <a:ea typeface="+mn-ea"/>
                <a:cs typeface="+mn-cs"/>
              </a:rPr>
              <a:t>TotalQuantity</a:t>
            </a:r>
            <a:r>
              <a:rPr lang="de-DE" dirty="0"/>
              <a:t>.</a:t>
            </a:r>
          </a:p>
          <a:p>
            <a:br>
              <a:rPr lang="de-DE" dirty="0"/>
            </a:br>
            <a:endParaRPr lang="de-DE" dirty="0"/>
          </a:p>
          <a:p>
            <a:r>
              <a:rPr lang="de-DE" b="1" dirty="0"/>
              <a:t>Falsche Interpretation des Durchschnitts</a:t>
            </a:r>
          </a:p>
          <a:p>
            <a:pPr rtl="0"/>
            <a:r>
              <a:rPr lang="de-DE" sz="1200" kern="1200" dirty="0" err="1">
                <a:solidFill>
                  <a:schemeClr val="tx1"/>
                </a:solidFill>
                <a:latin typeface="+mn-lt"/>
                <a:ea typeface="+mn-ea"/>
                <a:cs typeface="+mn-cs"/>
              </a:rPr>
              <a:t>avg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a:t>
            </a:r>
          </a:p>
          <a:p>
            <a:r>
              <a:rPr lang="de-DE" dirty="0"/>
              <a:t>berechnet auf unserer Datenquelle den Durchschnitt pro Position.</a:t>
            </a:r>
          </a:p>
          <a:p>
            <a:r>
              <a:rPr lang="de-DE" dirty="0"/>
              <a:t>Das Ergebnis ist nicht automatisch:</a:t>
            </a:r>
          </a:p>
          <a:p>
            <a:pPr lvl="0"/>
            <a:r>
              <a:rPr lang="de-DE" dirty="0"/>
              <a:t>Durchschnitt pro Auftrag </a:t>
            </a:r>
          </a:p>
          <a:p>
            <a:pPr lvl="0"/>
            <a:r>
              <a:rPr lang="de-DE" dirty="0"/>
              <a:t>Durchschnitt pro Kunde </a:t>
            </a:r>
          </a:p>
          <a:p>
            <a:pPr lvl="0"/>
            <a:r>
              <a:rPr lang="de-DE" dirty="0"/>
              <a:t>durchschnittlicher Auftragswert </a:t>
            </a:r>
          </a:p>
          <a:p>
            <a:r>
              <a:rPr lang="de-DE" dirty="0"/>
              <a:t>Für den durchschnittlichen Auftragswert müsste zunächst eine Summe pro Auftrag gebildet und diese anschließend auf einer zweiten Aggregationsebene ausgewertet werden.</a:t>
            </a:r>
          </a:p>
          <a:p>
            <a:br>
              <a:rPr lang="de-DE" dirty="0"/>
            </a:br>
            <a:endParaRPr lang="de-DE" dirty="0"/>
          </a:p>
          <a:p>
            <a:r>
              <a:rPr lang="de-DE" sz="1200" b="1" kern="1200" dirty="0">
                <a:solidFill>
                  <a:schemeClr val="tx1"/>
                </a:solidFill>
                <a:latin typeface="+mn-lt"/>
                <a:ea typeface="+mn-ea"/>
                <a:cs typeface="+mn-cs"/>
              </a:rPr>
              <a:t>WHERE</a:t>
            </a:r>
            <a:r>
              <a:rPr lang="de-DE" b="1" dirty="0"/>
              <a:t> und </a:t>
            </a:r>
            <a:r>
              <a:rPr lang="de-DE" sz="1200" b="1" kern="1200" dirty="0">
                <a:solidFill>
                  <a:schemeClr val="tx1"/>
                </a:solidFill>
                <a:latin typeface="+mn-lt"/>
                <a:ea typeface="+mn-ea"/>
                <a:cs typeface="+mn-cs"/>
              </a:rPr>
              <a:t>HAVING</a:t>
            </a:r>
            <a:r>
              <a:rPr lang="de-DE" b="1" dirty="0"/>
              <a:t> verwechselt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&gt; 1000</a:t>
            </a:r>
          </a:p>
          <a:p>
            <a:r>
              <a:rPr lang="de-DE" dirty="0"/>
              <a:t>berücksichtigt nur einzelne Positionen mit mehr als 1.000 Nettobetrag.</a:t>
            </a:r>
          </a:p>
          <a:p>
            <a:pPr rtl="0"/>
            <a:r>
              <a:rPr lang="de-DE" sz="1200" kern="1200" dirty="0" err="1">
                <a:solidFill>
                  <a:schemeClr val="tx1"/>
                </a:solidFill>
                <a:latin typeface="+mn-lt"/>
                <a:ea typeface="+mn-ea"/>
                <a:cs typeface="+mn-cs"/>
              </a:rPr>
              <a:t>having</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sum</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 ) &gt; 1000</a:t>
            </a:r>
          </a:p>
          <a:p>
            <a:r>
              <a:rPr lang="de-DE" dirty="0"/>
              <a:t>liefert Gruppen, deren gesamte Summe größer als 1.000 ist.</a:t>
            </a:r>
          </a:p>
          <a:p>
            <a:r>
              <a:rPr lang="de-DE" dirty="0"/>
              <a:t>Das sind fachlich unterschiedliche Abfragen.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31</a:t>
            </a:fld>
            <a:endParaRPr lang="de-DE" dirty="0"/>
          </a:p>
        </p:txBody>
      </p:sp>
    </p:spTree>
    <p:extLst>
      <p:ext uri="{BB962C8B-B14F-4D97-AF65-F5344CB8AC3E}">
        <p14:creationId xmlns:p14="http://schemas.microsoft.com/office/powerpoint/2010/main" val="4006110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neue View Entity besitzt eine andere Granularität als ihre Datenquelle.</a:t>
            </a:r>
          </a:p>
          <a:p>
            <a:endParaRPr lang="de-DE" sz="1200" kern="1200" dirty="0">
              <a:solidFill>
                <a:schemeClr val="tx1"/>
              </a:solidFill>
              <a:latin typeface="+mn-lt"/>
              <a:ea typeface="+mn-ea"/>
              <a:cs typeface="+mn-cs"/>
            </a:endParaRPr>
          </a:p>
          <a:p>
            <a:r>
              <a:rPr lang="de-DE" sz="1200" kern="1200" dirty="0" err="1">
                <a:solidFill>
                  <a:schemeClr val="tx1"/>
                </a:solidFill>
                <a:latin typeface="+mn-lt"/>
                <a:ea typeface="+mn-ea"/>
                <a:cs typeface="+mn-cs"/>
              </a:rPr>
              <a:t>ZI_CDSOrderItemCalc</a:t>
            </a:r>
            <a:r>
              <a:rPr lang="de-DE" dirty="0"/>
              <a:t> liefert eine Zeile je Auftragsposition. </a:t>
            </a:r>
            <a:r>
              <a:rPr lang="de-DE" sz="1200" kern="1200" dirty="0" err="1">
                <a:solidFill>
                  <a:schemeClr val="tx1"/>
                </a:solidFill>
                <a:latin typeface="+mn-lt"/>
                <a:ea typeface="+mn-ea"/>
                <a:cs typeface="+mn-cs"/>
              </a:rPr>
              <a:t>ZI_CDSRevenueByCustomer</a:t>
            </a:r>
            <a:r>
              <a:rPr lang="de-DE" dirty="0"/>
              <a:t> fasst diese Positionen zusammen und liefert eine Zeile je Kunde und Währung.</a:t>
            </a:r>
          </a:p>
          <a:p>
            <a:endParaRPr lang="de-DE" dirty="0"/>
          </a:p>
          <a:p>
            <a:r>
              <a:rPr lang="de-DE" dirty="0"/>
              <a:t>Mit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dirty="0"/>
              <a:t> zählen wir die Positionen. </a:t>
            </a:r>
            <a:r>
              <a:rPr lang="de-DE" sz="1200" kern="1200" dirty="0" err="1">
                <a:solidFill>
                  <a:schemeClr val="tx1"/>
                </a:solidFill>
                <a:latin typeface="+mn-lt"/>
                <a:ea typeface="+mn-ea"/>
                <a:cs typeface="+mn-cs"/>
              </a:rPr>
              <a:t>count</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distinct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r>
              <a:rPr lang="de-DE" dirty="0"/>
              <a:t> ermittelt dagegen die Anzahl unterschiedlicher Aufträge. Die drei Summen liefern Brutto-, Rabatt- und Nettoumsatz. </a:t>
            </a:r>
            <a:r>
              <a:rPr lang="de-DE" sz="1200" kern="1200" dirty="0" err="1">
                <a:solidFill>
                  <a:schemeClr val="tx1"/>
                </a:solidFill>
                <a:latin typeface="+mn-lt"/>
                <a:ea typeface="+mn-ea"/>
                <a:cs typeface="+mn-cs"/>
              </a:rPr>
              <a:t>avg</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r>
              <a:rPr lang="de-DE" dirty="0"/>
              <a:t> berechnet den durchschnittlichen Nettobetrag einer Position.</a:t>
            </a:r>
          </a:p>
          <a:p>
            <a:endParaRPr lang="de-DE" dirty="0"/>
          </a:p>
          <a:p>
            <a:r>
              <a:rPr lang="de-DE" dirty="0"/>
              <a:t>Die Gruppierung nach </a:t>
            </a:r>
            <a:r>
              <a:rPr lang="de-DE" sz="1200" kern="1200" dirty="0" err="1">
                <a:solidFill>
                  <a:schemeClr val="tx1"/>
                </a:solidFill>
                <a:latin typeface="+mn-lt"/>
                <a:ea typeface="+mn-ea"/>
                <a:cs typeface="+mn-cs"/>
              </a:rPr>
              <a:t>CurrencyCode</a:t>
            </a:r>
            <a:r>
              <a:rPr lang="de-DE" dirty="0"/>
              <a:t> verhindert, dass Beträge unterschiedlicher Währungen miteinander addiert werden. Die aggregierten Beträge besitzen außerdem wieder eine ausdrückliche Währungssemantik.</a:t>
            </a:r>
          </a:p>
          <a:p>
            <a:endParaRPr lang="de-DE" dirty="0"/>
          </a:p>
          <a:p>
            <a:r>
              <a:rPr lang="de-DE" dirty="0"/>
              <a:t>Damit haben wir neben Berechnungen auf einzelnen Datensätzen nun auch mehrere Datensätze gemeinsam in der Datenbank verarbeitet.</a:t>
            </a:r>
          </a:p>
          <a:p>
            <a:endParaRPr lang="de-DE" dirty="0"/>
          </a:p>
          <a:p>
            <a:r>
              <a:rPr lang="de-DE" dirty="0"/>
              <a:t>Im nächsten Abschnitt beschäftigen wir uns mit dem umgekehrten Strukturproblem: Wir verdichten nicht mehrere Zeilen zu einer Gruppe, sondern führen Ergebnismengen mit </a:t>
            </a:r>
            <a:r>
              <a:rPr lang="de-DE" sz="1200" kern="1200" dirty="0">
                <a:solidFill>
                  <a:schemeClr val="tx1"/>
                </a:solidFill>
                <a:latin typeface="+mn-lt"/>
                <a:ea typeface="+mn-ea"/>
                <a:cs typeface="+mn-cs"/>
              </a:rPr>
              <a:t>UNION</a:t>
            </a:r>
            <a:r>
              <a:rPr lang="de-DE" dirty="0"/>
              <a:t> und </a:t>
            </a:r>
            <a:r>
              <a:rPr lang="de-DE" sz="1200" kern="1200" dirty="0">
                <a:solidFill>
                  <a:schemeClr val="tx1"/>
                </a:solidFill>
                <a:latin typeface="+mn-lt"/>
                <a:ea typeface="+mn-ea"/>
                <a:cs typeface="+mn-cs"/>
              </a:rPr>
              <a:t>UNION ALL</a:t>
            </a:r>
            <a:r>
              <a:rPr lang="de-DE" dirty="0"/>
              <a:t> untereinander zusammen.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32</a:t>
            </a:fld>
            <a:endParaRPr lang="de-DE" dirty="0"/>
          </a:p>
        </p:txBody>
      </p:sp>
    </p:spTree>
    <p:extLst>
      <p:ext uri="{BB962C8B-B14F-4D97-AF65-F5344CB8AC3E}">
        <p14:creationId xmlns:p14="http://schemas.microsoft.com/office/powerpoint/2010/main" val="34675725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Bisher haben wir Daten auf zwei unterschiedliche Arten verarbeitet.</a:t>
            </a:r>
          </a:p>
          <a:p>
            <a:endParaRPr lang="de-DE" dirty="0"/>
          </a:p>
          <a:p>
            <a:r>
              <a:rPr lang="de-DE" dirty="0"/>
              <a:t>Mit Assoziationen und Pfadausdrücken haben wir Informationen aus zusammengehörigen Datenquellen nebeneinander dargestellt. Eine Auftragsposition konnte beispielsweise um den Produktnamen oder die Kundendaten ergänzt werden.</a:t>
            </a:r>
          </a:p>
          <a:p>
            <a:endParaRPr lang="de-DE" dirty="0"/>
          </a:p>
          <a:p>
            <a:r>
              <a:rPr lang="de-DE" dirty="0"/>
              <a:t>Mit Aggregatfunktionen haben wir mehrere Eingabezeilen zu einer Ergebniszeile verdichtet.</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UNION</a:t>
            </a:r>
            <a:r>
              <a:rPr lang="de-DE" dirty="0"/>
              <a:t> löst ein anderes Strukturproblem. Dabei werden die Zeilen mehrerer Teilabfragen untereinander angeordnet. Die Ergebnismenge wird also länger, nicht breiter.</a:t>
            </a:r>
          </a:p>
          <a:p>
            <a:endParaRPr lang="de-DE" dirty="0"/>
          </a:p>
          <a:p>
            <a:r>
              <a:rPr lang="de-DE" dirty="0"/>
              <a:t>Damit das möglich ist, müssen die Teilabfragen kompatible Elementlisten besitzen. Die Elemente werden anhand ihrer Position zugeordnet. Das erste Element der ersten Teilabfrage entspricht dem ersten Element der zweiten Teilabfrage und so weiter.</a:t>
            </a:r>
          </a:p>
          <a:p>
            <a:endParaRPr lang="de-DE" dirty="0"/>
          </a:p>
          <a:p>
            <a:r>
              <a:rPr lang="de-DE" dirty="0"/>
              <a:t>Die Namen des Gesamtergebnisses werden durch die erste Teilabfrage bestimmt. Die zweite Teilabfrage liefert Werte für dieselben Ergebnispositionen.</a:t>
            </a:r>
          </a:p>
          <a:p>
            <a:r>
              <a:rPr lang="de-DE" dirty="0"/>
              <a:t>In unserem Beispiel erzeugen wir zwei Teilmengen. Die erste enthält Positionen ohne Rabatt, die zweite Positionen mit Rabatt. Ein zusätzliches Textelement macht sichtbar, aus welchem Zweig eine Ergebniszeile stammt.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33</a:t>
            </a:fld>
            <a:endParaRPr lang="de-DE" dirty="0"/>
          </a:p>
        </p:txBody>
      </p:sp>
    </p:spTree>
    <p:extLst>
      <p:ext uri="{BB962C8B-B14F-4D97-AF65-F5344CB8AC3E}">
        <p14:creationId xmlns:p14="http://schemas.microsoft.com/office/powerpoint/2010/main" val="10352497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Unterschied zwischen </a:t>
            </a:r>
            <a:r>
              <a:rPr lang="de-DE" sz="1200" kern="1200" dirty="0">
                <a:solidFill>
                  <a:schemeClr val="tx1"/>
                </a:solidFill>
                <a:latin typeface="+mn-lt"/>
                <a:ea typeface="+mn-ea"/>
                <a:cs typeface="+mn-cs"/>
              </a:rPr>
              <a:t>UNION</a:t>
            </a:r>
            <a:r>
              <a:rPr lang="de-DE" dirty="0"/>
              <a:t> und </a:t>
            </a:r>
            <a:r>
              <a:rPr lang="de-DE" sz="1200" kern="1200" dirty="0">
                <a:solidFill>
                  <a:schemeClr val="tx1"/>
                </a:solidFill>
                <a:latin typeface="+mn-lt"/>
                <a:ea typeface="+mn-ea"/>
                <a:cs typeface="+mn-cs"/>
              </a:rPr>
              <a:t>UNION ALL</a:t>
            </a:r>
            <a:r>
              <a:rPr lang="de-DE" dirty="0"/>
              <a:t> liegt in der Behandlung identischer Ergebniszeilen.</a:t>
            </a:r>
          </a:p>
          <a:p>
            <a:endParaRPr lang="de-DE" dirty="0"/>
          </a:p>
          <a:p>
            <a:r>
              <a:rPr lang="de-DE" sz="1200" kern="1200" dirty="0">
                <a:solidFill>
                  <a:schemeClr val="tx1"/>
                </a:solidFill>
                <a:latin typeface="+mn-lt"/>
                <a:ea typeface="+mn-ea"/>
                <a:cs typeface="+mn-cs"/>
              </a:rPr>
              <a:t>UNION</a:t>
            </a:r>
            <a:r>
              <a:rPr lang="de-DE" dirty="0"/>
              <a:t> verwendet eine Mengensemantik. Kommt dieselbe Ergebniszeile in mehreren Teilabfragen vor, erscheint sie im Gesamtergebnis nur einmal. Die Datenbank muss dafür feststellen, welche Zeilen vollständig identisch sind.</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UNION ALL</a:t>
            </a:r>
            <a:r>
              <a:rPr lang="de-DE" dirty="0"/>
              <a:t> übernimmt dagegen jede Zeile aus jedem Zweig. Es findet keine Entfernung von Duplikaten statt.</a:t>
            </a:r>
          </a:p>
          <a:p>
            <a:endParaRPr lang="de-DE" dirty="0"/>
          </a:p>
          <a:p>
            <a:r>
              <a:rPr lang="de-DE" dirty="0"/>
              <a:t>Wenn doppelte Zeilen fachlich zulässig oder sogar gewünscht sind, ist </a:t>
            </a:r>
            <a:r>
              <a:rPr lang="de-DE" sz="1200" kern="1200" dirty="0">
                <a:solidFill>
                  <a:schemeClr val="tx1"/>
                </a:solidFill>
                <a:latin typeface="+mn-lt"/>
                <a:ea typeface="+mn-ea"/>
                <a:cs typeface="+mn-cs"/>
              </a:rPr>
              <a:t>UNION ALL</a:t>
            </a:r>
            <a:r>
              <a:rPr lang="de-DE" dirty="0"/>
              <a:t> deshalb die richtige Wahl. Es vermeidet außerdem den zusätzlichen Aufwand der </a:t>
            </a:r>
            <a:r>
              <a:rPr lang="de-DE" dirty="0" err="1"/>
              <a:t>Duplikaterkennung</a:t>
            </a:r>
            <a:r>
              <a:rPr lang="de-DE" dirty="0"/>
              <a:t>.</a:t>
            </a:r>
          </a:p>
          <a:p>
            <a:endParaRPr lang="de-DE" dirty="0"/>
          </a:p>
          <a:p>
            <a:r>
              <a:rPr lang="de-DE" dirty="0"/>
              <a:t>In unserem Beispiel schließen sich die beiden Bedingungen gegenseitig aus. Eine Position kann nicht gleichzeitig vom Typ Online-Verkauf und Direktvertrieb sine</a:t>
            </a:r>
          </a:p>
          <a:p>
            <a:endParaRPr lang="de-DE" dirty="0"/>
          </a:p>
          <a:p>
            <a:r>
              <a:rPr lang="de-DE" dirty="0"/>
              <a:t>Wir verwenden deshalb bewusst </a:t>
            </a:r>
            <a:r>
              <a:rPr lang="de-DE" sz="1200" kern="1200" dirty="0">
                <a:solidFill>
                  <a:schemeClr val="tx1"/>
                </a:solidFill>
                <a:latin typeface="+mn-lt"/>
                <a:ea typeface="+mn-ea"/>
                <a:cs typeface="+mn-cs"/>
              </a:rPr>
              <a:t>UNION ALL</a:t>
            </a:r>
            <a:r>
              <a:rPr lang="de-DE" dirty="0"/>
              <a:t>.</a:t>
            </a:r>
          </a:p>
          <a:p>
            <a:endParaRPr lang="de-DE" dirty="0"/>
          </a:p>
          <a:p>
            <a:r>
              <a:rPr lang="de-DE" dirty="0"/>
              <a:t>Die Auswahl sollte immer fachlich begründet werden. </a:t>
            </a:r>
            <a:r>
              <a:rPr lang="de-DE" sz="1200" kern="1200" dirty="0">
                <a:solidFill>
                  <a:schemeClr val="tx1"/>
                </a:solidFill>
                <a:latin typeface="+mn-lt"/>
                <a:ea typeface="+mn-ea"/>
                <a:cs typeface="+mn-cs"/>
              </a:rPr>
              <a:t>UNION</a:t>
            </a:r>
            <a:r>
              <a:rPr lang="de-DE" dirty="0"/>
              <a:t> ist kein allgemeines Sicherheitsnetz gegen Fehler in den Daten oder in den Auswahlbedingungen. Unbeabsichtigte Duplikate sollten möglichst an ihrer Ursache behoben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34</a:t>
            </a:fld>
            <a:endParaRPr lang="de-DE" dirty="0"/>
          </a:p>
        </p:txBody>
      </p:sp>
    </p:spTree>
    <p:extLst>
      <p:ext uri="{BB962C8B-B14F-4D97-AF65-F5344CB8AC3E}">
        <p14:creationId xmlns:p14="http://schemas.microsoft.com/office/powerpoint/2010/main" val="23280035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Teilabfragen eines </a:t>
            </a:r>
            <a:r>
              <a:rPr lang="de-DE" sz="1200" kern="1200" dirty="0">
                <a:solidFill>
                  <a:schemeClr val="tx1"/>
                </a:solidFill>
                <a:latin typeface="+mn-lt"/>
                <a:ea typeface="+mn-ea"/>
                <a:cs typeface="+mn-cs"/>
              </a:rPr>
              <a:t>UNION</a:t>
            </a:r>
            <a:r>
              <a:rPr lang="de-DE" dirty="0"/>
              <a:t> werden nicht anhand gleichlautender Elementnamen zusammengeführt. Entscheidend ist ausschließlich die Position in der Elementliste.</a:t>
            </a:r>
          </a:p>
          <a:p>
            <a:endParaRPr lang="de-DE" dirty="0"/>
          </a:p>
          <a:p>
            <a:r>
              <a:rPr lang="de-DE" dirty="0"/>
              <a:t>Das dritte Element des ersten Zweigs und das dritte Element des zweiten Zweigs bilden gemeinsam das dritte Element des Gesamtergebnisses. Vertauschen wir in </a:t>
            </a:r>
          </a:p>
          <a:p>
            <a:r>
              <a:rPr lang="de-DE" dirty="0"/>
              <a:t>einem Zweig zwei Elemente mit kompatiblen Datentypen, kann die Definition technisch akzeptiert werden und trotzdem fachlich falsche Daten liefern.</a:t>
            </a:r>
          </a:p>
          <a:p>
            <a:endParaRPr lang="de-DE" dirty="0"/>
          </a:p>
          <a:p>
            <a:r>
              <a:rPr lang="de-DE" dirty="0"/>
              <a:t>Außerdem müssen die Datentypen der entsprechenden Elemente miteinander verträglich sein. Ein Zeichenfeld kann nicht ohne Weiteres mit einem Betragsfeld verbunden werden. Auch unterschiedliche Längen oder numerische Genauigkeiten können eine explizite Typanpassung erforderlich machen.</a:t>
            </a:r>
          </a:p>
          <a:p>
            <a:endParaRPr lang="de-DE" dirty="0"/>
          </a:p>
          <a:p>
            <a:r>
              <a:rPr lang="de-DE" dirty="0"/>
              <a:t>Für unser neues Element </a:t>
            </a:r>
            <a:r>
              <a:rPr lang="de-DE" sz="1200" kern="1200" dirty="0" err="1">
                <a:solidFill>
                  <a:schemeClr val="tx1"/>
                </a:solidFill>
                <a:latin typeface="+mn-lt"/>
                <a:ea typeface="+mn-ea"/>
                <a:cs typeface="+mn-cs"/>
              </a:rPr>
              <a:t>ItemCategory</a:t>
            </a:r>
            <a:r>
              <a:rPr lang="de-DE" dirty="0"/>
              <a:t> verwenden wir deshalb in beiden Zweigen einen </a:t>
            </a:r>
            <a:r>
              <a:rPr lang="de-DE" sz="1200" kern="1200" dirty="0">
                <a:solidFill>
                  <a:schemeClr val="tx1"/>
                </a:solidFill>
                <a:latin typeface="+mn-lt"/>
                <a:ea typeface="+mn-ea"/>
                <a:cs typeface="+mn-cs"/>
              </a:rPr>
              <a:t>cast</a:t>
            </a:r>
            <a:r>
              <a:rPr lang="de-DE" dirty="0"/>
              <a:t> auf denselben ABAP-Typ.</a:t>
            </a:r>
          </a:p>
          <a:p>
            <a:endParaRPr lang="de-DE" dirty="0"/>
          </a:p>
          <a:p>
            <a:r>
              <a:rPr lang="de-DE" dirty="0"/>
              <a:t>Die Namen der Ergebniselemente werden in der ersten Teilabfrage festgelegt. Im zweiten Zweig sind neue Aliasnamen nicht erforderlich und würden die Struktur des Gesamtergebnisses ohnehin nicht verändern.</a:t>
            </a:r>
          </a:p>
          <a:p>
            <a:endParaRPr lang="de-DE" dirty="0"/>
          </a:p>
          <a:p>
            <a:r>
              <a:rPr lang="de-DE" dirty="0"/>
              <a:t>Auch die Semantik muss zum Gesamtergebnis passen. Da </a:t>
            </a:r>
            <a:r>
              <a:rPr lang="de-DE" sz="1200" kern="1200" dirty="0" err="1">
                <a:solidFill>
                  <a:schemeClr val="tx1"/>
                </a:solidFill>
                <a:latin typeface="+mn-lt"/>
                <a:ea typeface="+mn-ea"/>
                <a:cs typeface="+mn-cs"/>
              </a:rPr>
              <a:t>NetAmount</a:t>
            </a:r>
            <a:r>
              <a:rPr lang="de-DE" dirty="0"/>
              <a:t> ein Währungsbetrag ist, stellen beide Zweige direkt danach das zugehörige Element </a:t>
            </a:r>
            <a:r>
              <a:rPr lang="de-DE" sz="1200" kern="1200" dirty="0" err="1">
                <a:solidFill>
                  <a:schemeClr val="tx1"/>
                </a:solidFill>
                <a:latin typeface="+mn-lt"/>
                <a:ea typeface="+mn-ea"/>
                <a:cs typeface="+mn-cs"/>
              </a:rPr>
              <a:t>CurrencyCode</a:t>
            </a:r>
            <a:r>
              <a:rPr lang="de-DE" dirty="0"/>
              <a:t> bereit.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35</a:t>
            </a:fld>
            <a:endParaRPr lang="de-DE" dirty="0"/>
          </a:p>
        </p:txBody>
      </p:sp>
    </p:spTree>
    <p:extLst>
      <p:ext uri="{BB962C8B-B14F-4D97-AF65-F5344CB8AC3E}">
        <p14:creationId xmlns:p14="http://schemas.microsoft.com/office/powerpoint/2010/main" val="16717933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unserem konkreten Beispiel führen wir unterschiedliche Bestelltypen zusammen.</a:t>
            </a:r>
          </a:p>
          <a:p>
            <a:endParaRPr lang="de-DE" dirty="0"/>
          </a:p>
          <a:p>
            <a:r>
              <a:rPr lang="de-DE" dirty="0"/>
              <a:t>Die Aufträge enthalten bereits das technische Kennzeichen </a:t>
            </a:r>
            <a:r>
              <a:rPr lang="de-DE" sz="1200" kern="1200" dirty="0" err="1">
                <a:solidFill>
                  <a:schemeClr val="tx1"/>
                </a:solidFill>
                <a:latin typeface="+mn-lt"/>
                <a:ea typeface="+mn-ea"/>
                <a:cs typeface="+mn-cs"/>
              </a:rPr>
              <a:t>OrderType</a:t>
            </a:r>
            <a:r>
              <a:rPr lang="de-DE" dirty="0"/>
              <a:t>. Der Wert </a:t>
            </a:r>
            <a:r>
              <a:rPr lang="de-DE" sz="1200" kern="1200" dirty="0">
                <a:solidFill>
                  <a:schemeClr val="tx1"/>
                </a:solidFill>
                <a:latin typeface="+mn-lt"/>
                <a:ea typeface="+mn-ea"/>
                <a:cs typeface="+mn-cs"/>
              </a:rPr>
              <a:t>O</a:t>
            </a:r>
            <a:r>
              <a:rPr lang="de-DE" dirty="0"/>
              <a:t> steht für eine Onlinebestellung, der Wert </a:t>
            </a:r>
            <a:r>
              <a:rPr lang="de-DE" sz="1200" kern="1200" dirty="0">
                <a:solidFill>
                  <a:schemeClr val="tx1"/>
                </a:solidFill>
                <a:latin typeface="+mn-lt"/>
                <a:ea typeface="+mn-ea"/>
                <a:cs typeface="+mn-cs"/>
              </a:rPr>
              <a:t>D</a:t>
            </a:r>
            <a:r>
              <a:rPr lang="de-DE" dirty="0"/>
              <a:t> für einen Auftrag aus dem Direktvertrieb.</a:t>
            </a:r>
          </a:p>
          <a:p>
            <a:endParaRPr lang="de-DE" dirty="0"/>
          </a:p>
          <a:p>
            <a:r>
              <a:rPr lang="de-DE" dirty="0"/>
              <a:t>Der erste Zweig wählt ausschließlich Onlinebestellungen aus. Zusätzlich zum technischen Wert </a:t>
            </a:r>
            <a:r>
              <a:rPr lang="de-DE" sz="1200" kern="1200" dirty="0">
                <a:solidFill>
                  <a:schemeClr val="tx1"/>
                </a:solidFill>
                <a:latin typeface="+mn-lt"/>
                <a:ea typeface="+mn-ea"/>
                <a:cs typeface="+mn-cs"/>
              </a:rPr>
              <a:t>O</a:t>
            </a:r>
            <a:r>
              <a:rPr lang="de-DE" dirty="0"/>
              <a:t> erzeugt er das neue Element </a:t>
            </a:r>
            <a:r>
              <a:rPr lang="de-DE" sz="1200" kern="1200" dirty="0" err="1">
                <a:solidFill>
                  <a:schemeClr val="tx1"/>
                </a:solidFill>
                <a:latin typeface="+mn-lt"/>
                <a:ea typeface="+mn-ea"/>
                <a:cs typeface="+mn-cs"/>
              </a:rPr>
              <a:t>SalesChannel</a:t>
            </a:r>
            <a:r>
              <a:rPr lang="de-DE" dirty="0"/>
              <a:t> mit dem verständlichen Text </a:t>
            </a:r>
            <a:r>
              <a:rPr lang="de-DE" sz="1200" kern="1200" dirty="0">
                <a:solidFill>
                  <a:schemeClr val="tx1"/>
                </a:solidFill>
                <a:latin typeface="+mn-lt"/>
                <a:ea typeface="+mn-ea"/>
                <a:cs typeface="+mn-cs"/>
              </a:rPr>
              <a:t>Online</a:t>
            </a:r>
            <a:r>
              <a:rPr lang="de-DE" dirty="0"/>
              <a:t>.</a:t>
            </a:r>
          </a:p>
          <a:p>
            <a:endParaRPr lang="de-DE" dirty="0"/>
          </a:p>
          <a:p>
            <a:r>
              <a:rPr lang="de-DE" dirty="0"/>
              <a:t>Der zweite Zweig verarbeitet entsprechend die Direktbestellungen. Er liefert für </a:t>
            </a:r>
            <a:r>
              <a:rPr lang="de-DE" sz="1200" kern="1200" dirty="0" err="1">
                <a:solidFill>
                  <a:schemeClr val="tx1"/>
                </a:solidFill>
                <a:latin typeface="+mn-lt"/>
                <a:ea typeface="+mn-ea"/>
                <a:cs typeface="+mn-cs"/>
              </a:rPr>
              <a:t>OrderType</a:t>
            </a:r>
            <a:r>
              <a:rPr lang="de-DE" dirty="0"/>
              <a:t> den Wert </a:t>
            </a:r>
            <a:r>
              <a:rPr lang="de-DE" sz="1200" kern="1200" dirty="0">
                <a:solidFill>
                  <a:schemeClr val="tx1"/>
                </a:solidFill>
                <a:latin typeface="+mn-lt"/>
                <a:ea typeface="+mn-ea"/>
                <a:cs typeface="+mn-cs"/>
              </a:rPr>
              <a:t>D</a:t>
            </a:r>
            <a:r>
              <a:rPr lang="de-DE" dirty="0"/>
              <a:t> und bezeichnet den Vertriebskanal als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r>
              <a:rPr lang="de-DE" dirty="0"/>
              <a:t>.</a:t>
            </a:r>
          </a:p>
          <a:p>
            <a:endParaRPr lang="de-DE" dirty="0"/>
          </a:p>
          <a:p>
            <a:r>
              <a:rPr lang="de-DE" dirty="0"/>
              <a:t>Mit den </a:t>
            </a:r>
            <a:r>
              <a:rPr lang="de-DE" sz="1200" kern="1200" dirty="0">
                <a:solidFill>
                  <a:schemeClr val="tx1"/>
                </a:solidFill>
                <a:latin typeface="+mn-lt"/>
                <a:ea typeface="+mn-ea"/>
                <a:cs typeface="+mn-cs"/>
              </a:rPr>
              <a:t>cast</a:t>
            </a:r>
            <a:r>
              <a:rPr lang="de-DE" dirty="0"/>
              <a:t>-Ausdrücken legen wir für beide Zweige identische technische Typen fest. </a:t>
            </a:r>
            <a:r>
              <a:rPr lang="de-DE" sz="1200" kern="1200" dirty="0" err="1">
                <a:solidFill>
                  <a:schemeClr val="tx1"/>
                </a:solidFill>
                <a:latin typeface="+mn-lt"/>
                <a:ea typeface="+mn-ea"/>
                <a:cs typeface="+mn-cs"/>
              </a:rPr>
              <a:t>OrderType</a:t>
            </a:r>
            <a:r>
              <a:rPr lang="de-DE" dirty="0"/>
              <a:t> besitzt in beiden Zweigen den Typ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a:t>
            </a:r>
            <a:r>
              <a:rPr lang="de-DE" dirty="0"/>
              <a:t>, </a:t>
            </a:r>
            <a:r>
              <a:rPr lang="de-DE" sz="1200" kern="1200" dirty="0" err="1">
                <a:solidFill>
                  <a:schemeClr val="tx1"/>
                </a:solidFill>
                <a:latin typeface="+mn-lt"/>
                <a:ea typeface="+mn-ea"/>
                <a:cs typeface="+mn-cs"/>
              </a:rPr>
              <a:t>SalesChannel</a:t>
            </a:r>
            <a:r>
              <a:rPr lang="de-DE" dirty="0"/>
              <a:t> den Typ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(20)</a:t>
            </a:r>
            <a:r>
              <a:rPr lang="de-DE" dirty="0"/>
              <a:t>.</a:t>
            </a:r>
          </a:p>
          <a:p>
            <a:endParaRPr lang="de-DE" dirty="0"/>
          </a:p>
          <a:p>
            <a:r>
              <a:rPr lang="de-DE" dirty="0"/>
              <a:t>Das technische Kennzeichen und die lesbare Bezeichnung bleiben damit getrennt:</a:t>
            </a:r>
          </a:p>
          <a:p>
            <a:pPr rtl="0"/>
            <a:r>
              <a:rPr lang="de-DE" sz="1200" kern="1200" dirty="0">
                <a:solidFill>
                  <a:schemeClr val="tx1"/>
                </a:solidFill>
                <a:latin typeface="+mn-lt"/>
                <a:ea typeface="+mn-ea"/>
                <a:cs typeface="+mn-cs"/>
              </a:rPr>
              <a:t>O → Online</a:t>
            </a:r>
          </a:p>
          <a:p>
            <a:pPr rtl="0"/>
            <a:r>
              <a:rPr lang="de-DE" sz="1200" kern="1200" dirty="0">
                <a:solidFill>
                  <a:schemeClr val="tx1"/>
                </a:solidFill>
                <a:latin typeface="+mn-lt"/>
                <a:ea typeface="+mn-ea"/>
                <a:cs typeface="+mn-cs"/>
              </a:rPr>
              <a:t>D →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endParaRPr lang="de-DE" sz="1200" kern="1200" dirty="0">
              <a:solidFill>
                <a:schemeClr val="tx1"/>
              </a:solidFill>
              <a:latin typeface="+mn-lt"/>
              <a:ea typeface="+mn-ea"/>
              <a:cs typeface="+mn-cs"/>
            </a:endParaRPr>
          </a:p>
          <a:p>
            <a:endParaRPr lang="de-DE" dirty="0"/>
          </a:p>
          <a:p>
            <a:r>
              <a:rPr lang="de-DE" dirty="0"/>
              <a:t>Dieses Muster ist besonders dann hilfreich, wenn verschiedene Quellgruppen über technische Kennzeichen unterschieden und in einer gemeinsamen Schnittstelle bereitgestellt werden sollen.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36</a:t>
            </a:fld>
            <a:endParaRPr lang="de-DE" dirty="0"/>
          </a:p>
        </p:txBody>
      </p:sp>
    </p:spTree>
    <p:extLst>
      <p:ext uri="{BB962C8B-B14F-4D97-AF65-F5344CB8AC3E}">
        <p14:creationId xmlns:p14="http://schemas.microsoft.com/office/powerpoint/2010/main" val="41299456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fünften Live-Coding erstellen wir </a:t>
            </a:r>
            <a:r>
              <a:rPr lang="de-DE" sz="1200" kern="1200" dirty="0" err="1">
                <a:solidFill>
                  <a:schemeClr val="tx1"/>
                </a:solidFill>
                <a:latin typeface="+mn-lt"/>
                <a:ea typeface="+mn-ea"/>
                <a:cs typeface="+mn-cs"/>
              </a:rPr>
              <a:t>ZI_CDSOrderUnion</a:t>
            </a:r>
            <a:r>
              <a:rPr lang="de-DE" dirty="0"/>
              <a:t>.</a:t>
            </a:r>
          </a:p>
          <a:p>
            <a:endParaRPr lang="de-DE" dirty="0"/>
          </a:p>
          <a:p>
            <a:r>
              <a:rPr lang="de-DE" dirty="0"/>
              <a:t>Beide Teilabfragen lesen aus </a:t>
            </a:r>
            <a:r>
              <a:rPr lang="de-DE" sz="1200" kern="1200" dirty="0" err="1">
                <a:solidFill>
                  <a:schemeClr val="tx1"/>
                </a:solidFill>
                <a:latin typeface="+mn-lt"/>
                <a:ea typeface="+mn-ea"/>
                <a:cs typeface="+mn-cs"/>
              </a:rPr>
              <a:t>ZI_CDSOrder</a:t>
            </a:r>
            <a:r>
              <a:rPr lang="de-DE" dirty="0"/>
              <a:t>. Sie wählen jedoch unterschiedliche Teilmengen aus.</a:t>
            </a:r>
          </a:p>
          <a:p>
            <a:endParaRPr lang="de-DE" dirty="0"/>
          </a:p>
          <a:p>
            <a:r>
              <a:rPr lang="de-DE" dirty="0"/>
              <a:t>Der erste Zweig enthält ausschließlich Onlinebestellungen. Der zweite Zweig liefert ausschließlich Bestellungen aus dem Direktvertrieb. Die beiden Auswahlbedingungen schließen sich gegenseitig aus.</a:t>
            </a:r>
          </a:p>
          <a:p>
            <a:endParaRPr lang="de-DE" dirty="0"/>
          </a:p>
          <a:p>
            <a:r>
              <a:rPr lang="de-DE" dirty="0"/>
              <a:t>Beide Zweige stellen dieselben Auftragselemente in derselben Reihenfolge bereit. Zusätzlich geben sie das technische Kennzeichen </a:t>
            </a:r>
            <a:r>
              <a:rPr lang="de-DE" sz="1200" kern="1200" dirty="0" err="1">
                <a:solidFill>
                  <a:schemeClr val="tx1"/>
                </a:solidFill>
                <a:latin typeface="+mn-lt"/>
                <a:ea typeface="+mn-ea"/>
                <a:cs typeface="+mn-cs"/>
              </a:rPr>
              <a:t>OrderType</a:t>
            </a:r>
            <a:r>
              <a:rPr lang="de-DE" dirty="0"/>
              <a:t> und die daraus abgeleitete Bezeichnung </a:t>
            </a:r>
            <a:r>
              <a:rPr lang="de-DE" sz="1200" kern="1200" dirty="0" err="1">
                <a:solidFill>
                  <a:schemeClr val="tx1"/>
                </a:solidFill>
                <a:latin typeface="+mn-lt"/>
                <a:ea typeface="+mn-ea"/>
                <a:cs typeface="+mn-cs"/>
              </a:rPr>
              <a:t>SalesChannel</a:t>
            </a:r>
            <a:r>
              <a:rPr lang="de-DE" dirty="0"/>
              <a:t> aus.</a:t>
            </a:r>
          </a:p>
          <a:p>
            <a:endParaRPr lang="de-DE" dirty="0"/>
          </a:p>
          <a:p>
            <a:r>
              <a:rPr lang="de-DE" dirty="0"/>
              <a:t>Da ein Auftrag nicht gleichzeitig den Bestelltyp </a:t>
            </a:r>
            <a:r>
              <a:rPr lang="de-DE" sz="1200" kern="1200" dirty="0">
                <a:solidFill>
                  <a:schemeClr val="tx1"/>
                </a:solidFill>
                <a:latin typeface="+mn-lt"/>
                <a:ea typeface="+mn-ea"/>
                <a:cs typeface="+mn-cs"/>
              </a:rPr>
              <a:t>O</a:t>
            </a:r>
            <a:r>
              <a:rPr lang="de-DE" dirty="0"/>
              <a:t> und </a:t>
            </a:r>
            <a:r>
              <a:rPr lang="de-DE" sz="1200" kern="1200" dirty="0">
                <a:solidFill>
                  <a:schemeClr val="tx1"/>
                </a:solidFill>
                <a:latin typeface="+mn-lt"/>
                <a:ea typeface="+mn-ea"/>
                <a:cs typeface="+mn-cs"/>
              </a:rPr>
              <a:t>D</a:t>
            </a:r>
            <a:r>
              <a:rPr lang="de-DE" dirty="0"/>
              <a:t> besitzen kann, verwenden wir </a:t>
            </a:r>
            <a:r>
              <a:rPr lang="de-DE" sz="1200" kern="1200" dirty="0">
                <a:solidFill>
                  <a:schemeClr val="tx1"/>
                </a:solidFill>
                <a:latin typeface="+mn-lt"/>
                <a:ea typeface="+mn-ea"/>
                <a:cs typeface="+mn-cs"/>
              </a:rPr>
              <a:t>UNION ALL</a:t>
            </a:r>
            <a:r>
              <a:rPr lang="de-DE" dirty="0"/>
              <a:t>. Es ist keine </a:t>
            </a:r>
            <a:r>
              <a:rPr lang="de-DE" dirty="0" err="1"/>
              <a:t>Duplikaterkennung</a:t>
            </a:r>
            <a:r>
              <a:rPr lang="de-DE" dirty="0"/>
              <a:t> erforderlich.</a:t>
            </a:r>
          </a:p>
          <a:p>
            <a:r>
              <a:rPr lang="de-DE" dirty="0"/>
              <a:t>In der Datenvorschau prüfen wir anschließend, ob die Zuordnung korrekt ist:</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 → </a:t>
            </a:r>
            <a:r>
              <a:rPr lang="de-DE" sz="1200" kern="1200" dirty="0" err="1">
                <a:solidFill>
                  <a:schemeClr val="tx1"/>
                </a:solidFill>
                <a:latin typeface="+mn-lt"/>
                <a:ea typeface="+mn-ea"/>
                <a:cs typeface="+mn-cs"/>
              </a:rPr>
              <a:t>SalesChannel</a:t>
            </a:r>
            <a:r>
              <a:rPr lang="de-DE" sz="1200" kern="1200" dirty="0">
                <a:solidFill>
                  <a:schemeClr val="tx1"/>
                </a:solidFill>
                <a:latin typeface="+mn-lt"/>
                <a:ea typeface="+mn-ea"/>
                <a:cs typeface="+mn-cs"/>
              </a:rPr>
              <a:t> = Online</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 → </a:t>
            </a:r>
            <a:r>
              <a:rPr lang="de-DE" sz="1200" kern="1200" dirty="0" err="1">
                <a:solidFill>
                  <a:schemeClr val="tx1"/>
                </a:solidFill>
                <a:latin typeface="+mn-lt"/>
                <a:ea typeface="+mn-ea"/>
                <a:cs typeface="+mn-cs"/>
              </a:rPr>
              <a:t>SalesChannel</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p:txBody>
      </p:sp>
      <p:sp>
        <p:nvSpPr>
          <p:cNvPr id="4" name="Foliennummernplatzhalter 3"/>
          <p:cNvSpPr>
            <a:spLocks noGrp="1"/>
          </p:cNvSpPr>
          <p:nvPr>
            <p:ph type="sldNum" sz="quarter" idx="5"/>
          </p:nvPr>
        </p:nvSpPr>
        <p:spPr/>
        <p:txBody>
          <a:bodyPr/>
          <a:lstStyle/>
          <a:p>
            <a:fld id="{E9475E6B-8EF9-407D-AAC9-FC0EA114427C}" type="slidenum">
              <a:rPr lang="de-DE" smtClean="0"/>
              <a:t>37</a:t>
            </a:fld>
            <a:endParaRPr lang="de-DE" dirty="0"/>
          </a:p>
        </p:txBody>
      </p:sp>
    </p:spTree>
    <p:extLst>
      <p:ext uri="{BB962C8B-B14F-4D97-AF65-F5344CB8AC3E}">
        <p14:creationId xmlns:p14="http://schemas.microsoft.com/office/powerpoint/2010/main" val="28054643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1. Ausgangsdaten untersuchen</a:t>
            </a:r>
          </a:p>
          <a:p>
            <a:r>
              <a:rPr lang="de-DE" dirty="0"/>
              <a:t>Die Datenvorschau von </a:t>
            </a:r>
            <a:r>
              <a:rPr lang="de-DE" sz="1200" kern="1200" dirty="0" err="1">
                <a:solidFill>
                  <a:schemeClr val="tx1"/>
                </a:solidFill>
                <a:latin typeface="+mn-lt"/>
                <a:ea typeface="+mn-ea"/>
                <a:cs typeface="+mn-cs"/>
              </a:rPr>
              <a:t>ZI_CDSOrder</a:t>
            </a:r>
            <a:r>
              <a:rPr lang="de-DE" dirty="0"/>
              <a:t> öffnen.</a:t>
            </a:r>
          </a:p>
          <a:p>
            <a:r>
              <a:rPr lang="de-DE" dirty="0"/>
              <a:t>Folgende Elemente einblenden:</a:t>
            </a:r>
          </a:p>
          <a:p>
            <a:pPr lvl="0"/>
            <a:r>
              <a:rPr lang="de-DE" sz="1200" kern="1200" dirty="0" err="1">
                <a:solidFill>
                  <a:schemeClr val="tx1"/>
                </a:solidFill>
                <a:latin typeface="+mn-lt"/>
                <a:ea typeface="+mn-ea"/>
                <a:cs typeface="+mn-cs"/>
              </a:rPr>
              <a:t>OrderId</a:t>
            </a:r>
            <a:r>
              <a:rPr lang="de-DE" dirty="0"/>
              <a:t> </a:t>
            </a:r>
          </a:p>
          <a:p>
            <a:pPr lvl="0"/>
            <a:r>
              <a:rPr lang="de-DE" sz="1200" kern="1200" dirty="0" err="1">
                <a:solidFill>
                  <a:schemeClr val="tx1"/>
                </a:solidFill>
                <a:latin typeface="+mn-lt"/>
                <a:ea typeface="+mn-ea"/>
                <a:cs typeface="+mn-cs"/>
              </a:rPr>
              <a:t>CustomerId</a:t>
            </a:r>
            <a:r>
              <a:rPr lang="de-DE" dirty="0"/>
              <a:t> </a:t>
            </a:r>
          </a:p>
          <a:p>
            <a:pPr lvl="0"/>
            <a:r>
              <a:rPr lang="de-DE" sz="1200" kern="1200" dirty="0" err="1">
                <a:solidFill>
                  <a:schemeClr val="tx1"/>
                </a:solidFill>
                <a:latin typeface="+mn-lt"/>
                <a:ea typeface="+mn-ea"/>
                <a:cs typeface="+mn-cs"/>
              </a:rPr>
              <a:t>OrderDate</a:t>
            </a:r>
            <a:r>
              <a:rPr lang="de-DE" dirty="0"/>
              <a:t> </a:t>
            </a:r>
          </a:p>
          <a:p>
            <a:pPr lvl="0"/>
            <a:r>
              <a:rPr lang="de-DE" sz="1200" kern="1200" dirty="0" err="1">
                <a:solidFill>
                  <a:schemeClr val="tx1"/>
                </a:solidFill>
                <a:latin typeface="+mn-lt"/>
                <a:ea typeface="+mn-ea"/>
                <a:cs typeface="+mn-cs"/>
              </a:rPr>
              <a:t>OrderStatus</a:t>
            </a:r>
            <a:r>
              <a:rPr lang="de-DE" dirty="0"/>
              <a:t> </a:t>
            </a:r>
          </a:p>
          <a:p>
            <a:pPr lvl="0"/>
            <a:r>
              <a:rPr lang="de-DE" sz="1200" kern="1200" dirty="0" err="1">
                <a:solidFill>
                  <a:schemeClr val="tx1"/>
                </a:solidFill>
                <a:latin typeface="+mn-lt"/>
                <a:ea typeface="+mn-ea"/>
                <a:cs typeface="+mn-cs"/>
              </a:rPr>
              <a:t>SalesOrganization</a:t>
            </a:r>
            <a:r>
              <a:rPr lang="de-DE" dirty="0"/>
              <a:t> </a:t>
            </a:r>
          </a:p>
          <a:p>
            <a:pPr lvl="0"/>
            <a:r>
              <a:rPr lang="de-DE" sz="1200" kern="1200" dirty="0" err="1">
                <a:solidFill>
                  <a:schemeClr val="tx1"/>
                </a:solidFill>
                <a:latin typeface="+mn-lt"/>
                <a:ea typeface="+mn-ea"/>
                <a:cs typeface="+mn-cs"/>
              </a:rPr>
              <a:t>CurrencyCode</a:t>
            </a:r>
            <a:r>
              <a:rPr lang="de-DE" dirty="0"/>
              <a:t> </a:t>
            </a:r>
          </a:p>
          <a:p>
            <a:pPr lvl="0"/>
            <a:r>
              <a:rPr lang="de-DE" sz="1200" kern="1200" dirty="0" err="1">
                <a:solidFill>
                  <a:schemeClr val="tx1"/>
                </a:solidFill>
                <a:latin typeface="+mn-lt"/>
                <a:ea typeface="+mn-ea"/>
                <a:cs typeface="+mn-cs"/>
              </a:rPr>
              <a:t>OrderType</a:t>
            </a:r>
            <a:r>
              <a:rPr lang="de-DE" dirty="0"/>
              <a:t> </a:t>
            </a:r>
          </a:p>
          <a:p>
            <a:r>
              <a:rPr lang="de-DE" dirty="0"/>
              <a:t>Nach </a:t>
            </a:r>
            <a:r>
              <a:rPr lang="de-DE" sz="1200" kern="1200" dirty="0" err="1">
                <a:solidFill>
                  <a:schemeClr val="tx1"/>
                </a:solidFill>
                <a:latin typeface="+mn-lt"/>
                <a:ea typeface="+mn-ea"/>
                <a:cs typeface="+mn-cs"/>
              </a:rPr>
              <a:t>OrderType</a:t>
            </a:r>
            <a:r>
              <a:rPr lang="de-DE" dirty="0"/>
              <a:t> sortieren oder filtern.</a:t>
            </a:r>
          </a:p>
          <a:p>
            <a:r>
              <a:rPr lang="de-DE" b="1" dirty="0"/>
              <a:t>Frage an die Teilnehmenden</a:t>
            </a:r>
            <a:endParaRPr lang="de-DE" dirty="0"/>
          </a:p>
          <a:p>
            <a:r>
              <a:rPr lang="de-DE" dirty="0"/>
              <a:t>Welche unterschiedlichen Bestelltypen finden wir in den Beispieldaten?</a:t>
            </a:r>
          </a:p>
          <a:p>
            <a:r>
              <a:rPr lang="de-DE" dirty="0"/>
              <a:t>Erwartete Antwort:</a:t>
            </a:r>
          </a:p>
          <a:p>
            <a:pPr rtl="0"/>
            <a:r>
              <a:rPr lang="de-DE" sz="1200" kern="1200" dirty="0">
                <a:solidFill>
                  <a:schemeClr val="tx1"/>
                </a:solidFill>
                <a:latin typeface="+mn-lt"/>
                <a:ea typeface="+mn-ea"/>
                <a:cs typeface="+mn-cs"/>
              </a:rPr>
              <a:t>O = Onlinebestellung</a:t>
            </a:r>
          </a:p>
          <a:p>
            <a:pPr rtl="0"/>
            <a:r>
              <a:rPr lang="de-DE" sz="1200" kern="1200" dirty="0">
                <a:solidFill>
                  <a:schemeClr val="tx1"/>
                </a:solidFill>
                <a:latin typeface="+mn-lt"/>
                <a:ea typeface="+mn-ea"/>
                <a:cs typeface="+mn-cs"/>
              </a:rPr>
              <a:t>D = Direktvertrieb</a:t>
            </a:r>
          </a:p>
          <a:p>
            <a:r>
              <a:rPr lang="de-DE" b="1" dirty="0"/>
              <a:t>Überleitung</a:t>
            </a:r>
            <a:endParaRPr lang="de-DE" dirty="0"/>
          </a:p>
          <a:p>
            <a:r>
              <a:rPr lang="de-DE" dirty="0"/>
              <a:t>Wir stellen beide Bestelltypen über eine gemeinsame CDS View Entity bereit und ergänzen dabei eine verständliche Bezeichnung des jeweiligen Vertriebskanals.</a:t>
            </a:r>
          </a:p>
          <a:p>
            <a:br>
              <a:rPr lang="de-DE" dirty="0"/>
            </a:br>
            <a:endParaRPr lang="de-DE" dirty="0"/>
          </a:p>
          <a:p>
            <a:r>
              <a:rPr lang="de-DE" b="1" dirty="0"/>
              <a:t>2. Neue View Entity anlegen</a:t>
            </a:r>
          </a:p>
          <a:p>
            <a:pPr rtl="0"/>
            <a:r>
              <a:rPr lang="de-DE" sz="1200" kern="1200" dirty="0">
                <a:solidFill>
                  <a:schemeClr val="tx1"/>
                </a:solidFill>
                <a:latin typeface="+mn-lt"/>
                <a:ea typeface="+mn-ea"/>
                <a:cs typeface="+mn-cs"/>
              </a:rPr>
              <a:t>@EndUserText.label: 'Orders from All Sales Channels'</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@Metadata.ignorePropagatedAnnotations: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ZI_CDSOrderUnion</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dirty="0"/>
              <a:t>Beide Teilabfragen werden dieselbe Datenquelle verwenden. </a:t>
            </a:r>
          </a:p>
          <a:p>
            <a:pPr lvl="0"/>
            <a:r>
              <a:rPr lang="de-DE" dirty="0"/>
              <a:t>Die Teilmengen werden über </a:t>
            </a:r>
            <a:r>
              <a:rPr lang="de-DE" sz="1200" kern="1200" dirty="0" err="1">
                <a:solidFill>
                  <a:schemeClr val="tx1"/>
                </a:solidFill>
                <a:latin typeface="+mn-lt"/>
                <a:ea typeface="+mn-ea"/>
                <a:cs typeface="+mn-cs"/>
              </a:rPr>
              <a:t>OrderType</a:t>
            </a:r>
            <a:r>
              <a:rPr lang="de-DE" dirty="0"/>
              <a:t> gebildet. </a:t>
            </a:r>
          </a:p>
          <a:p>
            <a:pPr lvl="0"/>
            <a:r>
              <a:rPr lang="de-DE" dirty="0"/>
              <a:t>Das Ergebnis erhält zusätzlich das neue Element </a:t>
            </a:r>
            <a:r>
              <a:rPr lang="de-DE" sz="1200" kern="1200" dirty="0" err="1">
                <a:solidFill>
                  <a:schemeClr val="tx1"/>
                </a:solidFill>
                <a:latin typeface="+mn-lt"/>
                <a:ea typeface="+mn-ea"/>
                <a:cs typeface="+mn-cs"/>
              </a:rPr>
              <a:t>SalesChannel</a:t>
            </a:r>
            <a:r>
              <a:rPr lang="de-DE" dirty="0"/>
              <a:t>. </a:t>
            </a:r>
          </a:p>
          <a:p>
            <a:br>
              <a:rPr lang="de-DE" dirty="0"/>
            </a:br>
            <a:endParaRPr lang="de-DE" dirty="0"/>
          </a:p>
          <a:p>
            <a:r>
              <a:rPr lang="de-DE" b="1" dirty="0"/>
              <a:t>3. Gemeinsame Auftragselemente aufnehmen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r>
              <a:rPr lang="de-DE" b="1" dirty="0"/>
              <a:t>Erläuterung</a:t>
            </a:r>
            <a:endParaRPr lang="de-DE" dirty="0"/>
          </a:p>
          <a:p>
            <a:r>
              <a:rPr lang="de-DE" dirty="0"/>
              <a:t>Diese Elemente werden von beiden Bestelltypen unverändert übernommen.</a:t>
            </a:r>
          </a:p>
          <a:p>
            <a:r>
              <a:rPr lang="de-DE" dirty="0"/>
              <a:t>Die Reihenfolge muss im zweiten Zweig exakt wiederholt werden. Bei einem </a:t>
            </a:r>
            <a:r>
              <a:rPr lang="de-DE" sz="1200" kern="1200" dirty="0">
                <a:solidFill>
                  <a:schemeClr val="tx1"/>
                </a:solidFill>
                <a:latin typeface="+mn-lt"/>
                <a:ea typeface="+mn-ea"/>
                <a:cs typeface="+mn-cs"/>
              </a:rPr>
              <a:t>UNION</a:t>
            </a:r>
            <a:r>
              <a:rPr lang="de-DE" dirty="0"/>
              <a:t> werden die Elemente anhand ihrer Position und nicht anhand ihrer Namen zugeordnet.</a:t>
            </a:r>
          </a:p>
          <a:p>
            <a:br>
              <a:rPr lang="de-DE" dirty="0"/>
            </a:br>
            <a:endParaRPr lang="de-DE" dirty="0"/>
          </a:p>
          <a:p>
            <a:r>
              <a:rPr lang="de-DE" b="1" dirty="0"/>
              <a:t>4. Onlinebestellungen kennzeichnen</a:t>
            </a: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'O'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'Online'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SalesChannel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r>
              <a:rPr lang="de-DE" b="1" dirty="0"/>
              <a:t>Während der Eingabe erläutern</a:t>
            </a:r>
            <a:endParaRPr lang="de-DE" dirty="0"/>
          </a:p>
          <a:p>
            <a:r>
              <a:rPr lang="de-DE" dirty="0"/>
              <a:t>Die </a:t>
            </a:r>
            <a:r>
              <a:rPr lang="de-DE" sz="1200" kern="1200" dirty="0">
                <a:solidFill>
                  <a:schemeClr val="tx1"/>
                </a:solidFill>
                <a:latin typeface="+mn-lt"/>
                <a:ea typeface="+mn-ea"/>
                <a:cs typeface="+mn-cs"/>
              </a:rPr>
              <a:t>WHERE</a:t>
            </a:r>
            <a:r>
              <a:rPr lang="de-DE" dirty="0"/>
              <a:t>-Bedingung bezieht sich auf das vorhandene Element </a:t>
            </a:r>
            <a:r>
              <a:rPr lang="de-DE" sz="1200" kern="1200" dirty="0" err="1">
                <a:solidFill>
                  <a:schemeClr val="tx1"/>
                </a:solidFill>
                <a:latin typeface="+mn-lt"/>
                <a:ea typeface="+mn-ea"/>
                <a:cs typeface="+mn-cs"/>
              </a:rPr>
              <a:t>OrderType</a:t>
            </a:r>
            <a:r>
              <a:rPr lang="de-DE" dirty="0"/>
              <a:t> der Datenquelle:</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r>
              <a:rPr lang="de-DE" dirty="0"/>
              <a:t>Der Ergebniswert für </a:t>
            </a:r>
            <a:r>
              <a:rPr lang="de-DE" sz="1200" kern="1200" dirty="0" err="1">
                <a:solidFill>
                  <a:schemeClr val="tx1"/>
                </a:solidFill>
                <a:latin typeface="+mn-lt"/>
                <a:ea typeface="+mn-ea"/>
                <a:cs typeface="+mn-cs"/>
              </a:rPr>
              <a:t>OrderType</a:t>
            </a:r>
            <a:r>
              <a:rPr lang="de-DE" dirty="0"/>
              <a:t> wird in diesem Zweig ausdrücklich als Literal ausgegeben:</a:t>
            </a:r>
          </a:p>
          <a:p>
            <a:pPr rtl="0"/>
            <a:r>
              <a:rPr lang="de-DE" sz="1200" kern="1200" dirty="0">
                <a:solidFill>
                  <a:schemeClr val="tx1"/>
                </a:solidFill>
                <a:latin typeface="+mn-lt"/>
                <a:ea typeface="+mn-ea"/>
                <a:cs typeface="+mn-cs"/>
              </a:rPr>
              <a:t>cast( 'O'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 )</a:t>
            </a:r>
          </a:p>
          <a:p>
            <a:r>
              <a:rPr lang="de-DE" dirty="0"/>
              <a:t>Zusätzlich erzeugen wir den verständlichen Text:</a:t>
            </a:r>
          </a:p>
          <a:p>
            <a:pPr rtl="0"/>
            <a:r>
              <a:rPr lang="de-DE" sz="1200" kern="1200" dirty="0">
                <a:solidFill>
                  <a:schemeClr val="tx1"/>
                </a:solidFill>
                <a:latin typeface="+mn-lt"/>
                <a:ea typeface="+mn-ea"/>
                <a:cs typeface="+mn-cs"/>
              </a:rPr>
              <a:t>cast( 'Online'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 )</a:t>
            </a:r>
          </a:p>
          <a:p>
            <a:r>
              <a:rPr lang="de-DE" dirty="0"/>
              <a:t>Der </a:t>
            </a:r>
            <a:r>
              <a:rPr lang="de-DE" sz="1200" kern="1200" dirty="0">
                <a:solidFill>
                  <a:schemeClr val="tx1"/>
                </a:solidFill>
                <a:latin typeface="+mn-lt"/>
                <a:ea typeface="+mn-ea"/>
                <a:cs typeface="+mn-cs"/>
              </a:rPr>
              <a:t>cast</a:t>
            </a:r>
            <a:r>
              <a:rPr lang="de-DE" dirty="0"/>
              <a:t> legt einen eindeutigen Ergebnistyp und eine feste Länge fest.</a:t>
            </a:r>
          </a:p>
          <a:p>
            <a:br>
              <a:rPr lang="de-DE" dirty="0"/>
            </a:br>
            <a:endParaRPr lang="de-DE" dirty="0"/>
          </a:p>
          <a:p>
            <a:r>
              <a:rPr lang="de-DE" b="1" dirty="0"/>
              <a:t>5. Ersten Zweig prüfen</a:t>
            </a:r>
          </a:p>
          <a:p>
            <a:r>
              <a:rPr lang="de-DE" dirty="0"/>
              <a:t>Die View zunächst aktivieren und die Datenvorschau öffnen.</a:t>
            </a:r>
          </a:p>
          <a:p>
            <a:r>
              <a:rPr lang="de-DE" dirty="0"/>
              <a:t>Kontrollieren:</a:t>
            </a:r>
          </a:p>
          <a:p>
            <a:pPr rtl="0"/>
            <a:r>
              <a:rPr lang="de-DE" sz="1200" kern="1200" dirty="0">
                <a:solidFill>
                  <a:schemeClr val="tx1"/>
                </a:solidFill>
                <a:latin typeface="+mn-lt"/>
                <a:ea typeface="+mn-ea"/>
                <a:cs typeface="+mn-cs"/>
              </a:rPr>
              <a:t>Alle Zeilen:</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pPr rtl="0"/>
            <a:r>
              <a:rPr lang="de-DE" sz="1200" kern="1200" dirty="0" err="1">
                <a:solidFill>
                  <a:schemeClr val="tx1"/>
                </a:solidFill>
                <a:latin typeface="+mn-lt"/>
                <a:ea typeface="+mn-ea"/>
                <a:cs typeface="+mn-cs"/>
              </a:rPr>
              <a:t>SalesChannel</a:t>
            </a:r>
            <a:r>
              <a:rPr lang="de-DE" sz="1200" kern="1200" dirty="0">
                <a:solidFill>
                  <a:schemeClr val="tx1"/>
                </a:solidFill>
                <a:latin typeface="+mn-lt"/>
                <a:ea typeface="+mn-ea"/>
                <a:cs typeface="+mn-cs"/>
              </a:rPr>
              <a:t> = Online</a:t>
            </a:r>
          </a:p>
          <a:p>
            <a:r>
              <a:rPr lang="de-DE" dirty="0"/>
              <a:t>Die Anzahl der Onlinebestellungen kann für die spätere Kontrolle notiert werden.</a:t>
            </a:r>
          </a:p>
          <a:p>
            <a:br>
              <a:rPr lang="de-DE" dirty="0"/>
            </a:br>
            <a:endParaRPr lang="de-DE" dirty="0"/>
          </a:p>
          <a:p>
            <a:r>
              <a:rPr lang="de-DE" b="1" dirty="0"/>
              <a:t>6. Zweiten Zweig ergänzen</a:t>
            </a:r>
          </a:p>
          <a:p>
            <a:pPr rtl="0"/>
            <a:r>
              <a:rPr lang="de-DE" sz="1200" kern="1200" dirty="0" err="1">
                <a:solidFill>
                  <a:schemeClr val="tx1"/>
                </a:solidFill>
                <a:latin typeface="+mn-lt"/>
                <a:ea typeface="+mn-ea"/>
                <a:cs typeface="+mn-cs"/>
              </a:rPr>
              <a:t>union</a:t>
            </a:r>
            <a:r>
              <a:rPr lang="de-DE" sz="1200" kern="1200" dirty="0">
                <a:solidFill>
                  <a:schemeClr val="tx1"/>
                </a:solidFill>
                <a:latin typeface="+mn-lt"/>
                <a:ea typeface="+mn-ea"/>
                <a:cs typeface="+mn-cs"/>
              </a:rPr>
              <a:t> all</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SalesChannel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a:t>
            </a:r>
          </a:p>
          <a:p>
            <a:r>
              <a:rPr lang="de-DE" dirty="0"/>
              <a:t>Die Aliasnamen im zweiten Zweig können je nach verwendeter Syntaxversion angegeben werden. Für die Lesbarkeit des Codes können wir sie hier beibehalten. Die Namen der Ergebniselemente werden jedoch durch den ersten Zweig festgelegt.</a:t>
            </a:r>
          </a:p>
          <a:p>
            <a:r>
              <a:rPr lang="de-DE" b="1" dirty="0"/>
              <a:t>Während der Eingabe erläutern</a:t>
            </a:r>
            <a:endParaRPr lang="de-DE" dirty="0"/>
          </a:p>
          <a:p>
            <a:pPr lvl="0"/>
            <a:r>
              <a:rPr lang="de-DE" dirty="0"/>
              <a:t>Beide Zweige besitzen neun Elemente. </a:t>
            </a:r>
          </a:p>
          <a:p>
            <a:pPr lvl="0"/>
            <a:r>
              <a:rPr lang="de-DE" dirty="0"/>
              <a:t>Die Elemente stehen in derselben Reihenfolge. </a:t>
            </a:r>
          </a:p>
          <a:p>
            <a:pPr lvl="0"/>
            <a:r>
              <a:rPr lang="de-DE" dirty="0"/>
              <a:t>Die entsprechenden Elemente besitzen kompatible Typen. </a:t>
            </a:r>
          </a:p>
          <a:p>
            <a:pPr lvl="0"/>
            <a:r>
              <a:rPr lang="de-DE" sz="1200" kern="1200" dirty="0" err="1">
                <a:solidFill>
                  <a:schemeClr val="tx1"/>
                </a:solidFill>
                <a:latin typeface="+mn-lt"/>
                <a:ea typeface="+mn-ea"/>
                <a:cs typeface="+mn-cs"/>
              </a:rPr>
              <a:t>OrderType</a:t>
            </a:r>
            <a:r>
              <a:rPr lang="de-DE" dirty="0"/>
              <a:t> wird in beiden Zweigen auf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a:t>
            </a:r>
            <a:r>
              <a:rPr lang="de-DE" dirty="0"/>
              <a:t> gecastet. </a:t>
            </a:r>
          </a:p>
          <a:p>
            <a:pPr lvl="0"/>
            <a:r>
              <a:rPr lang="de-DE" sz="1200" kern="1200" dirty="0" err="1">
                <a:solidFill>
                  <a:schemeClr val="tx1"/>
                </a:solidFill>
                <a:latin typeface="+mn-lt"/>
                <a:ea typeface="+mn-ea"/>
                <a:cs typeface="+mn-cs"/>
              </a:rPr>
              <a:t>SalesChannel</a:t>
            </a:r>
            <a:r>
              <a:rPr lang="de-DE" dirty="0"/>
              <a:t> wird in beiden Zweigen auf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(20)</a:t>
            </a:r>
            <a:r>
              <a:rPr lang="de-DE" dirty="0"/>
              <a:t> gecastet. </a:t>
            </a:r>
          </a:p>
          <a:p>
            <a:pPr lvl="0"/>
            <a:r>
              <a:rPr lang="de-DE" dirty="0"/>
              <a:t>Die beiden </a:t>
            </a:r>
            <a:r>
              <a:rPr lang="de-DE" sz="1200" kern="1200" dirty="0">
                <a:solidFill>
                  <a:schemeClr val="tx1"/>
                </a:solidFill>
                <a:latin typeface="+mn-lt"/>
                <a:ea typeface="+mn-ea"/>
                <a:cs typeface="+mn-cs"/>
              </a:rPr>
              <a:t>WHERE</a:t>
            </a:r>
            <a:r>
              <a:rPr lang="de-DE" dirty="0"/>
              <a:t>-Bedingungen schließen sich gegenseitig aus. </a:t>
            </a:r>
          </a:p>
          <a:p>
            <a:br>
              <a:rPr lang="de-DE" dirty="0"/>
            </a:br>
            <a:endParaRPr lang="de-DE" dirty="0"/>
          </a:p>
          <a:p>
            <a:r>
              <a:rPr lang="de-DE" b="1" dirty="0"/>
              <a:t>7. Elementlisten positionsweise vergleichen</a:t>
            </a:r>
          </a:p>
          <a:p>
            <a:r>
              <a:rPr lang="de-DE" dirty="0"/>
              <a:t>Position</a:t>
            </a:r>
          </a:p>
          <a:p>
            <a:r>
              <a:rPr lang="de-DE" dirty="0"/>
              <a:t>Online-Zweig</a:t>
            </a:r>
          </a:p>
          <a:p>
            <a:r>
              <a:rPr lang="de-DE" dirty="0"/>
              <a:t>Direktvertriebs-Zweig</a:t>
            </a:r>
          </a:p>
          <a:p>
            <a:r>
              <a:rPr lang="de-DE" dirty="0"/>
              <a:t>1</a:t>
            </a:r>
            <a:r>
              <a:rPr lang="de-DE" sz="1200" kern="1200" dirty="0">
                <a:solidFill>
                  <a:schemeClr val="tx1"/>
                </a:solidFill>
                <a:latin typeface="+mn-lt"/>
                <a:ea typeface="+mn-ea"/>
                <a:cs typeface="+mn-cs"/>
              </a:rPr>
              <a:t>OrderIdOrderId</a:t>
            </a:r>
            <a:endParaRPr lang="de-DE" dirty="0"/>
          </a:p>
          <a:p>
            <a:r>
              <a:rPr lang="de-DE" dirty="0"/>
              <a:t>2</a:t>
            </a:r>
            <a:r>
              <a:rPr lang="de-DE" sz="1200" kern="1200" dirty="0">
                <a:solidFill>
                  <a:schemeClr val="tx1"/>
                </a:solidFill>
                <a:latin typeface="+mn-lt"/>
                <a:ea typeface="+mn-ea"/>
                <a:cs typeface="+mn-cs"/>
              </a:rPr>
              <a:t>CustomerIdCustomerId</a:t>
            </a:r>
            <a:endParaRPr lang="de-DE" dirty="0"/>
          </a:p>
          <a:p>
            <a:r>
              <a:rPr lang="de-DE" dirty="0"/>
              <a:t>3</a:t>
            </a:r>
            <a:r>
              <a:rPr lang="de-DE" sz="1200" kern="1200" dirty="0">
                <a:solidFill>
                  <a:schemeClr val="tx1"/>
                </a:solidFill>
                <a:latin typeface="+mn-lt"/>
                <a:ea typeface="+mn-ea"/>
                <a:cs typeface="+mn-cs"/>
              </a:rPr>
              <a:t>OrderDateOrderDate</a:t>
            </a:r>
            <a:endParaRPr lang="de-DE" dirty="0"/>
          </a:p>
          <a:p>
            <a:r>
              <a:rPr lang="de-DE" dirty="0"/>
              <a:t>4</a:t>
            </a:r>
            <a:r>
              <a:rPr lang="de-DE" sz="1200" kern="1200" dirty="0">
                <a:solidFill>
                  <a:schemeClr val="tx1"/>
                </a:solidFill>
                <a:latin typeface="+mn-lt"/>
                <a:ea typeface="+mn-ea"/>
                <a:cs typeface="+mn-cs"/>
              </a:rPr>
              <a:t>RequestedDateRequestedDate</a:t>
            </a:r>
            <a:endParaRPr lang="de-DE" dirty="0"/>
          </a:p>
          <a:p>
            <a:r>
              <a:rPr lang="de-DE" dirty="0"/>
              <a:t>5</a:t>
            </a:r>
            <a:r>
              <a:rPr lang="de-DE" sz="1200" kern="1200" dirty="0">
                <a:solidFill>
                  <a:schemeClr val="tx1"/>
                </a:solidFill>
                <a:latin typeface="+mn-lt"/>
                <a:ea typeface="+mn-ea"/>
                <a:cs typeface="+mn-cs"/>
              </a:rPr>
              <a:t>OrderStatusOrderStatus</a:t>
            </a:r>
            <a:endParaRPr lang="de-DE" dirty="0"/>
          </a:p>
          <a:p>
            <a:r>
              <a:rPr lang="de-DE" dirty="0"/>
              <a:t>6</a:t>
            </a:r>
            <a:r>
              <a:rPr lang="de-DE" sz="1200" kern="1200" dirty="0">
                <a:solidFill>
                  <a:schemeClr val="tx1"/>
                </a:solidFill>
                <a:latin typeface="+mn-lt"/>
                <a:ea typeface="+mn-ea"/>
                <a:cs typeface="+mn-cs"/>
              </a:rPr>
              <a:t>SalesOrganizationSalesOrganization</a:t>
            </a:r>
            <a:endParaRPr lang="de-DE" dirty="0"/>
          </a:p>
          <a:p>
            <a:r>
              <a:rPr lang="de-DE" dirty="0"/>
              <a:t>7</a:t>
            </a:r>
            <a:r>
              <a:rPr lang="de-DE" sz="1200" kern="1200" dirty="0">
                <a:solidFill>
                  <a:schemeClr val="tx1"/>
                </a:solidFill>
                <a:latin typeface="+mn-lt"/>
                <a:ea typeface="+mn-ea"/>
                <a:cs typeface="+mn-cs"/>
              </a:rPr>
              <a:t>CurrencyCodeCurrencyCode</a:t>
            </a:r>
            <a:endParaRPr lang="de-DE" dirty="0"/>
          </a:p>
          <a:p>
            <a:r>
              <a:rPr lang="de-DE" dirty="0"/>
              <a:t>8</a:t>
            </a:r>
            <a:r>
              <a:rPr lang="de-DE" sz="1200" kern="1200" dirty="0">
                <a:solidFill>
                  <a:schemeClr val="tx1"/>
                </a:solidFill>
                <a:latin typeface="+mn-lt"/>
                <a:ea typeface="+mn-ea"/>
                <a:cs typeface="+mn-cs"/>
              </a:rPr>
              <a:t>'O''D'</a:t>
            </a:r>
            <a:endParaRPr lang="de-DE" dirty="0"/>
          </a:p>
          <a:p>
            <a:r>
              <a:rPr lang="de-DE" dirty="0"/>
              <a:t>9</a:t>
            </a:r>
            <a:r>
              <a:rPr lang="de-DE" sz="1200" kern="1200" dirty="0">
                <a:solidFill>
                  <a:schemeClr val="tx1"/>
                </a:solidFill>
                <a:latin typeface="+mn-lt"/>
                <a:ea typeface="+mn-ea"/>
                <a:cs typeface="+mn-cs"/>
              </a:rPr>
              <a:t>'Online''Direct </a:t>
            </a:r>
            <a:r>
              <a:rPr lang="de-DE" sz="1200" kern="1200" dirty="0" err="1">
                <a:solidFill>
                  <a:schemeClr val="tx1"/>
                </a:solidFill>
                <a:latin typeface="+mn-lt"/>
                <a:ea typeface="+mn-ea"/>
                <a:cs typeface="+mn-cs"/>
              </a:rPr>
              <a:t>sales'</a:t>
            </a:r>
            <a:endParaRPr lang="de-DE" dirty="0"/>
          </a:p>
          <a:p>
            <a:r>
              <a:rPr lang="de-DE" b="1" dirty="0"/>
              <a:t>Kontrollfrage</a:t>
            </a:r>
            <a:endParaRPr lang="de-DE" dirty="0"/>
          </a:p>
          <a:p>
            <a:r>
              <a:rPr lang="de-DE" dirty="0"/>
              <a:t>Nach welchem Kriterium erkennt CDS, welche Elemente zusammengehören?</a:t>
            </a:r>
          </a:p>
          <a:p>
            <a:r>
              <a:rPr lang="de-DE" dirty="0"/>
              <a:t>Erwartete Antwort:</a:t>
            </a:r>
          </a:p>
          <a:p>
            <a:r>
              <a:rPr lang="de-DE" dirty="0"/>
              <a:t>Anhand ihrer Position innerhalb der beiden Elementlisten.</a:t>
            </a:r>
          </a:p>
          <a:p>
            <a:br>
              <a:rPr lang="de-DE" dirty="0"/>
            </a:br>
            <a:endParaRPr lang="de-DE" dirty="0"/>
          </a:p>
          <a:p>
            <a:r>
              <a:rPr lang="de-DE" b="1" dirty="0"/>
              <a:t>8. Vollständiger Entwicklungsstand</a:t>
            </a:r>
          </a:p>
          <a:p>
            <a:pPr rtl="0"/>
            <a:r>
              <a:rPr lang="de-DE" sz="1200" kern="1200" dirty="0">
                <a:solidFill>
                  <a:schemeClr val="tx1"/>
                </a:solidFill>
                <a:latin typeface="+mn-lt"/>
                <a:ea typeface="+mn-ea"/>
                <a:cs typeface="+mn-cs"/>
              </a:rPr>
              <a:t>@EndUserText.label: 'Orders from All Sales Channels'</a:t>
            </a:r>
          </a:p>
          <a:p>
            <a:pPr rtl="0"/>
            <a:r>
              <a:rPr lang="de-DE" sz="1200" kern="1200" dirty="0">
                <a:solidFill>
                  <a:schemeClr val="tx1"/>
                </a:solidFill>
                <a:latin typeface="+mn-lt"/>
                <a:ea typeface="+mn-ea"/>
                <a:cs typeface="+mn-cs"/>
              </a:rPr>
              <a:t>@AccessControl.authorizationCheck: #NOT_REQUIRED</a:t>
            </a:r>
          </a:p>
          <a:p>
            <a:pPr rtl="0"/>
            <a:r>
              <a:rPr lang="de-DE" sz="1200" kern="1200" dirty="0">
                <a:solidFill>
                  <a:schemeClr val="tx1"/>
                </a:solidFill>
                <a:latin typeface="+mn-lt"/>
                <a:ea typeface="+mn-ea"/>
                <a:cs typeface="+mn-cs"/>
              </a:rPr>
              <a:t>@Metadata.ignorePropagatedAnnotations: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ZI_CDSOrderUnion</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'O'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'Online'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SalesChannel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union</a:t>
            </a:r>
            <a:r>
              <a:rPr lang="de-DE" sz="1200" kern="1200" dirty="0">
                <a:solidFill>
                  <a:schemeClr val="tx1"/>
                </a:solidFill>
                <a:latin typeface="+mn-lt"/>
                <a:ea typeface="+mn-ea"/>
                <a:cs typeface="+mn-cs"/>
              </a:rPr>
              <a:t> all</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'D'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cast(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a:t>
            </a:r>
          </a:p>
          <a:p>
            <a:pPr rtl="0"/>
            <a:r>
              <a:rPr lang="de-DE" sz="1200" kern="1200" dirty="0">
                <a:solidFill>
                  <a:schemeClr val="tx1"/>
                </a:solidFill>
                <a:latin typeface="+mn-lt"/>
                <a:ea typeface="+mn-ea"/>
                <a:cs typeface="+mn-cs"/>
              </a:rPr>
              <a:t>      ) as </a:t>
            </a:r>
            <a:r>
              <a:rPr lang="de-DE" sz="1200" kern="1200" dirty="0" err="1">
                <a:solidFill>
                  <a:schemeClr val="tx1"/>
                </a:solidFill>
                <a:latin typeface="+mn-lt"/>
                <a:ea typeface="+mn-ea"/>
                <a:cs typeface="+mn-cs"/>
              </a:rPr>
              <a:t>SalesChannel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a:t>
            </a:r>
          </a:p>
          <a:p>
            <a:r>
              <a:rPr lang="de-DE" dirty="0"/>
              <a:t>Falls die verwendete ABAP-Version im zweiten Zweig keine Schlüsselangabe zulässt, wird dort </a:t>
            </a:r>
            <a:r>
              <a:rPr lang="de-DE" sz="1200" kern="1200" dirty="0" err="1">
                <a:solidFill>
                  <a:schemeClr val="tx1"/>
                </a:solidFill>
                <a:latin typeface="+mn-lt"/>
                <a:ea typeface="+mn-ea"/>
                <a:cs typeface="+mn-cs"/>
              </a:rPr>
              <a:t>key</a:t>
            </a:r>
            <a:r>
              <a:rPr lang="de-DE" dirty="0"/>
              <a:t> entfernt:</a:t>
            </a: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Die Schlüsseleigenschaften des Gesamtergebnisses werden durch den ersten Zweig festgelegt.</a:t>
            </a:r>
          </a:p>
          <a:p>
            <a:br>
              <a:rPr lang="de-DE" dirty="0"/>
            </a:br>
            <a:endParaRPr lang="de-DE" dirty="0"/>
          </a:p>
          <a:p>
            <a:r>
              <a:rPr lang="de-DE" b="1" dirty="0"/>
              <a:t>9. Datenvorschau kontrollieren</a:t>
            </a:r>
          </a:p>
          <a:p>
            <a:r>
              <a:rPr lang="de-DE" dirty="0"/>
              <a:t>Folgende Elemente anzeigen:</a:t>
            </a:r>
          </a:p>
          <a:p>
            <a:pPr lvl="0"/>
            <a:r>
              <a:rPr lang="de-DE" sz="1200" kern="1200" dirty="0" err="1">
                <a:solidFill>
                  <a:schemeClr val="tx1"/>
                </a:solidFill>
                <a:latin typeface="+mn-lt"/>
                <a:ea typeface="+mn-ea"/>
                <a:cs typeface="+mn-cs"/>
              </a:rPr>
              <a:t>OrderId</a:t>
            </a:r>
            <a:r>
              <a:rPr lang="de-DE" dirty="0"/>
              <a:t> </a:t>
            </a:r>
          </a:p>
          <a:p>
            <a:pPr lvl="0"/>
            <a:r>
              <a:rPr lang="de-DE" sz="1200" kern="1200" dirty="0" err="1">
                <a:solidFill>
                  <a:schemeClr val="tx1"/>
                </a:solidFill>
                <a:latin typeface="+mn-lt"/>
                <a:ea typeface="+mn-ea"/>
                <a:cs typeface="+mn-cs"/>
              </a:rPr>
              <a:t>CustomerId</a:t>
            </a:r>
            <a:r>
              <a:rPr lang="de-DE" dirty="0"/>
              <a:t> </a:t>
            </a:r>
          </a:p>
          <a:p>
            <a:pPr lvl="0"/>
            <a:r>
              <a:rPr lang="de-DE" sz="1200" kern="1200" dirty="0" err="1">
                <a:solidFill>
                  <a:schemeClr val="tx1"/>
                </a:solidFill>
                <a:latin typeface="+mn-lt"/>
                <a:ea typeface="+mn-ea"/>
                <a:cs typeface="+mn-cs"/>
              </a:rPr>
              <a:t>OrderDate</a:t>
            </a:r>
            <a:r>
              <a:rPr lang="de-DE" dirty="0"/>
              <a:t> </a:t>
            </a:r>
          </a:p>
          <a:p>
            <a:pPr lvl="0"/>
            <a:r>
              <a:rPr lang="de-DE" sz="1200" kern="1200" dirty="0" err="1">
                <a:solidFill>
                  <a:schemeClr val="tx1"/>
                </a:solidFill>
                <a:latin typeface="+mn-lt"/>
                <a:ea typeface="+mn-ea"/>
                <a:cs typeface="+mn-cs"/>
              </a:rPr>
              <a:t>OrderStatus</a:t>
            </a:r>
            <a:r>
              <a:rPr lang="de-DE" dirty="0"/>
              <a:t> </a:t>
            </a:r>
          </a:p>
          <a:p>
            <a:pPr lvl="0"/>
            <a:r>
              <a:rPr lang="de-DE" sz="1200" kern="1200" dirty="0" err="1">
                <a:solidFill>
                  <a:schemeClr val="tx1"/>
                </a:solidFill>
                <a:latin typeface="+mn-lt"/>
                <a:ea typeface="+mn-ea"/>
                <a:cs typeface="+mn-cs"/>
              </a:rPr>
              <a:t>SalesOrganization</a:t>
            </a:r>
            <a:r>
              <a:rPr lang="de-DE" dirty="0"/>
              <a:t> </a:t>
            </a:r>
          </a:p>
          <a:p>
            <a:pPr lvl="0"/>
            <a:r>
              <a:rPr lang="de-DE" sz="1200" kern="1200" dirty="0" err="1">
                <a:solidFill>
                  <a:schemeClr val="tx1"/>
                </a:solidFill>
                <a:latin typeface="+mn-lt"/>
                <a:ea typeface="+mn-ea"/>
                <a:cs typeface="+mn-cs"/>
              </a:rPr>
              <a:t>CurrencyCode</a:t>
            </a:r>
            <a:r>
              <a:rPr lang="de-DE" dirty="0"/>
              <a:t> </a:t>
            </a:r>
          </a:p>
          <a:p>
            <a:pPr lvl="0"/>
            <a:r>
              <a:rPr lang="de-DE" sz="1200" kern="1200" dirty="0" err="1">
                <a:solidFill>
                  <a:schemeClr val="tx1"/>
                </a:solidFill>
                <a:latin typeface="+mn-lt"/>
                <a:ea typeface="+mn-ea"/>
                <a:cs typeface="+mn-cs"/>
              </a:rPr>
              <a:t>OrderType</a:t>
            </a:r>
            <a:r>
              <a:rPr lang="de-DE" dirty="0"/>
              <a:t> </a:t>
            </a:r>
          </a:p>
          <a:p>
            <a:pPr lvl="0"/>
            <a:r>
              <a:rPr lang="de-DE" sz="1200" kern="1200" dirty="0" err="1">
                <a:solidFill>
                  <a:schemeClr val="tx1"/>
                </a:solidFill>
                <a:latin typeface="+mn-lt"/>
                <a:ea typeface="+mn-ea"/>
                <a:cs typeface="+mn-cs"/>
              </a:rPr>
              <a:t>SalesChannel</a:t>
            </a:r>
            <a:r>
              <a:rPr lang="de-DE" dirty="0"/>
              <a:t> </a:t>
            </a:r>
          </a:p>
          <a:p>
            <a:r>
              <a:rPr lang="de-DE" dirty="0"/>
              <a:t>Kontrollieren:</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SalesChannel</a:t>
            </a:r>
            <a:r>
              <a:rPr lang="de-DE" sz="1200" kern="1200" dirty="0">
                <a:solidFill>
                  <a:schemeClr val="tx1"/>
                </a:solidFill>
                <a:latin typeface="+mn-lt"/>
                <a:ea typeface="+mn-ea"/>
                <a:cs typeface="+mn-cs"/>
              </a:rPr>
              <a:t> = Online</a:t>
            </a:r>
          </a:p>
          <a:p>
            <a:r>
              <a:rPr lang="de-DE" dirty="0"/>
              <a:t>und:</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SalesChannel</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endParaRPr lang="de-DE" sz="1200" kern="1200" dirty="0">
              <a:solidFill>
                <a:schemeClr val="tx1"/>
              </a:solidFill>
              <a:latin typeface="+mn-lt"/>
              <a:ea typeface="+mn-ea"/>
              <a:cs typeface="+mn-cs"/>
            </a:endParaRPr>
          </a:p>
          <a:p>
            <a:r>
              <a:rPr lang="de-DE" dirty="0"/>
              <a:t>Außerdem sollte gelten:</a:t>
            </a:r>
          </a:p>
          <a:p>
            <a:pPr rtl="0"/>
            <a:r>
              <a:rPr lang="de-DE" sz="1200" kern="1200" dirty="0">
                <a:solidFill>
                  <a:schemeClr val="tx1"/>
                </a:solidFill>
                <a:latin typeface="+mn-lt"/>
                <a:ea typeface="+mn-ea"/>
                <a:cs typeface="+mn-cs"/>
              </a:rPr>
              <a:t>Anzahl der Zeilen in </a:t>
            </a:r>
            <a:r>
              <a:rPr lang="de-DE" sz="1200" kern="1200" dirty="0" err="1">
                <a:solidFill>
                  <a:schemeClr val="tx1"/>
                </a:solidFill>
                <a:latin typeface="+mn-lt"/>
                <a:ea typeface="+mn-ea"/>
                <a:cs typeface="+mn-cs"/>
              </a:rPr>
              <a:t>ZI_CDSOrderUnion</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Anzahl der O-Aufträge</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Anzahl der D-Aufträge</a:t>
            </a:r>
          </a:p>
          <a:p>
            <a:r>
              <a:rPr lang="de-DE" dirty="0"/>
              <a:t>Sofern </a:t>
            </a:r>
            <a:r>
              <a:rPr lang="de-DE" sz="1200" kern="1200" dirty="0" err="1">
                <a:solidFill>
                  <a:schemeClr val="tx1"/>
                </a:solidFill>
                <a:latin typeface="+mn-lt"/>
                <a:ea typeface="+mn-ea"/>
                <a:cs typeface="+mn-cs"/>
              </a:rPr>
              <a:t>ZI_CDSOrder</a:t>
            </a:r>
            <a:r>
              <a:rPr lang="de-DE" dirty="0"/>
              <a:t> nur die beiden Bestelltypen </a:t>
            </a:r>
            <a:r>
              <a:rPr lang="de-DE" sz="1200" kern="1200" dirty="0">
                <a:solidFill>
                  <a:schemeClr val="tx1"/>
                </a:solidFill>
                <a:latin typeface="+mn-lt"/>
                <a:ea typeface="+mn-ea"/>
                <a:cs typeface="+mn-cs"/>
              </a:rPr>
              <a:t>O</a:t>
            </a:r>
            <a:r>
              <a:rPr lang="de-DE" dirty="0"/>
              <a:t> und </a:t>
            </a:r>
            <a:r>
              <a:rPr lang="de-DE" sz="1200" kern="1200" dirty="0">
                <a:solidFill>
                  <a:schemeClr val="tx1"/>
                </a:solidFill>
                <a:latin typeface="+mn-lt"/>
                <a:ea typeface="+mn-ea"/>
                <a:cs typeface="+mn-cs"/>
              </a:rPr>
              <a:t>D</a:t>
            </a:r>
            <a:r>
              <a:rPr lang="de-DE" dirty="0"/>
              <a:t> enthält, entspricht dies auch der Gesamtzahl der Aufträge.</a:t>
            </a:r>
          </a:p>
          <a:p>
            <a:br>
              <a:rPr lang="de-DE" dirty="0"/>
            </a:br>
            <a:endParaRPr lang="de-DE" dirty="0"/>
          </a:p>
          <a:p>
            <a:r>
              <a:rPr lang="de-DE" b="1" dirty="0"/>
              <a:t>10. Nicht abgedeckte Bestelltypen thematisieren</a:t>
            </a:r>
          </a:p>
          <a:p>
            <a:r>
              <a:rPr lang="de-DE" b="1" dirty="0"/>
              <a:t>Frage an die Teilnehmenden</a:t>
            </a:r>
            <a:endParaRPr lang="de-DE" dirty="0"/>
          </a:p>
          <a:p>
            <a:r>
              <a:rPr lang="de-DE" dirty="0"/>
              <a:t>Was passiert, wenn später ein zusätzlicher Bestelltyp </a:t>
            </a:r>
            <a:r>
              <a:rPr lang="de-DE" sz="1200" kern="1200" dirty="0">
                <a:solidFill>
                  <a:schemeClr val="tx1"/>
                </a:solidFill>
                <a:latin typeface="+mn-lt"/>
                <a:ea typeface="+mn-ea"/>
                <a:cs typeface="+mn-cs"/>
              </a:rPr>
              <a:t>M</a:t>
            </a:r>
            <a:r>
              <a:rPr lang="de-DE" dirty="0"/>
              <a:t> eingeführt wird?</a:t>
            </a:r>
          </a:p>
          <a:p>
            <a:r>
              <a:rPr lang="de-DE" dirty="0"/>
              <a:t>Erwartete Antwort:</a:t>
            </a:r>
          </a:p>
          <a:p>
            <a:r>
              <a:rPr lang="de-DE" dirty="0"/>
              <a:t>Dieser Auftrag wird von keinem der beiden Zweige ausgewählt und erscheint deshalb nicht in </a:t>
            </a:r>
            <a:r>
              <a:rPr lang="de-DE" sz="1200" kern="1200" dirty="0" err="1">
                <a:solidFill>
                  <a:schemeClr val="tx1"/>
                </a:solidFill>
                <a:latin typeface="+mn-lt"/>
                <a:ea typeface="+mn-ea"/>
                <a:cs typeface="+mn-cs"/>
              </a:rPr>
              <a:t>ZI_CDSOrderUnion</a:t>
            </a:r>
            <a:r>
              <a:rPr lang="de-DE" dirty="0"/>
              <a:t>.</a:t>
            </a:r>
          </a:p>
          <a:p>
            <a:r>
              <a:rPr lang="de-DE" dirty="0"/>
              <a:t>Für einen weiteren Bestelltyp wäre ein zusätzlicher </a:t>
            </a:r>
            <a:r>
              <a:rPr lang="de-DE" sz="1200" kern="1200" dirty="0">
                <a:solidFill>
                  <a:schemeClr val="tx1"/>
                </a:solidFill>
                <a:latin typeface="+mn-lt"/>
                <a:ea typeface="+mn-ea"/>
                <a:cs typeface="+mn-cs"/>
              </a:rPr>
              <a:t>UNION ALL</a:t>
            </a:r>
            <a:r>
              <a:rPr lang="de-DE" dirty="0"/>
              <a:t>-Zweig erforderlich:</a:t>
            </a:r>
          </a:p>
          <a:p>
            <a:pPr rtl="0"/>
            <a:r>
              <a:rPr lang="de-DE" sz="1200" kern="1200" dirty="0" err="1">
                <a:solidFill>
                  <a:schemeClr val="tx1"/>
                </a:solidFill>
                <a:latin typeface="+mn-lt"/>
                <a:ea typeface="+mn-ea"/>
                <a:cs typeface="+mn-cs"/>
              </a:rPr>
              <a:t>union</a:t>
            </a:r>
            <a:r>
              <a:rPr lang="de-DE" sz="1200" kern="1200" dirty="0">
                <a:solidFill>
                  <a:schemeClr val="tx1"/>
                </a:solidFill>
                <a:latin typeface="+mn-lt"/>
                <a:ea typeface="+mn-ea"/>
                <a:cs typeface="+mn-cs"/>
              </a:rPr>
              <a:t> all</a:t>
            </a:r>
          </a:p>
          <a:p>
            <a:pPr rtl="0"/>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'M'</a:t>
            </a:r>
          </a:p>
          <a:p>
            <a:r>
              <a:rPr lang="de-DE" dirty="0"/>
              <a:t>Damit wird deutlich: Die View bildet nur die explizit definierten Bestelltypen ab.</a:t>
            </a:r>
          </a:p>
          <a:p>
            <a:br>
              <a:rPr lang="de-DE" dirty="0"/>
            </a:br>
            <a:endParaRPr lang="de-DE" dirty="0"/>
          </a:p>
          <a:p>
            <a:r>
              <a:rPr lang="de-DE" b="1" dirty="0"/>
              <a:t>Typische Stolperstellen</a:t>
            </a:r>
          </a:p>
          <a:p>
            <a:r>
              <a:rPr lang="de-DE" b="1" dirty="0"/>
              <a:t>Literale und Filter passen nicht zusammen</a:t>
            </a:r>
          </a:p>
          <a:p>
            <a:r>
              <a:rPr lang="de-DE" dirty="0"/>
              <a:t>Fehlerhaft:</a:t>
            </a:r>
          </a:p>
          <a:p>
            <a:pPr rtl="0"/>
            <a:r>
              <a:rPr lang="de-DE" sz="1200" kern="1200" dirty="0">
                <a:solidFill>
                  <a:schemeClr val="tx1"/>
                </a:solidFill>
                <a:latin typeface="+mn-lt"/>
                <a:ea typeface="+mn-ea"/>
                <a:cs typeface="+mn-cs"/>
              </a:rPr>
              <a:t>cast( 'O'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( 1 ) )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cast( 'Online'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 ) as </a:t>
            </a:r>
            <a:r>
              <a:rPr lang="de-DE" sz="1200" kern="1200" dirty="0" err="1">
                <a:solidFill>
                  <a:schemeClr val="tx1"/>
                </a:solidFill>
                <a:latin typeface="+mn-lt"/>
                <a:ea typeface="+mn-ea"/>
                <a:cs typeface="+mn-cs"/>
              </a:rPr>
              <a:t>SalesChannel</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a:t>
            </a:r>
          </a:p>
          <a:p>
            <a:r>
              <a:rPr lang="de-DE" dirty="0"/>
              <a:t>Die ausgegebenen Werte würden nicht zur ausgewählten Teilmenge passen.</a:t>
            </a:r>
          </a:p>
          <a:p>
            <a:br>
              <a:rPr lang="de-DE" dirty="0"/>
            </a:br>
            <a:endParaRPr lang="de-DE" dirty="0"/>
          </a:p>
          <a:p>
            <a:r>
              <a:rPr lang="de-DE" b="1" dirty="0"/>
              <a:t>Zweige haben unterschiedliche Elementreihenfolgen</a:t>
            </a:r>
          </a:p>
          <a:p>
            <a:r>
              <a:rPr lang="de-DE" dirty="0"/>
              <a:t>Fehlerhaft:</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err="1">
                <a:solidFill>
                  <a:schemeClr val="tx1"/>
                </a:solidFill>
                <a:latin typeface="+mn-lt"/>
                <a:ea typeface="+mn-ea"/>
                <a:cs typeface="+mn-cs"/>
              </a:rPr>
              <a:t>union</a:t>
            </a:r>
            <a:r>
              <a:rPr lang="de-DE" sz="1200" kern="1200" dirty="0">
                <a:solidFill>
                  <a:schemeClr val="tx1"/>
                </a:solidFill>
                <a:latin typeface="+mn-lt"/>
                <a:ea typeface="+mn-ea"/>
                <a:cs typeface="+mn-cs"/>
              </a:rPr>
              <a:t> all</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Die Namen korrigieren die abweichende Reihenfolge nicht. Entscheidend ist die Position.</a:t>
            </a:r>
          </a:p>
          <a:p>
            <a:br>
              <a:rPr lang="de-DE" dirty="0"/>
            </a:br>
            <a:endParaRPr lang="de-DE" dirty="0"/>
          </a:p>
          <a:p>
            <a:r>
              <a:rPr lang="de-DE" b="1" dirty="0"/>
              <a:t>Unterschiedliche Typen für </a:t>
            </a:r>
            <a:r>
              <a:rPr lang="de-DE" sz="1200" b="1" kern="1200" dirty="0" err="1">
                <a:solidFill>
                  <a:schemeClr val="tx1"/>
                </a:solidFill>
                <a:latin typeface="+mn-lt"/>
                <a:ea typeface="+mn-ea"/>
                <a:cs typeface="+mn-cs"/>
              </a:rPr>
              <a:t>SalesChannel</a:t>
            </a:r>
            <a:endParaRPr lang="de-DE" b="1" dirty="0"/>
          </a:p>
          <a:p>
            <a:r>
              <a:rPr lang="de-DE" dirty="0"/>
              <a:t>Problematisch:</a:t>
            </a:r>
          </a:p>
          <a:p>
            <a:pPr rtl="0"/>
            <a:r>
              <a:rPr lang="de-DE" sz="1200" kern="1200" dirty="0">
                <a:solidFill>
                  <a:schemeClr val="tx1"/>
                </a:solidFill>
                <a:latin typeface="+mn-lt"/>
                <a:ea typeface="+mn-ea"/>
                <a:cs typeface="+mn-cs"/>
              </a:rPr>
              <a:t>cast( 'Online'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( 10 ) )</a:t>
            </a:r>
          </a:p>
          <a:p>
            <a:r>
              <a:rPr lang="de-DE" dirty="0"/>
              <a:t>und:</a:t>
            </a:r>
          </a:p>
          <a:p>
            <a:pPr rtl="0"/>
            <a:r>
              <a:rPr lang="de-DE" sz="1200" kern="1200" dirty="0">
                <a:solidFill>
                  <a:schemeClr val="tx1"/>
                </a:solidFill>
                <a:latin typeface="+mn-lt"/>
                <a:ea typeface="+mn-ea"/>
                <a:cs typeface="+mn-cs"/>
              </a:rPr>
              <a:t>cast( '</a:t>
            </a:r>
            <a:r>
              <a:rPr lang="de-DE" sz="1200" kern="1200" dirty="0" err="1">
                <a:solidFill>
                  <a:schemeClr val="tx1"/>
                </a:solidFill>
                <a:latin typeface="+mn-lt"/>
                <a:ea typeface="+mn-ea"/>
                <a:cs typeface="+mn-cs"/>
              </a:rPr>
              <a:t>Direct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 )</a:t>
            </a:r>
          </a:p>
          <a:p>
            <a:r>
              <a:rPr lang="de-DE" dirty="0"/>
              <a:t>Besser ist ein einheitlicher </a:t>
            </a:r>
            <a:r>
              <a:rPr lang="de-DE" dirty="0" err="1"/>
              <a:t>Zieltyp</a:t>
            </a:r>
            <a:r>
              <a:rPr lang="de-DE" dirty="0"/>
              <a:t>:</a:t>
            </a:r>
          </a:p>
          <a:p>
            <a:pPr rtl="0"/>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( 20 )</a:t>
            </a:r>
          </a:p>
          <a:p>
            <a:br>
              <a:rPr lang="de-DE" dirty="0"/>
            </a:br>
            <a:endParaRPr lang="de-DE" dirty="0"/>
          </a:p>
          <a:p>
            <a:r>
              <a:rPr lang="de-DE" b="1" dirty="0"/>
              <a:t>Annahme, alle Aufträge würden automatisch übernommen</a:t>
            </a:r>
          </a:p>
          <a:p>
            <a:r>
              <a:rPr lang="de-DE" dirty="0"/>
              <a:t>Die View berücksichtigt ausschließlich:</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p>
          <a:p>
            <a:r>
              <a:rPr lang="de-DE" dirty="0"/>
              <a:t>und:</a:t>
            </a:r>
          </a:p>
          <a:p>
            <a:pPr rtl="0"/>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'D'</a:t>
            </a:r>
          </a:p>
          <a:p>
            <a:r>
              <a:rPr lang="de-DE" dirty="0"/>
              <a:t>Andere oder initiale Werte werden nicht ausgegeben.</a:t>
            </a:r>
          </a:p>
          <a:p>
            <a:br>
              <a:rPr lang="de-DE" dirty="0"/>
            </a:br>
            <a:endParaRPr lang="de-DE" dirty="0"/>
          </a:p>
          <a:p>
            <a:r>
              <a:rPr lang="de-DE" sz="1200" b="1" kern="1200" dirty="0">
                <a:solidFill>
                  <a:schemeClr val="tx1"/>
                </a:solidFill>
                <a:latin typeface="+mn-lt"/>
                <a:ea typeface="+mn-ea"/>
                <a:cs typeface="+mn-cs"/>
              </a:rPr>
              <a:t>UNION</a:t>
            </a:r>
            <a:r>
              <a:rPr lang="de-DE" b="1" dirty="0"/>
              <a:t> entfernt vermeintlich doppelte Aufträge</a:t>
            </a:r>
          </a:p>
          <a:p>
            <a:r>
              <a:rPr lang="de-DE" sz="1200" kern="1200" dirty="0">
                <a:solidFill>
                  <a:schemeClr val="tx1"/>
                </a:solidFill>
                <a:latin typeface="+mn-lt"/>
                <a:ea typeface="+mn-ea"/>
                <a:cs typeface="+mn-cs"/>
              </a:rPr>
              <a:t>UNION</a:t>
            </a:r>
            <a:r>
              <a:rPr lang="de-DE" dirty="0"/>
              <a:t> vergleicht nicht nur </a:t>
            </a:r>
            <a:r>
              <a:rPr lang="de-DE" sz="1200" kern="1200" dirty="0" err="1">
                <a:solidFill>
                  <a:schemeClr val="tx1"/>
                </a:solidFill>
                <a:latin typeface="+mn-lt"/>
                <a:ea typeface="+mn-ea"/>
                <a:cs typeface="+mn-cs"/>
              </a:rPr>
              <a:t>OrderId</a:t>
            </a:r>
            <a:r>
              <a:rPr lang="de-DE" dirty="0"/>
              <a:t>, sondern die vollständige Ergebniszeile. Zwei Zeilen mit derselben </a:t>
            </a:r>
            <a:r>
              <a:rPr lang="de-DE" sz="1200" kern="1200" dirty="0" err="1">
                <a:solidFill>
                  <a:schemeClr val="tx1"/>
                </a:solidFill>
                <a:latin typeface="+mn-lt"/>
                <a:ea typeface="+mn-ea"/>
                <a:cs typeface="+mn-cs"/>
              </a:rPr>
              <a:t>OrderId</a:t>
            </a:r>
            <a:r>
              <a:rPr lang="de-DE" dirty="0"/>
              <a:t>, aber unterschiedlichen Werten für </a:t>
            </a:r>
            <a:r>
              <a:rPr lang="de-DE" sz="1200" kern="1200" dirty="0" err="1">
                <a:solidFill>
                  <a:schemeClr val="tx1"/>
                </a:solidFill>
                <a:latin typeface="+mn-lt"/>
                <a:ea typeface="+mn-ea"/>
                <a:cs typeface="+mn-cs"/>
              </a:rPr>
              <a:t>OrderType</a:t>
            </a:r>
            <a:r>
              <a:rPr lang="de-DE" dirty="0"/>
              <a:t> oder </a:t>
            </a:r>
            <a:r>
              <a:rPr lang="de-DE" sz="1200" kern="1200" dirty="0" err="1">
                <a:solidFill>
                  <a:schemeClr val="tx1"/>
                </a:solidFill>
                <a:latin typeface="+mn-lt"/>
                <a:ea typeface="+mn-ea"/>
                <a:cs typeface="+mn-cs"/>
              </a:rPr>
              <a:t>SalesChannel</a:t>
            </a:r>
            <a:r>
              <a:rPr lang="de-DE" dirty="0"/>
              <a:t> sind nicht identisch.</a:t>
            </a:r>
          </a:p>
          <a:p>
            <a:r>
              <a:rPr lang="de-DE" dirty="0"/>
              <a:t>Für unsere disjunkten Teilmengen ist </a:t>
            </a:r>
            <a:r>
              <a:rPr lang="de-DE" sz="1200" kern="1200" dirty="0">
                <a:solidFill>
                  <a:schemeClr val="tx1"/>
                </a:solidFill>
                <a:latin typeface="+mn-lt"/>
                <a:ea typeface="+mn-ea"/>
                <a:cs typeface="+mn-cs"/>
              </a:rPr>
              <a:t>UNION ALL</a:t>
            </a:r>
            <a:r>
              <a:rPr lang="de-DE" dirty="0"/>
              <a:t> deshalb die passende und klarere Wahl.</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38</a:t>
            </a:fld>
            <a:endParaRPr lang="de-DE" dirty="0"/>
          </a:p>
        </p:txBody>
      </p:sp>
    </p:spTree>
    <p:extLst>
      <p:ext uri="{BB962C8B-B14F-4D97-AF65-F5344CB8AC3E}">
        <p14:creationId xmlns:p14="http://schemas.microsoft.com/office/powerpoint/2010/main" val="703527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neue View Entity stellt Onlinebestellungen und Bestellungen aus dem Direktvertrieb über eine gemeinsame Schnittstelle bereit.</a:t>
            </a:r>
          </a:p>
          <a:p>
            <a:endParaRPr lang="de-DE" dirty="0"/>
          </a:p>
          <a:p>
            <a:r>
              <a:rPr lang="de-DE" dirty="0"/>
              <a:t>Beide Zweige lesen aus </a:t>
            </a:r>
            <a:r>
              <a:rPr lang="de-DE" sz="1200" kern="1200" dirty="0" err="1">
                <a:solidFill>
                  <a:schemeClr val="tx1"/>
                </a:solidFill>
                <a:latin typeface="+mn-lt"/>
                <a:ea typeface="+mn-ea"/>
                <a:cs typeface="+mn-cs"/>
              </a:rPr>
              <a:t>ZI_CDSOrder</a:t>
            </a:r>
            <a:r>
              <a:rPr lang="de-DE" dirty="0"/>
              <a:t>. Der erste Zweig filtert auf den Bestelltyp </a:t>
            </a:r>
            <a:r>
              <a:rPr lang="de-DE" sz="1200" kern="1200" dirty="0">
                <a:solidFill>
                  <a:schemeClr val="tx1"/>
                </a:solidFill>
                <a:latin typeface="+mn-lt"/>
                <a:ea typeface="+mn-ea"/>
                <a:cs typeface="+mn-cs"/>
              </a:rPr>
              <a:t>O</a:t>
            </a:r>
            <a:r>
              <a:rPr lang="de-DE" dirty="0"/>
              <a:t>, der zweite auf den Bestelltyp </a:t>
            </a:r>
            <a:r>
              <a:rPr lang="de-DE" sz="1200" kern="1200" dirty="0">
                <a:solidFill>
                  <a:schemeClr val="tx1"/>
                </a:solidFill>
                <a:latin typeface="+mn-lt"/>
                <a:ea typeface="+mn-ea"/>
                <a:cs typeface="+mn-cs"/>
              </a:rPr>
              <a:t>D</a:t>
            </a:r>
            <a:r>
              <a:rPr lang="de-DE" dirty="0"/>
              <a:t>.</a:t>
            </a:r>
          </a:p>
          <a:p>
            <a:endParaRPr lang="de-DE" dirty="0"/>
          </a:p>
          <a:p>
            <a:r>
              <a:rPr lang="de-DE" dirty="0"/>
              <a:t>Neben dem technischen Bestelltyp ergänzen wir mit </a:t>
            </a:r>
            <a:r>
              <a:rPr lang="de-DE" sz="1200" kern="1200" dirty="0" err="1">
                <a:solidFill>
                  <a:schemeClr val="tx1"/>
                </a:solidFill>
                <a:latin typeface="+mn-lt"/>
                <a:ea typeface="+mn-ea"/>
                <a:cs typeface="+mn-cs"/>
              </a:rPr>
              <a:t>SalesChannel</a:t>
            </a:r>
            <a:r>
              <a:rPr lang="de-DE" dirty="0"/>
              <a:t> eine verständliche Bezeichnung. Dadurch erhalten Konsumenten sowohl das kompakte technische Kennzeichen als auch einen lesbaren Text.</a:t>
            </a:r>
          </a:p>
          <a:p>
            <a:endParaRPr lang="de-DE" dirty="0"/>
          </a:p>
          <a:p>
            <a:r>
              <a:rPr lang="de-DE" dirty="0"/>
              <a:t>Da sich die beiden Auswahlbedingungen gegenseitig ausschließen, verwenden wir </a:t>
            </a:r>
            <a:r>
              <a:rPr lang="de-DE" sz="1200" kern="1200" dirty="0">
                <a:solidFill>
                  <a:schemeClr val="tx1"/>
                </a:solidFill>
                <a:latin typeface="+mn-lt"/>
                <a:ea typeface="+mn-ea"/>
                <a:cs typeface="+mn-cs"/>
              </a:rPr>
              <a:t>UNION ALL</a:t>
            </a:r>
            <a:r>
              <a:rPr lang="de-DE" dirty="0"/>
              <a:t>. Alle ausgewählten Aufträge werden ohne zusätzliche </a:t>
            </a:r>
            <a:r>
              <a:rPr lang="de-DE" dirty="0" err="1"/>
              <a:t>Duplikaterkennung</a:t>
            </a:r>
            <a:r>
              <a:rPr lang="de-DE" dirty="0"/>
              <a:t> in das Ergebnis übernommen.</a:t>
            </a:r>
          </a:p>
          <a:p>
            <a:endParaRPr lang="de-DE" dirty="0"/>
          </a:p>
          <a:p>
            <a:r>
              <a:rPr lang="de-DE" dirty="0"/>
              <a:t>Damit haben wir die wichtigsten Code-</a:t>
            </a:r>
            <a:r>
              <a:rPr lang="de-DE" dirty="0" err="1"/>
              <a:t>Pushdown</a:t>
            </a:r>
            <a:r>
              <a:rPr lang="de-DE" dirty="0"/>
              <a:t>-Techniken dieses Kursteils behandelt: Berechnungen, Funktionen, Aggregationen und die Zusammenführung von Ergebnismengen.</a:t>
            </a:r>
          </a:p>
          <a:p>
            <a:endParaRPr lang="de-DE" dirty="0"/>
          </a:p>
          <a:p>
            <a:r>
              <a:rPr lang="de-DE" dirty="0"/>
              <a:t>Im letzten Abschnitt beschäftigen wir uns mit der Erweiterbarkeit von CDS-Modellen. Wir erweitern eine bestehende View Entity und ergänzen anschließend ihre UI-Metadaten über eine </a:t>
            </a:r>
            <a:r>
              <a:rPr lang="de-DE" dirty="0" err="1"/>
              <a:t>Metadata</a:t>
            </a:r>
            <a:r>
              <a:rPr lang="de-DE" dirty="0"/>
              <a:t> Extension.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39</a:t>
            </a:fld>
            <a:endParaRPr lang="de-DE" dirty="0"/>
          </a:p>
        </p:txBody>
      </p:sp>
    </p:spTree>
    <p:extLst>
      <p:ext uri="{BB962C8B-B14F-4D97-AF65-F5344CB8AC3E}">
        <p14:creationId xmlns:p14="http://schemas.microsoft.com/office/powerpoint/2010/main" val="9971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Zum Abschluss dieses Kursteils beschäftigen wir uns mit der Erweiterbarkeit von CDS-Modellen.</a:t>
            </a:r>
          </a:p>
          <a:p>
            <a:endParaRPr lang="de-DE" dirty="0"/>
          </a:p>
          <a:p>
            <a:r>
              <a:rPr lang="de-DE" dirty="0"/>
              <a:t>Bislang haben wir die Definitionen unserer View </a:t>
            </a:r>
            <a:r>
              <a:rPr lang="de-DE" dirty="0" err="1"/>
              <a:t>Entities</a:t>
            </a:r>
            <a:r>
              <a:rPr lang="de-DE" dirty="0"/>
              <a:t> unmittelbar verändert. Das ist möglich, solange uns die betreffende CDS-Definition selbst gehört.</a:t>
            </a:r>
          </a:p>
          <a:p>
            <a:endParaRPr lang="de-DE" dirty="0"/>
          </a:p>
          <a:p>
            <a:r>
              <a:rPr lang="de-DE" dirty="0"/>
              <a:t>Bei ausgelieferten oder gemeinsam genutzten Modellen ist eine direkte Änderung jedoch häufig nicht erwünscht oder gar nicht möglich. Eigene Ergänzungen sollen von der ursprünglichen Definition getrennt bleiben.</a:t>
            </a:r>
          </a:p>
          <a:p>
            <a:endParaRPr lang="de-DE" dirty="0"/>
          </a:p>
          <a:p>
            <a:r>
              <a:rPr lang="de-DE" dirty="0"/>
              <a:t>CDS unterscheidet dabei zwei Erweiterungsebenen.</a:t>
            </a:r>
          </a:p>
          <a:p>
            <a:endParaRPr lang="de-DE" dirty="0"/>
          </a:p>
          <a:p>
            <a:r>
              <a:rPr lang="de-DE" dirty="0"/>
              <a:t>Eine View Extension erweitert die Struktur der Ergebnismenge. Sie kann beispielsweise zusätzliche Elemente oder Assoziationen bereitstellen.</a:t>
            </a:r>
          </a:p>
          <a:p>
            <a:endParaRPr lang="de-DE" dirty="0"/>
          </a:p>
          <a:p>
            <a:r>
              <a:rPr lang="de-DE" dirty="0"/>
              <a:t>Eine </a:t>
            </a:r>
            <a:r>
              <a:rPr lang="de-DE" dirty="0" err="1"/>
              <a:t>Metadata</a:t>
            </a:r>
            <a:r>
              <a:rPr lang="de-DE" dirty="0"/>
              <a:t> Extension verändert dagegen nicht die Datenstruktur. Sie ergänzt Annotationen, etwa Bezeichnungen oder UI-Metadaten.</a:t>
            </a:r>
          </a:p>
          <a:p>
            <a:endParaRPr lang="de-DE" dirty="0"/>
          </a:p>
          <a:p>
            <a:r>
              <a:rPr lang="de-DE" dirty="0"/>
              <a:t>In unserem Beispiel ergänzen wir </a:t>
            </a:r>
            <a:r>
              <a:rPr lang="de-DE" sz="1200" kern="1200" dirty="0" err="1">
                <a:solidFill>
                  <a:schemeClr val="tx1"/>
                </a:solidFill>
                <a:latin typeface="+mn-lt"/>
                <a:ea typeface="+mn-ea"/>
                <a:cs typeface="+mn-cs"/>
              </a:rPr>
              <a:t>ZI_CDSOrder</a:t>
            </a:r>
            <a:r>
              <a:rPr lang="de-DE" dirty="0"/>
              <a:t> strukturell um eine Kundengruppe und eine berechnete Liefersituation. Anschließend versehen wir diese neuen Elemente mit Metadaten.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40</a:t>
            </a:fld>
            <a:endParaRPr lang="de-DE" dirty="0"/>
          </a:p>
        </p:txBody>
      </p:sp>
    </p:spTree>
    <p:extLst>
      <p:ext uri="{BB962C8B-B14F-4D97-AF65-F5344CB8AC3E}">
        <p14:creationId xmlns:p14="http://schemas.microsoft.com/office/powerpoint/2010/main" val="38820246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beiden Erweiterungsarten werden unabhängig voneinander freigegeben.</a:t>
            </a:r>
          </a:p>
          <a:p>
            <a:endParaRPr lang="de-DE" dirty="0"/>
          </a:p>
          <a:p>
            <a:r>
              <a:rPr lang="de-DE" dirty="0"/>
              <a:t>Die Annotation </a:t>
            </a:r>
            <a:r>
              <a:rPr lang="de-DE" sz="1200" kern="1200" dirty="0">
                <a:solidFill>
                  <a:schemeClr val="tx1"/>
                </a:solidFill>
                <a:latin typeface="+mn-lt"/>
                <a:ea typeface="+mn-ea"/>
                <a:cs typeface="+mn-cs"/>
              </a:rPr>
              <a:t>@AbapCatalog.viewEnhancementCategory</a:t>
            </a:r>
            <a:r>
              <a:rPr lang="de-DE" dirty="0"/>
              <a:t> legt fest, auf welche Weise die View strukturell erweitert werden darf.</a:t>
            </a:r>
          </a:p>
          <a:p>
            <a:endParaRPr lang="de-DE" dirty="0"/>
          </a:p>
          <a:p>
            <a:r>
              <a:rPr lang="de-DE" dirty="0"/>
              <a:t>Mit </a:t>
            </a:r>
            <a:r>
              <a:rPr lang="de-DE" sz="1200" kern="1200" dirty="0">
                <a:solidFill>
                  <a:schemeClr val="tx1"/>
                </a:solidFill>
                <a:latin typeface="+mn-lt"/>
                <a:ea typeface="+mn-ea"/>
                <a:cs typeface="+mn-cs"/>
              </a:rPr>
              <a:t>#PROJECTION_LIST</a:t>
            </a:r>
            <a:r>
              <a:rPr lang="de-DE" dirty="0"/>
              <a:t> erlauben wir zusätzliche Elemente in der Projektionsliste. Das benötigen wir für unsere beiden neuen Felder.</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r>
              <a:rPr lang="de-DE" dirty="0"/>
              <a:t> erlaubt dagegen die Auslagerung von Annotationen in eine </a:t>
            </a:r>
            <a:r>
              <a:rPr lang="de-DE" dirty="0" err="1"/>
              <a:t>Metadata</a:t>
            </a:r>
            <a:r>
              <a:rPr lang="de-DE" dirty="0"/>
              <a:t> Extension.</a:t>
            </a:r>
          </a:p>
          <a:p>
            <a:endParaRPr lang="de-DE" dirty="0"/>
          </a:p>
          <a:p>
            <a:r>
              <a:rPr lang="de-DE" dirty="0"/>
              <a:t>Die Namen der Annotationen sind leicht zu verwechseln. </a:t>
            </a:r>
            <a:r>
              <a:rPr lang="de-DE" sz="1200" kern="1200" dirty="0" err="1">
                <a:solidFill>
                  <a:schemeClr val="tx1"/>
                </a:solidFill>
                <a:latin typeface="+mn-lt"/>
                <a:ea typeface="+mn-ea"/>
                <a:cs typeface="+mn-cs"/>
              </a:rPr>
              <a:t>allowExtensions</a:t>
            </a:r>
            <a:r>
              <a:rPr lang="de-DE" dirty="0"/>
              <a:t> bezieht sich nicht auf die strukturelle View Extension, sondern auf </a:t>
            </a:r>
            <a:r>
              <a:rPr lang="de-DE" dirty="0" err="1"/>
              <a:t>Metadata</a:t>
            </a:r>
            <a:r>
              <a:rPr lang="de-DE" dirty="0"/>
              <a:t> </a:t>
            </a:r>
            <a:r>
              <a:rPr lang="de-DE" dirty="0" err="1"/>
              <a:t>Extensions</a:t>
            </a:r>
            <a:r>
              <a:rPr lang="de-DE" dirty="0"/>
              <a:t>.</a:t>
            </a:r>
          </a:p>
          <a:p>
            <a:endParaRPr lang="de-DE" dirty="0"/>
          </a:p>
          <a:p>
            <a:r>
              <a:rPr lang="de-DE" dirty="0"/>
              <a:t>Eine View kann daher strukturell erweiterbar sein, ohne </a:t>
            </a:r>
            <a:r>
              <a:rPr lang="de-DE" dirty="0" err="1"/>
              <a:t>Metadata</a:t>
            </a:r>
            <a:r>
              <a:rPr lang="de-DE" dirty="0"/>
              <a:t> </a:t>
            </a:r>
            <a:r>
              <a:rPr lang="de-DE" dirty="0" err="1"/>
              <a:t>Extensions</a:t>
            </a:r>
            <a:r>
              <a:rPr lang="de-DE" dirty="0"/>
              <a:t> zu erlauben – oder umgekehrt.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41</a:t>
            </a:fld>
            <a:endParaRPr lang="de-DE" dirty="0"/>
          </a:p>
        </p:txBody>
      </p:sp>
    </p:spTree>
    <p:extLst>
      <p:ext uri="{BB962C8B-B14F-4D97-AF65-F5344CB8AC3E}">
        <p14:creationId xmlns:p14="http://schemas.microsoft.com/office/powerpoint/2010/main" val="9342963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strukturelle Erweiterung wird mit </a:t>
            </a:r>
            <a:r>
              <a:rPr lang="de-DE" sz="1200" kern="1200" dirty="0" err="1">
                <a:solidFill>
                  <a:schemeClr val="tx1"/>
                </a:solidFill>
                <a:latin typeface="+mn-lt"/>
                <a:ea typeface="+mn-ea"/>
                <a:cs typeface="+mn-cs"/>
              </a:rPr>
              <a:t>extend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definiert.</a:t>
            </a:r>
          </a:p>
          <a:p>
            <a:endParaRPr lang="de-DE" dirty="0"/>
          </a:p>
          <a:p>
            <a:r>
              <a:rPr lang="de-DE" dirty="0"/>
              <a:t>Nach dem Namen der zu erweiternden View folgt eine Projektionsliste mit den zusätzlichen Elementen.</a:t>
            </a:r>
          </a:p>
          <a:p>
            <a:endParaRPr lang="de-DE" dirty="0"/>
          </a:p>
          <a:p>
            <a:r>
              <a:rPr lang="de-DE" dirty="0"/>
              <a:t>Unser erstes Element übernimmt die Kundengruppe über die bereits vorhandene Assoziation </a:t>
            </a:r>
            <a:r>
              <a:rPr lang="de-DE" sz="1200" kern="1200" dirty="0">
                <a:solidFill>
                  <a:schemeClr val="tx1"/>
                </a:solidFill>
                <a:latin typeface="+mn-lt"/>
                <a:ea typeface="+mn-ea"/>
                <a:cs typeface="+mn-cs"/>
              </a:rPr>
              <a:t>_Customer</a:t>
            </a:r>
            <a:r>
              <a:rPr lang="de-DE" dirty="0"/>
              <a:t>. Es demonstriert, dass eine Extension auch Pfadausdrücke verwenden kann.</a:t>
            </a:r>
          </a:p>
          <a:p>
            <a:endParaRPr lang="de-DE" dirty="0"/>
          </a:p>
          <a:p>
            <a:r>
              <a:rPr lang="de-DE" dirty="0"/>
              <a:t>Das zweite Element ist ein berechneter Wert. Abgeschlossene Aufträge erhalten die Liefersituation </a:t>
            </a:r>
            <a:r>
              <a:rPr lang="de-DE" sz="1200" kern="1200" dirty="0">
                <a:solidFill>
                  <a:schemeClr val="tx1"/>
                </a:solidFill>
                <a:latin typeface="+mn-lt"/>
                <a:ea typeface="+mn-ea"/>
                <a:cs typeface="+mn-cs"/>
              </a:rPr>
              <a:t>COMPLETED</a:t>
            </a:r>
            <a:r>
              <a:rPr lang="de-DE" dirty="0"/>
              <a:t>. Bei offenen Aufträgen vergleichen wir das gewünschte Lieferdatum mit dem aktuellen Systemdatum.</a:t>
            </a:r>
          </a:p>
          <a:p>
            <a:endParaRPr lang="de-DE" dirty="0"/>
          </a:p>
          <a:p>
            <a:r>
              <a:rPr lang="de-DE" dirty="0"/>
              <a:t>Liegt das gewünschte Datum in der Vergangenheit, ist der Auftrag </a:t>
            </a:r>
            <a:r>
              <a:rPr lang="de-DE" sz="1200" kern="1200" dirty="0">
                <a:solidFill>
                  <a:schemeClr val="tx1"/>
                </a:solidFill>
                <a:latin typeface="+mn-lt"/>
                <a:ea typeface="+mn-ea"/>
                <a:cs typeface="+mn-cs"/>
              </a:rPr>
              <a:t>OVERDUE</a:t>
            </a:r>
            <a:r>
              <a:rPr lang="de-DE" dirty="0"/>
              <a:t>. Andernfalls lautet die Situation </a:t>
            </a:r>
            <a:r>
              <a:rPr lang="de-DE" sz="1200" kern="1200" dirty="0">
                <a:solidFill>
                  <a:schemeClr val="tx1"/>
                </a:solidFill>
                <a:latin typeface="+mn-lt"/>
                <a:ea typeface="+mn-ea"/>
                <a:cs typeface="+mn-cs"/>
              </a:rPr>
              <a:t>ON_SCHEDULE</a:t>
            </a:r>
            <a:r>
              <a:rPr lang="de-DE" dirty="0"/>
              <a:t>.</a:t>
            </a:r>
          </a:p>
          <a:p>
            <a:endParaRPr lang="de-DE" dirty="0"/>
          </a:p>
          <a:p>
            <a:r>
              <a:rPr lang="de-DE" dirty="0"/>
              <a:t>Mit dem Präfix </a:t>
            </a:r>
            <a:r>
              <a:rPr lang="de-DE" sz="1200" kern="1200" dirty="0">
                <a:solidFill>
                  <a:schemeClr val="tx1"/>
                </a:solidFill>
                <a:latin typeface="+mn-lt"/>
                <a:ea typeface="+mn-ea"/>
                <a:cs typeface="+mn-cs"/>
              </a:rPr>
              <a:t>ZZ</a:t>
            </a:r>
            <a:r>
              <a:rPr lang="de-DE" dirty="0"/>
              <a:t> kennzeichnen wir, dass es sich um kundeneigene Ergänzungen handelt. Das reduziert das Risiko von Namenskonflikten mit späteren Erweiterungen des ursprünglichen Modells.</a:t>
            </a:r>
          </a:p>
          <a:p>
            <a:endParaRPr lang="de-DE" dirty="0"/>
          </a:p>
          <a:p>
            <a:r>
              <a:rPr lang="de-DE" dirty="0"/>
              <a:t>Nach der Aktivierung erscheinen die neuen Elemente so, als gehörten sie unmittelbar zu </a:t>
            </a:r>
            <a:r>
              <a:rPr lang="de-DE" sz="1200" kern="1200" dirty="0" err="1">
                <a:solidFill>
                  <a:schemeClr val="tx1"/>
                </a:solidFill>
                <a:latin typeface="+mn-lt"/>
                <a:ea typeface="+mn-ea"/>
                <a:cs typeface="+mn-cs"/>
              </a:rPr>
              <a:t>ZI_CDSOrder</a:t>
            </a:r>
            <a:r>
              <a:rPr lang="de-DE" dirty="0"/>
              <a:t>. Die ursprüngliche Definition bleibt dennoch unverändert.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42</a:t>
            </a:fld>
            <a:endParaRPr lang="de-DE" dirty="0"/>
          </a:p>
        </p:txBody>
      </p:sp>
    </p:spTree>
    <p:extLst>
      <p:ext uri="{BB962C8B-B14F-4D97-AF65-F5344CB8AC3E}">
        <p14:creationId xmlns:p14="http://schemas.microsoft.com/office/powerpoint/2010/main" val="29606966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t>
            </a:r>
            <a:r>
              <a:rPr lang="de-DE" dirty="0" err="1"/>
              <a:t>Metadata</a:t>
            </a:r>
            <a:r>
              <a:rPr lang="de-DE" dirty="0"/>
              <a:t> Extension besitzt eine andere Aufgabe.</a:t>
            </a:r>
          </a:p>
          <a:p>
            <a:endParaRPr lang="de-DE" dirty="0"/>
          </a:p>
          <a:p>
            <a:r>
              <a:rPr lang="de-DE" dirty="0"/>
              <a:t>Mit </a:t>
            </a:r>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ergänzen wir Annotationen für eine bereits vorhandene CDS-Entität. Die neuen Elemente müssen zu diesem Zeitpunkt bereits durch die View Extension verfügbar sein.</a:t>
            </a:r>
          </a:p>
          <a:p>
            <a:endParaRPr lang="de-DE" dirty="0"/>
          </a:p>
          <a:p>
            <a:r>
              <a:rPr lang="de-DE" dirty="0"/>
              <a:t>In unserem Beispiel vergeben wir zunächst verständliche Bezeichnungen für </a:t>
            </a:r>
            <a:r>
              <a:rPr lang="de-DE" sz="1200" kern="1200" dirty="0" err="1">
                <a:solidFill>
                  <a:schemeClr val="tx1"/>
                </a:solidFill>
                <a:latin typeface="+mn-lt"/>
                <a:ea typeface="+mn-ea"/>
                <a:cs typeface="+mn-cs"/>
              </a:rPr>
              <a:t>ZZCustomerGroup</a:t>
            </a:r>
            <a:r>
              <a:rPr lang="de-DE" dirty="0"/>
              <a:t> und </a:t>
            </a:r>
            <a:r>
              <a:rPr lang="de-DE" sz="1200" kern="1200" dirty="0" err="1">
                <a:solidFill>
                  <a:schemeClr val="tx1"/>
                </a:solidFill>
                <a:latin typeface="+mn-lt"/>
                <a:ea typeface="+mn-ea"/>
                <a:cs typeface="+mn-cs"/>
              </a:rPr>
              <a:t>ZZDeliverySituation</a:t>
            </a:r>
            <a:r>
              <a:rPr lang="de-DE" dirty="0"/>
              <a:t>.</a:t>
            </a:r>
          </a:p>
          <a:p>
            <a:endParaRPr lang="de-DE" dirty="0"/>
          </a:p>
          <a:p>
            <a:r>
              <a:rPr lang="de-DE" dirty="0"/>
              <a:t>Die Annotation </a:t>
            </a:r>
            <a:r>
              <a:rPr lang="de-DE" sz="1200" kern="1200" dirty="0">
                <a:solidFill>
                  <a:schemeClr val="tx1"/>
                </a:solidFill>
                <a:latin typeface="+mn-lt"/>
                <a:ea typeface="+mn-ea"/>
                <a:cs typeface="+mn-cs"/>
              </a:rPr>
              <a:t>@Metadata.layer</a:t>
            </a:r>
            <a:r>
              <a:rPr lang="de-DE" dirty="0"/>
              <a:t> legt fest, auf welcher Schicht die Metadaten definiert werden. Für kundeneigene Ergänzungen verwenden wir die Schicht </a:t>
            </a:r>
            <a:r>
              <a:rPr lang="de-DE" sz="1200" kern="1200" dirty="0">
                <a:solidFill>
                  <a:schemeClr val="tx1"/>
                </a:solidFill>
                <a:latin typeface="+mn-lt"/>
                <a:ea typeface="+mn-ea"/>
                <a:cs typeface="+mn-cs"/>
              </a:rPr>
              <a:t>#CUSTOMER</a:t>
            </a:r>
            <a:r>
              <a:rPr lang="de-DE" dirty="0"/>
              <a:t>.</a:t>
            </a:r>
          </a:p>
          <a:p>
            <a:endParaRPr lang="de-DE" dirty="0"/>
          </a:p>
          <a:p>
            <a:r>
              <a:rPr lang="de-DE" dirty="0"/>
              <a:t>Eine </a:t>
            </a:r>
            <a:r>
              <a:rPr lang="de-DE" dirty="0" err="1"/>
              <a:t>Metadata</a:t>
            </a:r>
            <a:r>
              <a:rPr lang="de-DE" dirty="0"/>
              <a:t> Extension enthält keine Datenquelle und keine Projektionsliste. Sie kann daher weder Zeilen selektieren noch neue Elemente erzeugen.</a:t>
            </a:r>
          </a:p>
          <a:p>
            <a:endParaRPr lang="de-DE" dirty="0"/>
          </a:p>
          <a:p>
            <a:r>
              <a:rPr lang="de-DE" dirty="0"/>
              <a:t>Sie kann jedoch vorhandene Elemente beispielsweise mit UI-, </a:t>
            </a:r>
            <a:r>
              <a:rPr lang="de-DE" dirty="0" err="1"/>
              <a:t>Consumption</a:t>
            </a:r>
            <a:r>
              <a:rPr lang="de-DE" dirty="0"/>
              <a:t>- oder Suchannotation versehen. Auf diese Möglichkeit bauen wir im dritten Kursteil auf, wenn wir Fiori-Elements-Anwendungen über CDS-Metadaten gestalten.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43</a:t>
            </a:fld>
            <a:endParaRPr lang="de-DE" dirty="0"/>
          </a:p>
        </p:txBody>
      </p:sp>
    </p:spTree>
    <p:extLst>
      <p:ext uri="{BB962C8B-B14F-4D97-AF65-F5344CB8AC3E}">
        <p14:creationId xmlns:p14="http://schemas.microsoft.com/office/powerpoint/2010/main" val="11705299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letzten Live-Coding erweitern wir unsere bestehende Auftrags-View.</a:t>
            </a:r>
          </a:p>
          <a:p>
            <a:endParaRPr lang="de-DE" dirty="0"/>
          </a:p>
          <a:p>
            <a:r>
              <a:rPr lang="de-DE" dirty="0"/>
              <a:t>Zunächst kontrollieren wir, ob strukturelle Erweiterungen und </a:t>
            </a:r>
            <a:r>
              <a:rPr lang="de-DE" dirty="0" err="1"/>
              <a:t>Metadata</a:t>
            </a:r>
            <a:r>
              <a:rPr lang="de-DE" dirty="0"/>
              <a:t> </a:t>
            </a:r>
            <a:r>
              <a:rPr lang="de-DE" dirty="0" err="1"/>
              <a:t>Extensions</a:t>
            </a:r>
            <a:r>
              <a:rPr lang="de-DE" dirty="0"/>
              <a:t> zugelassen sind.</a:t>
            </a:r>
          </a:p>
          <a:p>
            <a:endParaRPr lang="de-DE" dirty="0"/>
          </a:p>
          <a:p>
            <a:r>
              <a:rPr lang="de-DE" dirty="0"/>
              <a:t>Danach legen wir eine View Extension an. Sie ergänzt die Kundengruppe über einen Pfadausdruck und ermittelt die Liefersituation mit einem </a:t>
            </a:r>
            <a:r>
              <a:rPr lang="de-DE" sz="1200" kern="1200" dirty="0">
                <a:solidFill>
                  <a:schemeClr val="tx1"/>
                </a:solidFill>
                <a:latin typeface="+mn-lt"/>
                <a:ea typeface="+mn-ea"/>
                <a:cs typeface="+mn-cs"/>
              </a:rPr>
              <a:t>CASE</a:t>
            </a:r>
            <a:r>
              <a:rPr lang="de-DE" dirty="0"/>
              <a:t>-Ausdruck.</a:t>
            </a:r>
          </a:p>
          <a:p>
            <a:endParaRPr lang="de-DE" dirty="0"/>
          </a:p>
          <a:p>
            <a:r>
              <a:rPr lang="de-DE" dirty="0"/>
              <a:t>Nach der Aktivierung öffnen wir die Datenvorschau von </a:t>
            </a:r>
            <a:r>
              <a:rPr lang="de-DE" sz="1200" kern="1200" dirty="0" err="1">
                <a:solidFill>
                  <a:schemeClr val="tx1"/>
                </a:solidFill>
                <a:latin typeface="+mn-lt"/>
                <a:ea typeface="+mn-ea"/>
                <a:cs typeface="+mn-cs"/>
              </a:rPr>
              <a:t>ZI_CDSOrder</a:t>
            </a:r>
            <a:r>
              <a:rPr lang="de-DE" dirty="0"/>
              <a:t>. Die beiden neuen Elemente sind dort unmittelbar verfügbar, obwohl wir die ursprüngliche Projektionsliste nicht verändert haben.</a:t>
            </a:r>
          </a:p>
          <a:p>
            <a:endParaRPr lang="de-DE" dirty="0"/>
          </a:p>
          <a:p>
            <a:r>
              <a:rPr lang="de-DE" dirty="0"/>
              <a:t>Anschließend erstellen wir eine </a:t>
            </a:r>
            <a:r>
              <a:rPr lang="de-DE" dirty="0" err="1"/>
              <a:t>Metadata</a:t>
            </a:r>
            <a:r>
              <a:rPr lang="de-DE" dirty="0"/>
              <a:t> Extension und ergänzen Bezeichnungen für die neuen Elemente.</a:t>
            </a:r>
          </a:p>
          <a:p>
            <a:endParaRPr lang="de-DE" dirty="0"/>
          </a:p>
          <a:p>
            <a:r>
              <a:rPr lang="de-DE" dirty="0"/>
              <a:t>Damit trennen wir die Datenmodellierung von der Beschreibung und Darstellung der Elemente.</a:t>
            </a:r>
          </a:p>
          <a:p>
            <a:endParaRPr lang="de-DE" dirty="0"/>
          </a:p>
          <a:p>
            <a:r>
              <a:rPr lang="de-DE" b="1" dirty="0"/>
              <a:t>Demoskript für Live-Coding 6</a:t>
            </a:r>
          </a:p>
          <a:p>
            <a:endParaRPr lang="de-DE" dirty="0"/>
          </a:p>
          <a:p>
            <a:r>
              <a:rPr lang="de-DE" b="1" dirty="0"/>
              <a:t>1. Ausgangspunkt zeigen</a:t>
            </a:r>
          </a:p>
          <a:p>
            <a:r>
              <a:rPr lang="de-DE" sz="1200" kern="1200" dirty="0" err="1">
                <a:solidFill>
                  <a:schemeClr val="tx1"/>
                </a:solidFill>
                <a:latin typeface="+mn-lt"/>
                <a:ea typeface="+mn-ea"/>
                <a:cs typeface="+mn-cs"/>
              </a:rPr>
              <a:t>ZI_CDSOrder</a:t>
            </a:r>
            <a:r>
              <a:rPr lang="de-DE" dirty="0"/>
              <a:t> öffnen und darauf hinweisen, dass die beiden Elemente noch nicht in der Projektionsliste stehen:</a:t>
            </a:r>
          </a:p>
          <a:p>
            <a:pPr rtl="0"/>
            <a:r>
              <a:rPr lang="de-DE" sz="1200" kern="1200" dirty="0" err="1">
                <a:solidFill>
                  <a:schemeClr val="tx1"/>
                </a:solidFill>
                <a:latin typeface="+mn-lt"/>
                <a:ea typeface="+mn-ea"/>
                <a:cs typeface="+mn-cs"/>
              </a:rPr>
              <a:t>ZZCustomerGroup</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ZZDeliverySituation</a:t>
            </a:r>
            <a:endParaRPr lang="de-DE" sz="1200" kern="1200" dirty="0">
              <a:solidFill>
                <a:schemeClr val="tx1"/>
              </a:solidFill>
              <a:latin typeface="+mn-lt"/>
              <a:ea typeface="+mn-ea"/>
              <a:cs typeface="+mn-cs"/>
            </a:endParaRPr>
          </a:p>
          <a:p>
            <a:r>
              <a:rPr lang="de-DE" dirty="0"/>
              <a:t>Die Datenvorschau öffnen und bestätigen, dass sie noch nicht verfügbar sind.</a:t>
            </a:r>
          </a:p>
          <a:p>
            <a:r>
              <a:rPr lang="de-DE" b="1" dirty="0"/>
              <a:t>Erläuterung</a:t>
            </a:r>
            <a:endParaRPr lang="de-DE" dirty="0"/>
          </a:p>
          <a:p>
            <a:r>
              <a:rPr lang="de-DE" dirty="0"/>
              <a:t>Wir wollen die bestehende Definition nicht unmittelbar verändern. Die Ergänzungen werden deshalb in separaten Repository-Objekten angelegt.</a:t>
            </a:r>
          </a:p>
          <a:p>
            <a:br>
              <a:rPr lang="de-DE" dirty="0"/>
            </a:br>
            <a:endParaRPr lang="de-DE" dirty="0"/>
          </a:p>
          <a:p>
            <a:r>
              <a:rPr lang="de-DE" b="1" dirty="0"/>
              <a:t>2. Erweiterbarkeit der Basis-View prüfen</a:t>
            </a:r>
          </a:p>
          <a:p>
            <a:r>
              <a:rPr lang="de-DE" dirty="0"/>
              <a:t>Am Kopf von </a:t>
            </a:r>
            <a:r>
              <a:rPr lang="de-DE" sz="1200" kern="1200" dirty="0" err="1">
                <a:solidFill>
                  <a:schemeClr val="tx1"/>
                </a:solidFill>
                <a:latin typeface="+mn-lt"/>
                <a:ea typeface="+mn-ea"/>
                <a:cs typeface="+mn-cs"/>
              </a:rPr>
              <a:t>ZI_CDSOrder</a:t>
            </a:r>
            <a:r>
              <a:rPr lang="de-DE" dirty="0"/>
              <a:t> benötigen wir:</a:t>
            </a:r>
          </a:p>
          <a:p>
            <a:pPr rtl="0"/>
            <a:r>
              <a:rPr lang="de-DE" sz="1200" kern="1200" dirty="0">
                <a:solidFill>
                  <a:schemeClr val="tx1"/>
                </a:solidFill>
                <a:latin typeface="+mn-lt"/>
                <a:ea typeface="+mn-ea"/>
                <a:cs typeface="+mn-cs"/>
              </a:rPr>
              <a:t>@AbapCatalog.viewEnhancementCategory:</a:t>
            </a:r>
          </a:p>
          <a:p>
            <a:pPr rtl="0"/>
            <a:r>
              <a:rPr lang="de-DE" sz="1200" kern="1200" dirty="0">
                <a:solidFill>
                  <a:schemeClr val="tx1"/>
                </a:solidFill>
                <a:latin typeface="+mn-lt"/>
                <a:ea typeface="+mn-ea"/>
                <a:cs typeface="+mn-cs"/>
              </a:rPr>
              <a:t>  [#PROJECTION_LIST]</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r>
              <a:rPr lang="de-DE" dirty="0"/>
              <a:t>Falls die Annotationen noch nicht vorhanden sind, ergänzen und aktivieren.</a:t>
            </a:r>
          </a:p>
          <a:p>
            <a:r>
              <a:rPr lang="de-DE" b="1" dirty="0"/>
              <a:t>Dabei erläutern</a:t>
            </a:r>
            <a:endParaRPr lang="de-DE" dirty="0"/>
          </a:p>
          <a:p>
            <a:pPr lvl="0"/>
            <a:r>
              <a:rPr lang="de-DE" sz="1200" kern="1200" dirty="0">
                <a:solidFill>
                  <a:schemeClr val="tx1"/>
                </a:solidFill>
                <a:latin typeface="+mn-lt"/>
                <a:ea typeface="+mn-ea"/>
                <a:cs typeface="+mn-cs"/>
              </a:rPr>
              <a:t>#PROJECTION_LIST</a:t>
            </a:r>
            <a:r>
              <a:rPr lang="de-DE" dirty="0"/>
              <a:t> erlaubt zusätzliche Ergebniselemente. </a:t>
            </a:r>
          </a:p>
          <a:p>
            <a:pPr lvl="0"/>
            <a:r>
              <a:rPr lang="de-DE" sz="1200" kern="1200" dirty="0" err="1">
                <a:solidFill>
                  <a:schemeClr val="tx1"/>
                </a:solidFill>
                <a:latin typeface="+mn-lt"/>
                <a:ea typeface="+mn-ea"/>
                <a:cs typeface="+mn-cs"/>
              </a:rPr>
              <a:t>allowExtensions</a:t>
            </a:r>
            <a:r>
              <a:rPr lang="de-DE" dirty="0"/>
              <a:t> erlaubt </a:t>
            </a:r>
            <a:r>
              <a:rPr lang="de-DE" dirty="0" err="1"/>
              <a:t>Metadata</a:t>
            </a:r>
            <a:r>
              <a:rPr lang="de-DE" dirty="0"/>
              <a:t> </a:t>
            </a:r>
            <a:r>
              <a:rPr lang="de-DE" dirty="0" err="1"/>
              <a:t>Extensions</a:t>
            </a:r>
            <a:r>
              <a:rPr lang="de-DE" dirty="0"/>
              <a:t>. </a:t>
            </a:r>
          </a:p>
          <a:p>
            <a:pPr lvl="0"/>
            <a:r>
              <a:rPr lang="de-DE" dirty="0"/>
              <a:t>Die beiden Freigaben sind voneinander unabhängig. </a:t>
            </a:r>
          </a:p>
          <a:p>
            <a:br>
              <a:rPr lang="de-DE" dirty="0"/>
            </a:br>
            <a:endParaRPr lang="de-DE" dirty="0"/>
          </a:p>
          <a:p>
            <a:r>
              <a:rPr lang="de-DE" b="1" dirty="0"/>
              <a:t>3. View Extension anlegen</a:t>
            </a:r>
          </a:p>
          <a:p>
            <a:r>
              <a:rPr lang="de-DE" dirty="0"/>
              <a:t>Neues Data Definition Repository-Objekt:</a:t>
            </a:r>
          </a:p>
          <a:p>
            <a:pPr rtl="0"/>
            <a:r>
              <a:rPr lang="de-DE" sz="1200" kern="1200" dirty="0" err="1">
                <a:solidFill>
                  <a:schemeClr val="tx1"/>
                </a:solidFill>
                <a:latin typeface="+mn-lt"/>
                <a:ea typeface="+mn-ea"/>
                <a:cs typeface="+mn-cs"/>
              </a:rPr>
              <a:t>ZI_CDSOrderExtension</a:t>
            </a:r>
            <a:endParaRPr lang="de-DE" sz="1200" kern="1200" dirty="0">
              <a:solidFill>
                <a:schemeClr val="tx1"/>
              </a:solidFill>
              <a:latin typeface="+mn-lt"/>
              <a:ea typeface="+mn-ea"/>
              <a:cs typeface="+mn-cs"/>
            </a:endParaRPr>
          </a:p>
          <a:p>
            <a:r>
              <a:rPr lang="de-DE" dirty="0"/>
              <a:t>Definition:</a:t>
            </a:r>
          </a:p>
          <a:p>
            <a:pPr rtl="0"/>
            <a:r>
              <a:rPr lang="de-DE" sz="1200" kern="1200" dirty="0">
                <a:solidFill>
                  <a:schemeClr val="tx1"/>
                </a:solidFill>
                <a:latin typeface="+mn-lt"/>
                <a:ea typeface="+mn-ea"/>
                <a:cs typeface="+mn-cs"/>
              </a:rPr>
              <a:t>@EndUserText.label: 'Extension for Orders'</a:t>
            </a:r>
          </a:p>
          <a:p>
            <a:pPr rtl="0"/>
            <a:r>
              <a:rPr lang="de-DE" sz="1200" kern="1200" dirty="0" err="1">
                <a:solidFill>
                  <a:schemeClr val="tx1"/>
                </a:solidFill>
                <a:latin typeface="+mn-lt"/>
                <a:ea typeface="+mn-ea"/>
                <a:cs typeface="+mn-cs"/>
              </a:rPr>
              <a:t>extend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Customer.CustomerGroup</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ZZCustomerGroup</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 = 'C'</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'COMPLETED'</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 &lt; $</a:t>
            </a:r>
            <a:r>
              <a:rPr lang="de-DE" sz="1200" kern="1200" dirty="0" err="1">
                <a:solidFill>
                  <a:schemeClr val="tx1"/>
                </a:solidFill>
                <a:latin typeface="+mn-lt"/>
                <a:ea typeface="+mn-ea"/>
                <a:cs typeface="+mn-cs"/>
              </a:rPr>
              <a:t>session.system_date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'OVERDUE'</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'ON_SCHEDULE'</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ZZDeliverySituation</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sz="1200" kern="1200" dirty="0" err="1">
                <a:solidFill>
                  <a:schemeClr val="tx1"/>
                </a:solidFill>
                <a:latin typeface="+mn-lt"/>
                <a:ea typeface="+mn-ea"/>
                <a:cs typeface="+mn-cs"/>
              </a:rPr>
              <a:t>ZI_CDSOrderExtension</a:t>
            </a:r>
            <a:r>
              <a:rPr lang="de-DE" dirty="0"/>
              <a:t> ist der Repository-Objektname. </a:t>
            </a:r>
          </a:p>
          <a:p>
            <a:pPr lvl="0"/>
            <a:r>
              <a:rPr lang="de-DE" sz="1200" kern="1200" dirty="0" err="1">
                <a:solidFill>
                  <a:schemeClr val="tx1"/>
                </a:solidFill>
                <a:latin typeface="+mn-lt"/>
                <a:ea typeface="+mn-ea"/>
                <a:cs typeface="+mn-cs"/>
              </a:rPr>
              <a:t>ZI_CDSOrder</a:t>
            </a:r>
            <a:r>
              <a:rPr lang="de-DE" dirty="0"/>
              <a:t> ist die zu erweiternde Entität. </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Customer.CustomerGroup</a:t>
            </a:r>
            <a:r>
              <a:rPr lang="de-DE" dirty="0"/>
              <a:t> verwendet eine bestehende Assoziation. </a:t>
            </a:r>
          </a:p>
          <a:p>
            <a:pPr lvl="0"/>
            <a:r>
              <a:rPr lang="de-DE" dirty="0"/>
              <a:t>Der </a:t>
            </a:r>
            <a:r>
              <a:rPr lang="de-DE" sz="1200" kern="1200" dirty="0">
                <a:solidFill>
                  <a:schemeClr val="tx1"/>
                </a:solidFill>
                <a:latin typeface="+mn-lt"/>
                <a:ea typeface="+mn-ea"/>
                <a:cs typeface="+mn-cs"/>
              </a:rPr>
              <a:t>CASE</a:t>
            </a:r>
            <a:r>
              <a:rPr lang="de-DE" dirty="0"/>
              <a:t>-Ausdruck wird in der Datenbank ausgewertet. </a:t>
            </a:r>
          </a:p>
          <a:p>
            <a:pPr lv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session.system_date</a:t>
            </a:r>
            <a:r>
              <a:rPr lang="de-DE" dirty="0"/>
              <a:t> liefert das aktuelle Sitzungsdatum. </a:t>
            </a:r>
          </a:p>
          <a:p>
            <a:pPr lvl="0"/>
            <a:r>
              <a:rPr lang="de-DE" dirty="0"/>
              <a:t>Die neuen Elementnamen beginnen mit </a:t>
            </a:r>
            <a:r>
              <a:rPr lang="de-DE" sz="1200" kern="1200" dirty="0">
                <a:solidFill>
                  <a:schemeClr val="tx1"/>
                </a:solidFill>
                <a:latin typeface="+mn-lt"/>
                <a:ea typeface="+mn-ea"/>
                <a:cs typeface="+mn-cs"/>
              </a:rPr>
              <a:t>ZZ</a:t>
            </a:r>
            <a:r>
              <a:rPr lang="de-DE" dirty="0"/>
              <a:t>. </a:t>
            </a:r>
          </a:p>
          <a:p>
            <a:r>
              <a:rPr lang="de-DE" dirty="0"/>
              <a:t>Falls die im Projekt verwendeten Statuswerte nicht </a:t>
            </a:r>
            <a:r>
              <a:rPr lang="de-DE" sz="1200" kern="1200" dirty="0">
                <a:solidFill>
                  <a:schemeClr val="tx1"/>
                </a:solidFill>
                <a:latin typeface="+mn-lt"/>
                <a:ea typeface="+mn-ea"/>
                <a:cs typeface="+mn-cs"/>
              </a:rPr>
              <a:t>C</a:t>
            </a:r>
            <a:r>
              <a:rPr lang="de-DE" dirty="0"/>
              <a:t> für abgeschlossen verwenden, wird die erste Bedingung an den tatsächlichen Wert angepasst.</a:t>
            </a:r>
          </a:p>
          <a:p>
            <a:br>
              <a:rPr lang="de-DE" dirty="0"/>
            </a:br>
            <a:endParaRPr lang="de-DE" dirty="0"/>
          </a:p>
          <a:p>
            <a:r>
              <a:rPr lang="de-DE" b="1" dirty="0"/>
              <a:t>4. Extension aktivieren und Ergebnis prüfen</a:t>
            </a:r>
          </a:p>
          <a:p>
            <a:r>
              <a:rPr lang="de-DE" dirty="0"/>
              <a:t>Nach der Aktivierung wieder die Datenvorschau von </a:t>
            </a:r>
            <a:r>
              <a:rPr lang="de-DE" sz="1200" kern="1200" dirty="0" err="1">
                <a:solidFill>
                  <a:schemeClr val="tx1"/>
                </a:solidFill>
                <a:latin typeface="+mn-lt"/>
                <a:ea typeface="+mn-ea"/>
                <a:cs typeface="+mn-cs"/>
              </a:rPr>
              <a:t>ZI_CDSOrder</a:t>
            </a:r>
            <a:r>
              <a:rPr lang="de-DE" dirty="0"/>
              <a:t> öffnen.</a:t>
            </a:r>
          </a:p>
          <a:p>
            <a:r>
              <a:rPr lang="de-DE" dirty="0"/>
              <a:t>Neue Elemente einblenden:</a:t>
            </a:r>
          </a:p>
          <a:p>
            <a:pPr lvl="0"/>
            <a:r>
              <a:rPr lang="de-DE" sz="1200" kern="1200" dirty="0" err="1">
                <a:solidFill>
                  <a:schemeClr val="tx1"/>
                </a:solidFill>
                <a:latin typeface="+mn-lt"/>
                <a:ea typeface="+mn-ea"/>
                <a:cs typeface="+mn-cs"/>
              </a:rPr>
              <a:t>ZZCustomerGroup</a:t>
            </a:r>
            <a:r>
              <a:rPr lang="de-DE" dirty="0"/>
              <a:t> </a:t>
            </a:r>
          </a:p>
          <a:p>
            <a:pPr lvl="0"/>
            <a:r>
              <a:rPr lang="de-DE" sz="1200" kern="1200" dirty="0" err="1">
                <a:solidFill>
                  <a:schemeClr val="tx1"/>
                </a:solidFill>
                <a:latin typeface="+mn-lt"/>
                <a:ea typeface="+mn-ea"/>
                <a:cs typeface="+mn-cs"/>
              </a:rPr>
              <a:t>ZZDeliverySituation</a:t>
            </a:r>
            <a:r>
              <a:rPr lang="de-DE" dirty="0"/>
              <a:t> </a:t>
            </a:r>
          </a:p>
          <a:p>
            <a:r>
              <a:rPr lang="de-DE" dirty="0"/>
              <a:t>Kontrollieren:</a:t>
            </a:r>
          </a:p>
          <a:p>
            <a:pPr rtl="0"/>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 = C</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 = COMPLETED</a:t>
            </a:r>
          </a:p>
          <a:p>
            <a:r>
              <a:rPr lang="de-DE" dirty="0"/>
              <a:t>Für nicht abgeschlossene Aufträge:</a:t>
            </a:r>
          </a:p>
          <a:p>
            <a:pPr rtl="0"/>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 &lt; aktuelles Datum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 = OVERDUE</a:t>
            </a:r>
          </a:p>
          <a:p>
            <a:r>
              <a:rPr lang="de-DE" dirty="0"/>
              <a:t>Andernfalls: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 = ON_SCHEDULE</a:t>
            </a:r>
          </a:p>
          <a:p>
            <a:r>
              <a:rPr lang="de-DE" b="1" dirty="0"/>
              <a:t>Wichtige Beobachtung</a:t>
            </a:r>
            <a:endParaRPr lang="de-DE" dirty="0"/>
          </a:p>
          <a:p>
            <a:r>
              <a:rPr lang="de-DE" dirty="0"/>
              <a:t>Die Datenvorschau wird für </a:t>
            </a:r>
            <a:r>
              <a:rPr lang="de-DE" sz="1200" kern="1200" dirty="0" err="1">
                <a:solidFill>
                  <a:schemeClr val="tx1"/>
                </a:solidFill>
                <a:latin typeface="+mn-lt"/>
                <a:ea typeface="+mn-ea"/>
                <a:cs typeface="+mn-cs"/>
              </a:rPr>
              <a:t>ZI_CDSOrder</a:t>
            </a:r>
            <a:r>
              <a:rPr lang="de-DE" dirty="0"/>
              <a:t> geöffnet, nicht für die Extension. Die Extension ist keine eigenständige abfragbare View.</a:t>
            </a:r>
          </a:p>
          <a:p>
            <a:br>
              <a:rPr lang="de-DE" dirty="0"/>
            </a:br>
            <a:endParaRPr lang="de-DE" dirty="0"/>
          </a:p>
          <a:p>
            <a:r>
              <a:rPr lang="de-DE" b="1" dirty="0"/>
              <a:t>5. </a:t>
            </a:r>
            <a:r>
              <a:rPr lang="de-DE" b="1" dirty="0" err="1"/>
              <a:t>Metadata</a:t>
            </a:r>
            <a:r>
              <a:rPr lang="de-DE" b="1" dirty="0"/>
              <a:t> Extension ermöglichen</a:t>
            </a:r>
          </a:p>
          <a:p>
            <a:r>
              <a:rPr lang="de-DE" dirty="0"/>
              <a:t>Prüfen, ob </a:t>
            </a:r>
            <a:r>
              <a:rPr lang="de-DE" sz="1200" kern="1200" dirty="0" err="1">
                <a:solidFill>
                  <a:schemeClr val="tx1"/>
                </a:solidFill>
                <a:latin typeface="+mn-lt"/>
                <a:ea typeface="+mn-ea"/>
                <a:cs typeface="+mn-cs"/>
              </a:rPr>
              <a:t>ZI_CDSOrder</a:t>
            </a:r>
            <a:r>
              <a:rPr lang="de-DE" dirty="0"/>
              <a:t> enthält:</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r>
              <a:rPr lang="de-DE" dirty="0"/>
              <a:t>Falls nicht, Annotation ergänzen und die View aktivieren.</a:t>
            </a:r>
          </a:p>
          <a:p>
            <a:br>
              <a:rPr lang="de-DE" dirty="0"/>
            </a:br>
            <a:endParaRPr lang="de-DE" dirty="0"/>
          </a:p>
          <a:p>
            <a:r>
              <a:rPr lang="de-DE" b="1" dirty="0"/>
              <a:t>6. </a:t>
            </a:r>
            <a:r>
              <a:rPr lang="de-DE" b="1" dirty="0" err="1"/>
              <a:t>Metadata</a:t>
            </a:r>
            <a:r>
              <a:rPr lang="de-DE" b="1" dirty="0"/>
              <a:t> Extension anlegen</a:t>
            </a:r>
          </a:p>
          <a:p>
            <a:r>
              <a:rPr lang="de-DE" dirty="0"/>
              <a:t>Neues </a:t>
            </a:r>
            <a:r>
              <a:rPr lang="de-DE" dirty="0" err="1"/>
              <a:t>Metadata</a:t>
            </a:r>
            <a:r>
              <a:rPr lang="de-DE" dirty="0"/>
              <a:t>-Extension-Objekt:</a:t>
            </a:r>
          </a:p>
          <a:p>
            <a:pPr rtl="0"/>
            <a:r>
              <a:rPr lang="de-DE" sz="1200" kern="1200" dirty="0" err="1">
                <a:solidFill>
                  <a:schemeClr val="tx1"/>
                </a:solidFill>
                <a:latin typeface="+mn-lt"/>
                <a:ea typeface="+mn-ea"/>
                <a:cs typeface="+mn-cs"/>
              </a:rPr>
              <a:t>ZI_CDSOrderMetadata</a:t>
            </a:r>
            <a:endParaRPr lang="de-DE" sz="1200" kern="1200" dirty="0">
              <a:solidFill>
                <a:schemeClr val="tx1"/>
              </a:solidFill>
              <a:latin typeface="+mn-lt"/>
              <a:ea typeface="+mn-ea"/>
              <a:cs typeface="+mn-cs"/>
            </a:endParaRPr>
          </a:p>
          <a:p>
            <a:r>
              <a:rPr lang="de-DE" dirty="0"/>
              <a:t>Definition:</a:t>
            </a:r>
          </a:p>
          <a:p>
            <a:pPr rtl="0"/>
            <a:r>
              <a:rPr lang="de-DE" sz="1200" kern="1200" dirty="0">
                <a:solidFill>
                  <a:schemeClr val="tx1"/>
                </a:solidFill>
                <a:latin typeface="+mn-lt"/>
                <a:ea typeface="+mn-ea"/>
                <a:cs typeface="+mn-cs"/>
              </a:rPr>
              <a:t>@Metadata.layer: #CUSTOMER</a:t>
            </a: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'Customer Group'</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ZZCustomerGroup</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t>
            </a:r>
            <a:r>
              <a:rPr lang="de-DE" sz="1200" kern="1200" dirty="0" err="1">
                <a:solidFill>
                  <a:schemeClr val="tx1"/>
                </a:solidFill>
                <a:latin typeface="+mn-lt"/>
                <a:ea typeface="+mn-ea"/>
                <a:cs typeface="+mn-cs"/>
              </a:rPr>
              <a:t>Delivery</a:t>
            </a:r>
            <a:r>
              <a:rPr lang="de-DE" sz="1200" kern="1200" dirty="0">
                <a:solidFill>
                  <a:schemeClr val="tx1"/>
                </a:solidFill>
                <a:latin typeface="+mn-lt"/>
                <a:ea typeface="+mn-ea"/>
                <a:cs typeface="+mn-cs"/>
              </a:rPr>
              <a:t> Situation'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Während der Eingabe erläutern</a:t>
            </a:r>
            <a:endParaRPr lang="de-DE" dirty="0"/>
          </a:p>
          <a:p>
            <a:pPr lv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verändert nur die Metadaten. </a:t>
            </a:r>
          </a:p>
          <a:p>
            <a:pPr lvl="0"/>
            <a:r>
              <a:rPr lang="de-DE" dirty="0"/>
              <a:t>Die Elemente müssen in </a:t>
            </a:r>
            <a:r>
              <a:rPr lang="de-DE" sz="1200" kern="1200" dirty="0" err="1">
                <a:solidFill>
                  <a:schemeClr val="tx1"/>
                </a:solidFill>
                <a:latin typeface="+mn-lt"/>
                <a:ea typeface="+mn-ea"/>
                <a:cs typeface="+mn-cs"/>
              </a:rPr>
              <a:t>ZI_CDSOrder</a:t>
            </a:r>
            <a:r>
              <a:rPr lang="de-DE" dirty="0"/>
              <a:t> vorhanden sein. </a:t>
            </a:r>
          </a:p>
          <a:p>
            <a:pPr lvl="0"/>
            <a:r>
              <a:rPr lang="de-DE" dirty="0"/>
              <a:t>Sie können aus der ursprünglichen Definition oder einer View Extension stammen. </a:t>
            </a:r>
          </a:p>
          <a:p>
            <a:pPr lvl="0"/>
            <a:r>
              <a:rPr lang="de-DE" dirty="0"/>
              <a:t>Die Schicht </a:t>
            </a:r>
            <a:r>
              <a:rPr lang="de-DE" sz="1200" kern="1200" dirty="0">
                <a:solidFill>
                  <a:schemeClr val="tx1"/>
                </a:solidFill>
                <a:latin typeface="+mn-lt"/>
                <a:ea typeface="+mn-ea"/>
                <a:cs typeface="+mn-cs"/>
              </a:rPr>
              <a:t>#CUSTOMER</a:t>
            </a:r>
            <a:r>
              <a:rPr lang="de-DE" dirty="0"/>
              <a:t> kennzeichnet kundeneigene Metadaten. </a:t>
            </a:r>
          </a:p>
          <a:p>
            <a:br>
              <a:rPr lang="de-DE" dirty="0"/>
            </a:br>
            <a:endParaRPr lang="de-DE" dirty="0"/>
          </a:p>
          <a:p>
            <a:r>
              <a:rPr lang="de-DE" b="1" dirty="0"/>
              <a:t>7. Optional: UI-Annotation als Ausblick ergänzen</a:t>
            </a:r>
          </a:p>
          <a:p>
            <a:r>
              <a:rPr lang="de-DE" dirty="0"/>
              <a:t>Wenn noch Zeit vorhanden ist:</a:t>
            </a:r>
          </a:p>
          <a:p>
            <a:pPr rtl="0"/>
            <a:r>
              <a:rPr lang="de-DE" sz="1200" kern="1200" dirty="0">
                <a:solidFill>
                  <a:schemeClr val="tx1"/>
                </a:solidFill>
                <a:latin typeface="+mn-lt"/>
                <a:ea typeface="+mn-ea"/>
                <a:cs typeface="+mn-cs"/>
              </a:rPr>
              <a:t>@Metadata.layer: #CUSTOMER</a:t>
            </a: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'Customer Group'</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70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ZZCustomerGroup</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t>
            </a:r>
            <a:r>
              <a:rPr lang="de-DE" sz="1200" kern="1200" dirty="0" err="1">
                <a:solidFill>
                  <a:schemeClr val="tx1"/>
                </a:solidFill>
                <a:latin typeface="+mn-lt"/>
                <a:ea typeface="+mn-ea"/>
                <a:cs typeface="+mn-cs"/>
              </a:rPr>
              <a:t>Delivery</a:t>
            </a:r>
            <a:r>
              <a:rPr lang="de-DE" sz="1200" kern="1200" dirty="0">
                <a:solidFill>
                  <a:schemeClr val="tx1"/>
                </a:solidFill>
                <a:latin typeface="+mn-lt"/>
                <a:ea typeface="+mn-ea"/>
                <a:cs typeface="+mn-cs"/>
              </a:rPr>
              <a:t> Situation'</a:t>
            </a:r>
          </a:p>
          <a:p>
            <a:pPr rtl="0"/>
            <a:r>
              <a:rPr lang="de-DE" sz="1200" kern="1200" dirty="0">
                <a:solidFill>
                  <a:schemeClr val="tx1"/>
                </a:solidFill>
                <a:latin typeface="+mn-lt"/>
                <a:ea typeface="+mn-ea"/>
                <a:cs typeface="+mn-cs"/>
              </a:rPr>
              <a:t>  @UI.lineItem: [</a:t>
            </a:r>
          </a:p>
          <a:p>
            <a:pPr rtl="0"/>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position</a:t>
            </a:r>
            <a:r>
              <a:rPr lang="de-DE" sz="1200" kern="1200" dirty="0">
                <a:solidFill>
                  <a:schemeClr val="tx1"/>
                </a:solidFill>
                <a:latin typeface="+mn-lt"/>
                <a:ea typeface="+mn-ea"/>
                <a:cs typeface="+mn-cs"/>
              </a:rPr>
              <a:t>: 80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b="1" dirty="0"/>
              <a:t>Erläuterung</a:t>
            </a:r>
            <a:endParaRPr lang="de-DE" dirty="0"/>
          </a:p>
          <a:p>
            <a:r>
              <a:rPr lang="de-DE" dirty="0"/>
              <a:t>Die </a:t>
            </a:r>
            <a:r>
              <a:rPr lang="de-DE" sz="1200" kern="1200" dirty="0">
                <a:solidFill>
                  <a:schemeClr val="tx1"/>
                </a:solidFill>
                <a:latin typeface="+mn-lt"/>
                <a:ea typeface="+mn-ea"/>
                <a:cs typeface="+mn-cs"/>
              </a:rPr>
              <a:t>@UI.lineItem</a:t>
            </a:r>
            <a:r>
              <a:rPr lang="de-DE" dirty="0"/>
              <a:t>-Annotationen haben keine Auswirkung auf die normale CDS-Datenvorschau. Sie werden von einem annotationsfähigen UI-Konsumenten ausgewertet.</a:t>
            </a:r>
          </a:p>
          <a:p>
            <a:r>
              <a:rPr lang="de-DE" dirty="0"/>
              <a:t>Die praktische Verwendung solcher Annotationen ist ein Thema von Teil 3.</a:t>
            </a:r>
          </a:p>
          <a:p>
            <a:br>
              <a:rPr lang="de-DE" dirty="0"/>
            </a:br>
            <a:endParaRPr lang="de-DE" dirty="0"/>
          </a:p>
          <a:p>
            <a:r>
              <a:rPr lang="de-DE" b="1" dirty="0"/>
              <a:t>Typische Stolperstellen</a:t>
            </a:r>
          </a:p>
          <a:p>
            <a:r>
              <a:rPr lang="de-DE" b="1" dirty="0"/>
              <a:t>Die beiden Erweiterungsfreigaben werden verwechselt</a:t>
            </a:r>
          </a:p>
          <a:p>
            <a:pPr rtl="0"/>
            <a:r>
              <a:rPr lang="de-DE" sz="1200" kern="1200" dirty="0">
                <a:solidFill>
                  <a:schemeClr val="tx1"/>
                </a:solidFill>
                <a:latin typeface="+mn-lt"/>
                <a:ea typeface="+mn-ea"/>
                <a:cs typeface="+mn-cs"/>
              </a:rPr>
              <a:t>@Metadata.allowExtensions: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r>
              <a:rPr lang="de-DE" dirty="0"/>
              <a:t>erlaubt nicht automatisch eine strukturelle View Extension.</a:t>
            </a:r>
          </a:p>
          <a:p>
            <a:r>
              <a:rPr lang="de-DE" dirty="0"/>
              <a:t>Für zusätzliche Projektionselemente ist die passende </a:t>
            </a:r>
            <a:r>
              <a:rPr lang="de-DE" sz="1200" kern="1200" dirty="0" err="1">
                <a:solidFill>
                  <a:schemeClr val="tx1"/>
                </a:solidFill>
                <a:latin typeface="+mn-lt"/>
                <a:ea typeface="+mn-ea"/>
                <a:cs typeface="+mn-cs"/>
              </a:rPr>
              <a:t>viewEnhancementCategory</a:t>
            </a:r>
            <a:r>
              <a:rPr lang="de-DE" dirty="0"/>
              <a:t> erforderlich.</a:t>
            </a:r>
          </a:p>
          <a:p>
            <a:br>
              <a:rPr lang="de-DE" dirty="0"/>
            </a:br>
            <a:endParaRPr lang="de-DE" dirty="0"/>
          </a:p>
          <a:p>
            <a:r>
              <a:rPr lang="de-DE" b="1" dirty="0"/>
              <a:t>Das neue Element besitzt bereits denselben Namen</a:t>
            </a:r>
          </a:p>
          <a:p>
            <a:r>
              <a:rPr lang="de-DE" dirty="0"/>
              <a:t>Eine Extension darf kein Element hinzufügen, dessen Name bereits in der Basis-View oder einer anderen aktiven Extension vorhanden ist.</a:t>
            </a:r>
          </a:p>
          <a:p>
            <a:r>
              <a:rPr lang="de-DE" dirty="0"/>
              <a:t>Kundeneigene Namensräume wie </a:t>
            </a:r>
            <a:r>
              <a:rPr lang="de-DE" sz="1200" kern="1200" dirty="0">
                <a:solidFill>
                  <a:schemeClr val="tx1"/>
                </a:solidFill>
                <a:latin typeface="+mn-lt"/>
                <a:ea typeface="+mn-ea"/>
                <a:cs typeface="+mn-cs"/>
              </a:rPr>
              <a:t>ZZ...</a:t>
            </a:r>
            <a:r>
              <a:rPr lang="de-DE" dirty="0"/>
              <a:t> reduzieren das Konfliktrisiko.</a:t>
            </a:r>
          </a:p>
          <a:p>
            <a:br>
              <a:rPr lang="de-DE" dirty="0"/>
            </a:br>
            <a:endParaRPr lang="de-DE" dirty="0"/>
          </a:p>
          <a:p>
            <a:r>
              <a:rPr lang="de-DE" b="1" dirty="0"/>
              <a:t>Die verwendete Assoziation ist nicht verfügbar</a:t>
            </a:r>
          </a:p>
          <a:p>
            <a:r>
              <a:rPr lang="de-DE" dirty="0"/>
              <a:t>Dieser Ausdruck funktioniert nur, wenn </a:t>
            </a:r>
            <a:r>
              <a:rPr lang="de-DE" sz="1200" kern="1200" dirty="0">
                <a:solidFill>
                  <a:schemeClr val="tx1"/>
                </a:solidFill>
                <a:latin typeface="+mn-lt"/>
                <a:ea typeface="+mn-ea"/>
                <a:cs typeface="+mn-cs"/>
              </a:rPr>
              <a:t>_Customer</a:t>
            </a:r>
            <a:r>
              <a:rPr lang="de-DE" dirty="0"/>
              <a:t> in </a:t>
            </a:r>
            <a:r>
              <a:rPr lang="de-DE" sz="1200" kern="1200" dirty="0" err="1">
                <a:solidFill>
                  <a:schemeClr val="tx1"/>
                </a:solidFill>
                <a:latin typeface="+mn-lt"/>
                <a:ea typeface="+mn-ea"/>
                <a:cs typeface="+mn-cs"/>
              </a:rPr>
              <a:t>ZI_CDSOrder</a:t>
            </a:r>
            <a:r>
              <a:rPr lang="de-DE" dirty="0"/>
              <a:t> vorhanden und in diesem Kontext verwendbar ist:</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Customer.CustomerGroup</a:t>
            </a:r>
            <a:endParaRPr lang="de-DE" sz="1200" kern="1200" dirty="0">
              <a:solidFill>
                <a:schemeClr val="tx1"/>
              </a:solidFill>
              <a:latin typeface="+mn-lt"/>
              <a:ea typeface="+mn-ea"/>
              <a:cs typeface="+mn-cs"/>
            </a:endParaRPr>
          </a:p>
          <a:p>
            <a:r>
              <a:rPr lang="de-DE" dirty="0"/>
              <a:t>Die Extension kann nur auf Elemente und Assoziationen zugreifen, die ihr über die zu erweiternde View zur Verfügung stehen.</a:t>
            </a:r>
          </a:p>
          <a:p>
            <a:br>
              <a:rPr lang="de-DE" dirty="0"/>
            </a:br>
            <a:endParaRPr lang="de-DE" dirty="0"/>
          </a:p>
          <a:p>
            <a:r>
              <a:rPr lang="de-DE" b="1" dirty="0"/>
              <a:t>Der Alias fehlt</a:t>
            </a:r>
          </a:p>
          <a:p>
            <a:r>
              <a:rPr lang="de-DE" dirty="0"/>
              <a:t>Ein berechneter Ausdruck benötigt einen Elementnamen:</a:t>
            </a:r>
          </a:p>
          <a:p>
            <a:pPr rtl="0"/>
            <a:r>
              <a:rPr lang="de-DE" sz="1200" kern="1200" dirty="0" err="1">
                <a:solidFill>
                  <a:schemeClr val="tx1"/>
                </a:solidFill>
                <a:latin typeface="+mn-lt"/>
                <a:ea typeface="+mn-ea"/>
                <a:cs typeface="+mn-cs"/>
              </a:rPr>
              <a:t>case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end as </a:t>
            </a:r>
            <a:r>
              <a:rPr lang="de-DE" sz="1200" kern="1200" dirty="0" err="1">
                <a:solidFill>
                  <a:schemeClr val="tx1"/>
                </a:solidFill>
                <a:latin typeface="+mn-lt"/>
                <a:ea typeface="+mn-ea"/>
                <a:cs typeface="+mn-cs"/>
              </a:rPr>
              <a:t>ZZDeliverySituation</a:t>
            </a:r>
            <a:endParaRPr lang="de-DE" sz="1200" kern="1200" dirty="0">
              <a:solidFill>
                <a:schemeClr val="tx1"/>
              </a:solidFill>
              <a:latin typeface="+mn-lt"/>
              <a:ea typeface="+mn-ea"/>
              <a:cs typeface="+mn-cs"/>
            </a:endParaRPr>
          </a:p>
          <a:p>
            <a:r>
              <a:rPr lang="de-DE" dirty="0"/>
              <a:t>Ohne Alias kann das neue Ergebniselement nicht definiert werden.</a:t>
            </a:r>
          </a:p>
          <a:p>
            <a:br>
              <a:rPr lang="de-DE" dirty="0"/>
            </a:br>
            <a:endParaRPr lang="de-DE" dirty="0"/>
          </a:p>
          <a:p>
            <a:r>
              <a:rPr lang="de-DE" b="1" dirty="0"/>
              <a:t>Die </a:t>
            </a:r>
            <a:r>
              <a:rPr lang="de-DE" b="1" dirty="0" err="1"/>
              <a:t>Metadata</a:t>
            </a:r>
            <a:r>
              <a:rPr lang="de-DE" b="1" dirty="0"/>
              <a:t> Extension erzeugt kein Element</a:t>
            </a:r>
          </a:p>
          <a:p>
            <a:r>
              <a:rPr lang="de-DE" dirty="0"/>
              <a:t>Folgendes funktioniert nur, wenn das Element bereits existiert:</a:t>
            </a:r>
          </a:p>
          <a:p>
            <a:pPr rtl="0"/>
            <a:r>
              <a:rPr lang="de-DE" sz="1200" kern="1200" dirty="0" err="1">
                <a:solidFill>
                  <a:schemeClr val="tx1"/>
                </a:solidFill>
                <a:latin typeface="+mn-lt"/>
                <a:ea typeface="+mn-ea"/>
                <a:cs typeface="+mn-cs"/>
              </a:rPr>
              <a:t>annotate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with</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ZZDeliverySituation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r>
              <a:rPr lang="de-DE" dirty="0"/>
              <a:t>Eine </a:t>
            </a:r>
            <a:r>
              <a:rPr lang="de-DE" dirty="0" err="1"/>
              <a:t>Metadata</a:t>
            </a:r>
            <a:r>
              <a:rPr lang="de-DE" dirty="0"/>
              <a:t> Extension annotiert Elemente. Sie ergänzt keine Datenfelder.</a:t>
            </a:r>
          </a:p>
          <a:p>
            <a:br>
              <a:rPr lang="de-DE" dirty="0"/>
            </a:br>
            <a:endParaRPr lang="de-DE" dirty="0"/>
          </a:p>
          <a:p>
            <a:r>
              <a:rPr lang="de-DE" b="1" dirty="0"/>
              <a:t>Änderungen erscheinen nicht in der Vorschau</a:t>
            </a:r>
          </a:p>
          <a:p>
            <a:r>
              <a:rPr lang="de-DE" dirty="0"/>
              <a:t>Nach Änderungen müssen die Objekte in der richtigen Reihenfolge aktiviert werden:</a:t>
            </a:r>
          </a:p>
          <a:p>
            <a:pPr lvl="0"/>
            <a:r>
              <a:rPr lang="de-DE" dirty="0"/>
              <a:t>benötigte Datenquellen </a:t>
            </a:r>
          </a:p>
          <a:p>
            <a:pPr lvl="0"/>
            <a:r>
              <a:rPr lang="de-DE" dirty="0"/>
              <a:t>Basis-View </a:t>
            </a:r>
          </a:p>
          <a:p>
            <a:pPr lvl="0"/>
            <a:r>
              <a:rPr lang="de-DE" dirty="0"/>
              <a:t>View Extension </a:t>
            </a:r>
          </a:p>
          <a:p>
            <a:pPr lvl="0"/>
            <a:r>
              <a:rPr lang="de-DE" dirty="0" err="1"/>
              <a:t>Metadata</a:t>
            </a:r>
            <a:r>
              <a:rPr lang="de-DE" dirty="0"/>
              <a:t> Extension </a:t>
            </a:r>
          </a:p>
          <a:p>
            <a:pPr lvl="0"/>
            <a:r>
              <a:rPr lang="de-DE" dirty="0"/>
              <a:t>konsumierende Views oder Services </a:t>
            </a:r>
          </a:p>
          <a:p>
            <a:r>
              <a:rPr lang="de-DE" dirty="0"/>
              <a:t>Bei </a:t>
            </a:r>
            <a:r>
              <a:rPr lang="de-DE" dirty="0" err="1"/>
              <a:t>gecachten</a:t>
            </a:r>
            <a:r>
              <a:rPr lang="de-DE" dirty="0"/>
              <a:t> Service-Metadaten kann anschließend eine erneute Veröffentlichung oder Aktualisierung erforderlich sein.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44</a:t>
            </a:fld>
            <a:endParaRPr lang="de-DE" dirty="0"/>
          </a:p>
        </p:txBody>
      </p:sp>
    </p:spTree>
    <p:extLst>
      <p:ext uri="{BB962C8B-B14F-4D97-AF65-F5344CB8AC3E}">
        <p14:creationId xmlns:p14="http://schemas.microsoft.com/office/powerpoint/2010/main" val="18009217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Damit ist der zweite Teil unserer Workshopreihe abgeschlossen.</a:t>
            </a:r>
          </a:p>
          <a:p>
            <a:endParaRPr lang="de-DE" dirty="0"/>
          </a:p>
          <a:p>
            <a:r>
              <a:rPr lang="de-DE" dirty="0"/>
              <a:t>Wir haben zunächst einzelne Werte mit SQL-Ausdrücken berechnet. Danach haben wir eingebaute Funktionen für Zeichenketten, Datumswerte und Typkonvertierungen verwendet.</a:t>
            </a:r>
          </a:p>
          <a:p>
            <a:endParaRPr lang="de-DE" dirty="0"/>
          </a:p>
          <a:p>
            <a:r>
              <a:rPr lang="de-DE" dirty="0"/>
              <a:t>Mit den Semantikannotation haben wir Mengen und Währungsbeträge fachlich beschrieben. Anschließend haben wir mehrere Datensätze aggregiert und unterschiedliche Bestelltypen mit </a:t>
            </a:r>
            <a:r>
              <a:rPr lang="de-DE" sz="1200" kern="1200" dirty="0">
                <a:solidFill>
                  <a:schemeClr val="tx1"/>
                </a:solidFill>
                <a:latin typeface="+mn-lt"/>
                <a:ea typeface="+mn-ea"/>
                <a:cs typeface="+mn-cs"/>
              </a:rPr>
              <a:t>UNION ALL</a:t>
            </a:r>
            <a:r>
              <a:rPr lang="de-DE" dirty="0"/>
              <a:t> zusammengeführt.</a:t>
            </a:r>
          </a:p>
          <a:p>
            <a:endParaRPr lang="de-DE" dirty="0"/>
          </a:p>
          <a:p>
            <a:r>
              <a:rPr lang="de-DE" dirty="0"/>
              <a:t>Zum Abschluss haben wir gesehen, wie sich ein CDS-Modell auf zwei unterschiedlichen Ebenen modifikationsfrei erweitern lässt.</a:t>
            </a:r>
          </a:p>
          <a:p>
            <a:endParaRPr lang="de-DE" dirty="0"/>
          </a:p>
          <a:p>
            <a:r>
              <a:rPr lang="de-DE" dirty="0"/>
              <a:t>Eine View Extension ergänzt die Datenstruktur. Eine </a:t>
            </a:r>
            <a:r>
              <a:rPr lang="de-DE" dirty="0" err="1"/>
              <a:t>Metadata</a:t>
            </a:r>
            <a:r>
              <a:rPr lang="de-DE" dirty="0"/>
              <a:t> Extension ergänzt Annotationen, ohne die Datenstruktur zu verändern.</a:t>
            </a:r>
          </a:p>
          <a:p>
            <a:endParaRPr lang="de-DE" dirty="0"/>
          </a:p>
          <a:p>
            <a:r>
              <a:rPr lang="de-DE" dirty="0"/>
              <a:t>Im dritten Teil verwenden wir dieses Modell als Grundlage für konsumierbare Anwendungen. Wir beschäftigen uns dort insbesondere mit UI-Metadaten, Fiori Elements, analytischen Modellen und Hierarchien.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45</a:t>
            </a:fld>
            <a:endParaRPr lang="de-DE" dirty="0"/>
          </a:p>
        </p:txBody>
      </p:sp>
    </p:spTree>
    <p:extLst>
      <p:ext uri="{BB962C8B-B14F-4D97-AF65-F5344CB8AC3E}">
        <p14:creationId xmlns:p14="http://schemas.microsoft.com/office/powerpoint/2010/main" val="11674573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46</a:t>
            </a:fld>
            <a:endParaRPr lang="de-DE" dirty="0"/>
          </a:p>
        </p:txBody>
      </p:sp>
    </p:spTree>
    <p:extLst>
      <p:ext uri="{BB962C8B-B14F-4D97-AF65-F5344CB8AC3E}">
        <p14:creationId xmlns:p14="http://schemas.microsoft.com/office/powerpoint/2010/main" val="7349828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47</a:t>
            </a:fld>
            <a:endParaRPr lang="de-DE" dirty="0"/>
          </a:p>
        </p:txBody>
      </p:sp>
    </p:spTree>
    <p:extLst>
      <p:ext uri="{BB962C8B-B14F-4D97-AF65-F5344CB8AC3E}">
        <p14:creationId xmlns:p14="http://schemas.microsoft.com/office/powerpoint/2010/main" val="32299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CBA5C6-AA22-3537-BFD8-3B3B96B501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B920B5-11DB-39F1-438C-45576462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FFC1068-AC93-FA27-6824-B39557D75988}"/>
              </a:ext>
            </a:extLst>
          </p:cNvPr>
          <p:cNvSpPr>
            <a:spLocks noGrp="1"/>
          </p:cNvSpPr>
          <p:nvPr>
            <p:ph type="dt" sz="half" idx="10"/>
          </p:nvPr>
        </p:nvSpPr>
        <p:spPr>
          <a:xfrm>
            <a:off x="838200" y="6356350"/>
            <a:ext cx="2743200" cy="365125"/>
          </a:xfrm>
          <a:prstGeom prst="rect">
            <a:avLst/>
          </a:prstGeom>
        </p:spPr>
        <p:txBody>
          <a:bodyPr/>
          <a:lstStyle/>
          <a:p>
            <a:fld id="{A9536FE4-5786-419D-BEFC-501822F05845}" type="datetime1">
              <a:rPr lang="de-DE" smtClean="0"/>
              <a:t>10.08.2026</a:t>
            </a:fld>
            <a:endParaRPr lang="de-DE" dirty="0"/>
          </a:p>
        </p:txBody>
      </p:sp>
      <p:sp>
        <p:nvSpPr>
          <p:cNvPr id="5" name="Fußzeilenplatzhalter 4">
            <a:extLst>
              <a:ext uri="{FF2B5EF4-FFF2-40B4-BE49-F238E27FC236}">
                <a16:creationId xmlns:a16="http://schemas.microsoft.com/office/drawing/2014/main" id="{B79C8490-17D4-2876-2238-01DFC41C9E76}"/>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CDC8C4AA-D2D4-85E2-46CC-A17FD346EBEE}"/>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09924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E5684-8251-E29F-5A2A-12D2C04081D0}"/>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667783B3-FAFD-8C19-FBB1-16BFD18789E9}"/>
              </a:ext>
            </a:extLst>
          </p:cNvPr>
          <p:cNvSpPr>
            <a:spLocks noGrp="1"/>
          </p:cNvSpPr>
          <p:nvPr>
            <p:ph idx="1"/>
          </p:nvPr>
        </p:nvSpPr>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51285BF-5671-0420-60D5-884EC2F6FF5E}"/>
              </a:ext>
            </a:extLst>
          </p:cNvPr>
          <p:cNvSpPr>
            <a:spLocks noGrp="1"/>
          </p:cNvSpPr>
          <p:nvPr>
            <p:ph type="dt" sz="half" idx="10"/>
          </p:nvPr>
        </p:nvSpPr>
        <p:spPr>
          <a:xfrm>
            <a:off x="838200" y="6356350"/>
            <a:ext cx="2743200" cy="365125"/>
          </a:xfrm>
          <a:prstGeom prst="rect">
            <a:avLst/>
          </a:prstGeom>
        </p:spPr>
        <p:txBody>
          <a:bodyPr/>
          <a:lstStyle/>
          <a:p>
            <a:fld id="{15B639AA-02E9-47DF-BFAD-69C50BB74770}" type="datetime1">
              <a:rPr lang="de-DE" smtClean="0"/>
              <a:t>10.08.2026</a:t>
            </a:fld>
            <a:endParaRPr lang="de-DE" dirty="0"/>
          </a:p>
        </p:txBody>
      </p:sp>
      <p:sp>
        <p:nvSpPr>
          <p:cNvPr id="5" name="Fußzeilenplatzhalter 4">
            <a:extLst>
              <a:ext uri="{FF2B5EF4-FFF2-40B4-BE49-F238E27FC236}">
                <a16:creationId xmlns:a16="http://schemas.microsoft.com/office/drawing/2014/main" id="{10F8A230-46A9-6446-6656-1613579BA8AC}"/>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FF5EC8A-A7F1-7E1D-EF78-D2BD6560E815}"/>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78965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DD6CEF-83A0-8501-0860-64379D07AD5C}"/>
              </a:ext>
            </a:extLst>
          </p:cNvPr>
          <p:cNvSpPr>
            <a:spLocks noGrp="1"/>
          </p:cNvSpPr>
          <p:nvPr>
            <p:ph type="title"/>
          </p:nvPr>
        </p:nvSpPr>
        <p:spPr>
          <a:xfrm>
            <a:off x="831850" y="1709738"/>
            <a:ext cx="10515600" cy="2852737"/>
          </a:xfrm>
        </p:spPr>
        <p:txBody>
          <a:bodyPr lIns="0" anchor="b"/>
          <a:lstStyle>
            <a:lvl1pPr>
              <a:defRPr sz="6000"/>
            </a:lvl1pPr>
          </a:lstStyle>
          <a:p>
            <a:r>
              <a:rPr lang="de-DE" dirty="0"/>
              <a:t>Mastertitelformat bearbeiten</a:t>
            </a:r>
          </a:p>
        </p:txBody>
      </p:sp>
      <p:sp>
        <p:nvSpPr>
          <p:cNvPr id="3" name="Textplatzhalter 2">
            <a:extLst>
              <a:ext uri="{FF2B5EF4-FFF2-40B4-BE49-F238E27FC236}">
                <a16:creationId xmlns:a16="http://schemas.microsoft.com/office/drawing/2014/main" id="{E2CA302A-1DF6-5BFE-AAB4-243E6F266692}"/>
              </a:ext>
            </a:extLst>
          </p:cNvPr>
          <p:cNvSpPr>
            <a:spLocks noGrp="1"/>
          </p:cNvSpPr>
          <p:nvPr>
            <p:ph type="body" idx="1"/>
          </p:nvPr>
        </p:nvSpPr>
        <p:spPr>
          <a:xfrm>
            <a:off x="831850" y="4589463"/>
            <a:ext cx="10515600" cy="1500187"/>
          </a:xfrm>
        </p:spPr>
        <p:txBody>
          <a:bodyPr lIns="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Mastertextformat bearbeiten</a:t>
            </a:r>
          </a:p>
        </p:txBody>
      </p:sp>
      <p:sp>
        <p:nvSpPr>
          <p:cNvPr id="4" name="Datumsplatzhalter 3">
            <a:extLst>
              <a:ext uri="{FF2B5EF4-FFF2-40B4-BE49-F238E27FC236}">
                <a16:creationId xmlns:a16="http://schemas.microsoft.com/office/drawing/2014/main" id="{ACB97290-D9D2-BDEA-B544-9D80C7C92688}"/>
              </a:ext>
            </a:extLst>
          </p:cNvPr>
          <p:cNvSpPr>
            <a:spLocks noGrp="1"/>
          </p:cNvSpPr>
          <p:nvPr>
            <p:ph type="dt" sz="half" idx="10"/>
          </p:nvPr>
        </p:nvSpPr>
        <p:spPr>
          <a:xfrm>
            <a:off x="838200" y="6356350"/>
            <a:ext cx="2743200" cy="365125"/>
          </a:xfrm>
          <a:prstGeom prst="rect">
            <a:avLst/>
          </a:prstGeom>
        </p:spPr>
        <p:txBody>
          <a:bodyPr/>
          <a:lstStyle/>
          <a:p>
            <a:fld id="{2791E82D-3FE7-482A-9BEE-155BD834B8C0}" type="datetime1">
              <a:rPr lang="de-DE" smtClean="0"/>
              <a:t>10.08.2026</a:t>
            </a:fld>
            <a:endParaRPr lang="de-DE" dirty="0"/>
          </a:p>
        </p:txBody>
      </p:sp>
      <p:sp>
        <p:nvSpPr>
          <p:cNvPr id="5" name="Fußzeilenplatzhalter 4">
            <a:extLst>
              <a:ext uri="{FF2B5EF4-FFF2-40B4-BE49-F238E27FC236}">
                <a16:creationId xmlns:a16="http://schemas.microsoft.com/office/drawing/2014/main" id="{BCBA3C84-9825-0644-758D-17885723D524}"/>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B93EE689-D1AA-12E2-15CE-D86564CA263F}"/>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095475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93A0F-F7B1-1AEE-20A3-08A6B8BEEF86}"/>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1B48FD81-6911-F9F5-18A9-321A9DE0310A}"/>
              </a:ext>
            </a:extLst>
          </p:cNvPr>
          <p:cNvSpPr>
            <a:spLocks noGrp="1"/>
          </p:cNvSpPr>
          <p:nvPr>
            <p:ph sz="half" idx="1"/>
          </p:nvPr>
        </p:nvSpPr>
        <p:spPr>
          <a:xfrm>
            <a:off x="838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055F3876-CC10-CBB5-5183-554DDD8485F2}"/>
              </a:ext>
            </a:extLst>
          </p:cNvPr>
          <p:cNvSpPr>
            <a:spLocks noGrp="1"/>
          </p:cNvSpPr>
          <p:nvPr>
            <p:ph sz="half" idx="2"/>
          </p:nvPr>
        </p:nvSpPr>
        <p:spPr>
          <a:xfrm>
            <a:off x="6172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85613C97-875A-9A9D-9134-D376362DB8D2}"/>
              </a:ext>
            </a:extLst>
          </p:cNvPr>
          <p:cNvSpPr>
            <a:spLocks noGrp="1"/>
          </p:cNvSpPr>
          <p:nvPr>
            <p:ph type="dt" sz="half" idx="10"/>
          </p:nvPr>
        </p:nvSpPr>
        <p:spPr>
          <a:xfrm>
            <a:off x="838200" y="6356350"/>
            <a:ext cx="2743200" cy="365125"/>
          </a:xfrm>
          <a:prstGeom prst="rect">
            <a:avLst/>
          </a:prstGeom>
        </p:spPr>
        <p:txBody>
          <a:bodyPr/>
          <a:lstStyle/>
          <a:p>
            <a:fld id="{A9B7B6AC-FEDE-4E87-906B-CA84082377CE}" type="datetime1">
              <a:rPr lang="de-DE" smtClean="0"/>
              <a:t>10.08.2026</a:t>
            </a:fld>
            <a:endParaRPr lang="de-DE" dirty="0"/>
          </a:p>
        </p:txBody>
      </p:sp>
      <p:sp>
        <p:nvSpPr>
          <p:cNvPr id="6" name="Fußzeilenplatzhalter 5">
            <a:extLst>
              <a:ext uri="{FF2B5EF4-FFF2-40B4-BE49-F238E27FC236}">
                <a16:creationId xmlns:a16="http://schemas.microsoft.com/office/drawing/2014/main" id="{D7EB2499-5D99-DB45-0226-CBBFB473779A}"/>
              </a:ext>
            </a:extLst>
          </p:cNvPr>
          <p:cNvSpPr>
            <a:spLocks noGrp="1"/>
          </p:cNvSpPr>
          <p:nvPr>
            <p:ph type="ftr" sz="quarter" idx="11"/>
          </p:nvPr>
        </p:nvSpPr>
        <p:spPr/>
        <p:txBody>
          <a:bodyPr lIns="0"/>
          <a:lstStyle/>
          <a:p>
            <a:endParaRPr lang="de-DE" dirty="0"/>
          </a:p>
        </p:txBody>
      </p:sp>
      <p:sp>
        <p:nvSpPr>
          <p:cNvPr id="7" name="Foliennummernplatzhalter 6">
            <a:extLst>
              <a:ext uri="{FF2B5EF4-FFF2-40B4-BE49-F238E27FC236}">
                <a16:creationId xmlns:a16="http://schemas.microsoft.com/office/drawing/2014/main" id="{E20C516F-6889-2622-CB47-71F4A953FC9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2025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41093-F901-B522-3FF7-96221A8DB03C}"/>
              </a:ext>
            </a:extLst>
          </p:cNvPr>
          <p:cNvSpPr>
            <a:spLocks noGrp="1"/>
          </p:cNvSpPr>
          <p:nvPr>
            <p:ph type="title"/>
          </p:nvPr>
        </p:nvSpPr>
        <p:spPr>
          <a:xfrm>
            <a:off x="839788" y="365125"/>
            <a:ext cx="10515600" cy="1325563"/>
          </a:xfrm>
        </p:spPr>
        <p:txBody>
          <a:bodyPr lIns="0"/>
          <a:lstStyle/>
          <a:p>
            <a:r>
              <a:rPr lang="de-DE" dirty="0"/>
              <a:t>Mastertitelformat bearbeiten</a:t>
            </a:r>
          </a:p>
        </p:txBody>
      </p:sp>
      <p:sp>
        <p:nvSpPr>
          <p:cNvPr id="3" name="Textplatzhalter 2">
            <a:extLst>
              <a:ext uri="{FF2B5EF4-FFF2-40B4-BE49-F238E27FC236}">
                <a16:creationId xmlns:a16="http://schemas.microsoft.com/office/drawing/2014/main" id="{BCCE7358-7990-7D06-C065-9F0FA0E951D6}"/>
              </a:ext>
            </a:extLst>
          </p:cNvPr>
          <p:cNvSpPr>
            <a:spLocks noGrp="1"/>
          </p:cNvSpPr>
          <p:nvPr>
            <p:ph type="body" idx="1"/>
          </p:nvPr>
        </p:nvSpPr>
        <p:spPr>
          <a:xfrm>
            <a:off x="839788" y="1681163"/>
            <a:ext cx="5157787"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a:extLst>
              <a:ext uri="{FF2B5EF4-FFF2-40B4-BE49-F238E27FC236}">
                <a16:creationId xmlns:a16="http://schemas.microsoft.com/office/drawing/2014/main" id="{DCD64BAF-9E55-00A2-B16E-2A2AB1FFE3B9}"/>
              </a:ext>
            </a:extLst>
          </p:cNvPr>
          <p:cNvSpPr>
            <a:spLocks noGrp="1"/>
          </p:cNvSpPr>
          <p:nvPr>
            <p:ph sz="half" idx="2"/>
          </p:nvPr>
        </p:nvSpPr>
        <p:spPr>
          <a:xfrm>
            <a:off x="839788" y="2505075"/>
            <a:ext cx="5157787"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DE21E76C-E1A6-92CB-1A6C-39DF9EA616BD}"/>
              </a:ext>
            </a:extLst>
          </p:cNvPr>
          <p:cNvSpPr>
            <a:spLocks noGrp="1"/>
          </p:cNvSpPr>
          <p:nvPr>
            <p:ph type="body" sz="quarter" idx="3"/>
          </p:nvPr>
        </p:nvSpPr>
        <p:spPr>
          <a:xfrm>
            <a:off x="6172200" y="1681163"/>
            <a:ext cx="5183188"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Inhaltsplatzhalter 5">
            <a:extLst>
              <a:ext uri="{FF2B5EF4-FFF2-40B4-BE49-F238E27FC236}">
                <a16:creationId xmlns:a16="http://schemas.microsoft.com/office/drawing/2014/main" id="{F6B46EFD-F626-D064-BAEC-144DDDBFFA8D}"/>
              </a:ext>
            </a:extLst>
          </p:cNvPr>
          <p:cNvSpPr>
            <a:spLocks noGrp="1"/>
          </p:cNvSpPr>
          <p:nvPr>
            <p:ph sz="quarter" idx="4"/>
          </p:nvPr>
        </p:nvSpPr>
        <p:spPr>
          <a:xfrm>
            <a:off x="6172200" y="2505075"/>
            <a:ext cx="5183188"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57E90FD-0856-7859-83CD-8CF6B71937D5}"/>
              </a:ext>
            </a:extLst>
          </p:cNvPr>
          <p:cNvSpPr>
            <a:spLocks noGrp="1"/>
          </p:cNvSpPr>
          <p:nvPr>
            <p:ph type="dt" sz="half" idx="10"/>
          </p:nvPr>
        </p:nvSpPr>
        <p:spPr>
          <a:xfrm>
            <a:off x="838200" y="6356350"/>
            <a:ext cx="2743200" cy="365125"/>
          </a:xfrm>
          <a:prstGeom prst="rect">
            <a:avLst/>
          </a:prstGeom>
        </p:spPr>
        <p:txBody>
          <a:bodyPr/>
          <a:lstStyle/>
          <a:p>
            <a:fld id="{797C16CE-5020-4093-8D5C-EC8F7F3E68A7}" type="datetime1">
              <a:rPr lang="de-DE" smtClean="0"/>
              <a:t>10.08.2026</a:t>
            </a:fld>
            <a:endParaRPr lang="de-DE" dirty="0"/>
          </a:p>
        </p:txBody>
      </p:sp>
      <p:sp>
        <p:nvSpPr>
          <p:cNvPr id="8" name="Fußzeilenplatzhalter 7">
            <a:extLst>
              <a:ext uri="{FF2B5EF4-FFF2-40B4-BE49-F238E27FC236}">
                <a16:creationId xmlns:a16="http://schemas.microsoft.com/office/drawing/2014/main" id="{6C00833E-7D6F-81E1-4D90-3D401D8335DA}"/>
              </a:ext>
            </a:extLst>
          </p:cNvPr>
          <p:cNvSpPr>
            <a:spLocks noGrp="1"/>
          </p:cNvSpPr>
          <p:nvPr>
            <p:ph type="ftr" sz="quarter" idx="11"/>
          </p:nvPr>
        </p:nvSpPr>
        <p:spPr/>
        <p:txBody>
          <a:bodyPr/>
          <a:lstStyle/>
          <a:p>
            <a:endParaRPr lang="de-DE" dirty="0"/>
          </a:p>
        </p:txBody>
      </p:sp>
      <p:sp>
        <p:nvSpPr>
          <p:cNvPr id="9" name="Foliennummernplatzhalter 8">
            <a:extLst>
              <a:ext uri="{FF2B5EF4-FFF2-40B4-BE49-F238E27FC236}">
                <a16:creationId xmlns:a16="http://schemas.microsoft.com/office/drawing/2014/main" id="{E8F1E2F3-CA87-290B-D146-1A4186D490D8}"/>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52694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98D28F-6483-5658-A729-17CF97AEC628}"/>
              </a:ext>
            </a:extLst>
          </p:cNvPr>
          <p:cNvSpPr>
            <a:spLocks noGrp="1"/>
          </p:cNvSpPr>
          <p:nvPr>
            <p:ph type="title"/>
          </p:nvPr>
        </p:nvSpPr>
        <p:spPr/>
        <p:txBody>
          <a:bodyPr lIns="0"/>
          <a:lstStyle/>
          <a:p>
            <a:r>
              <a:rPr lang="de-DE" dirty="0"/>
              <a:t>Mastertitelformat bearbeiten</a:t>
            </a:r>
          </a:p>
        </p:txBody>
      </p:sp>
      <p:sp>
        <p:nvSpPr>
          <p:cNvPr id="3" name="Datumsplatzhalter 2">
            <a:extLst>
              <a:ext uri="{FF2B5EF4-FFF2-40B4-BE49-F238E27FC236}">
                <a16:creationId xmlns:a16="http://schemas.microsoft.com/office/drawing/2014/main" id="{4C9EC290-D7B2-8C57-8382-57338C82EA19}"/>
              </a:ext>
            </a:extLst>
          </p:cNvPr>
          <p:cNvSpPr>
            <a:spLocks noGrp="1"/>
          </p:cNvSpPr>
          <p:nvPr>
            <p:ph type="dt" sz="half" idx="10"/>
          </p:nvPr>
        </p:nvSpPr>
        <p:spPr>
          <a:xfrm>
            <a:off x="838200" y="6356350"/>
            <a:ext cx="2743200" cy="365125"/>
          </a:xfrm>
          <a:prstGeom prst="rect">
            <a:avLst/>
          </a:prstGeom>
        </p:spPr>
        <p:txBody>
          <a:bodyPr/>
          <a:lstStyle/>
          <a:p>
            <a:fld id="{25819BBE-EF90-431C-8C14-C0758E0ADB00}" type="datetime1">
              <a:rPr lang="de-DE" smtClean="0"/>
              <a:t>10.08.2026</a:t>
            </a:fld>
            <a:endParaRPr lang="de-DE" dirty="0"/>
          </a:p>
        </p:txBody>
      </p:sp>
      <p:sp>
        <p:nvSpPr>
          <p:cNvPr id="4" name="Fußzeilenplatzhalter 3">
            <a:extLst>
              <a:ext uri="{FF2B5EF4-FFF2-40B4-BE49-F238E27FC236}">
                <a16:creationId xmlns:a16="http://schemas.microsoft.com/office/drawing/2014/main" id="{7D12D6A7-2ABD-D449-DE85-D48F9F3B693E}"/>
              </a:ext>
            </a:extLst>
          </p:cNvPr>
          <p:cNvSpPr>
            <a:spLocks noGrp="1"/>
          </p:cNvSpPr>
          <p:nvPr>
            <p:ph type="ftr" sz="quarter" idx="11"/>
          </p:nvPr>
        </p:nvSpPr>
        <p:spPr/>
        <p:txBody>
          <a:bodyPr/>
          <a:lstStyle/>
          <a:p>
            <a:endParaRPr lang="de-DE" dirty="0"/>
          </a:p>
        </p:txBody>
      </p:sp>
      <p:sp>
        <p:nvSpPr>
          <p:cNvPr id="5" name="Foliennummernplatzhalter 4">
            <a:extLst>
              <a:ext uri="{FF2B5EF4-FFF2-40B4-BE49-F238E27FC236}">
                <a16:creationId xmlns:a16="http://schemas.microsoft.com/office/drawing/2014/main" id="{AAF8C156-EB81-B362-55E9-C503F2568A8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6231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7A5C929-59B7-1FAF-6FF9-600F932477B4}"/>
              </a:ext>
            </a:extLst>
          </p:cNvPr>
          <p:cNvSpPr>
            <a:spLocks noGrp="1"/>
          </p:cNvSpPr>
          <p:nvPr>
            <p:ph type="dt" sz="half" idx="10"/>
          </p:nvPr>
        </p:nvSpPr>
        <p:spPr>
          <a:xfrm>
            <a:off x="838200" y="6356350"/>
            <a:ext cx="2743200" cy="365125"/>
          </a:xfrm>
          <a:prstGeom prst="rect">
            <a:avLst/>
          </a:prstGeom>
        </p:spPr>
        <p:txBody>
          <a:bodyPr/>
          <a:lstStyle/>
          <a:p>
            <a:fld id="{291CE142-BB2A-4BDF-83C5-943C5DEBC55E}" type="datetime1">
              <a:rPr lang="de-DE" smtClean="0"/>
              <a:t>10.08.2026</a:t>
            </a:fld>
            <a:endParaRPr lang="de-DE" dirty="0"/>
          </a:p>
        </p:txBody>
      </p:sp>
      <p:sp>
        <p:nvSpPr>
          <p:cNvPr id="3" name="Fußzeilenplatzhalter 2">
            <a:extLst>
              <a:ext uri="{FF2B5EF4-FFF2-40B4-BE49-F238E27FC236}">
                <a16:creationId xmlns:a16="http://schemas.microsoft.com/office/drawing/2014/main" id="{C07468D1-61BD-A655-E9CD-070D574FE9A5}"/>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7AF0701C-EC72-D386-DC42-C6FDC64DF22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48080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224BF-C075-F58A-8F07-C0E2D66891F1}"/>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Inhaltsplatzhalter 2">
            <a:extLst>
              <a:ext uri="{FF2B5EF4-FFF2-40B4-BE49-F238E27FC236}">
                <a16:creationId xmlns:a16="http://schemas.microsoft.com/office/drawing/2014/main" id="{30D79D7D-CA98-A993-95BA-71CC42B94BD9}"/>
              </a:ext>
            </a:extLst>
          </p:cNvPr>
          <p:cNvSpPr>
            <a:spLocks noGrp="1"/>
          </p:cNvSpPr>
          <p:nvPr>
            <p:ph idx="1"/>
          </p:nvPr>
        </p:nvSpPr>
        <p:spPr>
          <a:xfrm>
            <a:off x="5183188" y="987425"/>
            <a:ext cx="6172200" cy="4873625"/>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3E5B85EE-8521-41AF-7854-5DDCC58A34E3}"/>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E8286844-0BC0-0AD3-C849-FD4DDE3B55E5}"/>
              </a:ext>
            </a:extLst>
          </p:cNvPr>
          <p:cNvSpPr>
            <a:spLocks noGrp="1"/>
          </p:cNvSpPr>
          <p:nvPr>
            <p:ph type="dt" sz="half" idx="10"/>
          </p:nvPr>
        </p:nvSpPr>
        <p:spPr>
          <a:xfrm>
            <a:off x="838200" y="6356350"/>
            <a:ext cx="2743200" cy="365125"/>
          </a:xfrm>
          <a:prstGeom prst="rect">
            <a:avLst/>
          </a:prstGeom>
        </p:spPr>
        <p:txBody>
          <a:bodyPr/>
          <a:lstStyle/>
          <a:p>
            <a:fld id="{1F5E831C-3B82-4066-A869-E07623BB2494}" type="datetime1">
              <a:rPr lang="de-DE" smtClean="0"/>
              <a:t>10.08.2026</a:t>
            </a:fld>
            <a:endParaRPr lang="de-DE" dirty="0"/>
          </a:p>
        </p:txBody>
      </p:sp>
      <p:sp>
        <p:nvSpPr>
          <p:cNvPr id="6" name="Fußzeilenplatzhalter 5">
            <a:extLst>
              <a:ext uri="{FF2B5EF4-FFF2-40B4-BE49-F238E27FC236}">
                <a16:creationId xmlns:a16="http://schemas.microsoft.com/office/drawing/2014/main" id="{E9456BFB-2BB6-627E-E63D-BF8857430835}"/>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B9EA5C65-BB23-3D6D-4552-C05EA62C2A2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57347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CC994-77BF-7CD2-9FFC-F77FD81379C3}"/>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Bildplatzhalter 2">
            <a:extLst>
              <a:ext uri="{FF2B5EF4-FFF2-40B4-BE49-F238E27FC236}">
                <a16:creationId xmlns:a16="http://schemas.microsoft.com/office/drawing/2014/main" id="{82B47D57-842E-720E-BE3C-5FC783A43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4" name="Textplatzhalter 3">
            <a:extLst>
              <a:ext uri="{FF2B5EF4-FFF2-40B4-BE49-F238E27FC236}">
                <a16:creationId xmlns:a16="http://schemas.microsoft.com/office/drawing/2014/main" id="{88154144-9441-01CD-B5F6-58145AAB8C27}"/>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39939527-D869-E5B6-5154-59D45B037311}"/>
              </a:ext>
            </a:extLst>
          </p:cNvPr>
          <p:cNvSpPr>
            <a:spLocks noGrp="1"/>
          </p:cNvSpPr>
          <p:nvPr>
            <p:ph type="dt" sz="half" idx="10"/>
          </p:nvPr>
        </p:nvSpPr>
        <p:spPr>
          <a:xfrm>
            <a:off x="838200" y="6356350"/>
            <a:ext cx="2743200" cy="365125"/>
          </a:xfrm>
          <a:prstGeom prst="rect">
            <a:avLst/>
          </a:prstGeom>
        </p:spPr>
        <p:txBody>
          <a:bodyPr/>
          <a:lstStyle/>
          <a:p>
            <a:fld id="{FFF409A1-0DE6-4B32-B92B-C95B22F64BE0}" type="datetime1">
              <a:rPr lang="de-DE" smtClean="0"/>
              <a:t>10.08.2026</a:t>
            </a:fld>
            <a:endParaRPr lang="de-DE" dirty="0"/>
          </a:p>
        </p:txBody>
      </p:sp>
      <p:sp>
        <p:nvSpPr>
          <p:cNvPr id="6" name="Fußzeilenplatzhalter 5">
            <a:extLst>
              <a:ext uri="{FF2B5EF4-FFF2-40B4-BE49-F238E27FC236}">
                <a16:creationId xmlns:a16="http://schemas.microsoft.com/office/drawing/2014/main" id="{4210ED70-0049-547C-8C4A-F92106835E2F}"/>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387AA5B5-6E70-90F4-35CF-DE1E28E576C2}"/>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892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0608B-DF17-3949-88AE-9CD937E6C54A}"/>
              </a:ext>
            </a:extLst>
          </p:cNvPr>
          <p:cNvSpPr>
            <a:spLocks noGrp="1"/>
          </p:cNvSpPr>
          <p:nvPr>
            <p:ph type="title"/>
          </p:nvPr>
        </p:nvSpPr>
        <p:spPr/>
        <p:txBody>
          <a:bodyPr lIns="0"/>
          <a:lstStyle/>
          <a:p>
            <a:r>
              <a:rPr lang="de-DE" dirty="0"/>
              <a:t>Mastertitelformat bearbeiten</a:t>
            </a:r>
          </a:p>
        </p:txBody>
      </p:sp>
      <p:sp>
        <p:nvSpPr>
          <p:cNvPr id="3" name="Vertikaler Textplatzhalter 2">
            <a:extLst>
              <a:ext uri="{FF2B5EF4-FFF2-40B4-BE49-F238E27FC236}">
                <a16:creationId xmlns:a16="http://schemas.microsoft.com/office/drawing/2014/main" id="{5B03D809-8F02-38B3-E70B-B1C42DCDB5F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CE5C240-12FE-F728-9A85-67681C695451}"/>
              </a:ext>
            </a:extLst>
          </p:cNvPr>
          <p:cNvSpPr>
            <a:spLocks noGrp="1"/>
          </p:cNvSpPr>
          <p:nvPr>
            <p:ph type="dt" sz="half" idx="10"/>
          </p:nvPr>
        </p:nvSpPr>
        <p:spPr>
          <a:xfrm>
            <a:off x="838200" y="6356350"/>
            <a:ext cx="2743200" cy="365125"/>
          </a:xfrm>
          <a:prstGeom prst="rect">
            <a:avLst/>
          </a:prstGeom>
        </p:spPr>
        <p:txBody>
          <a:bodyPr/>
          <a:lstStyle/>
          <a:p>
            <a:fld id="{0572F267-975B-4E02-B9DF-060D495BECA9}" type="datetime1">
              <a:rPr lang="de-DE" smtClean="0"/>
              <a:t>10.08.2026</a:t>
            </a:fld>
            <a:endParaRPr lang="de-DE" dirty="0"/>
          </a:p>
        </p:txBody>
      </p:sp>
      <p:sp>
        <p:nvSpPr>
          <p:cNvPr id="5" name="Fußzeilenplatzhalter 4">
            <a:extLst>
              <a:ext uri="{FF2B5EF4-FFF2-40B4-BE49-F238E27FC236}">
                <a16:creationId xmlns:a16="http://schemas.microsoft.com/office/drawing/2014/main" id="{CFE7DFB3-CBD1-7DBA-7736-3A621E022248}"/>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A63F9B0-5C73-F2EC-F9E5-0A2B01F0E9B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54599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DF20870-C991-BB7D-37CA-5663C66AAD9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AA1D4A-469B-8B67-93C6-B20E99986B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722488-7B5B-4F01-97FA-120B2F236DEF}"/>
              </a:ext>
            </a:extLst>
          </p:cNvPr>
          <p:cNvSpPr>
            <a:spLocks noGrp="1"/>
          </p:cNvSpPr>
          <p:nvPr>
            <p:ph type="dt" sz="half" idx="10"/>
          </p:nvPr>
        </p:nvSpPr>
        <p:spPr>
          <a:xfrm>
            <a:off x="838200" y="6356350"/>
            <a:ext cx="2743200" cy="365125"/>
          </a:xfrm>
          <a:prstGeom prst="rect">
            <a:avLst/>
          </a:prstGeom>
        </p:spPr>
        <p:txBody>
          <a:bodyPr/>
          <a:lstStyle/>
          <a:p>
            <a:fld id="{296E7FD8-1F1E-4498-9E5E-8106F53A13B7}" type="datetime1">
              <a:rPr lang="de-DE" smtClean="0"/>
              <a:t>10.08.2026</a:t>
            </a:fld>
            <a:endParaRPr lang="de-DE" dirty="0"/>
          </a:p>
        </p:txBody>
      </p:sp>
      <p:sp>
        <p:nvSpPr>
          <p:cNvPr id="5" name="Fußzeilenplatzhalter 4">
            <a:extLst>
              <a:ext uri="{FF2B5EF4-FFF2-40B4-BE49-F238E27FC236}">
                <a16:creationId xmlns:a16="http://schemas.microsoft.com/office/drawing/2014/main" id="{5B4430E0-C88C-2C32-86F9-083731CC100A}"/>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DE5ED0A9-0C8C-4924-6C68-84F845E101DC}"/>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8776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635E341-9ED9-6696-8DA2-032A86DC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3A44B57-4588-B8C3-8B70-EC09D67D9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0B379F4-2229-9BCB-0F89-3BA278B2B640}"/>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dirty="0"/>
          </a:p>
        </p:txBody>
      </p:sp>
      <p:sp>
        <p:nvSpPr>
          <p:cNvPr id="6" name="Foliennummernplatzhalter 5">
            <a:extLst>
              <a:ext uri="{FF2B5EF4-FFF2-40B4-BE49-F238E27FC236}">
                <a16:creationId xmlns:a16="http://schemas.microsoft.com/office/drawing/2014/main" id="{F6F9FE7F-7BDB-3B51-66E5-941A97A3A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C8BF5-653B-41D0-99F2-8CC2D2A1F005}" type="slidenum">
              <a:rPr lang="de-DE" smtClean="0"/>
              <a:t>‹Nr.›</a:t>
            </a:fld>
            <a:endParaRPr lang="de-DE" dirty="0"/>
          </a:p>
        </p:txBody>
      </p:sp>
    </p:spTree>
    <p:extLst>
      <p:ext uri="{BB962C8B-B14F-4D97-AF65-F5344CB8AC3E}">
        <p14:creationId xmlns:p14="http://schemas.microsoft.com/office/powerpoint/2010/main" val="33490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rheinwerk-verlag.de/core-data-services-fuer-abap/"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training.sap.com/course/s4d430-data-modelling-in-abap-dictionary-and-abap-core-data-services-classroom-024-de-de" TargetMode="External"/><Relationship Id="rId4" Type="http://schemas.openxmlformats.org/officeDocument/2006/relationships/hyperlink" Target="https://learning.sap.com/courses/building-data-models-with-the-abap-dictionary-and-abap-core-data-services"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MichaelWegelin/cds-workshop.git"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145329-41F4-501E-FB56-244ED2737B99}"/>
              </a:ext>
            </a:extLst>
          </p:cNvPr>
          <p:cNvSpPr>
            <a:spLocks noGrp="1"/>
          </p:cNvSpPr>
          <p:nvPr>
            <p:ph type="ctrTitle"/>
          </p:nvPr>
        </p:nvSpPr>
        <p:spPr/>
        <p:txBody>
          <a:bodyPr/>
          <a:lstStyle/>
          <a:p>
            <a:r>
              <a:rPr lang="de-DE" dirty="0"/>
              <a:t>Einführung in ABAP Core Data Services</a:t>
            </a:r>
          </a:p>
        </p:txBody>
      </p:sp>
      <p:sp>
        <p:nvSpPr>
          <p:cNvPr id="3" name="Untertitel 2">
            <a:extLst>
              <a:ext uri="{FF2B5EF4-FFF2-40B4-BE49-F238E27FC236}">
                <a16:creationId xmlns:a16="http://schemas.microsoft.com/office/drawing/2014/main" id="{602C510F-AB78-3A01-3A34-CB0CE8198C66}"/>
              </a:ext>
            </a:extLst>
          </p:cNvPr>
          <p:cNvSpPr>
            <a:spLocks noGrp="1"/>
          </p:cNvSpPr>
          <p:nvPr>
            <p:ph type="subTitle" idx="1"/>
          </p:nvPr>
        </p:nvSpPr>
        <p:spPr/>
        <p:txBody>
          <a:bodyPr/>
          <a:lstStyle/>
          <a:p>
            <a:r>
              <a:rPr lang="de-DE" dirty="0"/>
              <a:t>Code </a:t>
            </a:r>
            <a:r>
              <a:rPr lang="de-DE" dirty="0" err="1"/>
              <a:t>Pushdown</a:t>
            </a:r>
            <a:r>
              <a:rPr lang="de-DE" dirty="0"/>
              <a:t> mit CDS View </a:t>
            </a:r>
            <a:r>
              <a:rPr lang="de-DE" dirty="0" err="1"/>
              <a:t>Entities</a:t>
            </a:r>
            <a:r>
              <a:rPr lang="de-DE" dirty="0"/>
              <a:t> und Erweiterungen</a:t>
            </a:r>
          </a:p>
        </p:txBody>
      </p:sp>
    </p:spTree>
    <p:extLst>
      <p:ext uri="{BB962C8B-B14F-4D97-AF65-F5344CB8AC3E}">
        <p14:creationId xmlns:p14="http://schemas.microsoft.com/office/powerpoint/2010/main" val="62539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ADA1E8-AC5F-1BA7-2DB9-FF684ED6E5D9}"/>
              </a:ext>
            </a:extLst>
          </p:cNvPr>
          <p:cNvSpPr>
            <a:spLocks noGrp="1"/>
          </p:cNvSpPr>
          <p:nvPr>
            <p:ph type="title"/>
          </p:nvPr>
        </p:nvSpPr>
        <p:spPr/>
        <p:txBody>
          <a:bodyPr/>
          <a:lstStyle/>
          <a:p>
            <a:r>
              <a:rPr lang="de-DE" dirty="0"/>
              <a:t>Agenda</a:t>
            </a:r>
          </a:p>
        </p:txBody>
      </p:sp>
      <p:sp>
        <p:nvSpPr>
          <p:cNvPr id="5" name="Inhaltsplatzhalter 4">
            <a:extLst>
              <a:ext uri="{FF2B5EF4-FFF2-40B4-BE49-F238E27FC236}">
                <a16:creationId xmlns:a16="http://schemas.microsoft.com/office/drawing/2014/main" id="{E0CC596D-566C-A44C-5FDD-BCE18BC98293}"/>
              </a:ext>
            </a:extLst>
          </p:cNvPr>
          <p:cNvSpPr>
            <a:spLocks noGrp="1"/>
          </p:cNvSpPr>
          <p:nvPr>
            <p:ph idx="1"/>
          </p:nvPr>
        </p:nvSpPr>
        <p:spPr/>
        <p:txBody>
          <a:bodyPr/>
          <a:lstStyle/>
          <a:p>
            <a:pPr lvl="0"/>
            <a:r>
              <a:rPr lang="de-DE" dirty="0" err="1"/>
              <a:t>erechnete</a:t>
            </a:r>
            <a:r>
              <a:rPr lang="de-DE" dirty="0"/>
              <a:t> Elemente mit SQL-Ausdrücken definieren </a:t>
            </a:r>
          </a:p>
          <a:p>
            <a:pPr lvl="0"/>
            <a:r>
              <a:rPr lang="de-DE" dirty="0"/>
              <a:t>eingebaute CDS-Funktionen verwenden </a:t>
            </a:r>
          </a:p>
          <a:p>
            <a:pPr lvl="0"/>
            <a:r>
              <a:rPr lang="de-DE" dirty="0"/>
              <a:t>Beträge und Mengen semantisch korrekt modellieren </a:t>
            </a:r>
          </a:p>
          <a:p>
            <a:pPr lvl="0"/>
            <a:r>
              <a:rPr lang="de-DE" dirty="0"/>
              <a:t>Daten aggregieren und gruppieren </a:t>
            </a:r>
          </a:p>
          <a:p>
            <a:pPr lvl="0"/>
            <a:r>
              <a:rPr lang="de-DE" dirty="0"/>
              <a:t>Datenmengen mit UNION ALL zusammenführen </a:t>
            </a:r>
          </a:p>
          <a:p>
            <a:pPr lvl="0"/>
            <a:r>
              <a:rPr lang="de-DE" dirty="0"/>
              <a:t>CDS View </a:t>
            </a:r>
            <a:r>
              <a:rPr lang="de-DE" dirty="0" err="1"/>
              <a:t>Entities</a:t>
            </a:r>
            <a:r>
              <a:rPr lang="de-DE" dirty="0"/>
              <a:t> modifikationsfrei erweitern</a:t>
            </a:r>
          </a:p>
        </p:txBody>
      </p:sp>
    </p:spTree>
    <p:extLst>
      <p:ext uri="{BB962C8B-B14F-4D97-AF65-F5344CB8AC3E}">
        <p14:creationId xmlns:p14="http://schemas.microsoft.com/office/powerpoint/2010/main" val="257880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9A6580-6F1B-70BF-8057-092C0BE9A574}"/>
              </a:ext>
            </a:extLst>
          </p:cNvPr>
          <p:cNvSpPr>
            <a:spLocks noGrp="1"/>
          </p:cNvSpPr>
          <p:nvPr>
            <p:ph type="title"/>
          </p:nvPr>
        </p:nvSpPr>
        <p:spPr/>
        <p:txBody>
          <a:bodyPr/>
          <a:lstStyle/>
          <a:p>
            <a:r>
              <a:rPr lang="de-DE" dirty="0"/>
              <a:t>Praktische Ergebnisse des Live-</a:t>
            </a:r>
            <a:r>
              <a:rPr lang="de-DE" dirty="0" err="1"/>
              <a:t>Codings</a:t>
            </a:r>
            <a:endParaRPr lang="de-DE" dirty="0"/>
          </a:p>
        </p:txBody>
      </p:sp>
      <p:graphicFrame>
        <p:nvGraphicFramePr>
          <p:cNvPr id="4" name="Inhaltsplatzhalter 3">
            <a:extLst>
              <a:ext uri="{FF2B5EF4-FFF2-40B4-BE49-F238E27FC236}">
                <a16:creationId xmlns:a16="http://schemas.microsoft.com/office/drawing/2014/main" id="{39EE1BA3-C6BB-EA3B-C101-D2018C80B5BC}"/>
              </a:ext>
            </a:extLst>
          </p:cNvPr>
          <p:cNvGraphicFramePr>
            <a:graphicFrameLocks noGrp="1"/>
          </p:cNvGraphicFramePr>
          <p:nvPr>
            <p:ph idx="1"/>
            <p:extLst>
              <p:ext uri="{D42A27DB-BD31-4B8C-83A1-F6EECF244321}">
                <p14:modId xmlns:p14="http://schemas.microsoft.com/office/powerpoint/2010/main" val="3598523472"/>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3264568">
                  <a:extLst>
                    <a:ext uri="{9D8B030D-6E8A-4147-A177-3AD203B41FA5}">
                      <a16:colId xmlns:a16="http://schemas.microsoft.com/office/drawing/2014/main" val="4230271939"/>
                    </a:ext>
                  </a:extLst>
                </a:gridCol>
                <a:gridCol w="7251032">
                  <a:extLst>
                    <a:ext uri="{9D8B030D-6E8A-4147-A177-3AD203B41FA5}">
                      <a16:colId xmlns:a16="http://schemas.microsoft.com/office/drawing/2014/main" val="4133336402"/>
                    </a:ext>
                  </a:extLst>
                </a:gridCol>
              </a:tblGrid>
              <a:tr h="370840">
                <a:tc>
                  <a:txBody>
                    <a:bodyPr/>
                    <a:lstStyle/>
                    <a:p>
                      <a:r>
                        <a:rPr lang="de-DE" dirty="0"/>
                        <a:t>Abschnitt</a:t>
                      </a:r>
                    </a:p>
                  </a:txBody>
                  <a:tcPr/>
                </a:tc>
                <a:tc>
                  <a:txBody>
                    <a:bodyPr/>
                    <a:lstStyle/>
                    <a:p>
                      <a:r>
                        <a:rPr lang="de-DE" dirty="0"/>
                        <a:t>Praktisches Ergebnis</a:t>
                      </a:r>
                    </a:p>
                  </a:txBody>
                  <a:tcPr/>
                </a:tc>
                <a:extLst>
                  <a:ext uri="{0D108BD9-81ED-4DB2-BD59-A6C34878D82A}">
                    <a16:rowId xmlns:a16="http://schemas.microsoft.com/office/drawing/2014/main" val="1558051361"/>
                  </a:ext>
                </a:extLst>
              </a:tr>
              <a:tr h="370840">
                <a:tc>
                  <a:txBody>
                    <a:bodyPr/>
                    <a:lstStyle/>
                    <a:p>
                      <a:r>
                        <a:rPr lang="de-DE" dirty="0"/>
                        <a:t>SQL-Ausdrücke</a:t>
                      </a:r>
                    </a:p>
                  </a:txBody>
                  <a:tcPr/>
                </a:tc>
                <a:tc>
                  <a:txBody>
                    <a:bodyPr/>
                    <a:lstStyle/>
                    <a:p>
                      <a:r>
                        <a:rPr lang="de-DE" dirty="0"/>
                        <a:t>Brutto-, Rabatt- und Nettobetrag</a:t>
                      </a:r>
                    </a:p>
                  </a:txBody>
                  <a:tcPr/>
                </a:tc>
                <a:extLst>
                  <a:ext uri="{0D108BD9-81ED-4DB2-BD59-A6C34878D82A}">
                    <a16:rowId xmlns:a16="http://schemas.microsoft.com/office/drawing/2014/main" val="2810836065"/>
                  </a:ext>
                </a:extLst>
              </a:tr>
              <a:tr h="370840">
                <a:tc>
                  <a:txBody>
                    <a:bodyPr/>
                    <a:lstStyle/>
                    <a:p>
                      <a:r>
                        <a:rPr lang="de-DE" dirty="0"/>
                        <a:t>Funktionen</a:t>
                      </a:r>
                    </a:p>
                  </a:txBody>
                  <a:tcPr/>
                </a:tc>
                <a:tc>
                  <a:txBody>
                    <a:bodyPr/>
                    <a:lstStyle/>
                    <a:p>
                      <a:r>
                        <a:rPr lang="de-DE" dirty="0"/>
                        <a:t>Texte und Liefertermine auswerten</a:t>
                      </a:r>
                    </a:p>
                  </a:txBody>
                  <a:tcPr/>
                </a:tc>
                <a:extLst>
                  <a:ext uri="{0D108BD9-81ED-4DB2-BD59-A6C34878D82A}">
                    <a16:rowId xmlns:a16="http://schemas.microsoft.com/office/drawing/2014/main" val="3759950643"/>
                  </a:ext>
                </a:extLst>
              </a:tr>
              <a:tr h="370840">
                <a:tc>
                  <a:txBody>
                    <a:bodyPr/>
                    <a:lstStyle/>
                    <a:p>
                      <a:r>
                        <a:rPr lang="de-DE" dirty="0"/>
                        <a:t>Semantik</a:t>
                      </a:r>
                    </a:p>
                  </a:txBody>
                  <a:tcPr/>
                </a:tc>
                <a:tc>
                  <a:txBody>
                    <a:bodyPr/>
                    <a:lstStyle/>
                    <a:p>
                      <a:r>
                        <a:rPr lang="de-DE" dirty="0"/>
                        <a:t>Beträge ihrer Währung zuordnen</a:t>
                      </a:r>
                    </a:p>
                  </a:txBody>
                  <a:tcPr/>
                </a:tc>
                <a:extLst>
                  <a:ext uri="{0D108BD9-81ED-4DB2-BD59-A6C34878D82A}">
                    <a16:rowId xmlns:a16="http://schemas.microsoft.com/office/drawing/2014/main" val="601600027"/>
                  </a:ext>
                </a:extLst>
              </a:tr>
              <a:tr h="370840">
                <a:tc>
                  <a:txBody>
                    <a:bodyPr/>
                    <a:lstStyle/>
                    <a:p>
                      <a:r>
                        <a:rPr lang="de-DE" dirty="0"/>
                        <a:t>Aggregation</a:t>
                      </a:r>
                    </a:p>
                  </a:txBody>
                  <a:tcPr/>
                </a:tc>
                <a:tc>
                  <a:txBody>
                    <a:bodyPr/>
                    <a:lstStyle/>
                    <a:p>
                      <a:r>
                        <a:rPr lang="de-DE" dirty="0"/>
                        <a:t>Umsatz nach Kunde</a:t>
                      </a:r>
                    </a:p>
                  </a:txBody>
                  <a:tcPr/>
                </a:tc>
                <a:extLst>
                  <a:ext uri="{0D108BD9-81ED-4DB2-BD59-A6C34878D82A}">
                    <a16:rowId xmlns:a16="http://schemas.microsoft.com/office/drawing/2014/main" val="1887382468"/>
                  </a:ext>
                </a:extLst>
              </a:tr>
              <a:tr h="370840">
                <a:tc>
                  <a:txBody>
                    <a:bodyPr/>
                    <a:lstStyle/>
                    <a:p>
                      <a:r>
                        <a:rPr lang="de-DE" dirty="0"/>
                        <a:t>UNION ALL</a:t>
                      </a:r>
                    </a:p>
                  </a:txBody>
                  <a:tcPr/>
                </a:tc>
                <a:tc>
                  <a:txBody>
                    <a:bodyPr/>
                    <a:lstStyle/>
                    <a:p>
                      <a:r>
                        <a:rPr lang="de-DE" dirty="0"/>
                        <a:t>Auftragsarten zusammenführen</a:t>
                      </a:r>
                    </a:p>
                  </a:txBody>
                  <a:tcPr/>
                </a:tc>
                <a:extLst>
                  <a:ext uri="{0D108BD9-81ED-4DB2-BD59-A6C34878D82A}">
                    <a16:rowId xmlns:a16="http://schemas.microsoft.com/office/drawing/2014/main" val="1773558442"/>
                  </a:ext>
                </a:extLst>
              </a:tr>
              <a:tr h="370840">
                <a:tc>
                  <a:txBody>
                    <a:bodyPr/>
                    <a:lstStyle/>
                    <a:p>
                      <a:r>
                        <a:rPr lang="de-DE" dirty="0"/>
                        <a:t>Erweiterungen</a:t>
                      </a:r>
                    </a:p>
                  </a:txBody>
                  <a:tcPr/>
                </a:tc>
                <a:tc>
                  <a:txBody>
                    <a:bodyPr/>
                    <a:lstStyle/>
                    <a:p>
                      <a:r>
                        <a:rPr lang="de-DE" dirty="0"/>
                        <a:t>Zusätzliche Felder und Metadaten</a:t>
                      </a:r>
                    </a:p>
                  </a:txBody>
                  <a:tcPr/>
                </a:tc>
                <a:extLst>
                  <a:ext uri="{0D108BD9-81ED-4DB2-BD59-A6C34878D82A}">
                    <a16:rowId xmlns:a16="http://schemas.microsoft.com/office/drawing/2014/main" val="1732739615"/>
                  </a:ext>
                </a:extLst>
              </a:tr>
            </a:tbl>
          </a:graphicData>
        </a:graphic>
      </p:graphicFrame>
    </p:spTree>
    <p:extLst>
      <p:ext uri="{BB962C8B-B14F-4D97-AF65-F5344CB8AC3E}">
        <p14:creationId xmlns:p14="http://schemas.microsoft.com/office/powerpoint/2010/main" val="21303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C84100-B88D-B15A-9F20-0C5CE010EFFB}"/>
              </a:ext>
            </a:extLst>
          </p:cNvPr>
          <p:cNvSpPr>
            <a:spLocks noGrp="1"/>
          </p:cNvSpPr>
          <p:nvPr>
            <p:ph type="title"/>
          </p:nvPr>
        </p:nvSpPr>
        <p:spPr/>
        <p:txBody>
          <a:bodyPr/>
          <a:lstStyle/>
          <a:p>
            <a:r>
              <a:rPr lang="de-DE" dirty="0"/>
              <a:t>Ausgangspunkt: Unser CDS-Datenmodell</a:t>
            </a:r>
          </a:p>
        </p:txBody>
      </p:sp>
      <p:pic>
        <p:nvPicPr>
          <p:cNvPr id="5" name="Inhaltsplatzhalter 4">
            <a:extLst>
              <a:ext uri="{FF2B5EF4-FFF2-40B4-BE49-F238E27FC236}">
                <a16:creationId xmlns:a16="http://schemas.microsoft.com/office/drawing/2014/main" id="{42D82AFF-DD6B-2DD9-4C44-E97676E69418}"/>
              </a:ext>
            </a:extLst>
          </p:cNvPr>
          <p:cNvPicPr>
            <a:picLocks noGrp="1" noChangeAspect="1"/>
          </p:cNvPicPr>
          <p:nvPr>
            <p:ph idx="1"/>
          </p:nvPr>
        </p:nvPicPr>
        <p:blipFill>
          <a:blip r:embed="rId3"/>
          <a:stretch>
            <a:fillRect/>
          </a:stretch>
        </p:blipFill>
        <p:spPr>
          <a:xfrm>
            <a:off x="3504975" y="1907136"/>
            <a:ext cx="5182049" cy="4188315"/>
          </a:xfrm>
          <a:prstGeom prst="rect">
            <a:avLst/>
          </a:prstGeom>
        </p:spPr>
      </p:pic>
    </p:spTree>
    <p:extLst>
      <p:ext uri="{BB962C8B-B14F-4D97-AF65-F5344CB8AC3E}">
        <p14:creationId xmlns:p14="http://schemas.microsoft.com/office/powerpoint/2010/main" val="2846214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EA68D0-D730-6D5C-D92A-0E55F1A0C5A2}"/>
              </a:ext>
            </a:extLst>
          </p:cNvPr>
          <p:cNvSpPr>
            <a:spLocks noGrp="1"/>
          </p:cNvSpPr>
          <p:nvPr>
            <p:ph type="title"/>
          </p:nvPr>
        </p:nvSpPr>
        <p:spPr/>
        <p:txBody>
          <a:bodyPr/>
          <a:lstStyle/>
          <a:p>
            <a:r>
              <a:rPr lang="de-DE" dirty="0"/>
              <a:t>Von Rohdaten zu fachlicher Information</a:t>
            </a:r>
          </a:p>
        </p:txBody>
      </p:sp>
      <p:sp>
        <p:nvSpPr>
          <p:cNvPr id="4" name="Textplatzhalter 3">
            <a:extLst>
              <a:ext uri="{FF2B5EF4-FFF2-40B4-BE49-F238E27FC236}">
                <a16:creationId xmlns:a16="http://schemas.microsoft.com/office/drawing/2014/main" id="{496A04E2-874C-B189-2B59-F032DA0F6B09}"/>
              </a:ext>
            </a:extLst>
          </p:cNvPr>
          <p:cNvSpPr>
            <a:spLocks noGrp="1"/>
          </p:cNvSpPr>
          <p:nvPr>
            <p:ph type="body" idx="1"/>
          </p:nvPr>
        </p:nvSpPr>
        <p:spPr/>
        <p:txBody>
          <a:bodyPr/>
          <a:lstStyle/>
          <a:p>
            <a:r>
              <a:rPr lang="de-DE" dirty="0"/>
              <a:t>In den Tabellen gespeichert</a:t>
            </a:r>
          </a:p>
        </p:txBody>
      </p:sp>
      <p:sp>
        <p:nvSpPr>
          <p:cNvPr id="5" name="Inhaltsplatzhalter 4">
            <a:extLst>
              <a:ext uri="{FF2B5EF4-FFF2-40B4-BE49-F238E27FC236}">
                <a16:creationId xmlns:a16="http://schemas.microsoft.com/office/drawing/2014/main" id="{2B904EDB-5DA0-54D2-E94F-1D966D71AC1A}"/>
              </a:ext>
            </a:extLst>
          </p:cNvPr>
          <p:cNvSpPr>
            <a:spLocks noGrp="1"/>
          </p:cNvSpPr>
          <p:nvPr>
            <p:ph sz="half" idx="2"/>
          </p:nvPr>
        </p:nvSpPr>
        <p:spPr/>
        <p:txBody>
          <a:bodyPr/>
          <a:lstStyle/>
          <a:p>
            <a:pPr lvl="0"/>
            <a:r>
              <a:rPr lang="de-DE" dirty="0"/>
              <a:t>Menge </a:t>
            </a:r>
          </a:p>
          <a:p>
            <a:pPr lvl="0"/>
            <a:r>
              <a:rPr lang="de-DE" dirty="0"/>
              <a:t>Einzelpreis </a:t>
            </a:r>
          </a:p>
          <a:p>
            <a:pPr lvl="0"/>
            <a:r>
              <a:rPr lang="de-DE" dirty="0"/>
              <a:t>Rabatt </a:t>
            </a:r>
          </a:p>
          <a:p>
            <a:pPr lvl="0"/>
            <a:r>
              <a:rPr lang="de-DE" dirty="0"/>
              <a:t>Währung </a:t>
            </a:r>
          </a:p>
          <a:p>
            <a:pPr lvl="0"/>
            <a:r>
              <a:rPr lang="de-DE" dirty="0"/>
              <a:t>gewünschter Liefertermin</a:t>
            </a:r>
          </a:p>
          <a:p>
            <a:endParaRPr lang="de-DE" dirty="0"/>
          </a:p>
        </p:txBody>
      </p:sp>
      <p:sp>
        <p:nvSpPr>
          <p:cNvPr id="6" name="Textplatzhalter 5">
            <a:extLst>
              <a:ext uri="{FF2B5EF4-FFF2-40B4-BE49-F238E27FC236}">
                <a16:creationId xmlns:a16="http://schemas.microsoft.com/office/drawing/2014/main" id="{5FA7EAB6-1CC1-0AA3-3D27-E3603CE86EEC}"/>
              </a:ext>
            </a:extLst>
          </p:cNvPr>
          <p:cNvSpPr>
            <a:spLocks noGrp="1"/>
          </p:cNvSpPr>
          <p:nvPr>
            <p:ph type="body" sz="quarter" idx="3"/>
          </p:nvPr>
        </p:nvSpPr>
        <p:spPr/>
        <p:txBody>
          <a:bodyPr/>
          <a:lstStyle/>
          <a:p>
            <a:r>
              <a:rPr lang="de-DE" dirty="0"/>
              <a:t>Von der Anwendung benötigt</a:t>
            </a:r>
          </a:p>
        </p:txBody>
      </p:sp>
      <p:sp>
        <p:nvSpPr>
          <p:cNvPr id="7" name="Inhaltsplatzhalter 6">
            <a:extLst>
              <a:ext uri="{FF2B5EF4-FFF2-40B4-BE49-F238E27FC236}">
                <a16:creationId xmlns:a16="http://schemas.microsoft.com/office/drawing/2014/main" id="{7B67654C-68F9-E386-926D-E766971C1BE0}"/>
              </a:ext>
            </a:extLst>
          </p:cNvPr>
          <p:cNvSpPr>
            <a:spLocks noGrp="1"/>
          </p:cNvSpPr>
          <p:nvPr>
            <p:ph sz="quarter" idx="4"/>
          </p:nvPr>
        </p:nvSpPr>
        <p:spPr/>
        <p:txBody>
          <a:bodyPr/>
          <a:lstStyle/>
          <a:p>
            <a:pPr lvl="0"/>
            <a:r>
              <a:rPr lang="de-DE" dirty="0"/>
              <a:t>Bruttobetrag </a:t>
            </a:r>
          </a:p>
          <a:p>
            <a:pPr lvl="0"/>
            <a:r>
              <a:rPr lang="de-DE" dirty="0"/>
              <a:t>Rabattbetrag </a:t>
            </a:r>
          </a:p>
          <a:p>
            <a:pPr lvl="0"/>
            <a:r>
              <a:rPr lang="de-DE" dirty="0"/>
              <a:t>Nettobetrag </a:t>
            </a:r>
          </a:p>
          <a:p>
            <a:pPr lvl="0"/>
            <a:r>
              <a:rPr lang="de-DE" dirty="0"/>
              <a:t>Rabattkategorie </a:t>
            </a:r>
          </a:p>
          <a:p>
            <a:pPr lvl="0"/>
            <a:r>
              <a:rPr lang="de-DE" dirty="0"/>
              <a:t>Liefersituation</a:t>
            </a:r>
          </a:p>
          <a:p>
            <a:endParaRPr lang="de-DE" dirty="0"/>
          </a:p>
        </p:txBody>
      </p:sp>
      <p:sp>
        <p:nvSpPr>
          <p:cNvPr id="9" name="Textfeld 8">
            <a:extLst>
              <a:ext uri="{FF2B5EF4-FFF2-40B4-BE49-F238E27FC236}">
                <a16:creationId xmlns:a16="http://schemas.microsoft.com/office/drawing/2014/main" id="{66FCEE8E-B370-329F-4146-BF0CD490A688}"/>
              </a:ext>
            </a:extLst>
          </p:cNvPr>
          <p:cNvSpPr txBox="1"/>
          <p:nvPr/>
        </p:nvSpPr>
        <p:spPr>
          <a:xfrm>
            <a:off x="836611" y="5331678"/>
            <a:ext cx="10515599" cy="461665"/>
          </a:xfrm>
          <a:prstGeom prst="rect">
            <a:avLst/>
          </a:prstGeom>
          <a:noFill/>
        </p:spPr>
        <p:txBody>
          <a:bodyPr wrap="square">
            <a:spAutoFit/>
          </a:bodyPr>
          <a:lstStyle/>
          <a:p>
            <a:r>
              <a:rPr lang="de-DE" sz="2400" dirty="0">
                <a:highlight>
                  <a:srgbClr val="FFFF00"/>
                </a:highlight>
              </a:rPr>
              <a:t>Fachliche Informationen entstehen häufig erst durch Berechnungen.</a:t>
            </a:r>
          </a:p>
        </p:txBody>
      </p:sp>
    </p:spTree>
    <p:extLst>
      <p:ext uri="{BB962C8B-B14F-4D97-AF65-F5344CB8AC3E}">
        <p14:creationId xmlns:p14="http://schemas.microsoft.com/office/powerpoint/2010/main" val="906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420F8E-23C9-04E5-ECD5-C0EA40E1A441}"/>
              </a:ext>
            </a:extLst>
          </p:cNvPr>
          <p:cNvSpPr>
            <a:spLocks noGrp="1"/>
          </p:cNvSpPr>
          <p:nvPr>
            <p:ph type="title"/>
          </p:nvPr>
        </p:nvSpPr>
        <p:spPr/>
        <p:txBody>
          <a:bodyPr/>
          <a:lstStyle/>
          <a:p>
            <a:r>
              <a:rPr lang="de-DE" dirty="0"/>
              <a:t>Klassische Verarbeitung auf dem ABAP Server</a:t>
            </a:r>
          </a:p>
        </p:txBody>
      </p:sp>
      <p:sp>
        <p:nvSpPr>
          <p:cNvPr id="7" name="Inhaltsplatzhalter 6">
            <a:extLst>
              <a:ext uri="{FF2B5EF4-FFF2-40B4-BE49-F238E27FC236}">
                <a16:creationId xmlns:a16="http://schemas.microsoft.com/office/drawing/2014/main" id="{4903FF9F-D00E-7063-FA65-8904E8B38942}"/>
              </a:ext>
            </a:extLst>
          </p:cNvPr>
          <p:cNvSpPr>
            <a:spLocks noGrp="1"/>
          </p:cNvSpPr>
          <p:nvPr>
            <p:ph sz="half" idx="1"/>
          </p:nvPr>
        </p:nvSpPr>
        <p:spPr/>
        <p:txBody>
          <a:bodyPr>
            <a:normAutofit fontScale="92500" lnSpcReduction="10000"/>
          </a:bodyPr>
          <a:lstStyle/>
          <a:p>
            <a:pPr marL="0" indent="0">
              <a:buNone/>
            </a:pPr>
            <a:r>
              <a:rPr lang="de-DE" sz="2400" dirty="0">
                <a:latin typeface="Courier New" panose="02070309020205020404" pitchFamily="49" charset="0"/>
                <a:cs typeface="Courier New" panose="02070309020205020404" pitchFamily="49" charset="0"/>
              </a:rPr>
              <a:t>SELECT FROM</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zi_cdsorderitem</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FIELDS </a:t>
            </a:r>
            <a:r>
              <a:rPr lang="de-DE" sz="2400" dirty="0" err="1">
                <a:latin typeface="Courier New" panose="02070309020205020404" pitchFamily="49" charset="0"/>
                <a:cs typeface="Courier New" panose="02070309020205020404" pitchFamily="49" charset="0"/>
              </a:rPr>
              <a:t>orderid</a:t>
            </a:r>
            <a:r>
              <a:rPr lang="de-DE" sz="2400" dirty="0">
                <a:latin typeface="Courier New" panose="02070309020205020404" pitchFamily="49" charset="0"/>
                <a:cs typeface="Courier New" panose="02070309020205020404" pitchFamily="49" charset="0"/>
              </a:rPr>
              <a: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itemnumber</a:t>
            </a: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quantity</a:t>
            </a:r>
            <a:r>
              <a:rPr lang="de-DE" sz="2400" dirty="0">
                <a:latin typeface="Courier New" panose="02070309020205020404" pitchFamily="49" charset="0"/>
                <a:cs typeface="Courier New" panose="02070309020205020404" pitchFamily="49" charset="0"/>
              </a:rPr>
              <a: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unitprice</a:t>
            </a:r>
            <a:r>
              <a:rPr lang="de-DE" sz="2400" dirty="0">
                <a:latin typeface="Courier New" panose="02070309020205020404" pitchFamily="49" charset="0"/>
                <a:cs typeface="Courier New" panose="02070309020205020404" pitchFamily="49" charset="0"/>
              </a:rPr>
              <a: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a:t>
            </a:r>
            <a:r>
              <a:rPr lang="de-DE" sz="2400" dirty="0" err="1">
                <a:latin typeface="Courier New" panose="02070309020205020404" pitchFamily="49" charset="0"/>
                <a:cs typeface="Courier New" panose="02070309020205020404" pitchFamily="49" charset="0"/>
              </a:rPr>
              <a:t>discountpercent</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INTO TABLE @DATA(items).</a:t>
            </a:r>
          </a:p>
          <a:p>
            <a:pPr marL="0" indent="0">
              <a:buNone/>
            </a:pPr>
            <a:endParaRPr lang="de-DE" sz="2400" dirty="0">
              <a:latin typeface="Courier New" panose="02070309020205020404" pitchFamily="49" charset="0"/>
              <a:cs typeface="Courier New" panose="02070309020205020404" pitchFamily="49" charset="0"/>
            </a:endParaRPr>
          </a:p>
          <a:p>
            <a:pPr marL="0" indent="0">
              <a:buNone/>
            </a:pPr>
            <a:r>
              <a:rPr lang="de-DE" sz="2400" dirty="0">
                <a:latin typeface="Courier New" panose="02070309020205020404" pitchFamily="49" charset="0"/>
                <a:cs typeface="Courier New" panose="02070309020205020404" pitchFamily="49" charset="0"/>
              </a:rPr>
              <a:t>LOOP AT </a:t>
            </a:r>
            <a:r>
              <a:rPr lang="de-DE" sz="2400" dirty="0" err="1">
                <a:latin typeface="Courier New" panose="02070309020205020404" pitchFamily="49" charset="0"/>
                <a:cs typeface="Courier New" panose="02070309020205020404" pitchFamily="49" charset="0"/>
              </a:rPr>
              <a:t>items</a:t>
            </a:r>
            <a:r>
              <a:rPr lang="de-DE" sz="2400" dirty="0">
                <a:latin typeface="Courier New" panose="02070309020205020404" pitchFamily="49" charset="0"/>
                <a:cs typeface="Courier New" panose="02070309020205020404" pitchFamily="49" charset="0"/>
              </a:rPr>
              <a:t> ASSIGNING</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FIELD-SYMBOL(&lt;item&gt;). </a:t>
            </a:r>
          </a:p>
          <a:p>
            <a:pPr marL="0" indent="0">
              <a:buNone/>
            </a:pPr>
            <a:r>
              <a:rPr lang="de-DE" sz="2400" dirty="0">
                <a:latin typeface="Courier New" panose="02070309020205020404" pitchFamily="49" charset="0"/>
                <a:cs typeface="Courier New" panose="02070309020205020404" pitchFamily="49" charset="0"/>
              </a:rPr>
              <a:t>  " Beträge berechnen</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 Werte klassifizieren</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 Ergebnisse verdichten ENDLOOP.</a:t>
            </a:r>
          </a:p>
        </p:txBody>
      </p:sp>
      <p:sp>
        <p:nvSpPr>
          <p:cNvPr id="8" name="Inhaltsplatzhalter 7">
            <a:extLst>
              <a:ext uri="{FF2B5EF4-FFF2-40B4-BE49-F238E27FC236}">
                <a16:creationId xmlns:a16="http://schemas.microsoft.com/office/drawing/2014/main" id="{359F5CDC-EBEC-4C72-1BE3-7311157EBB06}"/>
              </a:ext>
            </a:extLst>
          </p:cNvPr>
          <p:cNvSpPr>
            <a:spLocks noGrp="1"/>
          </p:cNvSpPr>
          <p:nvPr>
            <p:ph sz="half" idx="2"/>
          </p:nvPr>
        </p:nvSpPr>
        <p:spPr/>
        <p:txBody>
          <a:bodyPr>
            <a:normAutofit fontScale="92500" lnSpcReduction="10000"/>
          </a:bodyPr>
          <a:lstStyle/>
          <a:p>
            <a:pPr lvl="0"/>
            <a:r>
              <a:rPr lang="de-DE" dirty="0"/>
              <a:t>Rohdaten werden übertragen </a:t>
            </a:r>
          </a:p>
          <a:p>
            <a:pPr lvl="0"/>
            <a:r>
              <a:rPr lang="de-DE" dirty="0"/>
              <a:t>Berechnung erfolgt nach dem Lesen </a:t>
            </a:r>
          </a:p>
          <a:p>
            <a:pPr lvl="0"/>
            <a:r>
              <a:rPr lang="de-DE" dirty="0"/>
              <a:t>Aggregation benötigt zusätzliche ABAP-Logik </a:t>
            </a:r>
          </a:p>
          <a:p>
            <a:pPr lvl="0"/>
            <a:r>
              <a:rPr lang="de-DE" dirty="0"/>
              <a:t>Fachlogik kann mehrfach implementiert werden</a:t>
            </a:r>
          </a:p>
          <a:p>
            <a:endParaRPr lang="de-DE" dirty="0"/>
          </a:p>
        </p:txBody>
      </p:sp>
    </p:spTree>
    <p:extLst>
      <p:ext uri="{BB962C8B-B14F-4D97-AF65-F5344CB8AC3E}">
        <p14:creationId xmlns:p14="http://schemas.microsoft.com/office/powerpoint/2010/main" val="1653378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C7776A-A5B2-A5D7-C927-E6778ED615B8}"/>
              </a:ext>
            </a:extLst>
          </p:cNvPr>
          <p:cNvSpPr>
            <a:spLocks noGrp="1"/>
          </p:cNvSpPr>
          <p:nvPr>
            <p:ph type="title"/>
          </p:nvPr>
        </p:nvSpPr>
        <p:spPr/>
        <p:txBody>
          <a:bodyPr/>
          <a:lstStyle/>
          <a:p>
            <a:r>
              <a:rPr lang="de-DE" dirty="0"/>
              <a:t>Code </a:t>
            </a:r>
            <a:r>
              <a:rPr lang="de-DE" dirty="0" err="1"/>
              <a:t>Pushdown</a:t>
            </a:r>
            <a:r>
              <a:rPr lang="de-DE" dirty="0"/>
              <a:t>: </a:t>
            </a:r>
            <a:br>
              <a:rPr lang="de-DE" dirty="0"/>
            </a:br>
            <a:r>
              <a:rPr lang="de-DE" dirty="0"/>
              <a:t>Berechnen, wo die Daten liegen</a:t>
            </a:r>
          </a:p>
        </p:txBody>
      </p:sp>
      <p:pic>
        <p:nvPicPr>
          <p:cNvPr id="9" name="Inhaltsplatzhalter 8">
            <a:extLst>
              <a:ext uri="{FF2B5EF4-FFF2-40B4-BE49-F238E27FC236}">
                <a16:creationId xmlns:a16="http://schemas.microsoft.com/office/drawing/2014/main" id="{1751161E-A9AB-6375-DCD7-ED269D9A1756}"/>
              </a:ext>
            </a:extLst>
          </p:cNvPr>
          <p:cNvPicPr>
            <a:picLocks noGrp="1" noChangeAspect="1"/>
          </p:cNvPicPr>
          <p:nvPr>
            <p:ph sz="half" idx="1"/>
          </p:nvPr>
        </p:nvPicPr>
        <p:blipFill>
          <a:blip r:embed="rId3"/>
          <a:stretch>
            <a:fillRect/>
          </a:stretch>
        </p:blipFill>
        <p:spPr>
          <a:xfrm>
            <a:off x="1716239" y="1825625"/>
            <a:ext cx="3425521" cy="4351338"/>
          </a:xfrm>
          <a:prstGeom prst="rect">
            <a:avLst/>
          </a:prstGeom>
        </p:spPr>
      </p:pic>
      <p:sp>
        <p:nvSpPr>
          <p:cNvPr id="7" name="Inhaltsplatzhalter 6">
            <a:extLst>
              <a:ext uri="{FF2B5EF4-FFF2-40B4-BE49-F238E27FC236}">
                <a16:creationId xmlns:a16="http://schemas.microsoft.com/office/drawing/2014/main" id="{FFAB3B82-3784-292E-9D7F-4E3B69ACAF8B}"/>
              </a:ext>
            </a:extLst>
          </p:cNvPr>
          <p:cNvSpPr>
            <a:spLocks noGrp="1"/>
          </p:cNvSpPr>
          <p:nvPr>
            <p:ph sz="half" idx="2"/>
          </p:nvPr>
        </p:nvSpPr>
        <p:spPr/>
        <p:txBody>
          <a:bodyPr/>
          <a:lstStyle/>
          <a:p>
            <a:pPr marL="0" indent="0">
              <a:buNone/>
            </a:pPr>
            <a:r>
              <a:rPr lang="de-DE" b="1" dirty="0"/>
              <a:t>Gut geeignet für Code </a:t>
            </a:r>
            <a:r>
              <a:rPr lang="de-DE" b="1" dirty="0" err="1"/>
              <a:t>Pushdown</a:t>
            </a:r>
            <a:endParaRPr lang="de-DE" dirty="0"/>
          </a:p>
          <a:p>
            <a:pPr lvl="0"/>
            <a:r>
              <a:rPr lang="de-DE" dirty="0"/>
              <a:t>Berechnungen pro Datensatz </a:t>
            </a:r>
          </a:p>
          <a:p>
            <a:pPr lvl="0"/>
            <a:r>
              <a:rPr lang="de-DE" dirty="0"/>
              <a:t>Filter und Fallunterscheidungen </a:t>
            </a:r>
          </a:p>
          <a:p>
            <a:pPr lvl="0"/>
            <a:r>
              <a:rPr lang="de-DE" dirty="0"/>
              <a:t>Joins und Pfadausdrücke </a:t>
            </a:r>
          </a:p>
          <a:p>
            <a:pPr lvl="0"/>
            <a:r>
              <a:rPr lang="de-DE" dirty="0"/>
              <a:t>Aggregationen und Gruppierungen </a:t>
            </a:r>
          </a:p>
          <a:p>
            <a:pPr lvl="0"/>
            <a:r>
              <a:rPr lang="de-DE" dirty="0"/>
              <a:t>Vereinigung von Datenmengen</a:t>
            </a:r>
          </a:p>
          <a:p>
            <a:endParaRPr lang="de-DE" dirty="0"/>
          </a:p>
        </p:txBody>
      </p:sp>
    </p:spTree>
    <p:extLst>
      <p:ext uri="{BB962C8B-B14F-4D97-AF65-F5344CB8AC3E}">
        <p14:creationId xmlns:p14="http://schemas.microsoft.com/office/powerpoint/2010/main" val="405905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138D58-1769-0A32-D842-A8AE417967CF}"/>
              </a:ext>
            </a:extLst>
          </p:cNvPr>
          <p:cNvSpPr>
            <a:spLocks noGrp="1"/>
          </p:cNvSpPr>
          <p:nvPr>
            <p:ph type="title"/>
          </p:nvPr>
        </p:nvSpPr>
        <p:spPr/>
        <p:txBody>
          <a:bodyPr/>
          <a:lstStyle/>
          <a:p>
            <a:r>
              <a:rPr lang="de-DE" dirty="0"/>
              <a:t>Live-Coding 1</a:t>
            </a:r>
            <a:br>
              <a:rPr lang="de-DE" dirty="0"/>
            </a:br>
            <a:r>
              <a:rPr lang="de-DE" dirty="0"/>
              <a:t>Beträge berechnen und klassifizieren</a:t>
            </a:r>
          </a:p>
        </p:txBody>
      </p:sp>
      <p:sp>
        <p:nvSpPr>
          <p:cNvPr id="3" name="Inhaltsplatzhalter 2">
            <a:extLst>
              <a:ext uri="{FF2B5EF4-FFF2-40B4-BE49-F238E27FC236}">
                <a16:creationId xmlns:a16="http://schemas.microsoft.com/office/drawing/2014/main" id="{2D23405E-D530-3E98-609F-067288F56066}"/>
              </a:ext>
            </a:extLst>
          </p:cNvPr>
          <p:cNvSpPr>
            <a:spLocks noGrp="1"/>
          </p:cNvSpPr>
          <p:nvPr>
            <p:ph sz="half" idx="1"/>
          </p:nvPr>
        </p:nvSpPr>
        <p:spPr/>
        <p:txBody>
          <a:bodyPr/>
          <a:lstStyle/>
          <a:p>
            <a:pPr marL="0" indent="0">
              <a:buNone/>
            </a:pPr>
            <a:r>
              <a:rPr lang="de-DE" dirty="0"/>
              <a:t>Wer ergänzen die Auftragspositionen um berechnete Beträge und ordnen den Rabatt einer Kategorie zu.</a:t>
            </a:r>
          </a:p>
        </p:txBody>
      </p:sp>
      <p:sp>
        <p:nvSpPr>
          <p:cNvPr id="4" name="Inhaltsplatzhalter 3">
            <a:extLst>
              <a:ext uri="{FF2B5EF4-FFF2-40B4-BE49-F238E27FC236}">
                <a16:creationId xmlns:a16="http://schemas.microsoft.com/office/drawing/2014/main" id="{92D2F8AE-38C5-AD0B-89EE-D2EF0C0EC659}"/>
              </a:ext>
            </a:extLst>
          </p:cNvPr>
          <p:cNvSpPr>
            <a:spLocks noGrp="1"/>
          </p:cNvSpPr>
          <p:nvPr>
            <p:ph sz="half" idx="2"/>
          </p:nvPr>
        </p:nvSpPr>
        <p:spPr/>
        <p:txBody>
          <a:bodyPr/>
          <a:lstStyle/>
          <a:p>
            <a:pPr marL="0" indent="0">
              <a:buNone/>
            </a:pPr>
            <a:r>
              <a:rPr lang="de-DE" dirty="0" err="1">
                <a:latin typeface="Courier New" panose="02070309020205020404" pitchFamily="49" charset="0"/>
                <a:cs typeface="Courier New" panose="02070309020205020404" pitchFamily="49" charset="0"/>
              </a:rPr>
              <a:t>Quantity</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UnitPrice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GrossAmount</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DiscountAmount</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NetAmount</a:t>
            </a:r>
            <a:endParaRPr lang="de-DE" dirty="0">
              <a:latin typeface="Courier New" panose="02070309020205020404" pitchFamily="49" charset="0"/>
              <a:cs typeface="Courier New" panose="02070309020205020404" pitchFamily="49" charset="0"/>
            </a:endParaRPr>
          </a:p>
          <a:p>
            <a:pPr marL="0" indent="0">
              <a:buNone/>
            </a:pPr>
            <a:r>
              <a:rPr lang="de-DE" dirty="0" err="1">
                <a:latin typeface="Courier New" panose="02070309020205020404" pitchFamily="49" charset="0"/>
                <a:cs typeface="Courier New" panose="02070309020205020404" pitchFamily="49" charset="0"/>
              </a:rPr>
              <a:t>DiscountPercent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DiscountCategory</a:t>
            </a:r>
            <a:endParaRPr lang="de-D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2371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51A240C-ECFD-7054-7EA6-64BC70F8FED0}"/>
              </a:ext>
            </a:extLst>
          </p:cNvPr>
          <p:cNvSpPr>
            <a:spLocks noGrp="1"/>
          </p:cNvSpPr>
          <p:nvPr>
            <p:ph type="title"/>
          </p:nvPr>
        </p:nvSpPr>
        <p:spPr/>
        <p:txBody>
          <a:bodyPr/>
          <a:lstStyle/>
          <a:p>
            <a:r>
              <a:rPr lang="de-DE" dirty="0"/>
              <a:t>SQL-Ausdrücke</a:t>
            </a:r>
          </a:p>
        </p:txBody>
      </p:sp>
      <p:pic>
        <p:nvPicPr>
          <p:cNvPr id="8" name="Inhaltsplatzhalter 7">
            <a:extLst>
              <a:ext uri="{FF2B5EF4-FFF2-40B4-BE49-F238E27FC236}">
                <a16:creationId xmlns:a16="http://schemas.microsoft.com/office/drawing/2014/main" id="{A8E61B09-1DE5-0048-D976-F8566CCEE16E}"/>
              </a:ext>
            </a:extLst>
          </p:cNvPr>
          <p:cNvPicPr>
            <a:picLocks noGrp="1" noChangeAspect="1"/>
          </p:cNvPicPr>
          <p:nvPr>
            <p:ph idx="1"/>
          </p:nvPr>
        </p:nvPicPr>
        <p:blipFill>
          <a:blip r:embed="rId3"/>
          <a:stretch>
            <a:fillRect/>
          </a:stretch>
        </p:blipFill>
        <p:spPr>
          <a:xfrm>
            <a:off x="4270988" y="1825625"/>
            <a:ext cx="3650023" cy="4351338"/>
          </a:xfrm>
          <a:prstGeom prst="rect">
            <a:avLst/>
          </a:prstGeom>
        </p:spPr>
      </p:pic>
    </p:spTree>
    <p:extLst>
      <p:ext uri="{BB962C8B-B14F-4D97-AF65-F5344CB8AC3E}">
        <p14:creationId xmlns:p14="http://schemas.microsoft.com/office/powerpoint/2010/main" val="2326356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7E7662-1C33-89DC-A903-89BAC84C3F1B}"/>
              </a:ext>
            </a:extLst>
          </p:cNvPr>
          <p:cNvSpPr>
            <a:spLocks noGrp="1"/>
          </p:cNvSpPr>
          <p:nvPr>
            <p:ph type="title"/>
          </p:nvPr>
        </p:nvSpPr>
        <p:spPr/>
        <p:txBody>
          <a:bodyPr/>
          <a:lstStyle/>
          <a:p>
            <a:r>
              <a:rPr lang="de-DE" dirty="0"/>
              <a:t>Ergebnis: Fachlich angereicherte Positionen</a:t>
            </a:r>
          </a:p>
        </p:txBody>
      </p:sp>
      <p:sp>
        <p:nvSpPr>
          <p:cNvPr id="4" name="Inhaltsplatzhalter 3">
            <a:extLst>
              <a:ext uri="{FF2B5EF4-FFF2-40B4-BE49-F238E27FC236}">
                <a16:creationId xmlns:a16="http://schemas.microsoft.com/office/drawing/2014/main" id="{2640B576-F0D7-78CB-8F06-0652C67E51FB}"/>
              </a:ext>
            </a:extLst>
          </p:cNvPr>
          <p:cNvSpPr>
            <a:spLocks noGrp="1"/>
          </p:cNvSpPr>
          <p:nvPr>
            <p:ph sz="half" idx="1"/>
          </p:nvPr>
        </p:nvSpPr>
        <p:spPr/>
        <p:txBody>
          <a:bodyPr>
            <a:normAutofit fontScale="92500" lnSpcReduction="20000"/>
          </a:bodyPr>
          <a:lstStyle/>
          <a:p>
            <a:pPr marL="0" indent="0">
              <a:buNone/>
            </a:pPr>
            <a:r>
              <a:rPr lang="de-DE" dirty="0"/>
              <a:t>Aus Rohdaten werden wiederverwendbare Informationen</a:t>
            </a:r>
          </a:p>
          <a:p>
            <a:pPr marL="0" indent="0">
              <a:buNone/>
            </a:pPr>
            <a:r>
              <a:rPr lang="de-DE" dirty="0"/>
              <a:t>Ausgangselemente:</a:t>
            </a:r>
          </a:p>
          <a:p>
            <a:r>
              <a:rPr lang="de-DE" dirty="0" err="1">
                <a:latin typeface="Courier New" panose="02070309020205020404" pitchFamily="49" charset="0"/>
                <a:cs typeface="Courier New" panose="02070309020205020404" pitchFamily="49" charset="0"/>
              </a:rPr>
              <a:t>Quantity</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UnitPrice</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DiscountPercent</a:t>
            </a:r>
            <a:endParaRPr lang="de-DE" dirty="0">
              <a:latin typeface="Courier New" panose="02070309020205020404" pitchFamily="49" charset="0"/>
              <a:cs typeface="Courier New" panose="02070309020205020404" pitchFamily="49" charset="0"/>
            </a:endParaRPr>
          </a:p>
          <a:p>
            <a:pPr marL="0" indent="0">
              <a:buNone/>
            </a:pPr>
            <a:r>
              <a:rPr lang="de-DE" dirty="0"/>
              <a:t>Berechnete Elemente:</a:t>
            </a:r>
          </a:p>
          <a:p>
            <a:r>
              <a:rPr lang="de-DE" dirty="0" err="1">
                <a:latin typeface="Courier New" panose="02070309020205020404" pitchFamily="49" charset="0"/>
                <a:cs typeface="Courier New" panose="02070309020205020404" pitchFamily="49" charset="0"/>
              </a:rPr>
              <a:t>GrossAmount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DiscountAmount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NetAmount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DiscountCategory</a:t>
            </a:r>
            <a:endParaRPr lang="de-DE" dirty="0">
              <a:latin typeface="Courier New" panose="02070309020205020404" pitchFamily="49" charset="0"/>
              <a:cs typeface="Courier New" panose="02070309020205020404" pitchFamily="49" charset="0"/>
            </a:endParaRPr>
          </a:p>
        </p:txBody>
      </p:sp>
      <p:sp>
        <p:nvSpPr>
          <p:cNvPr id="5" name="Inhaltsplatzhalter 4">
            <a:extLst>
              <a:ext uri="{FF2B5EF4-FFF2-40B4-BE49-F238E27FC236}">
                <a16:creationId xmlns:a16="http://schemas.microsoft.com/office/drawing/2014/main" id="{7591E7BA-2178-E468-B982-D81B5D40D7E0}"/>
              </a:ext>
            </a:extLst>
          </p:cNvPr>
          <p:cNvSpPr>
            <a:spLocks noGrp="1"/>
          </p:cNvSpPr>
          <p:nvPr>
            <p:ph sz="half" idx="2"/>
          </p:nvPr>
        </p:nvSpPr>
        <p:spPr/>
        <p:txBody>
          <a:bodyPr>
            <a:normAutofit fontScale="92500" lnSpcReduction="20000"/>
          </a:bodyPr>
          <a:lstStyle/>
          <a:p>
            <a:pPr marL="0" indent="0">
              <a:buNone/>
            </a:pPr>
            <a:r>
              <a:rPr lang="de-DE" b="1" dirty="0"/>
              <a:t>Erkenntnisse</a:t>
            </a:r>
            <a:endParaRPr lang="de-DE" dirty="0"/>
          </a:p>
          <a:p>
            <a:pPr lvl="0"/>
            <a:r>
              <a:rPr lang="de-DE" dirty="0"/>
              <a:t>SQL-Ausdrücke erzeugen neue CDS-Elemente </a:t>
            </a:r>
          </a:p>
          <a:p>
            <a:pPr lvl="0"/>
            <a:r>
              <a:rPr lang="de-DE" dirty="0" err="1">
                <a:latin typeface="Courier New" panose="02070309020205020404" pitchFamily="49" charset="0"/>
                <a:cs typeface="Courier New" panose="02070309020205020404" pitchFamily="49" charset="0"/>
              </a:rPr>
              <a:t>get_numeric_value</a:t>
            </a:r>
            <a:r>
              <a:rPr lang="de-DE" dirty="0"/>
              <a:t> ermöglicht numerische Berechnungen </a:t>
            </a:r>
          </a:p>
          <a:p>
            <a:pPr lvl="0"/>
            <a:r>
              <a:rPr lang="de-DE" dirty="0"/>
              <a:t>cast kontrolliert den Ergebnistyp </a:t>
            </a:r>
          </a:p>
          <a:p>
            <a:pPr lvl="0"/>
            <a:r>
              <a:rPr lang="de-DE" dirty="0">
                <a:latin typeface="Courier New" panose="02070309020205020404" pitchFamily="49" charset="0"/>
                <a:cs typeface="Courier New" panose="02070309020205020404" pitchFamily="49" charset="0"/>
              </a:rPr>
              <a:t>CASE</a:t>
            </a:r>
            <a:r>
              <a:rPr lang="de-DE" dirty="0"/>
              <a:t> bildet fachliche Regeln ab </a:t>
            </a:r>
          </a:p>
          <a:p>
            <a:pPr lvl="0"/>
            <a:r>
              <a:rPr lang="de-DE" dirty="0"/>
              <a:t>Die Berechnung erfolgt mengenorientiert in der Datenbank </a:t>
            </a:r>
          </a:p>
          <a:p>
            <a:endParaRPr lang="de-DE" dirty="0"/>
          </a:p>
        </p:txBody>
      </p:sp>
    </p:spTree>
    <p:extLst>
      <p:ext uri="{BB962C8B-B14F-4D97-AF65-F5344CB8AC3E}">
        <p14:creationId xmlns:p14="http://schemas.microsoft.com/office/powerpoint/2010/main" val="280167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A76B18-0E55-E6F2-BDA9-1A24B626AD5A}"/>
              </a:ext>
            </a:extLst>
          </p:cNvPr>
          <p:cNvSpPr>
            <a:spLocks noGrp="1"/>
          </p:cNvSpPr>
          <p:nvPr>
            <p:ph type="title"/>
          </p:nvPr>
        </p:nvSpPr>
        <p:spPr/>
        <p:txBody>
          <a:bodyPr/>
          <a:lstStyle/>
          <a:p>
            <a:r>
              <a:rPr lang="de-DE" dirty="0"/>
              <a:t>Funktionen in CDS-Ausdrücken</a:t>
            </a:r>
          </a:p>
        </p:txBody>
      </p:sp>
      <p:graphicFrame>
        <p:nvGraphicFramePr>
          <p:cNvPr id="5" name="Inhaltsplatzhalter 4">
            <a:extLst>
              <a:ext uri="{FF2B5EF4-FFF2-40B4-BE49-F238E27FC236}">
                <a16:creationId xmlns:a16="http://schemas.microsoft.com/office/drawing/2014/main" id="{E2526144-FF9A-4C98-CE91-E93EF0C375F9}"/>
              </a:ext>
            </a:extLst>
          </p:cNvPr>
          <p:cNvGraphicFramePr>
            <a:graphicFrameLocks noGrp="1"/>
          </p:cNvGraphicFramePr>
          <p:nvPr>
            <p:ph idx="1"/>
            <p:extLst>
              <p:ext uri="{D42A27DB-BD31-4B8C-83A1-F6EECF244321}">
                <p14:modId xmlns:p14="http://schemas.microsoft.com/office/powerpoint/2010/main" val="2676674018"/>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2658979">
                  <a:extLst>
                    <a:ext uri="{9D8B030D-6E8A-4147-A177-3AD203B41FA5}">
                      <a16:colId xmlns:a16="http://schemas.microsoft.com/office/drawing/2014/main" val="1455963578"/>
                    </a:ext>
                  </a:extLst>
                </a:gridCol>
                <a:gridCol w="7856621">
                  <a:extLst>
                    <a:ext uri="{9D8B030D-6E8A-4147-A177-3AD203B41FA5}">
                      <a16:colId xmlns:a16="http://schemas.microsoft.com/office/drawing/2014/main" val="3632688569"/>
                    </a:ext>
                  </a:extLst>
                </a:gridCol>
              </a:tblGrid>
              <a:tr h="370840">
                <a:tc>
                  <a:txBody>
                    <a:bodyPr/>
                    <a:lstStyle/>
                    <a:p>
                      <a:r>
                        <a:rPr lang="de-DE" dirty="0"/>
                        <a:t>Funktionsgruppe</a:t>
                      </a:r>
                    </a:p>
                  </a:txBody>
                  <a:tcPr/>
                </a:tc>
                <a:tc>
                  <a:txBody>
                    <a:bodyPr/>
                    <a:lstStyle/>
                    <a:p>
                      <a:r>
                        <a:rPr lang="de-DE" dirty="0"/>
                        <a:t>Typische Aufgaben</a:t>
                      </a:r>
                    </a:p>
                  </a:txBody>
                  <a:tcPr/>
                </a:tc>
                <a:extLst>
                  <a:ext uri="{0D108BD9-81ED-4DB2-BD59-A6C34878D82A}">
                    <a16:rowId xmlns:a16="http://schemas.microsoft.com/office/drawing/2014/main" val="2262436396"/>
                  </a:ext>
                </a:extLst>
              </a:tr>
              <a:tr h="370840">
                <a:tc>
                  <a:txBody>
                    <a:bodyPr/>
                    <a:lstStyle/>
                    <a:p>
                      <a:r>
                        <a:rPr lang="de-DE" dirty="0"/>
                        <a:t>Zeichenketten</a:t>
                      </a:r>
                    </a:p>
                  </a:txBody>
                  <a:tcPr/>
                </a:tc>
                <a:tc>
                  <a:txBody>
                    <a:bodyPr/>
                    <a:lstStyle/>
                    <a:p>
                      <a:r>
                        <a:rPr lang="de-DE" dirty="0"/>
                        <a:t>Texte verbinden, kürzen oder umwandeln</a:t>
                      </a:r>
                    </a:p>
                  </a:txBody>
                  <a:tcPr/>
                </a:tc>
                <a:extLst>
                  <a:ext uri="{0D108BD9-81ED-4DB2-BD59-A6C34878D82A}">
                    <a16:rowId xmlns:a16="http://schemas.microsoft.com/office/drawing/2014/main" val="3774256266"/>
                  </a:ext>
                </a:extLst>
              </a:tr>
              <a:tr h="370840">
                <a:tc>
                  <a:txBody>
                    <a:bodyPr/>
                    <a:lstStyle/>
                    <a:p>
                      <a:r>
                        <a:rPr lang="de-DE" dirty="0"/>
                        <a:t>Datum und Zeit</a:t>
                      </a:r>
                    </a:p>
                  </a:txBody>
                  <a:tcPr/>
                </a:tc>
                <a:tc>
                  <a:txBody>
                    <a:bodyPr/>
                    <a:lstStyle/>
                    <a:p>
                      <a:r>
                        <a:rPr lang="de-DE" dirty="0"/>
                        <a:t>Differenzen berechnen, Datumsbestandteile ermitteln</a:t>
                      </a:r>
                    </a:p>
                  </a:txBody>
                  <a:tcPr/>
                </a:tc>
                <a:extLst>
                  <a:ext uri="{0D108BD9-81ED-4DB2-BD59-A6C34878D82A}">
                    <a16:rowId xmlns:a16="http://schemas.microsoft.com/office/drawing/2014/main" val="337227995"/>
                  </a:ext>
                </a:extLst>
              </a:tr>
              <a:tr h="370840">
                <a:tc>
                  <a:txBody>
                    <a:bodyPr/>
                    <a:lstStyle/>
                    <a:p>
                      <a:r>
                        <a:rPr lang="de-DE" dirty="0"/>
                        <a:t>Numerische Werte</a:t>
                      </a:r>
                    </a:p>
                  </a:txBody>
                  <a:tcPr/>
                </a:tc>
                <a:tc>
                  <a:txBody>
                    <a:bodyPr/>
                    <a:lstStyle/>
                    <a:p>
                      <a:r>
                        <a:rPr lang="de-DE" dirty="0"/>
                        <a:t>Runden, Absolutwert bestimmen</a:t>
                      </a:r>
                    </a:p>
                  </a:txBody>
                  <a:tcPr/>
                </a:tc>
                <a:extLst>
                  <a:ext uri="{0D108BD9-81ED-4DB2-BD59-A6C34878D82A}">
                    <a16:rowId xmlns:a16="http://schemas.microsoft.com/office/drawing/2014/main" val="330765553"/>
                  </a:ext>
                </a:extLst>
              </a:tr>
              <a:tr h="370840">
                <a:tc>
                  <a:txBody>
                    <a:bodyPr/>
                    <a:lstStyle/>
                    <a:p>
                      <a:r>
                        <a:rPr lang="de-DE" dirty="0"/>
                        <a:t>Typkonvertierung</a:t>
                      </a:r>
                    </a:p>
                  </a:txBody>
                  <a:tcPr/>
                </a:tc>
                <a:tc>
                  <a:txBody>
                    <a:bodyPr/>
                    <a:lstStyle/>
                    <a:p>
                      <a:r>
                        <a:rPr lang="de-DE" dirty="0"/>
                        <a:t>Werte in einen anderen Datentyp überführen</a:t>
                      </a:r>
                    </a:p>
                  </a:txBody>
                  <a:tcPr/>
                </a:tc>
                <a:extLst>
                  <a:ext uri="{0D108BD9-81ED-4DB2-BD59-A6C34878D82A}">
                    <a16:rowId xmlns:a16="http://schemas.microsoft.com/office/drawing/2014/main" val="3532623765"/>
                  </a:ext>
                </a:extLst>
              </a:tr>
              <a:tr h="370840">
                <a:tc>
                  <a:txBody>
                    <a:bodyPr/>
                    <a:lstStyle/>
                    <a:p>
                      <a:r>
                        <a:rPr lang="de-DE" dirty="0"/>
                        <a:t>Semantische Werte</a:t>
                      </a:r>
                    </a:p>
                  </a:txBody>
                  <a:tcPr/>
                </a:tc>
                <a:tc>
                  <a:txBody>
                    <a:bodyPr/>
                    <a:lstStyle/>
                    <a:p>
                      <a:r>
                        <a:rPr lang="de-DE" dirty="0"/>
                        <a:t>Numerischen Wert aus Betrag oder Menge lösen</a:t>
                      </a:r>
                    </a:p>
                  </a:txBody>
                  <a:tcPr/>
                </a:tc>
                <a:extLst>
                  <a:ext uri="{0D108BD9-81ED-4DB2-BD59-A6C34878D82A}">
                    <a16:rowId xmlns:a16="http://schemas.microsoft.com/office/drawing/2014/main" val="1809910940"/>
                  </a:ext>
                </a:extLst>
              </a:tr>
            </a:tbl>
          </a:graphicData>
        </a:graphic>
      </p:graphicFrame>
    </p:spTree>
    <p:extLst>
      <p:ext uri="{BB962C8B-B14F-4D97-AF65-F5344CB8AC3E}">
        <p14:creationId xmlns:p14="http://schemas.microsoft.com/office/powerpoint/2010/main" val="2983007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EFEBB-7550-6CC5-8B67-412A0107CD60}"/>
              </a:ext>
            </a:extLst>
          </p:cNvPr>
          <p:cNvSpPr>
            <a:spLocks noGrp="1"/>
          </p:cNvSpPr>
          <p:nvPr>
            <p:ph type="title"/>
          </p:nvPr>
        </p:nvSpPr>
        <p:spPr/>
        <p:txBody>
          <a:bodyPr/>
          <a:lstStyle/>
          <a:p>
            <a:r>
              <a:rPr lang="de-DE" dirty="0"/>
              <a:t>Zeichenketten verarbeiten</a:t>
            </a:r>
          </a:p>
        </p:txBody>
      </p:sp>
      <p:sp>
        <p:nvSpPr>
          <p:cNvPr id="4" name="Inhaltsplatzhalter 3">
            <a:extLst>
              <a:ext uri="{FF2B5EF4-FFF2-40B4-BE49-F238E27FC236}">
                <a16:creationId xmlns:a16="http://schemas.microsoft.com/office/drawing/2014/main" id="{462926B4-6417-D6A0-C317-B882F641810B}"/>
              </a:ext>
            </a:extLst>
          </p:cNvPr>
          <p:cNvSpPr>
            <a:spLocks noGrp="1"/>
          </p:cNvSpPr>
          <p:nvPr>
            <p:ph sz="half" idx="1"/>
          </p:nvPr>
        </p:nvSpPr>
        <p:spPr/>
        <p:txBody>
          <a:bodyPr>
            <a:normAutofit fontScale="77500" lnSpcReduction="20000"/>
          </a:bodyPr>
          <a:lstStyle/>
          <a:p>
            <a:pPr marL="0" indent="0">
              <a:buNone/>
            </a:pPr>
            <a:r>
              <a:rPr lang="de-DE" b="1" dirty="0"/>
              <a:t>Wichtige Funktionen</a:t>
            </a:r>
            <a:endParaRPr lang="de-DE" dirty="0"/>
          </a:p>
          <a:p>
            <a:pPr lvl="0"/>
            <a:r>
              <a:rPr lang="de-DE" dirty="0" err="1">
                <a:latin typeface="Courier New" panose="02070309020205020404" pitchFamily="49" charset="0"/>
                <a:cs typeface="Courier New" panose="02070309020205020404" pitchFamily="49" charset="0"/>
              </a:rPr>
              <a:t>upper</a:t>
            </a:r>
            <a:r>
              <a:rPr lang="de-DE" dirty="0"/>
              <a:t> – in Großbuchstaben umwandeln </a:t>
            </a:r>
          </a:p>
          <a:p>
            <a:pPr lvl="0"/>
            <a:r>
              <a:rPr lang="de-DE" dirty="0" err="1">
                <a:latin typeface="Courier New" panose="02070309020205020404" pitchFamily="49" charset="0"/>
                <a:cs typeface="Courier New" panose="02070309020205020404" pitchFamily="49" charset="0"/>
              </a:rPr>
              <a:t>lower</a:t>
            </a:r>
            <a:r>
              <a:rPr lang="de-DE" dirty="0"/>
              <a:t> – in Kleinbuchstaben umwandeln </a:t>
            </a:r>
          </a:p>
          <a:p>
            <a:pPr lvl="0"/>
            <a:r>
              <a:rPr lang="de-DE" dirty="0" err="1">
                <a:latin typeface="Courier New" panose="02070309020205020404" pitchFamily="49" charset="0"/>
                <a:cs typeface="Courier New" panose="02070309020205020404" pitchFamily="49" charset="0"/>
              </a:rPr>
              <a:t>concat</a:t>
            </a:r>
            <a:r>
              <a:rPr lang="de-DE" dirty="0"/>
              <a:t> – zwei Zeichenketten verbinden </a:t>
            </a:r>
          </a:p>
          <a:p>
            <a:pPr lvl="0"/>
            <a:r>
              <a:rPr lang="de-DE" dirty="0" err="1">
                <a:latin typeface="Courier New" panose="02070309020205020404" pitchFamily="49" charset="0"/>
                <a:cs typeface="Courier New" panose="02070309020205020404" pitchFamily="49" charset="0"/>
              </a:rPr>
              <a:t>concat_with_space</a:t>
            </a:r>
            <a:r>
              <a:rPr lang="de-DE" dirty="0"/>
              <a:t> – Zeichenketten mit Leerzeichen verbinden </a:t>
            </a:r>
          </a:p>
          <a:p>
            <a:pPr lvl="0"/>
            <a:r>
              <a:rPr lang="de-DE" dirty="0" err="1">
                <a:latin typeface="Courier New" panose="02070309020205020404" pitchFamily="49" charset="0"/>
                <a:cs typeface="Courier New" panose="02070309020205020404" pitchFamily="49" charset="0"/>
              </a:rPr>
              <a:t>substring</a:t>
            </a:r>
            <a:r>
              <a:rPr lang="de-DE" dirty="0"/>
              <a:t> – einen Teil einer Zeichenkette liefern </a:t>
            </a:r>
          </a:p>
          <a:p>
            <a:pPr lvl="0"/>
            <a:r>
              <a:rPr lang="de-DE" dirty="0" err="1">
                <a:latin typeface="Courier New" panose="02070309020205020404" pitchFamily="49" charset="0"/>
                <a:cs typeface="Courier New" panose="02070309020205020404" pitchFamily="49" charset="0"/>
              </a:rPr>
              <a:t>length</a:t>
            </a:r>
            <a:r>
              <a:rPr lang="de-DE" dirty="0"/>
              <a:t> – Länge einer Zeichenkette bestimmen</a:t>
            </a:r>
          </a:p>
          <a:p>
            <a:pPr marL="0" indent="0">
              <a:buNone/>
            </a:pPr>
            <a:endParaRPr lang="de-DE" dirty="0"/>
          </a:p>
        </p:txBody>
      </p:sp>
      <p:sp>
        <p:nvSpPr>
          <p:cNvPr id="5" name="Inhaltsplatzhalter 4">
            <a:extLst>
              <a:ext uri="{FF2B5EF4-FFF2-40B4-BE49-F238E27FC236}">
                <a16:creationId xmlns:a16="http://schemas.microsoft.com/office/drawing/2014/main" id="{1EE99FF2-199C-4C86-400D-8E7C9012CBBC}"/>
              </a:ext>
            </a:extLst>
          </p:cNvPr>
          <p:cNvSpPr>
            <a:spLocks noGrp="1"/>
          </p:cNvSpPr>
          <p:nvPr>
            <p:ph sz="half" idx="2"/>
          </p:nvPr>
        </p:nvSpPr>
        <p:spPr/>
        <p:txBody>
          <a:bodyPr>
            <a:normAutofit fontScale="77500" lnSpcReduction="20000"/>
          </a:bodyPr>
          <a:lstStyle/>
          <a:p>
            <a:pPr marL="0" indent="0">
              <a:buNone/>
            </a:pPr>
            <a:r>
              <a:rPr lang="de-DE" b="1" dirty="0"/>
              <a:t>Beispiele</a:t>
            </a:r>
          </a:p>
          <a:p>
            <a:pPr marL="0" indent="0">
              <a:buNone/>
            </a:pPr>
            <a:r>
              <a:rPr lang="de-DE" dirty="0" err="1">
                <a:latin typeface="Courier New" panose="02070309020205020404" pitchFamily="49" charset="0"/>
                <a:cs typeface="Courier New" panose="02070309020205020404" pitchFamily="49" charset="0"/>
              </a:rPr>
              <a:t>upper</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ProductNameUpper</a:t>
            </a: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err="1">
                <a:latin typeface="Courier New" panose="02070309020205020404" pitchFamily="49" charset="0"/>
                <a:cs typeface="Courier New" panose="02070309020205020404" pitchFamily="49" charset="0"/>
              </a:rPr>
              <a:t>concat_with_space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ProductId</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1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ProductDescription</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252680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863491-7B9E-5EC5-243C-7A95D7275C59}"/>
              </a:ext>
            </a:extLst>
          </p:cNvPr>
          <p:cNvSpPr>
            <a:spLocks noGrp="1"/>
          </p:cNvSpPr>
          <p:nvPr>
            <p:ph type="title"/>
          </p:nvPr>
        </p:nvSpPr>
        <p:spPr/>
        <p:txBody>
          <a:bodyPr/>
          <a:lstStyle/>
          <a:p>
            <a:r>
              <a:rPr lang="de-DE" dirty="0"/>
              <a:t>Werte mit </a:t>
            </a:r>
            <a:r>
              <a:rPr lang="de-DE" dirty="0">
                <a:latin typeface="Courier New" panose="02070309020205020404" pitchFamily="49" charset="0"/>
                <a:cs typeface="Courier New" panose="02070309020205020404" pitchFamily="49" charset="0"/>
              </a:rPr>
              <a:t>cast</a:t>
            </a:r>
            <a:r>
              <a:rPr lang="de-DE" dirty="0"/>
              <a:t> konvertieren</a:t>
            </a:r>
          </a:p>
        </p:txBody>
      </p:sp>
      <p:sp>
        <p:nvSpPr>
          <p:cNvPr id="5" name="Inhaltsplatzhalter 4">
            <a:extLst>
              <a:ext uri="{FF2B5EF4-FFF2-40B4-BE49-F238E27FC236}">
                <a16:creationId xmlns:a16="http://schemas.microsoft.com/office/drawing/2014/main" id="{747A7D91-D42D-B691-5490-4E8716DC6AC4}"/>
              </a:ext>
            </a:extLst>
          </p:cNvPr>
          <p:cNvSpPr>
            <a:spLocks noGrp="1"/>
          </p:cNvSpPr>
          <p:nvPr>
            <p:ph idx="1"/>
          </p:nvPr>
        </p:nvSpPr>
        <p:spPr/>
        <p:txBody>
          <a:bodyPr>
            <a:normAutofit lnSpcReduction="10000"/>
          </a:bodyPr>
          <a:lstStyle/>
          <a:p>
            <a:pPr marL="0" indent="0">
              <a:buNone/>
            </a:pPr>
            <a:r>
              <a:rPr lang="de-DE" dirty="0"/>
              <a:t>Eine Zeichenkettenfunktion erwartet zeichenartige Operanden:</a:t>
            </a:r>
          </a:p>
          <a:p>
            <a:pPr marL="457200" lvl="1" indent="0">
              <a:buNone/>
            </a:pPr>
            <a:r>
              <a:rPr lang="de-DE" dirty="0">
                <a:latin typeface="Courier New" panose="02070309020205020404" pitchFamily="49" charset="0"/>
                <a:cs typeface="Courier New" panose="02070309020205020404" pitchFamily="49" charset="0"/>
              </a:rPr>
              <a:t>cast(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( 6 )</a:t>
            </a:r>
          </a:p>
          <a:p>
            <a:pPr marL="457200" lvl="1" indent="0">
              <a:buNone/>
            </a:pPr>
            <a:r>
              <a:rPr lang="de-DE" dirty="0">
                <a:latin typeface="Courier New" panose="02070309020205020404" pitchFamily="49" charset="0"/>
                <a:cs typeface="Courier New" panose="02070309020205020404" pitchFamily="49" charset="0"/>
              </a:rPr>
              <a:t>)</a:t>
            </a:r>
          </a:p>
          <a:p>
            <a:pPr marL="0" indent="0">
              <a:buNone/>
            </a:pPr>
            <a:endParaRPr lang="de-DE" dirty="0"/>
          </a:p>
          <a:p>
            <a:pPr marL="0" indent="0">
              <a:buNone/>
            </a:pPr>
            <a:r>
              <a:rPr lang="de-DE" dirty="0"/>
              <a:t>Danach kann der Wert in einen Text aufgenommen werden:</a:t>
            </a:r>
          </a:p>
          <a:p>
            <a:pPr marL="457200" lvl="1" indent="0">
              <a:buNone/>
            </a:pPr>
            <a:r>
              <a:rPr lang="de-DE" dirty="0" err="1">
                <a:latin typeface="Courier New" panose="02070309020205020404" pitchFamily="49" charset="0"/>
                <a:cs typeface="Courier New" panose="02070309020205020404" pitchFamily="49" charset="0"/>
              </a:rPr>
              <a:t>concat_with_space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'Item',</a:t>
            </a:r>
          </a:p>
          <a:p>
            <a:pPr marL="457200" lvl="1" indent="0">
              <a:buNone/>
            </a:pPr>
            <a:r>
              <a:rPr lang="de-DE" dirty="0">
                <a:latin typeface="Courier New" panose="02070309020205020404" pitchFamily="49" charset="0"/>
                <a:cs typeface="Courier New" panose="02070309020205020404" pitchFamily="49" charset="0"/>
              </a:rPr>
              <a:t>  cast(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( 6 ) ),</a:t>
            </a:r>
          </a:p>
          <a:p>
            <a:pPr marL="457200" lvl="1" indent="0">
              <a:buNone/>
            </a:pPr>
            <a:r>
              <a:rPr lang="de-DE" dirty="0">
                <a:latin typeface="Courier New" panose="02070309020205020404" pitchFamily="49" charset="0"/>
                <a:cs typeface="Courier New" panose="02070309020205020404" pitchFamily="49" charset="0"/>
              </a:rPr>
              <a:t>  1</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ItemDescription</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1706218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BDD0C4-A759-9681-D007-680F9A020B6D}"/>
              </a:ext>
            </a:extLst>
          </p:cNvPr>
          <p:cNvSpPr>
            <a:spLocks noGrp="1"/>
          </p:cNvSpPr>
          <p:nvPr>
            <p:ph type="title"/>
          </p:nvPr>
        </p:nvSpPr>
        <p:spPr/>
        <p:txBody>
          <a:bodyPr/>
          <a:lstStyle/>
          <a:p>
            <a:r>
              <a:rPr lang="de-DE" dirty="0"/>
              <a:t>Datumsdifferenzen berechnen</a:t>
            </a:r>
          </a:p>
        </p:txBody>
      </p:sp>
      <p:sp>
        <p:nvSpPr>
          <p:cNvPr id="3" name="Inhaltsplatzhalter 2">
            <a:extLst>
              <a:ext uri="{FF2B5EF4-FFF2-40B4-BE49-F238E27FC236}">
                <a16:creationId xmlns:a16="http://schemas.microsoft.com/office/drawing/2014/main" id="{A1E8EAA1-5030-5239-29B4-C9FCB0C3D434}"/>
              </a:ext>
            </a:extLst>
          </p:cNvPr>
          <p:cNvSpPr>
            <a:spLocks noGrp="1"/>
          </p:cNvSpPr>
          <p:nvPr>
            <p:ph idx="1"/>
          </p:nvPr>
        </p:nvSpPr>
        <p:spPr/>
        <p:txBody>
          <a:bodyPr>
            <a:normAutofit/>
          </a:bodyPr>
          <a:lstStyle/>
          <a:p>
            <a:pPr marL="0" indent="0">
              <a:buNone/>
            </a:pPr>
            <a:r>
              <a:rPr lang="de-DE" dirty="0"/>
              <a:t>Alter des Auftrags:</a:t>
            </a:r>
          </a:p>
          <a:p>
            <a:pPr marL="457200" lvl="1" indent="0">
              <a:buNone/>
            </a:pPr>
            <a:r>
              <a:rPr lang="de-DE" dirty="0" err="1">
                <a:latin typeface="Courier New" panose="02070309020205020404" pitchFamily="49" charset="0"/>
                <a:cs typeface="Courier New" panose="02070309020205020404" pitchFamily="49" charset="0"/>
              </a:rPr>
              <a:t>dats_days_between</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Order.OrderDate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session.system_date</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OrderAgeInDays</a:t>
            </a:r>
            <a:endParaRPr lang="de-DE" dirty="0">
              <a:latin typeface="Courier New" panose="02070309020205020404" pitchFamily="49" charset="0"/>
              <a:cs typeface="Courier New" panose="02070309020205020404" pitchFamily="49" charset="0"/>
            </a:endParaRPr>
          </a:p>
          <a:p>
            <a:pPr marL="0" indent="0">
              <a:buNone/>
            </a:pPr>
            <a:r>
              <a:rPr lang="de-DE" dirty="0"/>
              <a:t>Zeit bis zum gewünschten Liefertermin:</a:t>
            </a:r>
          </a:p>
          <a:p>
            <a:pPr marL="457200" lvl="1" indent="0">
              <a:buNone/>
            </a:pPr>
            <a:r>
              <a:rPr lang="de-DE" dirty="0" err="1">
                <a:latin typeface="Courier New" panose="02070309020205020404" pitchFamily="49" charset="0"/>
                <a:cs typeface="Courier New" panose="02070309020205020404" pitchFamily="49" charset="0"/>
              </a:rPr>
              <a:t>dats_days_between</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session.system_date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Order.RequestedDate</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DaysUntilRequestedDate</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1712992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2B317E-CE76-9182-C990-578DF5371C9C}"/>
              </a:ext>
            </a:extLst>
          </p:cNvPr>
          <p:cNvSpPr>
            <a:spLocks noGrp="1"/>
          </p:cNvSpPr>
          <p:nvPr>
            <p:ph type="title"/>
          </p:nvPr>
        </p:nvSpPr>
        <p:spPr/>
        <p:txBody>
          <a:bodyPr/>
          <a:lstStyle/>
          <a:p>
            <a:r>
              <a:rPr lang="de-DE" dirty="0"/>
              <a:t>Verschachtelte Funktionen</a:t>
            </a:r>
          </a:p>
        </p:txBody>
      </p:sp>
      <p:sp>
        <p:nvSpPr>
          <p:cNvPr id="3" name="Inhaltsplatzhalter 2">
            <a:extLst>
              <a:ext uri="{FF2B5EF4-FFF2-40B4-BE49-F238E27FC236}">
                <a16:creationId xmlns:a16="http://schemas.microsoft.com/office/drawing/2014/main" id="{82AD3FAF-A602-44E1-5E49-447BD0D4F356}"/>
              </a:ext>
            </a:extLst>
          </p:cNvPr>
          <p:cNvSpPr>
            <a:spLocks noGrp="1"/>
          </p:cNvSpPr>
          <p:nvPr>
            <p:ph idx="1"/>
          </p:nvPr>
        </p:nvSpPr>
        <p:spPr/>
        <p:txBody>
          <a:bodyPr>
            <a:normAutofit fontScale="92500" lnSpcReduction="10000"/>
          </a:bodyPr>
          <a:lstStyle/>
          <a:p>
            <a:pPr marL="0" indent="0">
              <a:buNone/>
            </a:pPr>
            <a:r>
              <a:rPr lang="de-DE" dirty="0"/>
              <a:t>Funktionen können miteinander kombiniert werden:</a:t>
            </a:r>
          </a:p>
          <a:p>
            <a:pPr marL="457200" lvl="1" indent="0">
              <a:buNone/>
            </a:pPr>
            <a:r>
              <a:rPr lang="de-DE" dirty="0" err="1">
                <a:latin typeface="Courier New" panose="02070309020205020404" pitchFamily="49" charset="0"/>
                <a:cs typeface="Courier New" panose="02070309020205020404" pitchFamily="49" charset="0"/>
              </a:rPr>
              <a:t>concat_with_space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cast(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( 6 ) ),</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upper</a:t>
            </a: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r>
              <a:rPr lang="de-DE" dirty="0">
                <a:latin typeface="Courier New" panose="02070309020205020404" pitchFamily="49" charset="0"/>
                <a:cs typeface="Courier New" panose="02070309020205020404" pitchFamily="49" charset="0"/>
              </a:rPr>
              <a:t> ),</a:t>
            </a:r>
          </a:p>
          <a:p>
            <a:pPr marL="457200" lvl="1" indent="0">
              <a:buNone/>
            </a:pPr>
            <a:r>
              <a:rPr lang="de-DE" dirty="0">
                <a:latin typeface="Courier New" panose="02070309020205020404" pitchFamily="49" charset="0"/>
                <a:cs typeface="Courier New" panose="02070309020205020404" pitchFamily="49" charset="0"/>
              </a:rPr>
              <a:t>  1</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ItemProductText</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Die Auswertung erfolgt von </a:t>
            </a:r>
            <a:r>
              <a:rPr lang="de-DE" dirty="0" err="1"/>
              <a:t>von</a:t>
            </a:r>
            <a:r>
              <a:rPr lang="de-DE" dirty="0"/>
              <a:t> innen nach außen</a:t>
            </a:r>
          </a:p>
          <a:p>
            <a:pPr marL="0" indent="0">
              <a:buNone/>
            </a:pPr>
            <a:endParaRPr lang="de-DE" dirty="0"/>
          </a:p>
          <a:p>
            <a:pPr marL="0" indent="0">
              <a:buNone/>
            </a:pPr>
            <a:r>
              <a:rPr lang="de-DE" dirty="0">
                <a:highlight>
                  <a:srgbClr val="FFFF00"/>
                </a:highlight>
              </a:rPr>
              <a:t>Zwischenergebnisse müssen einen passenden Datentyp für die nächste Funktion besitzen.</a:t>
            </a:r>
          </a:p>
        </p:txBody>
      </p:sp>
    </p:spTree>
    <p:extLst>
      <p:ext uri="{BB962C8B-B14F-4D97-AF65-F5344CB8AC3E}">
        <p14:creationId xmlns:p14="http://schemas.microsoft.com/office/powerpoint/2010/main" val="1145613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DB1288-4DCE-2D9A-0CD6-C62FA24E437D}"/>
              </a:ext>
            </a:extLst>
          </p:cNvPr>
          <p:cNvSpPr>
            <a:spLocks noGrp="1"/>
          </p:cNvSpPr>
          <p:nvPr>
            <p:ph type="title"/>
          </p:nvPr>
        </p:nvSpPr>
        <p:spPr/>
        <p:txBody>
          <a:bodyPr/>
          <a:lstStyle/>
          <a:p>
            <a:r>
              <a:rPr lang="de-DE" dirty="0"/>
              <a:t>Live-Coding 2: Texte und Termine auswerten</a:t>
            </a:r>
          </a:p>
        </p:txBody>
      </p:sp>
      <p:sp>
        <p:nvSpPr>
          <p:cNvPr id="3" name="Inhaltsplatzhalter 2">
            <a:extLst>
              <a:ext uri="{FF2B5EF4-FFF2-40B4-BE49-F238E27FC236}">
                <a16:creationId xmlns:a16="http://schemas.microsoft.com/office/drawing/2014/main" id="{541D6F89-CCA6-A613-C18B-882A889AF747}"/>
              </a:ext>
            </a:extLst>
          </p:cNvPr>
          <p:cNvSpPr>
            <a:spLocks noGrp="1"/>
          </p:cNvSpPr>
          <p:nvPr>
            <p:ph idx="1"/>
          </p:nvPr>
        </p:nvSpPr>
        <p:spPr/>
        <p:txBody>
          <a:bodyPr/>
          <a:lstStyle/>
          <a:p>
            <a:pPr marL="0" indent="0">
              <a:buNone/>
            </a:pPr>
            <a:r>
              <a:rPr lang="de-DE" dirty="0"/>
              <a:t>Wir erweitern </a:t>
            </a:r>
            <a:r>
              <a:rPr lang="de-DE" dirty="0" err="1">
                <a:latin typeface="Courier New" panose="02070309020205020404" pitchFamily="49" charset="0"/>
                <a:cs typeface="Courier New" panose="02070309020205020404" pitchFamily="49" charset="0"/>
              </a:rPr>
              <a:t>ZI_CDSOrderItemCalc</a:t>
            </a:r>
            <a:r>
              <a:rPr lang="de-DE" dirty="0"/>
              <a:t> um weitere Elemente</a:t>
            </a:r>
          </a:p>
          <a:p>
            <a:pPr marL="0" indent="0">
              <a:buNone/>
            </a:pPr>
            <a:endParaRPr lang="de-DE" dirty="0"/>
          </a:p>
        </p:txBody>
      </p:sp>
      <p:graphicFrame>
        <p:nvGraphicFramePr>
          <p:cNvPr id="4" name="Tabelle 3">
            <a:extLst>
              <a:ext uri="{FF2B5EF4-FFF2-40B4-BE49-F238E27FC236}">
                <a16:creationId xmlns:a16="http://schemas.microsoft.com/office/drawing/2014/main" id="{1CE040BE-9C54-571B-4422-D24345A0D6E1}"/>
              </a:ext>
            </a:extLst>
          </p:cNvPr>
          <p:cNvGraphicFramePr>
            <a:graphicFrameLocks noGrp="1"/>
          </p:cNvGraphicFramePr>
          <p:nvPr>
            <p:extLst>
              <p:ext uri="{D42A27DB-BD31-4B8C-83A1-F6EECF244321}">
                <p14:modId xmlns:p14="http://schemas.microsoft.com/office/powerpoint/2010/main" val="1012079012"/>
              </p:ext>
            </p:extLst>
          </p:nvPr>
        </p:nvGraphicFramePr>
        <p:xfrm>
          <a:off x="838200" y="2484297"/>
          <a:ext cx="10515600" cy="2225040"/>
        </p:xfrm>
        <a:graphic>
          <a:graphicData uri="http://schemas.openxmlformats.org/drawingml/2006/table">
            <a:tbl>
              <a:tblPr firstRow="1" bandRow="1">
                <a:tableStyleId>{5C22544A-7EE6-4342-B048-85BDC9FD1C3A}</a:tableStyleId>
              </a:tblPr>
              <a:tblGrid>
                <a:gridCol w="3653589">
                  <a:extLst>
                    <a:ext uri="{9D8B030D-6E8A-4147-A177-3AD203B41FA5}">
                      <a16:colId xmlns:a16="http://schemas.microsoft.com/office/drawing/2014/main" val="234134951"/>
                    </a:ext>
                  </a:extLst>
                </a:gridCol>
                <a:gridCol w="6862011">
                  <a:extLst>
                    <a:ext uri="{9D8B030D-6E8A-4147-A177-3AD203B41FA5}">
                      <a16:colId xmlns:a16="http://schemas.microsoft.com/office/drawing/2014/main" val="3199701269"/>
                    </a:ext>
                  </a:extLst>
                </a:gridCol>
              </a:tblGrid>
              <a:tr h="370840">
                <a:tc>
                  <a:txBody>
                    <a:bodyPr/>
                    <a:lstStyle/>
                    <a:p>
                      <a:r>
                        <a:rPr lang="de-DE" dirty="0"/>
                        <a:t>Neues Element</a:t>
                      </a:r>
                    </a:p>
                  </a:txBody>
                  <a:tcPr/>
                </a:tc>
                <a:tc>
                  <a:txBody>
                    <a:bodyPr/>
                    <a:lstStyle/>
                    <a:p>
                      <a:r>
                        <a:rPr lang="de-DE" dirty="0"/>
                        <a:t>Verwendete Technik</a:t>
                      </a:r>
                    </a:p>
                  </a:txBody>
                  <a:tcPr/>
                </a:tc>
                <a:extLst>
                  <a:ext uri="{0D108BD9-81ED-4DB2-BD59-A6C34878D82A}">
                    <a16:rowId xmlns:a16="http://schemas.microsoft.com/office/drawing/2014/main" val="1138287909"/>
                  </a:ext>
                </a:extLst>
              </a:tr>
              <a:tr h="370840">
                <a:tc>
                  <a:txBody>
                    <a:bodyPr/>
                    <a:lstStyle/>
                    <a:p>
                      <a:r>
                        <a:rPr lang="de-DE" dirty="0" err="1">
                          <a:latin typeface="Courier New" panose="02070309020205020404" pitchFamily="49" charset="0"/>
                          <a:cs typeface="Courier New" panose="02070309020205020404" pitchFamily="49" charset="0"/>
                        </a:rPr>
                        <a:t>ProductNameUpper</a:t>
                      </a:r>
                      <a:endParaRPr lang="de-DE" dirty="0">
                        <a:latin typeface="Courier New" panose="02070309020205020404" pitchFamily="49" charset="0"/>
                        <a:cs typeface="Courier New" panose="02070309020205020404" pitchFamily="49" charset="0"/>
                      </a:endParaRPr>
                    </a:p>
                  </a:txBody>
                  <a:tcPr/>
                </a:tc>
                <a:tc>
                  <a:txBody>
                    <a:bodyPr/>
                    <a:lstStyle/>
                    <a:p>
                      <a:r>
                        <a:rPr lang="de-DE" dirty="0" err="1">
                          <a:latin typeface="Courier New" panose="02070309020205020404" pitchFamily="49" charset="0"/>
                          <a:cs typeface="Courier New" panose="02070309020205020404" pitchFamily="49" charset="0"/>
                        </a:rPr>
                        <a:t>upper</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803434697"/>
                  </a:ext>
                </a:extLst>
              </a:tr>
              <a:tr h="370840">
                <a:tc>
                  <a:txBody>
                    <a:bodyPr/>
                    <a:lstStyle/>
                    <a:p>
                      <a:r>
                        <a:rPr lang="de-DE" dirty="0" err="1">
                          <a:latin typeface="Courier New" panose="02070309020205020404" pitchFamily="49" charset="0"/>
                          <a:cs typeface="Courier New" panose="02070309020205020404" pitchFamily="49" charset="0"/>
                        </a:rPr>
                        <a:t>ProductDescription</a:t>
                      </a:r>
                      <a:endParaRPr lang="de-DE" dirty="0">
                        <a:latin typeface="Courier New" panose="02070309020205020404" pitchFamily="49" charset="0"/>
                        <a:cs typeface="Courier New" panose="02070309020205020404" pitchFamily="49" charset="0"/>
                      </a:endParaRPr>
                    </a:p>
                  </a:txBody>
                  <a:tcPr/>
                </a:tc>
                <a:tc>
                  <a:txBody>
                    <a:bodyPr/>
                    <a:lstStyle/>
                    <a:p>
                      <a:r>
                        <a:rPr lang="de-DE" dirty="0" err="1">
                          <a:latin typeface="Courier New" panose="02070309020205020404" pitchFamily="49" charset="0"/>
                          <a:cs typeface="Courier New" panose="02070309020205020404" pitchFamily="49" charset="0"/>
                        </a:rPr>
                        <a:t>concat_with_space</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512708"/>
                  </a:ext>
                </a:extLst>
              </a:tr>
              <a:tr h="370840">
                <a:tc>
                  <a:txBody>
                    <a:bodyPr/>
                    <a:lstStyle/>
                    <a:p>
                      <a:r>
                        <a:rPr lang="de-DE" dirty="0" err="1">
                          <a:latin typeface="Courier New" panose="02070309020205020404" pitchFamily="49" charset="0"/>
                          <a:cs typeface="Courier New" panose="02070309020205020404" pitchFamily="49" charset="0"/>
                        </a:rPr>
                        <a:t>ItemDescription</a:t>
                      </a:r>
                      <a:endParaRPr lang="de-DE" dirty="0">
                        <a:latin typeface="Courier New" panose="02070309020205020404" pitchFamily="49" charset="0"/>
                        <a:cs typeface="Courier New" panose="02070309020205020404" pitchFamily="49" charset="0"/>
                      </a:endParaRPr>
                    </a:p>
                  </a:txBody>
                  <a:tcPr/>
                </a:tc>
                <a:tc>
                  <a:txBody>
                    <a:bodyPr/>
                    <a:lstStyle/>
                    <a:p>
                      <a:r>
                        <a:rPr lang="de-DE" sz="1800" kern="1200" dirty="0">
                          <a:solidFill>
                            <a:schemeClr val="dk1"/>
                          </a:solidFill>
                          <a:latin typeface="Courier New" panose="02070309020205020404" pitchFamily="49" charset="0"/>
                          <a:ea typeface="+mn-ea"/>
                          <a:cs typeface="Courier New" panose="02070309020205020404" pitchFamily="49" charset="0"/>
                        </a:rPr>
                        <a:t>cast</a:t>
                      </a:r>
                      <a:r>
                        <a:rPr lang="de-DE" dirty="0">
                          <a:latin typeface="Courier New" panose="02070309020205020404" pitchFamily="49" charset="0"/>
                          <a:cs typeface="Courier New" panose="02070309020205020404" pitchFamily="49" charset="0"/>
                        </a:rPr>
                        <a:t> </a:t>
                      </a:r>
                      <a:r>
                        <a:rPr lang="de-DE" dirty="0">
                          <a:latin typeface="+mn-lt"/>
                          <a:cs typeface="Courier New" panose="02070309020205020404" pitchFamily="49" charset="0"/>
                        </a:rPr>
                        <a:t>und</a:t>
                      </a:r>
                      <a:r>
                        <a:rPr lang="de-DE" dirty="0">
                          <a:latin typeface="Courier New" panose="02070309020205020404" pitchFamily="49" charset="0"/>
                          <a:cs typeface="Courier New" panose="02070309020205020404" pitchFamily="49" charset="0"/>
                        </a:rPr>
                        <a:t> </a:t>
                      </a:r>
                      <a:r>
                        <a:rPr lang="de-DE" sz="1800" kern="1200" dirty="0" err="1">
                          <a:solidFill>
                            <a:schemeClr val="dk1"/>
                          </a:solidFill>
                          <a:latin typeface="Courier New" panose="02070309020205020404" pitchFamily="49" charset="0"/>
                          <a:ea typeface="+mn-ea"/>
                          <a:cs typeface="Courier New" panose="02070309020205020404" pitchFamily="49" charset="0"/>
                        </a:rPr>
                        <a:t>concat_with_space</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800577033"/>
                  </a:ext>
                </a:extLst>
              </a:tr>
              <a:tr h="370840">
                <a:tc>
                  <a:txBody>
                    <a:bodyPr/>
                    <a:lstStyle/>
                    <a:p>
                      <a:r>
                        <a:rPr lang="de-DE" dirty="0" err="1">
                          <a:latin typeface="Courier New" panose="02070309020205020404" pitchFamily="49" charset="0"/>
                          <a:cs typeface="Courier New" panose="02070309020205020404" pitchFamily="49" charset="0"/>
                        </a:rPr>
                        <a:t>OrderAgeInDays</a:t>
                      </a:r>
                      <a:endParaRPr lang="de-DE" dirty="0">
                        <a:latin typeface="Courier New" panose="02070309020205020404" pitchFamily="49" charset="0"/>
                        <a:cs typeface="Courier New" panose="02070309020205020404" pitchFamily="49" charset="0"/>
                      </a:endParaRPr>
                    </a:p>
                  </a:txBody>
                  <a:tcPr/>
                </a:tc>
                <a:tc>
                  <a:txBody>
                    <a:bodyPr/>
                    <a:lstStyle/>
                    <a:p>
                      <a:r>
                        <a:rPr lang="de-DE" dirty="0" err="1">
                          <a:latin typeface="Courier New" panose="02070309020205020404" pitchFamily="49" charset="0"/>
                          <a:cs typeface="Courier New" panose="02070309020205020404" pitchFamily="49" charset="0"/>
                        </a:rPr>
                        <a:t>dats_days_between</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817891396"/>
                  </a:ext>
                </a:extLst>
              </a:tr>
              <a:tr h="370840">
                <a:tc>
                  <a:txBody>
                    <a:bodyPr/>
                    <a:lstStyle/>
                    <a:p>
                      <a:r>
                        <a:rPr lang="de-DE" dirty="0" err="1">
                          <a:latin typeface="Courier New" panose="02070309020205020404" pitchFamily="49" charset="0"/>
                          <a:cs typeface="Courier New" panose="02070309020205020404" pitchFamily="49" charset="0"/>
                        </a:rPr>
                        <a:t>DaysUntilRequestedDate</a:t>
                      </a:r>
                      <a:endParaRPr lang="de-DE" dirty="0">
                        <a:latin typeface="Courier New" panose="02070309020205020404" pitchFamily="49" charset="0"/>
                        <a:cs typeface="Courier New" panose="02070309020205020404" pitchFamily="49" charset="0"/>
                      </a:endParaRPr>
                    </a:p>
                  </a:txBody>
                  <a:tcPr/>
                </a:tc>
                <a:tc>
                  <a:txBody>
                    <a:bodyPr/>
                    <a:lstStyle/>
                    <a:p>
                      <a:r>
                        <a:rPr lang="de-DE" dirty="0">
                          <a:latin typeface="+mn-lt"/>
                          <a:cs typeface="Courier New" panose="02070309020205020404" pitchFamily="49" charset="0"/>
                        </a:rPr>
                        <a:t>Datumsdifferenz mit Vorzeichen</a:t>
                      </a:r>
                    </a:p>
                  </a:txBody>
                  <a:tcPr/>
                </a:tc>
                <a:extLst>
                  <a:ext uri="{0D108BD9-81ED-4DB2-BD59-A6C34878D82A}">
                    <a16:rowId xmlns:a16="http://schemas.microsoft.com/office/drawing/2014/main" val="4210704940"/>
                  </a:ext>
                </a:extLst>
              </a:tr>
            </a:tbl>
          </a:graphicData>
        </a:graphic>
      </p:graphicFrame>
    </p:spTree>
    <p:extLst>
      <p:ext uri="{BB962C8B-B14F-4D97-AF65-F5344CB8AC3E}">
        <p14:creationId xmlns:p14="http://schemas.microsoft.com/office/powerpoint/2010/main" val="3628458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C24494-EE5B-260F-0B65-A9C250E0550E}"/>
              </a:ext>
            </a:extLst>
          </p:cNvPr>
          <p:cNvSpPr>
            <a:spLocks noGrp="1"/>
          </p:cNvSpPr>
          <p:nvPr>
            <p:ph type="title"/>
          </p:nvPr>
        </p:nvSpPr>
        <p:spPr/>
        <p:txBody>
          <a:bodyPr/>
          <a:lstStyle/>
          <a:p>
            <a:r>
              <a:rPr lang="de-DE" dirty="0"/>
              <a:t>SQL-Funktionen</a:t>
            </a:r>
          </a:p>
        </p:txBody>
      </p:sp>
      <p:pic>
        <p:nvPicPr>
          <p:cNvPr id="5" name="Inhaltsplatzhalter 4">
            <a:extLst>
              <a:ext uri="{FF2B5EF4-FFF2-40B4-BE49-F238E27FC236}">
                <a16:creationId xmlns:a16="http://schemas.microsoft.com/office/drawing/2014/main" id="{3BCB94BA-07F1-EA56-3299-0DF2C43EB926}"/>
              </a:ext>
            </a:extLst>
          </p:cNvPr>
          <p:cNvPicPr>
            <a:picLocks noGrp="1" noChangeAspect="1"/>
          </p:cNvPicPr>
          <p:nvPr>
            <p:ph idx="1"/>
          </p:nvPr>
        </p:nvPicPr>
        <p:blipFill>
          <a:blip r:embed="rId3"/>
          <a:stretch>
            <a:fillRect/>
          </a:stretch>
        </p:blipFill>
        <p:spPr>
          <a:xfrm>
            <a:off x="3726427" y="1825625"/>
            <a:ext cx="4739146" cy="4351338"/>
          </a:xfrm>
          <a:prstGeom prst="rect">
            <a:avLst/>
          </a:prstGeom>
        </p:spPr>
      </p:pic>
    </p:spTree>
    <p:extLst>
      <p:ext uri="{BB962C8B-B14F-4D97-AF65-F5344CB8AC3E}">
        <p14:creationId xmlns:p14="http://schemas.microsoft.com/office/powerpoint/2010/main" val="3610546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898BD3-91ED-22DA-4DE6-8612FC973B7A}"/>
              </a:ext>
            </a:extLst>
          </p:cNvPr>
          <p:cNvSpPr>
            <a:spLocks noGrp="1"/>
          </p:cNvSpPr>
          <p:nvPr>
            <p:ph type="title"/>
          </p:nvPr>
        </p:nvSpPr>
        <p:spPr/>
        <p:txBody>
          <a:bodyPr/>
          <a:lstStyle/>
          <a:p>
            <a:r>
              <a:rPr lang="de-DE" dirty="0"/>
              <a:t>Ergebnis: Daten werden zu Kontext</a:t>
            </a:r>
          </a:p>
        </p:txBody>
      </p:sp>
      <p:sp>
        <p:nvSpPr>
          <p:cNvPr id="3" name="Inhaltsplatzhalter 2">
            <a:extLst>
              <a:ext uri="{FF2B5EF4-FFF2-40B4-BE49-F238E27FC236}">
                <a16:creationId xmlns:a16="http://schemas.microsoft.com/office/drawing/2014/main" id="{D91FC4B6-CF23-79D3-73ED-0587061F66CD}"/>
              </a:ext>
            </a:extLst>
          </p:cNvPr>
          <p:cNvSpPr>
            <a:spLocks noGrp="1"/>
          </p:cNvSpPr>
          <p:nvPr>
            <p:ph idx="1"/>
          </p:nvPr>
        </p:nvSpPr>
        <p:spPr/>
        <p:txBody>
          <a:bodyPr/>
          <a:lstStyle/>
          <a:p>
            <a:pPr marL="0" indent="0">
              <a:buNone/>
            </a:pPr>
            <a:r>
              <a:rPr lang="de-DE" b="1" dirty="0"/>
              <a:t>Erkenntnisse</a:t>
            </a:r>
            <a:endParaRPr lang="de-DE" dirty="0"/>
          </a:p>
          <a:p>
            <a:pPr lvl="0"/>
            <a:r>
              <a:rPr lang="de-DE" dirty="0"/>
              <a:t>Funktionen verarbeiten Werte direkt in der Datenbank </a:t>
            </a:r>
          </a:p>
          <a:p>
            <a:pPr lvl="0"/>
            <a:r>
              <a:rPr lang="de-DE" dirty="0"/>
              <a:t>Pfadausdrücke liefern Argumente aus assoziierten Views </a:t>
            </a:r>
          </a:p>
          <a:p>
            <a:pPr lvl="0"/>
            <a:r>
              <a:rPr lang="de-DE" dirty="0"/>
              <a:t>cast stellt einen passenden Datentyp her </a:t>
            </a:r>
          </a:p>
          <a:p>
            <a:pPr lvl="0"/>
            <a:r>
              <a:rPr lang="de-DE" dirty="0"/>
              <a:t>Funktionen können verschachtelt werden </a:t>
            </a:r>
          </a:p>
          <a:p>
            <a:pPr lvl="0"/>
            <a:r>
              <a:rPr lang="de-DE" dirty="0"/>
              <a:t>Bei Datumsdifferenzen bestimmt die Argumentreihenfolge das Vorzeichen</a:t>
            </a:r>
          </a:p>
          <a:p>
            <a:endParaRPr lang="de-DE" dirty="0"/>
          </a:p>
        </p:txBody>
      </p:sp>
    </p:spTree>
    <p:extLst>
      <p:ext uri="{BB962C8B-B14F-4D97-AF65-F5344CB8AC3E}">
        <p14:creationId xmlns:p14="http://schemas.microsoft.com/office/powerpoint/2010/main" val="316401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7A6A17-58D7-F3CB-BFD3-48127599315A}"/>
              </a:ext>
            </a:extLst>
          </p:cNvPr>
          <p:cNvSpPr>
            <a:spLocks noGrp="1"/>
          </p:cNvSpPr>
          <p:nvPr>
            <p:ph type="title"/>
          </p:nvPr>
        </p:nvSpPr>
        <p:spPr/>
        <p:txBody>
          <a:bodyPr/>
          <a:lstStyle/>
          <a:p>
            <a:r>
              <a:rPr lang="de-DE" dirty="0"/>
              <a:t>Zahlenwert und fachliche Bedeutung</a:t>
            </a:r>
          </a:p>
        </p:txBody>
      </p:sp>
      <p:sp>
        <p:nvSpPr>
          <p:cNvPr id="3" name="Inhaltsplatzhalter 2">
            <a:extLst>
              <a:ext uri="{FF2B5EF4-FFF2-40B4-BE49-F238E27FC236}">
                <a16:creationId xmlns:a16="http://schemas.microsoft.com/office/drawing/2014/main" id="{D0AD6D9F-104D-BB2E-B08C-322418E0E2A4}"/>
              </a:ext>
            </a:extLst>
          </p:cNvPr>
          <p:cNvSpPr>
            <a:spLocks noGrp="1"/>
          </p:cNvSpPr>
          <p:nvPr>
            <p:ph idx="1"/>
          </p:nvPr>
        </p:nvSpPr>
        <p:spPr/>
        <p:txBody>
          <a:bodyPr>
            <a:normAutofit fontScale="92500" lnSpcReduction="20000"/>
          </a:bodyPr>
          <a:lstStyle/>
          <a:p>
            <a:pPr marL="0" indent="0">
              <a:buNone/>
            </a:pPr>
            <a:r>
              <a:rPr lang="de-DE" dirty="0"/>
              <a:t>Ein numerischer Wert allein ist nicht eindeutig:</a:t>
            </a:r>
          </a:p>
          <a:p>
            <a:pPr marL="457200" lvl="1" indent="0">
              <a:buNone/>
            </a:pPr>
            <a:r>
              <a:rPr lang="de-DE" dirty="0" err="1"/>
              <a:t>Quantity</a:t>
            </a:r>
            <a:r>
              <a:rPr lang="de-DE" dirty="0"/>
              <a:t>  = 5       → 5 Stück?</a:t>
            </a:r>
          </a:p>
          <a:p>
            <a:pPr marL="457200" lvl="1" indent="0">
              <a:buNone/>
            </a:pPr>
            <a:r>
              <a:rPr lang="de-DE" dirty="0" err="1"/>
              <a:t>UnitPrice</a:t>
            </a:r>
            <a:r>
              <a:rPr lang="de-DE" dirty="0"/>
              <a:t> = 899,00  → 899 EUR?</a:t>
            </a:r>
          </a:p>
          <a:p>
            <a:pPr marL="0" indent="0">
              <a:buNone/>
            </a:pPr>
            <a:endParaRPr lang="de-DE" dirty="0"/>
          </a:p>
          <a:p>
            <a:pPr marL="0" indent="0">
              <a:buNone/>
            </a:pPr>
            <a:r>
              <a:rPr lang="de-DE" dirty="0"/>
              <a:t>CDS verbindet Wert und Referenzelement:</a:t>
            </a:r>
          </a:p>
          <a:p>
            <a:pPr marL="457200" lvl="1" indent="0">
              <a:buNone/>
            </a:pPr>
            <a:r>
              <a:rPr lang="de-DE" dirty="0">
                <a:solidFill>
                  <a:schemeClr val="tx2">
                    <a:lumMod val="75000"/>
                    <a:lumOff val="25000"/>
                  </a:schemeClr>
                </a:solidFill>
                <a:latin typeface="Courier New" panose="02070309020205020404" pitchFamily="49" charset="0"/>
                <a:cs typeface="Courier New" panose="02070309020205020404" pitchFamily="49" charset="0"/>
              </a:rPr>
              <a:t>@Semantics.quantity.unitOfMeasure: '</a:t>
            </a:r>
            <a:r>
              <a:rPr lang="de-DE" dirty="0" err="1">
                <a:solidFill>
                  <a:schemeClr val="tx2">
                    <a:lumMod val="75000"/>
                    <a:lumOff val="25000"/>
                  </a:schemeClr>
                </a:solidFill>
                <a:latin typeface="Courier New" panose="02070309020205020404" pitchFamily="49" charset="0"/>
                <a:cs typeface="Courier New" panose="02070309020205020404" pitchFamily="49" charset="0"/>
              </a:rPr>
              <a:t>UnitCode</a:t>
            </a:r>
            <a:r>
              <a:rPr lang="de-DE" dirty="0">
                <a:solidFill>
                  <a:schemeClr val="tx2">
                    <a:lumMod val="75000"/>
                    <a:lumOff val="25000"/>
                  </a:schemeClr>
                </a:solidFill>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Quantity</a:t>
            </a:r>
            <a:r>
              <a:rPr lang="de-DE" dirty="0">
                <a:latin typeface="Courier New" panose="02070309020205020404" pitchFamily="49" charset="0"/>
                <a:cs typeface="Courier New" panose="02070309020205020404" pitchFamily="49" charset="0"/>
              </a:rPr>
              <a:t>,</a:t>
            </a:r>
          </a:p>
          <a:p>
            <a:pPr marL="457200" lvl="1" indent="0">
              <a:buNone/>
            </a:pPr>
            <a:endParaRPr lang="de-DE" dirty="0">
              <a:latin typeface="Courier New" panose="02070309020205020404" pitchFamily="49" charset="0"/>
              <a:cs typeface="Courier New" panose="02070309020205020404" pitchFamily="49" charset="0"/>
            </a:endParaRPr>
          </a:p>
          <a:p>
            <a:pPr marL="457200" lvl="1" indent="0">
              <a:buNone/>
            </a:pPr>
            <a:r>
              <a:rPr lang="de-DE" dirty="0">
                <a:solidFill>
                  <a:schemeClr val="tx2">
                    <a:lumMod val="75000"/>
                    <a:lumOff val="25000"/>
                  </a:schemeClr>
                </a:solidFill>
                <a:latin typeface="Courier New" panose="02070309020205020404" pitchFamily="49" charset="0"/>
                <a:cs typeface="Courier New" panose="02070309020205020404" pitchFamily="49" charset="0"/>
              </a:rPr>
              <a:t>@Semantics.amount.currencyCode: '</a:t>
            </a:r>
            <a:r>
              <a:rPr lang="de-DE" dirty="0" err="1">
                <a:solidFill>
                  <a:schemeClr val="tx2">
                    <a:lumMod val="75000"/>
                    <a:lumOff val="25000"/>
                  </a:schemeClr>
                </a:solidFill>
                <a:latin typeface="Courier New" panose="02070309020205020404" pitchFamily="49" charset="0"/>
                <a:cs typeface="Courier New" panose="02070309020205020404" pitchFamily="49" charset="0"/>
              </a:rPr>
              <a:t>CurrencyCode</a:t>
            </a:r>
            <a:r>
              <a:rPr lang="de-DE" dirty="0">
                <a:solidFill>
                  <a:schemeClr val="tx2">
                    <a:lumMod val="75000"/>
                    <a:lumOff val="25000"/>
                  </a:schemeClr>
                </a:solidFill>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UnitPrice</a:t>
            </a:r>
            <a:r>
              <a:rPr lang="de-DE" dirty="0">
                <a:latin typeface="Courier New" panose="02070309020205020404" pitchFamily="49" charset="0"/>
                <a:cs typeface="Courier New" panose="02070309020205020404" pitchFamily="49" charset="0"/>
              </a:rPr>
              <a:t>,</a:t>
            </a:r>
          </a:p>
          <a:p>
            <a:pPr marL="457200" lvl="1" indent="0">
              <a:buNone/>
            </a:pPr>
            <a:endParaRPr lang="de-DE"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UnitCode</a:t>
            </a:r>
            <a:r>
              <a:rPr lang="de-DE" dirty="0">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CurrencyCode</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4238661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0C5BC5-6473-7F9B-75FA-E2B9764D33C5}"/>
              </a:ext>
            </a:extLst>
          </p:cNvPr>
          <p:cNvSpPr>
            <a:spLocks noGrp="1"/>
          </p:cNvSpPr>
          <p:nvPr>
            <p:ph type="title"/>
          </p:nvPr>
        </p:nvSpPr>
        <p:spPr/>
        <p:txBody>
          <a:bodyPr/>
          <a:lstStyle/>
          <a:p>
            <a:r>
              <a:rPr lang="de-DE" dirty="0"/>
              <a:t>Semantik berechneter Elemente</a:t>
            </a:r>
          </a:p>
        </p:txBody>
      </p:sp>
      <p:sp>
        <p:nvSpPr>
          <p:cNvPr id="3" name="Inhaltsplatzhalter 2">
            <a:extLst>
              <a:ext uri="{FF2B5EF4-FFF2-40B4-BE49-F238E27FC236}">
                <a16:creationId xmlns:a16="http://schemas.microsoft.com/office/drawing/2014/main" id="{BB234749-5CC1-5CC0-83C2-A33D66F69135}"/>
              </a:ext>
            </a:extLst>
          </p:cNvPr>
          <p:cNvSpPr>
            <a:spLocks noGrp="1"/>
          </p:cNvSpPr>
          <p:nvPr>
            <p:ph idx="1"/>
          </p:nvPr>
        </p:nvSpPr>
        <p:spPr/>
        <p:txBody>
          <a:bodyPr>
            <a:normAutofit/>
          </a:bodyPr>
          <a:lstStyle/>
          <a:p>
            <a:pPr marL="0" indent="0">
              <a:buNone/>
            </a:pPr>
            <a:r>
              <a:rPr lang="de-DE" dirty="0"/>
              <a:t>Aus semantisch ausgezeichneten Werten entsteht ein neues Element, das zunächst nur einen Zahlenwert liefert</a:t>
            </a:r>
          </a:p>
          <a:p>
            <a:pPr marL="457200" lvl="1" indent="0">
              <a:buNone/>
            </a:pPr>
            <a:r>
              <a:rPr lang="de-DE" dirty="0">
                <a:latin typeface="Courier New" panose="02070309020205020404" pitchFamily="49" charset="0"/>
                <a:cs typeface="Courier New" panose="02070309020205020404" pitchFamily="49" charset="0"/>
              </a:rPr>
              <a:t>cast(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get_numeric_value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Quantity</a:t>
            </a:r>
            <a:r>
              <a:rPr lang="de-DE" dirty="0">
                <a:latin typeface="Courier New" panose="02070309020205020404" pitchFamily="49" charset="0"/>
                <a:cs typeface="Courier New" panose="02070309020205020404" pitchFamily="49" charset="0"/>
              </a:rPr>
              <a:t> )</a:t>
            </a:r>
          </a:p>
          <a:p>
            <a:pPr marL="457200" lvl="1"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get_numeric_value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UnitPrice</a:t>
            </a:r>
            <a:r>
              <a:rPr lang="de-DE" dirty="0">
                <a:latin typeface="Courier New" panose="02070309020205020404" pitchFamily="49" charset="0"/>
                <a:cs typeface="Courier New" panose="02070309020205020404" pitchFamily="49" charset="0"/>
              </a:rPr>
              <a:t> )</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abap.dec</a:t>
            </a:r>
            <a:r>
              <a:rPr lang="de-DE" dirty="0">
                <a:latin typeface="Courier New" panose="02070309020205020404" pitchFamily="49" charset="0"/>
                <a:cs typeface="Courier New" panose="02070309020205020404" pitchFamily="49" charset="0"/>
              </a:rPr>
              <a:t>( 15, 2 )</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GrossAmount</a:t>
            </a:r>
            <a:endParaRPr lang="de-DE" dirty="0">
              <a:latin typeface="Courier New" panose="02070309020205020404" pitchFamily="49" charset="0"/>
              <a:cs typeface="Courier New" panose="02070309020205020404" pitchFamily="49" charset="0"/>
            </a:endParaRPr>
          </a:p>
          <a:p>
            <a:pPr marL="0" indent="0">
              <a:buNone/>
            </a:pPr>
            <a:r>
              <a:rPr lang="de-DE" dirty="0"/>
              <a:t>Die Währungsbeziehung muss ergänzt werden:</a:t>
            </a:r>
          </a:p>
          <a:p>
            <a:pPr marL="457200" lvl="1" indent="0">
              <a:buNone/>
            </a:pPr>
            <a:r>
              <a:rPr lang="de-DE" dirty="0">
                <a:solidFill>
                  <a:schemeClr val="tx2">
                    <a:lumMod val="75000"/>
                    <a:lumOff val="25000"/>
                  </a:schemeClr>
                </a:solidFill>
                <a:latin typeface="Courier New" panose="02070309020205020404" pitchFamily="49" charset="0"/>
                <a:cs typeface="Courier New" panose="02070309020205020404" pitchFamily="49" charset="0"/>
              </a:rPr>
              <a:t>@Semantics.amount.currencyCode: '</a:t>
            </a:r>
            <a:r>
              <a:rPr lang="de-DE" dirty="0" err="1">
                <a:solidFill>
                  <a:schemeClr val="tx2">
                    <a:lumMod val="75000"/>
                    <a:lumOff val="25000"/>
                  </a:schemeClr>
                </a:solidFill>
                <a:latin typeface="Courier New" panose="02070309020205020404" pitchFamily="49" charset="0"/>
                <a:cs typeface="Courier New" panose="02070309020205020404" pitchFamily="49" charset="0"/>
              </a:rPr>
              <a:t>CurrencyCode</a:t>
            </a:r>
            <a:r>
              <a:rPr lang="de-DE" dirty="0">
                <a:solidFill>
                  <a:schemeClr val="tx2">
                    <a:lumMod val="75000"/>
                    <a:lumOff val="25000"/>
                  </a:schemeClr>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41829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0EE308-CD5D-D1E4-1D90-B3DB1F923C63}"/>
              </a:ext>
            </a:extLst>
          </p:cNvPr>
          <p:cNvSpPr>
            <a:spLocks noGrp="1"/>
          </p:cNvSpPr>
          <p:nvPr>
            <p:ph type="title"/>
          </p:nvPr>
        </p:nvSpPr>
        <p:spPr/>
        <p:txBody>
          <a:bodyPr/>
          <a:lstStyle/>
          <a:p>
            <a:r>
              <a:rPr lang="de-DE" dirty="0"/>
              <a:t>Nullwert ist nicht Initialwert</a:t>
            </a:r>
          </a:p>
        </p:txBody>
      </p:sp>
      <p:sp>
        <p:nvSpPr>
          <p:cNvPr id="3" name="Inhaltsplatzhalter 2">
            <a:extLst>
              <a:ext uri="{FF2B5EF4-FFF2-40B4-BE49-F238E27FC236}">
                <a16:creationId xmlns:a16="http://schemas.microsoft.com/office/drawing/2014/main" id="{5B0FA3D9-9CDE-C627-411A-7C42362E1DFA}"/>
              </a:ext>
            </a:extLst>
          </p:cNvPr>
          <p:cNvSpPr>
            <a:spLocks noGrp="1"/>
          </p:cNvSpPr>
          <p:nvPr>
            <p:ph sz="half" idx="1"/>
          </p:nvPr>
        </p:nvSpPr>
        <p:spPr/>
        <p:txBody>
          <a:bodyPr>
            <a:normAutofit fontScale="92500" lnSpcReduction="20000"/>
          </a:bodyPr>
          <a:lstStyle/>
          <a:p>
            <a:pPr marL="0" indent="0">
              <a:buNone/>
            </a:pPr>
            <a:r>
              <a:rPr lang="de-DE" dirty="0"/>
              <a:t>NULL bedeutet:</a:t>
            </a:r>
          </a:p>
          <a:p>
            <a:pPr marL="457200" lvl="1" indent="0">
              <a:buNone/>
            </a:pPr>
            <a:r>
              <a:rPr lang="de-DE" dirty="0"/>
              <a:t>Für diesen Ausdruck ist kein Wert vorhanden.</a:t>
            </a:r>
          </a:p>
          <a:p>
            <a:pPr marL="0" indent="0">
              <a:buNone/>
            </a:pPr>
            <a:endParaRPr lang="de-DE" dirty="0"/>
          </a:p>
          <a:p>
            <a:pPr marL="0" indent="0">
              <a:buNone/>
            </a:pPr>
            <a:r>
              <a:rPr lang="de-DE" dirty="0"/>
              <a:t>Typische Entstehung:</a:t>
            </a:r>
          </a:p>
          <a:p>
            <a:r>
              <a:rPr lang="de-DE" dirty="0"/>
              <a:t>nicht gefundener Datensatz bei einem Outer </a:t>
            </a:r>
            <a:r>
              <a:rPr lang="de-DE" dirty="0" err="1"/>
              <a:t>Join</a:t>
            </a:r>
            <a:r>
              <a:rPr lang="de-DE" dirty="0"/>
              <a:t> </a:t>
            </a:r>
          </a:p>
          <a:p>
            <a:r>
              <a:rPr lang="de-DE" dirty="0"/>
              <a:t>fehlender Datensatz beim Zugriff über eine optionale Assoziation </a:t>
            </a:r>
          </a:p>
          <a:p>
            <a:r>
              <a:rPr lang="de-DE" dirty="0"/>
              <a:t>Nullwert als Ergebnis eines SQL-Ausdrucks </a:t>
            </a:r>
          </a:p>
          <a:p>
            <a:pPr marL="0" indent="0">
              <a:buNone/>
            </a:pPr>
            <a:endParaRPr lang="de-DE" dirty="0"/>
          </a:p>
        </p:txBody>
      </p:sp>
      <p:sp>
        <p:nvSpPr>
          <p:cNvPr id="4" name="Inhaltsplatzhalter 3">
            <a:extLst>
              <a:ext uri="{FF2B5EF4-FFF2-40B4-BE49-F238E27FC236}">
                <a16:creationId xmlns:a16="http://schemas.microsoft.com/office/drawing/2014/main" id="{C0D971E8-EE41-84D7-619B-D7442DE8CC3F}"/>
              </a:ext>
            </a:extLst>
          </p:cNvPr>
          <p:cNvSpPr>
            <a:spLocks noGrp="1"/>
          </p:cNvSpPr>
          <p:nvPr>
            <p:ph sz="half" idx="2"/>
          </p:nvPr>
        </p:nvSpPr>
        <p:spPr/>
        <p:txBody>
          <a:bodyPr>
            <a:normAutofit fontScale="92500" lnSpcReduction="20000"/>
          </a:bodyPr>
          <a:lstStyle/>
          <a:p>
            <a:pPr marL="0" indent="0">
              <a:buNone/>
            </a:pPr>
            <a:r>
              <a:rPr lang="de-DE" dirty="0"/>
              <a:t>Ersatzwert mit </a:t>
            </a:r>
            <a:r>
              <a:rPr lang="de-DE" dirty="0" err="1"/>
              <a:t>coalesce</a:t>
            </a:r>
            <a:r>
              <a:rPr lang="de-DE" dirty="0"/>
              <a:t>:</a:t>
            </a:r>
          </a:p>
          <a:p>
            <a:pPr marL="457200" lvl="1" indent="0">
              <a:buNone/>
            </a:pPr>
            <a:r>
              <a:rPr lang="de-DE" dirty="0" err="1">
                <a:latin typeface="Courier New" panose="02070309020205020404" pitchFamily="49" charset="0"/>
                <a:cs typeface="Courier New" panose="02070309020205020404" pitchFamily="49" charset="0"/>
              </a:rPr>
              <a:t>coalesce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'Unknown </a:t>
            </a:r>
            <a:r>
              <a:rPr lang="de-DE" dirty="0" err="1">
                <a:latin typeface="Courier New" panose="02070309020205020404" pitchFamily="49" charset="0"/>
                <a:cs typeface="Courier New" panose="02070309020205020404" pitchFamily="49" charset="0"/>
              </a:rPr>
              <a:t>product</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ProductNameSafe</a:t>
            </a:r>
            <a:endParaRPr lang="de-DE" dirty="0">
              <a:latin typeface="Courier New" panose="02070309020205020404" pitchFamily="49" charset="0"/>
              <a:cs typeface="Courier New" panose="02070309020205020404" pitchFamily="49" charset="0"/>
            </a:endParaRPr>
          </a:p>
          <a:p>
            <a:pPr marL="0" indent="0">
              <a:buNone/>
            </a:pPr>
            <a:r>
              <a:rPr lang="de-DE" dirty="0"/>
              <a:t>Prüfung in einer Bedingung:</a:t>
            </a:r>
          </a:p>
          <a:p>
            <a:pPr marL="457200" lvl="1" indent="0">
              <a:buNone/>
            </a:pPr>
            <a:r>
              <a:rPr lang="de-DE" dirty="0" err="1">
                <a:latin typeface="Courier New" panose="02070309020205020404" pitchFamily="49" charset="0"/>
                <a:cs typeface="Courier New" panose="02070309020205020404" pitchFamily="49" charset="0"/>
              </a:rPr>
              <a:t>case</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when</a:t>
            </a: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is</a:t>
            </a:r>
            <a:r>
              <a:rPr lang="de-DE" dirty="0">
                <a:latin typeface="Courier New" panose="02070309020205020404" pitchFamily="49" charset="0"/>
                <a:cs typeface="Courier New" panose="02070309020205020404" pitchFamily="49" charset="0"/>
              </a:rPr>
              <a:t> null</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then</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Product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missing</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else</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Product.ProductName</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end as </a:t>
            </a:r>
            <a:r>
              <a:rPr lang="de-DE" dirty="0" err="1">
                <a:latin typeface="Courier New" panose="02070309020205020404" pitchFamily="49" charset="0"/>
                <a:cs typeface="Courier New" panose="02070309020205020404" pitchFamily="49" charset="0"/>
              </a:rPr>
              <a:t>ProductStatus</a:t>
            </a:r>
            <a:endParaRPr lang="de-DE" dirty="0">
              <a:latin typeface="Courier New" panose="02070309020205020404" pitchFamily="49" charset="0"/>
              <a:cs typeface="Courier New" panose="02070309020205020404" pitchFamily="49" charset="0"/>
            </a:endParaRPr>
          </a:p>
          <a:p>
            <a:endParaRPr lang="de-DE" dirty="0"/>
          </a:p>
        </p:txBody>
      </p:sp>
    </p:spTree>
    <p:extLst>
      <p:ext uri="{BB962C8B-B14F-4D97-AF65-F5344CB8AC3E}">
        <p14:creationId xmlns:p14="http://schemas.microsoft.com/office/powerpoint/2010/main" val="3840686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34ECE9-7CB9-F8B8-7049-02F34AF5EAD6}"/>
              </a:ext>
            </a:extLst>
          </p:cNvPr>
          <p:cNvSpPr>
            <a:spLocks noGrp="1"/>
          </p:cNvSpPr>
          <p:nvPr>
            <p:ph type="title"/>
          </p:nvPr>
        </p:nvSpPr>
        <p:spPr/>
        <p:txBody>
          <a:bodyPr/>
          <a:lstStyle/>
          <a:p>
            <a:r>
              <a:rPr lang="de-DE" dirty="0"/>
              <a:t>Live-Coding 3: Währungssemantik ergänzen</a:t>
            </a:r>
          </a:p>
        </p:txBody>
      </p:sp>
      <p:sp>
        <p:nvSpPr>
          <p:cNvPr id="3" name="Inhaltsplatzhalter 2">
            <a:extLst>
              <a:ext uri="{FF2B5EF4-FFF2-40B4-BE49-F238E27FC236}">
                <a16:creationId xmlns:a16="http://schemas.microsoft.com/office/drawing/2014/main" id="{394D8EE7-9A66-D1FF-C09F-2EC2DB8C5D9D}"/>
              </a:ext>
            </a:extLst>
          </p:cNvPr>
          <p:cNvSpPr>
            <a:spLocks noGrp="1"/>
          </p:cNvSpPr>
          <p:nvPr>
            <p:ph idx="1"/>
          </p:nvPr>
        </p:nvSpPr>
        <p:spPr/>
        <p:txBody>
          <a:bodyPr>
            <a:normAutofit fontScale="92500" lnSpcReduction="10000"/>
          </a:bodyPr>
          <a:lstStyle/>
          <a:p>
            <a:pPr marL="0" indent="0">
              <a:buNone/>
            </a:pPr>
            <a:r>
              <a:rPr lang="de-DE" dirty="0"/>
              <a:t>Wir ergänzen in </a:t>
            </a:r>
            <a:r>
              <a:rPr lang="de-DE" dirty="0" err="1"/>
              <a:t>ZI_CDSOrderItemCalc</a:t>
            </a:r>
            <a:r>
              <a:rPr lang="de-DE" dirty="0"/>
              <a:t>:</a:t>
            </a:r>
          </a:p>
          <a:p>
            <a:pPr marL="457200" lvl="1" indent="0">
              <a:buNone/>
            </a:pPr>
            <a:r>
              <a:rPr lang="de-DE" dirty="0">
                <a:latin typeface="Courier New" panose="02070309020205020404" pitchFamily="49" charset="0"/>
                <a:cs typeface="Courier New" panose="02070309020205020404" pitchFamily="49" charset="0"/>
              </a:rPr>
              <a:t>@Semantics.amount.currencyCode: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GrossAmount</a:t>
            </a:r>
            <a:endParaRPr lang="de-DE" dirty="0">
              <a:latin typeface="Courier New" panose="02070309020205020404" pitchFamily="49" charset="0"/>
              <a:cs typeface="Courier New" panose="02070309020205020404" pitchFamily="49" charset="0"/>
            </a:endParaRPr>
          </a:p>
          <a:p>
            <a:pPr marL="457200" lvl="1" indent="0">
              <a:buNone/>
            </a:pP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@Semantics.amount.currencyCode: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DiscountAmount</a:t>
            </a:r>
            <a:endParaRPr lang="de-DE" dirty="0">
              <a:latin typeface="Courier New" panose="02070309020205020404" pitchFamily="49" charset="0"/>
              <a:cs typeface="Courier New" panose="02070309020205020404" pitchFamily="49" charset="0"/>
            </a:endParaRPr>
          </a:p>
          <a:p>
            <a:pPr marL="457200" lvl="1" indent="0">
              <a:buNone/>
            </a:pP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@Semantics.amount.currencyCode: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NetAmount</a:t>
            </a:r>
            <a:endParaRPr lang="de-DE" dirty="0">
              <a:latin typeface="Courier New" panose="02070309020205020404" pitchFamily="49" charset="0"/>
              <a:cs typeface="Courier New" panose="02070309020205020404" pitchFamily="49" charset="0"/>
            </a:endParaRPr>
          </a:p>
          <a:p>
            <a:pPr marL="0" indent="0">
              <a:buNone/>
            </a:pPr>
            <a:r>
              <a:rPr lang="de-DE" dirty="0"/>
              <a:t>Zusätzlich kontrollieren wir:</a:t>
            </a:r>
          </a:p>
          <a:p>
            <a:pPr marL="457200" lvl="1" indent="0">
              <a:buNone/>
            </a:pPr>
            <a:r>
              <a:rPr lang="de-DE" dirty="0" err="1">
                <a:latin typeface="Courier New" panose="02070309020205020404" pitchFamily="49" charset="0"/>
                <a:cs typeface="Courier New" panose="02070309020205020404" pitchFamily="49" charset="0"/>
              </a:rPr>
              <a:t>Quantity</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UnitCode</a:t>
            </a:r>
            <a:endParaRPr lang="de-DE"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UnitPrice</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CurrencyCode</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3274042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BA93BBA-E749-5E58-FCEF-D85B3F2F845B}"/>
              </a:ext>
            </a:extLst>
          </p:cNvPr>
          <p:cNvSpPr>
            <a:spLocks noGrp="1"/>
          </p:cNvSpPr>
          <p:nvPr>
            <p:ph type="title"/>
          </p:nvPr>
        </p:nvSpPr>
        <p:spPr/>
        <p:txBody>
          <a:bodyPr/>
          <a:lstStyle/>
          <a:p>
            <a:r>
              <a:rPr lang="de-DE" dirty="0"/>
              <a:t>Semantische Annotationen</a:t>
            </a:r>
          </a:p>
        </p:txBody>
      </p:sp>
      <p:pic>
        <p:nvPicPr>
          <p:cNvPr id="14" name="Inhaltsplatzhalter 13">
            <a:extLst>
              <a:ext uri="{FF2B5EF4-FFF2-40B4-BE49-F238E27FC236}">
                <a16:creationId xmlns:a16="http://schemas.microsoft.com/office/drawing/2014/main" id="{EC6C609B-7FA7-BE28-D9D6-DDD22B654441}"/>
              </a:ext>
            </a:extLst>
          </p:cNvPr>
          <p:cNvPicPr>
            <a:picLocks noGrp="1" noChangeAspect="1"/>
          </p:cNvPicPr>
          <p:nvPr>
            <p:ph sz="half" idx="2"/>
          </p:nvPr>
        </p:nvPicPr>
        <p:blipFill>
          <a:blip r:embed="rId3"/>
          <a:stretch>
            <a:fillRect/>
          </a:stretch>
        </p:blipFill>
        <p:spPr>
          <a:xfrm>
            <a:off x="6745030" y="1825625"/>
            <a:ext cx="4035939" cy="4351338"/>
          </a:xfrm>
          <a:prstGeom prst="rect">
            <a:avLst/>
          </a:prstGeom>
        </p:spPr>
      </p:pic>
      <p:pic>
        <p:nvPicPr>
          <p:cNvPr id="12" name="Inhaltsplatzhalter 11">
            <a:extLst>
              <a:ext uri="{FF2B5EF4-FFF2-40B4-BE49-F238E27FC236}">
                <a16:creationId xmlns:a16="http://schemas.microsoft.com/office/drawing/2014/main" id="{C47AF919-7291-A806-DD04-B7460EE660FB}"/>
              </a:ext>
            </a:extLst>
          </p:cNvPr>
          <p:cNvPicPr>
            <a:picLocks noGrp="1" noChangeAspect="1"/>
          </p:cNvPicPr>
          <p:nvPr>
            <p:ph sz="half" idx="1"/>
          </p:nvPr>
        </p:nvPicPr>
        <p:blipFill>
          <a:blip r:embed="rId4"/>
          <a:stretch>
            <a:fillRect/>
          </a:stretch>
        </p:blipFill>
        <p:spPr>
          <a:xfrm>
            <a:off x="838200" y="1825625"/>
            <a:ext cx="5446128" cy="4149775"/>
          </a:xfrm>
          <a:prstGeom prst="rect">
            <a:avLst/>
          </a:prstGeom>
        </p:spPr>
      </p:pic>
    </p:spTree>
    <p:extLst>
      <p:ext uri="{BB962C8B-B14F-4D97-AF65-F5344CB8AC3E}">
        <p14:creationId xmlns:p14="http://schemas.microsoft.com/office/powerpoint/2010/main" val="2324986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23A42B-B134-A22D-D9E0-874CE47C024C}"/>
              </a:ext>
            </a:extLst>
          </p:cNvPr>
          <p:cNvSpPr>
            <a:spLocks noGrp="1"/>
          </p:cNvSpPr>
          <p:nvPr>
            <p:ph type="title"/>
          </p:nvPr>
        </p:nvSpPr>
        <p:spPr/>
        <p:txBody>
          <a:bodyPr/>
          <a:lstStyle/>
          <a:p>
            <a:r>
              <a:rPr lang="de-DE" dirty="0"/>
              <a:t>Ergebnis: </a:t>
            </a:r>
            <a:br>
              <a:rPr lang="de-DE" dirty="0"/>
            </a:br>
            <a:r>
              <a:rPr lang="de-DE" dirty="0"/>
              <a:t>Technisch und fachlich vollständige Werte</a:t>
            </a:r>
          </a:p>
        </p:txBody>
      </p:sp>
      <p:sp>
        <p:nvSpPr>
          <p:cNvPr id="5" name="Inhaltsplatzhalter 4">
            <a:extLst>
              <a:ext uri="{FF2B5EF4-FFF2-40B4-BE49-F238E27FC236}">
                <a16:creationId xmlns:a16="http://schemas.microsoft.com/office/drawing/2014/main" id="{4F048D65-20DF-2FAC-E5A0-569BE7E8F76E}"/>
              </a:ext>
            </a:extLst>
          </p:cNvPr>
          <p:cNvSpPr>
            <a:spLocks noGrp="1"/>
          </p:cNvSpPr>
          <p:nvPr>
            <p:ph idx="1"/>
          </p:nvPr>
        </p:nvSpPr>
        <p:spPr/>
        <p:txBody>
          <a:bodyPr/>
          <a:lstStyle/>
          <a:p>
            <a:pPr marL="0" indent="0">
              <a:buNone/>
            </a:pPr>
            <a:r>
              <a:rPr lang="de-DE" b="1" dirty="0"/>
              <a:t>Erkenntnisse</a:t>
            </a:r>
            <a:endParaRPr lang="de-DE" dirty="0"/>
          </a:p>
          <a:p>
            <a:pPr lvl="0"/>
            <a:r>
              <a:rPr lang="de-DE" dirty="0"/>
              <a:t>Datentyp und Semantik sind unterschiedliche Eigenschaften </a:t>
            </a:r>
          </a:p>
          <a:p>
            <a:pPr lvl="0"/>
            <a:r>
              <a:rPr lang="de-DE" dirty="0"/>
              <a:t>Mengen verweisen auf ein Einheitenelement </a:t>
            </a:r>
          </a:p>
          <a:p>
            <a:pPr lvl="0"/>
            <a:r>
              <a:rPr lang="de-DE" dirty="0"/>
              <a:t>Beträge verweisen auf ein Währungselement </a:t>
            </a:r>
          </a:p>
          <a:p>
            <a:pPr lvl="0"/>
            <a:r>
              <a:rPr lang="de-DE" dirty="0"/>
              <a:t>Berechnete Beträge benötigen eine ausdrückliche Währungssemantik </a:t>
            </a:r>
          </a:p>
          <a:p>
            <a:pPr lvl="0"/>
            <a:r>
              <a:rPr lang="de-DE" dirty="0"/>
              <a:t>NULL ist von einem initialen Wert zu unterscheiden </a:t>
            </a:r>
          </a:p>
          <a:p>
            <a:pPr lvl="0"/>
            <a:r>
              <a:rPr lang="de-DE" dirty="0" err="1"/>
              <a:t>coalesce</a:t>
            </a:r>
            <a:r>
              <a:rPr lang="de-DE" dirty="0"/>
              <a:t> liefert bei NULL einen Ersatzwert</a:t>
            </a:r>
          </a:p>
          <a:p>
            <a:endParaRPr lang="de-DE" dirty="0"/>
          </a:p>
        </p:txBody>
      </p:sp>
    </p:spTree>
    <p:extLst>
      <p:ext uri="{BB962C8B-B14F-4D97-AF65-F5344CB8AC3E}">
        <p14:creationId xmlns:p14="http://schemas.microsoft.com/office/powerpoint/2010/main" val="1087535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13F467-9F5E-34AF-D810-1DFEC336B197}"/>
              </a:ext>
            </a:extLst>
          </p:cNvPr>
          <p:cNvSpPr>
            <a:spLocks noGrp="1"/>
          </p:cNvSpPr>
          <p:nvPr>
            <p:ph type="title"/>
          </p:nvPr>
        </p:nvSpPr>
        <p:spPr/>
        <p:txBody>
          <a:bodyPr/>
          <a:lstStyle/>
          <a:p>
            <a:r>
              <a:rPr lang="de-DE" dirty="0"/>
              <a:t>Von Einzelwerten zu Kennzahlen</a:t>
            </a:r>
          </a:p>
        </p:txBody>
      </p:sp>
      <p:sp>
        <p:nvSpPr>
          <p:cNvPr id="3" name="Inhaltsplatzhalter 2">
            <a:extLst>
              <a:ext uri="{FF2B5EF4-FFF2-40B4-BE49-F238E27FC236}">
                <a16:creationId xmlns:a16="http://schemas.microsoft.com/office/drawing/2014/main" id="{AB60FB1B-EFCA-CBE5-0F50-A22CE1CF3A95}"/>
              </a:ext>
            </a:extLst>
          </p:cNvPr>
          <p:cNvSpPr>
            <a:spLocks noGrp="1"/>
          </p:cNvSpPr>
          <p:nvPr>
            <p:ph idx="1"/>
          </p:nvPr>
        </p:nvSpPr>
        <p:spPr/>
        <p:txBody>
          <a:bodyPr/>
          <a:lstStyle/>
          <a:p>
            <a:pPr marL="0" indent="0">
              <a:buNone/>
            </a:pPr>
            <a:r>
              <a:rPr lang="de-DE" dirty="0"/>
              <a:t>Bisher liefert jede Auftragsposition eine Ergebniszeile:</a:t>
            </a:r>
          </a:p>
          <a:p>
            <a:pPr marL="0" indent="0">
              <a:buNone/>
            </a:pPr>
            <a:endParaRPr lang="de-DE" dirty="0"/>
          </a:p>
          <a:p>
            <a:pPr marL="0" indent="0">
              <a:buNone/>
            </a:pPr>
            <a:endParaRPr lang="de-DE" dirty="0"/>
          </a:p>
          <a:p>
            <a:pPr marL="0" indent="0">
              <a:buNone/>
            </a:pPr>
            <a:endParaRPr lang="de-DE" dirty="0"/>
          </a:p>
          <a:p>
            <a:pPr marL="0" indent="0">
              <a:buNone/>
            </a:pPr>
            <a:r>
              <a:rPr lang="de-DE" dirty="0"/>
              <a:t>Eine Aggregation fasst mehrere Zeilen zusammen:</a:t>
            </a:r>
          </a:p>
        </p:txBody>
      </p:sp>
      <p:graphicFrame>
        <p:nvGraphicFramePr>
          <p:cNvPr id="4" name="Tabelle 3">
            <a:extLst>
              <a:ext uri="{FF2B5EF4-FFF2-40B4-BE49-F238E27FC236}">
                <a16:creationId xmlns:a16="http://schemas.microsoft.com/office/drawing/2014/main" id="{05EF56B7-4ED4-786A-4A01-F0BC25CB1F8D}"/>
              </a:ext>
            </a:extLst>
          </p:cNvPr>
          <p:cNvGraphicFramePr>
            <a:graphicFrameLocks noGrp="1"/>
          </p:cNvGraphicFramePr>
          <p:nvPr>
            <p:extLst>
              <p:ext uri="{D42A27DB-BD31-4B8C-83A1-F6EECF244321}">
                <p14:modId xmlns:p14="http://schemas.microsoft.com/office/powerpoint/2010/main" val="3635129"/>
              </p:ext>
            </p:extLst>
          </p:nvPr>
        </p:nvGraphicFramePr>
        <p:xfrm>
          <a:off x="838199" y="2307834"/>
          <a:ext cx="10515600" cy="1483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11300622"/>
                    </a:ext>
                  </a:extLst>
                </a:gridCol>
                <a:gridCol w="2103120">
                  <a:extLst>
                    <a:ext uri="{9D8B030D-6E8A-4147-A177-3AD203B41FA5}">
                      <a16:colId xmlns:a16="http://schemas.microsoft.com/office/drawing/2014/main" val="2164026045"/>
                    </a:ext>
                  </a:extLst>
                </a:gridCol>
                <a:gridCol w="2103120">
                  <a:extLst>
                    <a:ext uri="{9D8B030D-6E8A-4147-A177-3AD203B41FA5}">
                      <a16:colId xmlns:a16="http://schemas.microsoft.com/office/drawing/2014/main" val="2050637664"/>
                    </a:ext>
                  </a:extLst>
                </a:gridCol>
                <a:gridCol w="2103120">
                  <a:extLst>
                    <a:ext uri="{9D8B030D-6E8A-4147-A177-3AD203B41FA5}">
                      <a16:colId xmlns:a16="http://schemas.microsoft.com/office/drawing/2014/main" val="3501332627"/>
                    </a:ext>
                  </a:extLst>
                </a:gridCol>
                <a:gridCol w="2103120">
                  <a:extLst>
                    <a:ext uri="{9D8B030D-6E8A-4147-A177-3AD203B41FA5}">
                      <a16:colId xmlns:a16="http://schemas.microsoft.com/office/drawing/2014/main" val="4016213220"/>
                    </a:ext>
                  </a:extLst>
                </a:gridCol>
              </a:tblGrid>
              <a:tr h="370840">
                <a:tc>
                  <a:txBody>
                    <a:bodyPr/>
                    <a:lstStyle/>
                    <a:p>
                      <a:r>
                        <a:rPr lang="de-DE" dirty="0" err="1"/>
                        <a:t>OrderId</a:t>
                      </a:r>
                      <a:endParaRPr lang="de-DE" dirty="0"/>
                    </a:p>
                  </a:txBody>
                  <a:tcPr/>
                </a:tc>
                <a:tc>
                  <a:txBody>
                    <a:bodyPr/>
                    <a:lstStyle/>
                    <a:p>
                      <a:pPr algn="r"/>
                      <a:r>
                        <a:rPr lang="de-DE" dirty="0" err="1"/>
                        <a:t>ItemNumber</a:t>
                      </a:r>
                      <a:endParaRPr lang="de-DE" dirty="0"/>
                    </a:p>
                  </a:txBody>
                  <a:tcPr/>
                </a:tc>
                <a:tc>
                  <a:txBody>
                    <a:bodyPr/>
                    <a:lstStyle/>
                    <a:p>
                      <a:r>
                        <a:rPr lang="de-DE" dirty="0" err="1"/>
                        <a:t>CustomerId</a:t>
                      </a:r>
                      <a:endParaRPr lang="de-DE" dirty="0"/>
                    </a:p>
                  </a:txBody>
                  <a:tcPr/>
                </a:tc>
                <a:tc>
                  <a:txBody>
                    <a:bodyPr/>
                    <a:lstStyle/>
                    <a:p>
                      <a:pPr algn="r"/>
                      <a:r>
                        <a:rPr lang="de-DE" dirty="0" err="1"/>
                        <a:t>NetAmount</a:t>
                      </a:r>
                      <a:endParaRPr lang="de-DE" dirty="0"/>
                    </a:p>
                  </a:txBody>
                  <a:tcPr/>
                </a:tc>
                <a:tc>
                  <a:txBody>
                    <a:bodyPr/>
                    <a:lstStyle/>
                    <a:p>
                      <a:r>
                        <a:rPr lang="de-DE" dirty="0" err="1"/>
                        <a:t>CurrencyCode</a:t>
                      </a:r>
                      <a:endParaRPr lang="de-DE" dirty="0"/>
                    </a:p>
                  </a:txBody>
                  <a:tcPr/>
                </a:tc>
                <a:extLst>
                  <a:ext uri="{0D108BD9-81ED-4DB2-BD59-A6C34878D82A}">
                    <a16:rowId xmlns:a16="http://schemas.microsoft.com/office/drawing/2014/main" val="1515276664"/>
                  </a:ext>
                </a:extLst>
              </a:tr>
              <a:tr h="370840">
                <a:tc>
                  <a:txBody>
                    <a:bodyPr/>
                    <a:lstStyle/>
                    <a:p>
                      <a:r>
                        <a:rPr lang="de-DE" dirty="0"/>
                        <a:t>1001</a:t>
                      </a:r>
                    </a:p>
                  </a:txBody>
                  <a:tcPr/>
                </a:tc>
                <a:tc>
                  <a:txBody>
                    <a:bodyPr/>
                    <a:lstStyle/>
                    <a:p>
                      <a:pPr algn="r"/>
                      <a:r>
                        <a:rPr lang="de-DE" dirty="0"/>
                        <a:t>10</a:t>
                      </a:r>
                    </a:p>
                  </a:txBody>
                  <a:tcPr/>
                </a:tc>
                <a:tc>
                  <a:txBody>
                    <a:bodyPr/>
                    <a:lstStyle/>
                    <a:p>
                      <a:r>
                        <a:rPr lang="de-DE" dirty="0"/>
                        <a:t>C100</a:t>
                      </a:r>
                    </a:p>
                  </a:txBody>
                  <a:tcPr/>
                </a:tc>
                <a:tc>
                  <a:txBody>
                    <a:bodyPr/>
                    <a:lstStyle/>
                    <a:p>
                      <a:pPr algn="r"/>
                      <a:r>
                        <a:rPr lang="de-DE" dirty="0"/>
                        <a:t>900,00</a:t>
                      </a:r>
                    </a:p>
                  </a:txBody>
                  <a:tcPr/>
                </a:tc>
                <a:tc>
                  <a:txBody>
                    <a:bodyPr/>
                    <a:lstStyle/>
                    <a:p>
                      <a:r>
                        <a:rPr lang="de-DE" dirty="0"/>
                        <a:t>EUR</a:t>
                      </a:r>
                    </a:p>
                  </a:txBody>
                  <a:tcPr/>
                </a:tc>
                <a:extLst>
                  <a:ext uri="{0D108BD9-81ED-4DB2-BD59-A6C34878D82A}">
                    <a16:rowId xmlns:a16="http://schemas.microsoft.com/office/drawing/2014/main" val="3093297347"/>
                  </a:ext>
                </a:extLst>
              </a:tr>
              <a:tr h="370840">
                <a:tc>
                  <a:txBody>
                    <a:bodyPr/>
                    <a:lstStyle/>
                    <a:p>
                      <a:r>
                        <a:rPr lang="de-DE" dirty="0"/>
                        <a:t>1001</a:t>
                      </a:r>
                    </a:p>
                  </a:txBody>
                  <a:tcPr/>
                </a:tc>
                <a:tc>
                  <a:txBody>
                    <a:bodyPr/>
                    <a:lstStyle/>
                    <a:p>
                      <a:pPr algn="r"/>
                      <a:r>
                        <a:rPr lang="de-DE" dirty="0"/>
                        <a:t>20</a:t>
                      </a:r>
                    </a:p>
                  </a:txBody>
                  <a:tcPr/>
                </a:tc>
                <a:tc>
                  <a:txBody>
                    <a:bodyPr/>
                    <a:lstStyle/>
                    <a:p>
                      <a:r>
                        <a:rPr lang="de-DE" dirty="0"/>
                        <a:t>C100</a:t>
                      </a:r>
                    </a:p>
                  </a:txBody>
                  <a:tcPr/>
                </a:tc>
                <a:tc>
                  <a:txBody>
                    <a:bodyPr/>
                    <a:lstStyle/>
                    <a:p>
                      <a:pPr algn="r"/>
                      <a:r>
                        <a:rPr lang="de-DE" dirty="0"/>
                        <a:t>450,00</a:t>
                      </a:r>
                    </a:p>
                  </a:txBody>
                  <a:tcPr/>
                </a:tc>
                <a:tc>
                  <a:txBody>
                    <a:bodyPr/>
                    <a:lstStyle/>
                    <a:p>
                      <a:r>
                        <a:rPr lang="de-DE" dirty="0"/>
                        <a:t>EUR</a:t>
                      </a:r>
                    </a:p>
                  </a:txBody>
                  <a:tcPr/>
                </a:tc>
                <a:extLst>
                  <a:ext uri="{0D108BD9-81ED-4DB2-BD59-A6C34878D82A}">
                    <a16:rowId xmlns:a16="http://schemas.microsoft.com/office/drawing/2014/main" val="2341300805"/>
                  </a:ext>
                </a:extLst>
              </a:tr>
              <a:tr h="370840">
                <a:tc>
                  <a:txBody>
                    <a:bodyPr/>
                    <a:lstStyle/>
                    <a:p>
                      <a:r>
                        <a:rPr lang="de-DE" dirty="0"/>
                        <a:t>1002</a:t>
                      </a:r>
                    </a:p>
                  </a:txBody>
                  <a:tcPr/>
                </a:tc>
                <a:tc>
                  <a:txBody>
                    <a:bodyPr/>
                    <a:lstStyle/>
                    <a:p>
                      <a:pPr algn="r"/>
                      <a:r>
                        <a:rPr lang="de-DE" dirty="0"/>
                        <a:t>10</a:t>
                      </a:r>
                    </a:p>
                  </a:txBody>
                  <a:tcPr/>
                </a:tc>
                <a:tc>
                  <a:txBody>
                    <a:bodyPr/>
                    <a:lstStyle/>
                    <a:p>
                      <a:r>
                        <a:rPr lang="de-DE" dirty="0"/>
                        <a:t>C200</a:t>
                      </a:r>
                    </a:p>
                  </a:txBody>
                  <a:tcPr/>
                </a:tc>
                <a:tc>
                  <a:txBody>
                    <a:bodyPr/>
                    <a:lstStyle/>
                    <a:p>
                      <a:pPr algn="r"/>
                      <a:r>
                        <a:rPr lang="de-DE" dirty="0"/>
                        <a:t>700,00</a:t>
                      </a:r>
                    </a:p>
                  </a:txBody>
                  <a:tcPr/>
                </a:tc>
                <a:tc>
                  <a:txBody>
                    <a:bodyPr/>
                    <a:lstStyle/>
                    <a:p>
                      <a:r>
                        <a:rPr lang="de-DE" dirty="0"/>
                        <a:t>EUR</a:t>
                      </a:r>
                    </a:p>
                  </a:txBody>
                  <a:tcPr/>
                </a:tc>
                <a:extLst>
                  <a:ext uri="{0D108BD9-81ED-4DB2-BD59-A6C34878D82A}">
                    <a16:rowId xmlns:a16="http://schemas.microsoft.com/office/drawing/2014/main" val="3759423265"/>
                  </a:ext>
                </a:extLst>
              </a:tr>
            </a:tbl>
          </a:graphicData>
        </a:graphic>
      </p:graphicFrame>
      <p:graphicFrame>
        <p:nvGraphicFramePr>
          <p:cNvPr id="5" name="Tabelle 4">
            <a:extLst>
              <a:ext uri="{FF2B5EF4-FFF2-40B4-BE49-F238E27FC236}">
                <a16:creationId xmlns:a16="http://schemas.microsoft.com/office/drawing/2014/main" id="{56E44BA9-6ED8-1EF7-CEA5-25A2D32BAF18}"/>
              </a:ext>
            </a:extLst>
          </p:cNvPr>
          <p:cNvGraphicFramePr>
            <a:graphicFrameLocks noGrp="1"/>
          </p:cNvGraphicFramePr>
          <p:nvPr>
            <p:extLst>
              <p:ext uri="{D42A27DB-BD31-4B8C-83A1-F6EECF244321}">
                <p14:modId xmlns:p14="http://schemas.microsoft.com/office/powerpoint/2010/main" val="2788910313"/>
              </p:ext>
            </p:extLst>
          </p:nvPr>
        </p:nvGraphicFramePr>
        <p:xfrm>
          <a:off x="838199" y="4427818"/>
          <a:ext cx="5626770" cy="1112520"/>
        </p:xfrm>
        <a:graphic>
          <a:graphicData uri="http://schemas.openxmlformats.org/drawingml/2006/table">
            <a:tbl>
              <a:tblPr firstRow="1" bandRow="1">
                <a:tableStyleId>{5C22544A-7EE6-4342-B048-85BDC9FD1C3A}</a:tableStyleId>
              </a:tblPr>
              <a:tblGrid>
                <a:gridCol w="1474251">
                  <a:extLst>
                    <a:ext uri="{9D8B030D-6E8A-4147-A177-3AD203B41FA5}">
                      <a16:colId xmlns:a16="http://schemas.microsoft.com/office/drawing/2014/main" val="476858090"/>
                    </a:ext>
                  </a:extLst>
                </a:gridCol>
                <a:gridCol w="2291634">
                  <a:extLst>
                    <a:ext uri="{9D8B030D-6E8A-4147-A177-3AD203B41FA5}">
                      <a16:colId xmlns:a16="http://schemas.microsoft.com/office/drawing/2014/main" val="935292826"/>
                    </a:ext>
                  </a:extLst>
                </a:gridCol>
                <a:gridCol w="1860885">
                  <a:extLst>
                    <a:ext uri="{9D8B030D-6E8A-4147-A177-3AD203B41FA5}">
                      <a16:colId xmlns:a16="http://schemas.microsoft.com/office/drawing/2014/main" val="2290012294"/>
                    </a:ext>
                  </a:extLst>
                </a:gridCol>
              </a:tblGrid>
              <a:tr h="370840">
                <a:tc>
                  <a:txBody>
                    <a:bodyPr/>
                    <a:lstStyle/>
                    <a:p>
                      <a:r>
                        <a:rPr lang="de-DE" dirty="0" err="1"/>
                        <a:t>CustomerId</a:t>
                      </a:r>
                      <a:endParaRPr lang="de-DE" dirty="0"/>
                    </a:p>
                  </a:txBody>
                  <a:tcPr/>
                </a:tc>
                <a:tc>
                  <a:txBody>
                    <a:bodyPr/>
                    <a:lstStyle/>
                    <a:p>
                      <a:pPr algn="r"/>
                      <a:r>
                        <a:rPr lang="de-DE" dirty="0" err="1"/>
                        <a:t>TotalNetAmount</a:t>
                      </a:r>
                      <a:endParaRPr lang="de-DE" dirty="0"/>
                    </a:p>
                  </a:txBody>
                  <a:tcPr/>
                </a:tc>
                <a:tc>
                  <a:txBody>
                    <a:bodyPr/>
                    <a:lstStyle/>
                    <a:p>
                      <a:r>
                        <a:rPr lang="de-DE" dirty="0" err="1"/>
                        <a:t>CurrencyCode</a:t>
                      </a:r>
                      <a:endParaRPr lang="de-DE" dirty="0"/>
                    </a:p>
                  </a:txBody>
                  <a:tcPr/>
                </a:tc>
                <a:extLst>
                  <a:ext uri="{0D108BD9-81ED-4DB2-BD59-A6C34878D82A}">
                    <a16:rowId xmlns:a16="http://schemas.microsoft.com/office/drawing/2014/main" val="1944649630"/>
                  </a:ext>
                </a:extLst>
              </a:tr>
              <a:tr h="370840">
                <a:tc>
                  <a:txBody>
                    <a:bodyPr/>
                    <a:lstStyle/>
                    <a:p>
                      <a:r>
                        <a:rPr lang="de-DE" dirty="0"/>
                        <a:t>C100</a:t>
                      </a:r>
                    </a:p>
                  </a:txBody>
                  <a:tcPr/>
                </a:tc>
                <a:tc>
                  <a:txBody>
                    <a:bodyPr/>
                    <a:lstStyle/>
                    <a:p>
                      <a:pPr algn="r"/>
                      <a:r>
                        <a:rPr lang="de-DE" dirty="0"/>
                        <a:t>1.350,00</a:t>
                      </a:r>
                    </a:p>
                  </a:txBody>
                  <a:tcPr/>
                </a:tc>
                <a:tc>
                  <a:txBody>
                    <a:bodyPr/>
                    <a:lstStyle/>
                    <a:p>
                      <a:r>
                        <a:rPr lang="de-DE" dirty="0"/>
                        <a:t>EUR</a:t>
                      </a:r>
                    </a:p>
                  </a:txBody>
                  <a:tcPr/>
                </a:tc>
                <a:extLst>
                  <a:ext uri="{0D108BD9-81ED-4DB2-BD59-A6C34878D82A}">
                    <a16:rowId xmlns:a16="http://schemas.microsoft.com/office/drawing/2014/main" val="148429850"/>
                  </a:ext>
                </a:extLst>
              </a:tr>
              <a:tr h="370840">
                <a:tc>
                  <a:txBody>
                    <a:bodyPr/>
                    <a:lstStyle/>
                    <a:p>
                      <a:r>
                        <a:rPr lang="de-DE" dirty="0"/>
                        <a:t>C200</a:t>
                      </a:r>
                    </a:p>
                  </a:txBody>
                  <a:tcPr/>
                </a:tc>
                <a:tc>
                  <a:txBody>
                    <a:bodyPr/>
                    <a:lstStyle/>
                    <a:p>
                      <a:pPr algn="r"/>
                      <a:r>
                        <a:rPr lang="de-DE" dirty="0"/>
                        <a:t>700,00</a:t>
                      </a:r>
                    </a:p>
                  </a:txBody>
                  <a:tcPr/>
                </a:tc>
                <a:tc>
                  <a:txBody>
                    <a:bodyPr/>
                    <a:lstStyle/>
                    <a:p>
                      <a:r>
                        <a:rPr lang="de-DE" dirty="0"/>
                        <a:t>EUR</a:t>
                      </a:r>
                    </a:p>
                  </a:txBody>
                  <a:tcPr/>
                </a:tc>
                <a:extLst>
                  <a:ext uri="{0D108BD9-81ED-4DB2-BD59-A6C34878D82A}">
                    <a16:rowId xmlns:a16="http://schemas.microsoft.com/office/drawing/2014/main" val="2562326707"/>
                  </a:ext>
                </a:extLst>
              </a:tr>
            </a:tbl>
          </a:graphicData>
        </a:graphic>
      </p:graphicFrame>
      <p:sp>
        <p:nvSpPr>
          <p:cNvPr id="7" name="Textfeld 6">
            <a:extLst>
              <a:ext uri="{FF2B5EF4-FFF2-40B4-BE49-F238E27FC236}">
                <a16:creationId xmlns:a16="http://schemas.microsoft.com/office/drawing/2014/main" id="{20C17AA2-CEE3-1497-2887-1CEB18AF9E4E}"/>
              </a:ext>
            </a:extLst>
          </p:cNvPr>
          <p:cNvSpPr txBox="1"/>
          <p:nvPr/>
        </p:nvSpPr>
        <p:spPr>
          <a:xfrm>
            <a:off x="838199" y="5941277"/>
            <a:ext cx="10515600" cy="461665"/>
          </a:xfrm>
          <a:prstGeom prst="rect">
            <a:avLst/>
          </a:prstGeom>
          <a:noFill/>
        </p:spPr>
        <p:txBody>
          <a:bodyPr wrap="square">
            <a:spAutoFit/>
          </a:bodyPr>
          <a:lstStyle/>
          <a:p>
            <a:r>
              <a:rPr lang="de-DE" sz="2400" dirty="0">
                <a:highlight>
                  <a:srgbClr val="FFFF00"/>
                </a:highlight>
              </a:rPr>
              <a:t>Aggregatfunktionen berechnen aus mehreren Eingabezeilen eine Kennzahl.</a:t>
            </a:r>
          </a:p>
        </p:txBody>
      </p:sp>
    </p:spTree>
    <p:extLst>
      <p:ext uri="{BB962C8B-B14F-4D97-AF65-F5344CB8AC3E}">
        <p14:creationId xmlns:p14="http://schemas.microsoft.com/office/powerpoint/2010/main" val="553407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FC8A6E-6EC6-E500-5D3D-3E564064C1D4}"/>
              </a:ext>
            </a:extLst>
          </p:cNvPr>
          <p:cNvSpPr>
            <a:spLocks noGrp="1"/>
          </p:cNvSpPr>
          <p:nvPr>
            <p:ph type="title"/>
          </p:nvPr>
        </p:nvSpPr>
        <p:spPr/>
        <p:txBody>
          <a:bodyPr/>
          <a:lstStyle/>
          <a:p>
            <a:r>
              <a:rPr lang="de-DE" dirty="0"/>
              <a:t>Gruppen mit </a:t>
            </a:r>
            <a:r>
              <a:rPr lang="de-DE" dirty="0">
                <a:latin typeface="Courier New" panose="02070309020205020404" pitchFamily="49" charset="0"/>
                <a:cs typeface="Courier New" panose="02070309020205020404" pitchFamily="49" charset="0"/>
              </a:rPr>
              <a:t>GROUP BY</a:t>
            </a:r>
            <a:r>
              <a:rPr lang="de-DE" dirty="0"/>
              <a:t> bilden</a:t>
            </a:r>
          </a:p>
        </p:txBody>
      </p:sp>
      <p:sp>
        <p:nvSpPr>
          <p:cNvPr id="3" name="Inhaltsplatzhalter 2">
            <a:extLst>
              <a:ext uri="{FF2B5EF4-FFF2-40B4-BE49-F238E27FC236}">
                <a16:creationId xmlns:a16="http://schemas.microsoft.com/office/drawing/2014/main" id="{911A7171-FD44-3F46-5EAD-93A87010B163}"/>
              </a:ext>
            </a:extLst>
          </p:cNvPr>
          <p:cNvSpPr>
            <a:spLocks noGrp="1"/>
          </p:cNvSpPr>
          <p:nvPr>
            <p:ph idx="1"/>
          </p:nvPr>
        </p:nvSpPr>
        <p:spPr/>
        <p:txBody>
          <a:bodyPr>
            <a:normAutofit/>
          </a:bodyPr>
          <a:lstStyle/>
          <a:p>
            <a:pPr marL="0" indent="0">
              <a:buNone/>
            </a:pPr>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ZI_CDSRevenueByCustomer</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r>
              <a:rPr lang="de-DE" dirty="0" err="1">
                <a:latin typeface="Courier New" panose="02070309020205020404" pitchFamily="49" charset="0"/>
                <a:cs typeface="Courier New" panose="02070309020205020404" pitchFamily="49" charset="0"/>
              </a:rPr>
              <a:t>ZI_CDSOrderItemCalc</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Order.CustomerId</a:t>
            </a: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@Semantics.amount.currencyCode: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sum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NetAmount</a:t>
            </a:r>
            <a:r>
              <a:rPr lang="de-DE" dirty="0">
                <a:latin typeface="Courier New" panose="02070309020205020404" pitchFamily="49" charset="0"/>
                <a:cs typeface="Courier New" panose="02070309020205020404" pitchFamily="49" charset="0"/>
              </a:rPr>
              <a:t> ) as </a:t>
            </a:r>
            <a:r>
              <a:rPr lang="de-DE" dirty="0" err="1">
                <a:latin typeface="Courier New" panose="02070309020205020404" pitchFamily="49" charset="0"/>
                <a:cs typeface="Courier New" panose="02070309020205020404" pitchFamily="49" charset="0"/>
              </a:rPr>
              <a:t>TotalNetAmount</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err="1">
                <a:latin typeface="Courier New" panose="02070309020205020404" pitchFamily="49" charset="0"/>
                <a:cs typeface="Courier New" panose="02070309020205020404" pitchFamily="49" charset="0"/>
              </a:rPr>
              <a:t>group</a:t>
            </a:r>
            <a:r>
              <a:rPr lang="de-DE" dirty="0">
                <a:latin typeface="Courier New" panose="02070309020205020404" pitchFamily="49" charset="0"/>
                <a:cs typeface="Courier New" panose="02070309020205020404" pitchFamily="49" charset="0"/>
              </a:rPr>
              <a:t> by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Order.CustomerId</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CurrencyCode</a:t>
            </a:r>
            <a:endParaRPr lang="de-DE" dirty="0">
              <a:latin typeface="Courier New" panose="02070309020205020404" pitchFamily="49" charset="0"/>
              <a:cs typeface="Courier New" panose="02070309020205020404" pitchFamily="49" charset="0"/>
            </a:endParaRPr>
          </a:p>
        </p:txBody>
      </p:sp>
      <p:sp>
        <p:nvSpPr>
          <p:cNvPr id="5" name="Textfeld 4">
            <a:extLst>
              <a:ext uri="{FF2B5EF4-FFF2-40B4-BE49-F238E27FC236}">
                <a16:creationId xmlns:a16="http://schemas.microsoft.com/office/drawing/2014/main" id="{A31F9571-7BE3-F5DD-8A13-4F5E7E81F138}"/>
              </a:ext>
            </a:extLst>
          </p:cNvPr>
          <p:cNvSpPr txBox="1"/>
          <p:nvPr/>
        </p:nvSpPr>
        <p:spPr>
          <a:xfrm>
            <a:off x="838200" y="6344737"/>
            <a:ext cx="10515599" cy="400110"/>
          </a:xfrm>
          <a:prstGeom prst="rect">
            <a:avLst/>
          </a:prstGeom>
          <a:noFill/>
        </p:spPr>
        <p:txBody>
          <a:bodyPr wrap="square">
            <a:spAutoFit/>
          </a:bodyPr>
          <a:lstStyle/>
          <a:p>
            <a:r>
              <a:rPr lang="de-DE" sz="2000" dirty="0">
                <a:highlight>
                  <a:srgbClr val="FFFF00"/>
                </a:highlight>
              </a:rPr>
              <a:t>Jedes nicht aggregierte Element der Elementliste muss Bestandteil von </a:t>
            </a:r>
            <a:r>
              <a:rPr lang="de-DE" sz="2000" dirty="0">
                <a:highlight>
                  <a:srgbClr val="FFFF00"/>
                </a:highlight>
                <a:latin typeface="Courier New" panose="02070309020205020404" pitchFamily="49" charset="0"/>
              </a:rPr>
              <a:t>GROUP BY</a:t>
            </a:r>
            <a:r>
              <a:rPr lang="de-DE" sz="2000" dirty="0">
                <a:highlight>
                  <a:srgbClr val="FFFF00"/>
                </a:highlight>
              </a:rPr>
              <a:t> sein.</a:t>
            </a:r>
          </a:p>
        </p:txBody>
      </p:sp>
    </p:spTree>
    <p:extLst>
      <p:ext uri="{BB962C8B-B14F-4D97-AF65-F5344CB8AC3E}">
        <p14:creationId xmlns:p14="http://schemas.microsoft.com/office/powerpoint/2010/main" val="727698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CD726D-D7BE-BCEE-AF20-8C5A8485A024}"/>
              </a:ext>
            </a:extLst>
          </p:cNvPr>
          <p:cNvSpPr>
            <a:spLocks noGrp="1"/>
          </p:cNvSpPr>
          <p:nvPr>
            <p:ph type="title"/>
          </p:nvPr>
        </p:nvSpPr>
        <p:spPr/>
        <p:txBody>
          <a:bodyPr/>
          <a:lstStyle/>
          <a:p>
            <a:r>
              <a:rPr lang="de-DE" dirty="0"/>
              <a:t>Was genau soll gezählt werden?</a:t>
            </a:r>
          </a:p>
        </p:txBody>
      </p:sp>
      <p:sp>
        <p:nvSpPr>
          <p:cNvPr id="3" name="Inhaltsplatzhalter 2">
            <a:extLst>
              <a:ext uri="{FF2B5EF4-FFF2-40B4-BE49-F238E27FC236}">
                <a16:creationId xmlns:a16="http://schemas.microsoft.com/office/drawing/2014/main" id="{98C2DF1E-F4BA-D04F-8463-10103888B430}"/>
              </a:ext>
            </a:extLst>
          </p:cNvPr>
          <p:cNvSpPr>
            <a:spLocks noGrp="1"/>
          </p:cNvSpPr>
          <p:nvPr>
            <p:ph idx="1"/>
          </p:nvPr>
        </p:nvSpPr>
        <p:spPr/>
        <p:txBody>
          <a:bodyPr/>
          <a:lstStyle/>
          <a:p>
            <a:pPr marL="0" indent="0">
              <a:buNone/>
            </a:pPr>
            <a:r>
              <a:rPr lang="de-DE" dirty="0"/>
              <a:t>Positionen zählen:</a:t>
            </a:r>
          </a:p>
          <a:p>
            <a:pPr marL="457200" lvl="1" indent="0">
              <a:buNone/>
            </a:pPr>
            <a:r>
              <a:rPr lang="de-DE" dirty="0" err="1">
                <a:latin typeface="Courier New" panose="02070309020205020404" pitchFamily="49" charset="0"/>
                <a:cs typeface="Courier New" panose="02070309020205020404" pitchFamily="49" charset="0"/>
              </a:rPr>
              <a:t>count</a:t>
            </a:r>
            <a:r>
              <a:rPr lang="de-DE" dirty="0">
                <a:latin typeface="Courier New" panose="02070309020205020404" pitchFamily="49" charset="0"/>
                <a:cs typeface="Courier New" panose="02070309020205020404" pitchFamily="49" charset="0"/>
              </a:rPr>
              <a:t>( * ) as </a:t>
            </a:r>
            <a:r>
              <a:rPr lang="de-DE" dirty="0" err="1">
                <a:latin typeface="Courier New" panose="02070309020205020404" pitchFamily="49" charset="0"/>
                <a:cs typeface="Courier New" panose="02070309020205020404" pitchFamily="49" charset="0"/>
              </a:rPr>
              <a:t>ItemCount</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Unterschiedliche Aufträge zählen:</a:t>
            </a:r>
          </a:p>
          <a:p>
            <a:pPr marL="457200" lvl="1" indent="0">
              <a:buNone/>
            </a:pPr>
            <a:r>
              <a:rPr lang="de-DE" dirty="0" err="1">
                <a:latin typeface="Courier New" panose="02070309020205020404" pitchFamily="49" charset="0"/>
                <a:cs typeface="Courier New" panose="02070309020205020404" pitchFamily="49" charset="0"/>
              </a:rPr>
              <a:t>count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distinct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 as </a:t>
            </a:r>
            <a:r>
              <a:rPr lang="de-DE" dirty="0" err="1">
                <a:latin typeface="Courier New" panose="02070309020205020404" pitchFamily="49" charset="0"/>
                <a:cs typeface="Courier New" panose="02070309020205020404" pitchFamily="49" charset="0"/>
              </a:rPr>
              <a:t>OrderCount</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
        <p:nvSpPr>
          <p:cNvPr id="5" name="Textfeld 4">
            <a:extLst>
              <a:ext uri="{FF2B5EF4-FFF2-40B4-BE49-F238E27FC236}">
                <a16:creationId xmlns:a16="http://schemas.microsoft.com/office/drawing/2014/main" id="{44E1D478-03D2-A6B1-B5D2-DB7951329D31}"/>
              </a:ext>
            </a:extLst>
          </p:cNvPr>
          <p:cNvSpPr txBox="1"/>
          <p:nvPr/>
        </p:nvSpPr>
        <p:spPr>
          <a:xfrm>
            <a:off x="838200" y="5163235"/>
            <a:ext cx="10515600" cy="461665"/>
          </a:xfrm>
          <a:prstGeom prst="rect">
            <a:avLst/>
          </a:prstGeom>
          <a:noFill/>
        </p:spPr>
        <p:txBody>
          <a:bodyPr wrap="square">
            <a:spAutoFit/>
          </a:bodyPr>
          <a:lstStyle/>
          <a:p>
            <a:r>
              <a:rPr lang="de-DE" sz="2400" dirty="0">
                <a:highlight>
                  <a:srgbClr val="FFFF00"/>
                </a:highlight>
              </a:rPr>
              <a:t>Die technische Zeile der Datenquelle bestimmt, was </a:t>
            </a:r>
            <a:r>
              <a:rPr lang="de-DE" sz="2400" dirty="0" err="1">
                <a:highlight>
                  <a:srgbClr val="FFFF00"/>
                </a:highlight>
                <a:latin typeface="Courier New" panose="02070309020205020404" pitchFamily="49" charset="0"/>
              </a:rPr>
              <a:t>count</a:t>
            </a:r>
            <a:r>
              <a:rPr lang="de-DE" sz="2400" dirty="0">
                <a:highlight>
                  <a:srgbClr val="FFFF00"/>
                </a:highlight>
                <a:latin typeface="Courier New" panose="02070309020205020404" pitchFamily="49" charset="0"/>
              </a:rPr>
              <a:t>(*)</a:t>
            </a:r>
            <a:r>
              <a:rPr lang="de-DE" sz="2400" dirty="0">
                <a:highlight>
                  <a:srgbClr val="FFFF00"/>
                </a:highlight>
              </a:rPr>
              <a:t> zählt.</a:t>
            </a:r>
          </a:p>
        </p:txBody>
      </p:sp>
    </p:spTree>
    <p:extLst>
      <p:ext uri="{BB962C8B-B14F-4D97-AF65-F5344CB8AC3E}">
        <p14:creationId xmlns:p14="http://schemas.microsoft.com/office/powerpoint/2010/main" val="2413763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FB606F-D5E3-AE90-CC32-A9EADFC86CF1}"/>
              </a:ext>
            </a:extLst>
          </p:cNvPr>
          <p:cNvSpPr>
            <a:spLocks noGrp="1"/>
          </p:cNvSpPr>
          <p:nvPr>
            <p:ph type="title"/>
          </p:nvPr>
        </p:nvSpPr>
        <p:spPr/>
        <p:txBody>
          <a:bodyPr/>
          <a:lstStyle/>
          <a:p>
            <a:r>
              <a:rPr lang="de-DE" dirty="0"/>
              <a:t>Gruppierung und Semantik</a:t>
            </a:r>
          </a:p>
        </p:txBody>
      </p:sp>
      <p:sp>
        <p:nvSpPr>
          <p:cNvPr id="3" name="Inhaltsplatzhalter 2">
            <a:extLst>
              <a:ext uri="{FF2B5EF4-FFF2-40B4-BE49-F238E27FC236}">
                <a16:creationId xmlns:a16="http://schemas.microsoft.com/office/drawing/2014/main" id="{33A4B4F8-3779-7231-7033-4BFB2FDBFFA7}"/>
              </a:ext>
            </a:extLst>
          </p:cNvPr>
          <p:cNvSpPr>
            <a:spLocks noGrp="1"/>
          </p:cNvSpPr>
          <p:nvPr>
            <p:ph idx="1"/>
          </p:nvPr>
        </p:nvSpPr>
        <p:spPr/>
        <p:txBody>
          <a:bodyPr>
            <a:normAutofit/>
          </a:bodyPr>
          <a:lstStyle/>
          <a:p>
            <a:pPr marL="0" indent="0">
              <a:buNone/>
            </a:pPr>
            <a:r>
              <a:rPr lang="de-DE" dirty="0"/>
              <a:t>Beträge nur innerhalb derselben Währung addieren:</a:t>
            </a:r>
          </a:p>
          <a:p>
            <a:pPr marL="457200" lvl="1" indent="0">
              <a:buNone/>
            </a:pP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p>
          <a:p>
            <a:pPr marL="457200" lvl="1" indent="0">
              <a:buNone/>
            </a:pP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@Semantics.amount.currencyCode: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a:t>
            </a:r>
          </a:p>
          <a:p>
            <a:pPr marL="457200" lvl="1" indent="0">
              <a:buNone/>
            </a:pPr>
            <a:r>
              <a:rPr lang="de-DE" dirty="0" err="1">
                <a:latin typeface="Courier New" panose="02070309020205020404" pitchFamily="49" charset="0"/>
                <a:cs typeface="Courier New" panose="02070309020205020404" pitchFamily="49" charset="0"/>
              </a:rPr>
              <a:t>sum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NetAmount</a:t>
            </a:r>
            <a:r>
              <a:rPr lang="de-DE" dirty="0">
                <a:latin typeface="Courier New" panose="02070309020205020404" pitchFamily="49" charset="0"/>
                <a:cs typeface="Courier New" panose="02070309020205020404" pitchFamily="49" charset="0"/>
              </a:rPr>
              <a:t> ) as </a:t>
            </a:r>
            <a:r>
              <a:rPr lang="de-DE" dirty="0" err="1">
                <a:latin typeface="Courier New" panose="02070309020205020404" pitchFamily="49" charset="0"/>
                <a:cs typeface="Courier New" panose="02070309020205020404" pitchFamily="49" charset="0"/>
              </a:rPr>
              <a:t>TotalNetAmount</a:t>
            </a:r>
            <a:endParaRPr lang="de-DE" dirty="0">
              <a:latin typeface="Courier New" panose="02070309020205020404" pitchFamily="49" charset="0"/>
              <a:cs typeface="Courier New" panose="02070309020205020404" pitchFamily="49" charset="0"/>
            </a:endParaRPr>
          </a:p>
          <a:p>
            <a:pPr marL="0" indent="0">
              <a:buNone/>
            </a:pPr>
            <a:r>
              <a:rPr lang="de-DE" dirty="0"/>
              <a:t>Deshalb:</a:t>
            </a:r>
          </a:p>
          <a:p>
            <a:pPr marL="457200" lvl="1" indent="0">
              <a:buNone/>
            </a:pPr>
            <a:r>
              <a:rPr lang="de-DE" dirty="0" err="1">
                <a:latin typeface="Courier New" panose="02070309020205020404" pitchFamily="49" charset="0"/>
                <a:cs typeface="Courier New" panose="02070309020205020404" pitchFamily="49" charset="0"/>
              </a:rPr>
              <a:t>group</a:t>
            </a:r>
            <a:r>
              <a:rPr lang="de-DE" dirty="0">
                <a:latin typeface="Courier New" panose="02070309020205020404" pitchFamily="49" charset="0"/>
                <a:cs typeface="Courier New" panose="02070309020205020404" pitchFamily="49" charset="0"/>
              </a:rPr>
              <a:t> by</a:t>
            </a:r>
          </a:p>
          <a:p>
            <a:pPr marL="457200" lvl="1" indent="0">
              <a:buNone/>
            </a:pP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Order.CustomerId</a:t>
            </a: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CurrencyCode</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
        <p:nvSpPr>
          <p:cNvPr id="5" name="Textfeld 4">
            <a:extLst>
              <a:ext uri="{FF2B5EF4-FFF2-40B4-BE49-F238E27FC236}">
                <a16:creationId xmlns:a16="http://schemas.microsoft.com/office/drawing/2014/main" id="{F59D593C-5283-C226-3E56-BED5BFF8E026}"/>
              </a:ext>
            </a:extLst>
          </p:cNvPr>
          <p:cNvSpPr txBox="1"/>
          <p:nvPr/>
        </p:nvSpPr>
        <p:spPr>
          <a:xfrm>
            <a:off x="838199" y="5846544"/>
            <a:ext cx="10515599" cy="415498"/>
          </a:xfrm>
          <a:prstGeom prst="rect">
            <a:avLst/>
          </a:prstGeom>
          <a:noFill/>
        </p:spPr>
        <p:txBody>
          <a:bodyPr wrap="square">
            <a:spAutoFit/>
          </a:bodyPr>
          <a:lstStyle/>
          <a:p>
            <a:r>
              <a:rPr lang="de-DE" sz="2100" dirty="0">
                <a:highlight>
                  <a:srgbClr val="FFFF00"/>
                </a:highlight>
              </a:rPr>
              <a:t>Vor einer Aggregation muss die fachliche Vergleichbarkeit der Werte geklärt werden.</a:t>
            </a:r>
          </a:p>
        </p:txBody>
      </p:sp>
    </p:spTree>
    <p:extLst>
      <p:ext uri="{BB962C8B-B14F-4D97-AF65-F5344CB8AC3E}">
        <p14:creationId xmlns:p14="http://schemas.microsoft.com/office/powerpoint/2010/main" val="1487480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89311E-5178-FF33-0B0F-D9BB26234B24}"/>
              </a:ext>
            </a:extLst>
          </p:cNvPr>
          <p:cNvSpPr>
            <a:spLocks noGrp="1"/>
          </p:cNvSpPr>
          <p:nvPr>
            <p:ph type="title"/>
          </p:nvPr>
        </p:nvSpPr>
        <p:spPr/>
        <p:txBody>
          <a:bodyPr/>
          <a:lstStyle/>
          <a:p>
            <a:r>
              <a:rPr lang="de-DE" dirty="0"/>
              <a:t>Filtern vor und nach der Aggregation</a:t>
            </a:r>
          </a:p>
        </p:txBody>
      </p:sp>
      <p:sp>
        <p:nvSpPr>
          <p:cNvPr id="3" name="Inhaltsplatzhalter 2">
            <a:extLst>
              <a:ext uri="{FF2B5EF4-FFF2-40B4-BE49-F238E27FC236}">
                <a16:creationId xmlns:a16="http://schemas.microsoft.com/office/drawing/2014/main" id="{84316822-1241-11A3-448C-9DD509FC9FD0}"/>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WHERE</a:t>
            </a:r>
            <a:r>
              <a:rPr lang="de-DE" dirty="0"/>
              <a:t> filtert Eingabezeilen:</a:t>
            </a:r>
          </a:p>
          <a:p>
            <a:pPr marL="457200" lvl="1" indent="0">
              <a:buNone/>
            </a:pPr>
            <a:r>
              <a:rPr lang="de-DE" dirty="0" err="1">
                <a:latin typeface="Courier New" panose="02070309020205020404" pitchFamily="49" charset="0"/>
                <a:cs typeface="Courier New" panose="02070309020205020404" pitchFamily="49" charset="0"/>
              </a:rPr>
              <a:t>where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DiscountPercent</a:t>
            </a:r>
            <a:r>
              <a:rPr lang="de-DE" dirty="0">
                <a:latin typeface="Courier New" panose="02070309020205020404" pitchFamily="49" charset="0"/>
                <a:cs typeface="Courier New" panose="02070309020205020404" pitchFamily="49" charset="0"/>
              </a:rPr>
              <a:t> &gt; 0</a:t>
            </a:r>
          </a:p>
          <a:p>
            <a:pPr marL="0" indent="0">
              <a:buNone/>
            </a:pPr>
            <a:endParaRPr lang="de-DE" dirty="0"/>
          </a:p>
          <a:p>
            <a:pPr marL="0" indent="0">
              <a:buNone/>
            </a:pPr>
            <a:r>
              <a:rPr lang="de-DE" dirty="0">
                <a:latin typeface="Courier New" panose="02070309020205020404" pitchFamily="49" charset="0"/>
                <a:cs typeface="Courier New" panose="02070309020205020404" pitchFamily="49" charset="0"/>
              </a:rPr>
              <a:t>HAVING</a:t>
            </a:r>
            <a:r>
              <a:rPr lang="de-DE" dirty="0"/>
              <a:t> filtert gebildete Gruppen:</a:t>
            </a:r>
          </a:p>
          <a:p>
            <a:pPr marL="457200" lvl="1" indent="0">
              <a:buNone/>
            </a:pPr>
            <a:r>
              <a:rPr lang="de-DE" dirty="0" err="1">
                <a:latin typeface="Courier New" panose="02070309020205020404" pitchFamily="49" charset="0"/>
                <a:cs typeface="Courier New" panose="02070309020205020404" pitchFamily="49" charset="0"/>
              </a:rPr>
              <a:t>having</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sum</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NetAmount</a:t>
            </a:r>
            <a:r>
              <a:rPr lang="de-DE" dirty="0">
                <a:latin typeface="Courier New" panose="02070309020205020404" pitchFamily="49" charset="0"/>
                <a:cs typeface="Courier New" panose="02070309020205020404" pitchFamily="49" charset="0"/>
              </a:rPr>
              <a:t> ) &gt; 1000</a:t>
            </a:r>
          </a:p>
          <a:p>
            <a:pPr marL="0" indent="0">
              <a:buNone/>
            </a:pPr>
            <a:endParaRPr lang="de-DE" dirty="0"/>
          </a:p>
        </p:txBody>
      </p:sp>
    </p:spTree>
    <p:extLst>
      <p:ext uri="{BB962C8B-B14F-4D97-AF65-F5344CB8AC3E}">
        <p14:creationId xmlns:p14="http://schemas.microsoft.com/office/powerpoint/2010/main" val="1021498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AF5DF2-0FCF-48F0-E348-505CD5B0B37B}"/>
              </a:ext>
            </a:extLst>
          </p:cNvPr>
          <p:cNvSpPr>
            <a:spLocks noGrp="1"/>
          </p:cNvSpPr>
          <p:nvPr>
            <p:ph type="title"/>
          </p:nvPr>
        </p:nvSpPr>
        <p:spPr/>
        <p:txBody>
          <a:bodyPr/>
          <a:lstStyle/>
          <a:p>
            <a:r>
              <a:rPr lang="de-DE" dirty="0"/>
              <a:t>Live-Coding 4: </a:t>
            </a:r>
            <a:br>
              <a:rPr lang="de-DE" dirty="0"/>
            </a:br>
            <a:r>
              <a:rPr lang="de-DE" dirty="0"/>
              <a:t>Umsatz nach Kunde aggregieren</a:t>
            </a:r>
          </a:p>
        </p:txBody>
      </p:sp>
      <p:sp>
        <p:nvSpPr>
          <p:cNvPr id="3" name="Inhaltsplatzhalter 2">
            <a:extLst>
              <a:ext uri="{FF2B5EF4-FFF2-40B4-BE49-F238E27FC236}">
                <a16:creationId xmlns:a16="http://schemas.microsoft.com/office/drawing/2014/main" id="{6F46D081-F374-EAA9-4596-02530C2D5F7C}"/>
              </a:ext>
            </a:extLst>
          </p:cNvPr>
          <p:cNvSpPr>
            <a:spLocks noGrp="1"/>
          </p:cNvSpPr>
          <p:nvPr>
            <p:ph sz="half" idx="1"/>
          </p:nvPr>
        </p:nvSpPr>
        <p:spPr/>
        <p:txBody>
          <a:bodyPr/>
          <a:lstStyle/>
          <a:p>
            <a:pPr marL="0" indent="0">
              <a:buNone/>
            </a:pPr>
            <a:r>
              <a:rPr lang="de-DE" dirty="0"/>
              <a:t>Neue View Entity:</a:t>
            </a:r>
          </a:p>
          <a:p>
            <a:pPr marL="457200" lvl="1" indent="0">
              <a:buNone/>
            </a:pPr>
            <a:r>
              <a:rPr lang="de-DE" dirty="0" err="1">
                <a:latin typeface="Courier New" panose="02070309020205020404" pitchFamily="49" charset="0"/>
                <a:cs typeface="Courier New" panose="02070309020205020404" pitchFamily="49" charset="0"/>
              </a:rPr>
              <a:t>ZI_CDSRevenueByCustomer</a:t>
            </a:r>
            <a:endParaRPr lang="de-DE" dirty="0">
              <a:latin typeface="Courier New" panose="02070309020205020404" pitchFamily="49" charset="0"/>
              <a:cs typeface="Courier New" panose="02070309020205020404" pitchFamily="49" charset="0"/>
            </a:endParaRPr>
          </a:p>
          <a:p>
            <a:pPr marL="0" indent="0">
              <a:buNone/>
            </a:pPr>
            <a:r>
              <a:rPr lang="de-DE" dirty="0"/>
              <a:t>Eine Ergebniszeile je:</a:t>
            </a:r>
          </a:p>
          <a:p>
            <a:pPr marL="457200" lvl="1" indent="0">
              <a:buNone/>
            </a:pPr>
            <a:r>
              <a:rPr lang="de-DE" dirty="0" err="1">
                <a:latin typeface="Courier New" panose="02070309020205020404" pitchFamily="49" charset="0"/>
                <a:cs typeface="Courier New" panose="02070309020205020404" pitchFamily="49" charset="0"/>
              </a:rPr>
              <a:t>CustomerId</a:t>
            </a:r>
            <a:r>
              <a:rPr lang="de-DE" dirty="0"/>
              <a:t> und </a:t>
            </a:r>
            <a:r>
              <a:rPr lang="de-DE" dirty="0" err="1">
                <a:latin typeface="Courier New" panose="02070309020205020404" pitchFamily="49" charset="0"/>
                <a:cs typeface="Courier New" panose="02070309020205020404" pitchFamily="49" charset="0"/>
              </a:rPr>
              <a:t>CurrencyCode</a:t>
            </a:r>
            <a:endParaRPr lang="de-DE" dirty="0">
              <a:latin typeface="Courier New" panose="02070309020205020404" pitchFamily="49" charset="0"/>
              <a:cs typeface="Courier New" panose="02070309020205020404" pitchFamily="49" charset="0"/>
            </a:endParaRPr>
          </a:p>
        </p:txBody>
      </p:sp>
      <p:sp>
        <p:nvSpPr>
          <p:cNvPr id="10" name="Inhaltsplatzhalter 9">
            <a:extLst>
              <a:ext uri="{FF2B5EF4-FFF2-40B4-BE49-F238E27FC236}">
                <a16:creationId xmlns:a16="http://schemas.microsoft.com/office/drawing/2014/main" id="{68D392D9-ABA0-CF62-39EB-BFFB6887531F}"/>
              </a:ext>
            </a:extLst>
          </p:cNvPr>
          <p:cNvSpPr>
            <a:spLocks noGrp="1"/>
          </p:cNvSpPr>
          <p:nvPr>
            <p:ph sz="half" idx="2"/>
          </p:nvPr>
        </p:nvSpPr>
        <p:spPr/>
        <p:txBody>
          <a:bodyPr/>
          <a:lstStyle/>
          <a:p>
            <a:pPr marL="0" indent="0">
              <a:buNone/>
            </a:pPr>
            <a:r>
              <a:rPr lang="de-DE" dirty="0"/>
              <a:t>Kennzahlen:</a:t>
            </a:r>
          </a:p>
          <a:p>
            <a:r>
              <a:rPr lang="de-DE" dirty="0" err="1">
                <a:latin typeface="Courier New" panose="02070309020205020404" pitchFamily="49" charset="0"/>
                <a:cs typeface="Courier New" panose="02070309020205020404" pitchFamily="49" charset="0"/>
              </a:rPr>
              <a:t>ItemCount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OrderCount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TotalGrossAmount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TotalDiscountAmount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TotalNetAmount</a:t>
            </a:r>
            <a:endParaRPr lang="de-DE" dirty="0">
              <a:latin typeface="Courier New" panose="02070309020205020404" pitchFamily="49" charset="0"/>
              <a:cs typeface="Courier New" panose="02070309020205020404" pitchFamily="49" charset="0"/>
            </a:endParaRPr>
          </a:p>
          <a:p>
            <a:r>
              <a:rPr lang="de-DE" dirty="0" err="1">
                <a:latin typeface="Courier New" panose="02070309020205020404" pitchFamily="49" charset="0"/>
                <a:cs typeface="Courier New" panose="02070309020205020404" pitchFamily="49" charset="0"/>
              </a:rPr>
              <a:t>AverageNetAmount</a:t>
            </a:r>
            <a:endParaRPr lang="de-D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86359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8C9003-63A3-FA70-0520-51FA2B32941B}"/>
              </a:ext>
            </a:extLst>
          </p:cNvPr>
          <p:cNvSpPr>
            <a:spLocks noGrp="1"/>
          </p:cNvSpPr>
          <p:nvPr>
            <p:ph type="title"/>
          </p:nvPr>
        </p:nvSpPr>
        <p:spPr/>
        <p:txBody>
          <a:bodyPr/>
          <a:lstStyle/>
          <a:p>
            <a:r>
              <a:rPr lang="de-DE" dirty="0"/>
              <a:t>Aggregation</a:t>
            </a:r>
          </a:p>
        </p:txBody>
      </p:sp>
      <p:pic>
        <p:nvPicPr>
          <p:cNvPr id="5" name="Inhaltsplatzhalter 4">
            <a:extLst>
              <a:ext uri="{FF2B5EF4-FFF2-40B4-BE49-F238E27FC236}">
                <a16:creationId xmlns:a16="http://schemas.microsoft.com/office/drawing/2014/main" id="{49C32902-CFC9-D5D3-7A70-EBAF2CA22BF1}"/>
              </a:ext>
            </a:extLst>
          </p:cNvPr>
          <p:cNvPicPr>
            <a:picLocks noGrp="1" noChangeAspect="1"/>
          </p:cNvPicPr>
          <p:nvPr>
            <p:ph idx="1"/>
          </p:nvPr>
        </p:nvPicPr>
        <p:blipFill>
          <a:blip r:embed="rId3"/>
          <a:stretch>
            <a:fillRect/>
          </a:stretch>
        </p:blipFill>
        <p:spPr>
          <a:xfrm>
            <a:off x="4076770" y="1825625"/>
            <a:ext cx="4038459" cy="4351338"/>
          </a:xfrm>
          <a:prstGeom prst="rect">
            <a:avLst/>
          </a:prstGeom>
        </p:spPr>
      </p:pic>
    </p:spTree>
    <p:extLst>
      <p:ext uri="{BB962C8B-B14F-4D97-AF65-F5344CB8AC3E}">
        <p14:creationId xmlns:p14="http://schemas.microsoft.com/office/powerpoint/2010/main" val="1160368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660736-64BB-79E0-67FC-F6CEF300FEB3}"/>
              </a:ext>
            </a:extLst>
          </p:cNvPr>
          <p:cNvSpPr>
            <a:spLocks noGrp="1"/>
          </p:cNvSpPr>
          <p:nvPr>
            <p:ph type="title"/>
          </p:nvPr>
        </p:nvSpPr>
        <p:spPr/>
        <p:txBody>
          <a:bodyPr/>
          <a:lstStyle/>
          <a:p>
            <a:r>
              <a:rPr lang="de-DE" dirty="0"/>
              <a:t>Ergebnis: Neue Granularität</a:t>
            </a:r>
          </a:p>
        </p:txBody>
      </p:sp>
      <p:sp>
        <p:nvSpPr>
          <p:cNvPr id="3" name="Inhaltsplatzhalter 2">
            <a:extLst>
              <a:ext uri="{FF2B5EF4-FFF2-40B4-BE49-F238E27FC236}">
                <a16:creationId xmlns:a16="http://schemas.microsoft.com/office/drawing/2014/main" id="{9D50097A-DB49-9934-77DF-CEA4F4B37CC3}"/>
              </a:ext>
            </a:extLst>
          </p:cNvPr>
          <p:cNvSpPr>
            <a:spLocks noGrp="1"/>
          </p:cNvSpPr>
          <p:nvPr>
            <p:ph idx="1"/>
          </p:nvPr>
        </p:nvSpPr>
        <p:spPr/>
        <p:txBody>
          <a:bodyPr/>
          <a:lstStyle/>
          <a:p>
            <a:pPr marL="0" indent="0">
              <a:buNone/>
            </a:pPr>
            <a:r>
              <a:rPr lang="de-DE" b="1" dirty="0"/>
              <a:t>Erkenntnisse</a:t>
            </a:r>
            <a:endParaRPr lang="de-DE" dirty="0"/>
          </a:p>
          <a:p>
            <a:pPr lvl="0"/>
            <a:r>
              <a:rPr lang="de-DE" dirty="0"/>
              <a:t>Aggregatfunktionen verdichten mehrere Datensätze </a:t>
            </a:r>
          </a:p>
          <a:p>
            <a:pPr lvl="0"/>
            <a:r>
              <a:rPr lang="de-DE" dirty="0"/>
              <a:t>GROUP BY bestimmt die Granularität des Ergebnisses </a:t>
            </a:r>
          </a:p>
          <a:p>
            <a:pPr lvl="0"/>
            <a:r>
              <a:rPr lang="de-DE" dirty="0"/>
              <a:t>Nicht aggregierte Elemente müssen gruppiert werden </a:t>
            </a:r>
          </a:p>
          <a:p>
            <a:pPr lvl="0"/>
            <a:r>
              <a:rPr lang="de-DE" dirty="0"/>
              <a:t>Die Granularität der Datenquelle bestimmt die Bedeutung von </a:t>
            </a:r>
            <a:r>
              <a:rPr lang="de-DE" dirty="0" err="1"/>
              <a:t>count</a:t>
            </a:r>
            <a:r>
              <a:rPr lang="de-DE" dirty="0"/>
              <a:t> </a:t>
            </a:r>
          </a:p>
          <a:p>
            <a:pPr lvl="0"/>
            <a:r>
              <a:rPr lang="de-DE" dirty="0"/>
              <a:t>Beträge müssen nach Währung getrennt aggregiert werden </a:t>
            </a:r>
          </a:p>
          <a:p>
            <a:pPr lvl="0"/>
            <a:r>
              <a:rPr lang="de-DE" dirty="0"/>
              <a:t>WHERE filtert vor, HAVING nach der Aggregation</a:t>
            </a:r>
          </a:p>
          <a:p>
            <a:endParaRPr lang="de-DE" dirty="0"/>
          </a:p>
        </p:txBody>
      </p:sp>
    </p:spTree>
    <p:extLst>
      <p:ext uri="{BB962C8B-B14F-4D97-AF65-F5344CB8AC3E}">
        <p14:creationId xmlns:p14="http://schemas.microsoft.com/office/powerpoint/2010/main" val="3023016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680791-7960-4616-8281-2D00CDFC720D}"/>
              </a:ext>
            </a:extLst>
          </p:cNvPr>
          <p:cNvSpPr>
            <a:spLocks noGrp="1"/>
          </p:cNvSpPr>
          <p:nvPr>
            <p:ph type="title"/>
          </p:nvPr>
        </p:nvSpPr>
        <p:spPr/>
        <p:txBody>
          <a:bodyPr/>
          <a:lstStyle/>
          <a:p>
            <a:r>
              <a:rPr lang="de-DE" dirty="0"/>
              <a:t>Ergebnismengen vereinigen</a:t>
            </a:r>
          </a:p>
        </p:txBody>
      </p:sp>
      <p:sp>
        <p:nvSpPr>
          <p:cNvPr id="3" name="Inhaltsplatzhalter 2">
            <a:extLst>
              <a:ext uri="{FF2B5EF4-FFF2-40B4-BE49-F238E27FC236}">
                <a16:creationId xmlns:a16="http://schemas.microsoft.com/office/drawing/2014/main" id="{030E0636-CA6C-FC84-8AA5-1ACA0751B5A9}"/>
              </a:ext>
            </a:extLst>
          </p:cNvPr>
          <p:cNvSpPr>
            <a:spLocks noGrp="1"/>
          </p:cNvSpPr>
          <p:nvPr>
            <p:ph idx="1"/>
          </p:nvPr>
        </p:nvSpPr>
        <p:spPr/>
        <p:txBody>
          <a:bodyPr>
            <a:normAutofit/>
          </a:bodyPr>
          <a:lstStyle/>
          <a:p>
            <a:pPr marL="0" indent="0">
              <a:buNone/>
            </a:pPr>
            <a:r>
              <a:rPr lang="de-DE" dirty="0"/>
              <a:t>Ein </a:t>
            </a:r>
            <a:r>
              <a:rPr lang="de-DE" dirty="0" err="1"/>
              <a:t>Join</a:t>
            </a:r>
            <a:r>
              <a:rPr lang="de-DE" dirty="0"/>
              <a:t> erweitert eine Zeile um zusätzliche Spalten:</a:t>
            </a:r>
          </a:p>
          <a:p>
            <a:pPr marL="457200" lvl="1" indent="0">
              <a:buNone/>
            </a:pPr>
            <a:r>
              <a:rPr lang="de-DE" dirty="0"/>
              <a:t>Auftrag  +  Kunde</a:t>
            </a:r>
          </a:p>
          <a:p>
            <a:pPr marL="457200" lvl="1" indent="0">
              <a:buNone/>
            </a:pPr>
            <a:r>
              <a:rPr lang="de-DE" dirty="0"/>
              <a:t>   → breitere Ergebniszeile</a:t>
            </a:r>
          </a:p>
          <a:p>
            <a:pPr marL="0" indent="0">
              <a:buNone/>
            </a:pPr>
            <a:r>
              <a:rPr lang="de-DE" dirty="0"/>
              <a:t>Ein UNION verbindet mehrere Ergebnismengen:</a:t>
            </a:r>
          </a:p>
          <a:p>
            <a:pPr marL="457200" lvl="1" indent="0">
              <a:buNone/>
            </a:pPr>
            <a:r>
              <a:rPr lang="de-DE" dirty="0"/>
              <a:t>Positionen ohne Rabatt</a:t>
            </a:r>
          </a:p>
          <a:p>
            <a:pPr marL="457200" lvl="1" indent="0">
              <a:buNone/>
            </a:pPr>
            <a:r>
              <a:rPr lang="de-DE" dirty="0"/>
              <a:t>          +</a:t>
            </a:r>
          </a:p>
          <a:p>
            <a:pPr marL="457200" lvl="1" indent="0">
              <a:buNone/>
            </a:pPr>
            <a:r>
              <a:rPr lang="de-DE" dirty="0"/>
              <a:t>Positionen mit Rabatt</a:t>
            </a:r>
          </a:p>
          <a:p>
            <a:pPr marL="457200" lvl="1" indent="0">
              <a:buNone/>
            </a:pPr>
            <a:r>
              <a:rPr lang="de-DE" dirty="0"/>
              <a:t>          ↓</a:t>
            </a:r>
          </a:p>
          <a:p>
            <a:pPr marL="457200" lvl="1" indent="0">
              <a:buNone/>
            </a:pPr>
            <a:r>
              <a:rPr lang="de-DE" dirty="0"/>
              <a:t>gemeinsame Ergebnismenge</a:t>
            </a:r>
          </a:p>
          <a:p>
            <a:pPr marL="0" indent="0">
              <a:buNone/>
            </a:pPr>
            <a:r>
              <a:rPr lang="de-DE" dirty="0"/>
              <a:t>Beide Teilabfragen benötigen dieselbe Struktur</a:t>
            </a:r>
          </a:p>
          <a:p>
            <a:endParaRPr lang="de-DE" dirty="0"/>
          </a:p>
        </p:txBody>
      </p:sp>
    </p:spTree>
    <p:extLst>
      <p:ext uri="{BB962C8B-B14F-4D97-AF65-F5344CB8AC3E}">
        <p14:creationId xmlns:p14="http://schemas.microsoft.com/office/powerpoint/2010/main" val="900885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07DBB7-493F-2CB8-4AF6-AB9BE50A53DE}"/>
              </a:ext>
            </a:extLst>
          </p:cNvPr>
          <p:cNvSpPr>
            <a:spLocks noGrp="1"/>
          </p:cNvSpPr>
          <p:nvPr>
            <p:ph type="title"/>
          </p:nvPr>
        </p:nvSpPr>
        <p:spPr/>
        <p:txBody>
          <a:bodyPr/>
          <a:lstStyle/>
          <a:p>
            <a:r>
              <a:rPr lang="de-DE" dirty="0"/>
              <a:t>UNION oder UNION ALL?</a:t>
            </a:r>
          </a:p>
        </p:txBody>
      </p:sp>
      <p:sp>
        <p:nvSpPr>
          <p:cNvPr id="3" name="Inhaltsplatzhalter 2">
            <a:extLst>
              <a:ext uri="{FF2B5EF4-FFF2-40B4-BE49-F238E27FC236}">
                <a16:creationId xmlns:a16="http://schemas.microsoft.com/office/drawing/2014/main" id="{9EB79455-31F6-9B25-DDD2-D4E3A4113F21}"/>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UNION</a:t>
            </a:r>
            <a:r>
              <a:rPr lang="de-DE" dirty="0"/>
              <a:t> entfernt doppelte Ergebniszeilen:</a:t>
            </a:r>
          </a:p>
          <a:p>
            <a:pPr marL="457200" lvl="1" indent="0">
              <a:buNone/>
            </a:pP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r>
              <a:rPr lang="de-DE" dirty="0" err="1">
                <a:latin typeface="Courier New" panose="02070309020205020404" pitchFamily="49" charset="0"/>
                <a:cs typeface="Courier New" panose="02070309020205020404" pitchFamily="49" charset="0"/>
              </a:rPr>
              <a:t>SourceA</a:t>
            </a:r>
            <a:r>
              <a:rPr lang="de-DE" dirty="0">
                <a:latin typeface="Courier New" panose="02070309020205020404" pitchFamily="49" charset="0"/>
                <a:cs typeface="Courier New" panose="02070309020205020404" pitchFamily="49" charset="0"/>
              </a:rPr>
              <a:t> { ... }</a:t>
            </a:r>
          </a:p>
          <a:p>
            <a:pPr marL="457200" lvl="1" indent="0">
              <a:buNone/>
            </a:pPr>
            <a:r>
              <a:rPr lang="de-DE" dirty="0" err="1">
                <a:latin typeface="Courier New" panose="02070309020205020404" pitchFamily="49" charset="0"/>
                <a:cs typeface="Courier New" panose="02070309020205020404" pitchFamily="49" charset="0"/>
              </a:rPr>
              <a:t>union</a:t>
            </a:r>
            <a:endParaRPr lang="de-DE"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r>
              <a:rPr lang="de-DE" dirty="0" err="1">
                <a:latin typeface="Courier New" panose="02070309020205020404" pitchFamily="49" charset="0"/>
                <a:cs typeface="Courier New" panose="02070309020205020404" pitchFamily="49" charset="0"/>
              </a:rPr>
              <a:t>SourceB</a:t>
            </a:r>
            <a:r>
              <a:rPr lang="de-DE" dirty="0">
                <a:latin typeface="Courier New" panose="02070309020205020404" pitchFamily="49" charset="0"/>
                <a:cs typeface="Courier New" panose="02070309020205020404" pitchFamily="49" charset="0"/>
              </a:rPr>
              <a:t> { ... }</a:t>
            </a:r>
          </a:p>
          <a:p>
            <a:pPr marL="0" indent="0">
              <a:buNone/>
            </a:pP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UNION ALL</a:t>
            </a:r>
            <a:r>
              <a:rPr lang="de-DE" dirty="0"/>
              <a:t> übernimmt alle Ergebniszeilen:</a:t>
            </a:r>
          </a:p>
          <a:p>
            <a:pPr marL="457200" lvl="1" indent="0">
              <a:buNone/>
            </a:pP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r>
              <a:rPr lang="de-DE" dirty="0" err="1">
                <a:latin typeface="Courier New" panose="02070309020205020404" pitchFamily="49" charset="0"/>
                <a:cs typeface="Courier New" panose="02070309020205020404" pitchFamily="49" charset="0"/>
              </a:rPr>
              <a:t>SourceA</a:t>
            </a:r>
            <a:r>
              <a:rPr lang="de-DE" dirty="0">
                <a:latin typeface="Courier New" panose="02070309020205020404" pitchFamily="49" charset="0"/>
                <a:cs typeface="Courier New" panose="02070309020205020404" pitchFamily="49" charset="0"/>
              </a:rPr>
              <a:t> { ... }</a:t>
            </a:r>
          </a:p>
          <a:p>
            <a:pPr marL="457200" lvl="1" indent="0">
              <a:buNone/>
            </a:pPr>
            <a:r>
              <a:rPr lang="de-DE" dirty="0" err="1">
                <a:latin typeface="Courier New" panose="02070309020205020404" pitchFamily="49" charset="0"/>
                <a:cs typeface="Courier New" panose="02070309020205020404" pitchFamily="49" charset="0"/>
              </a:rPr>
              <a:t>union</a:t>
            </a:r>
            <a:r>
              <a:rPr lang="de-DE" dirty="0">
                <a:latin typeface="Courier New" panose="02070309020205020404" pitchFamily="49" charset="0"/>
                <a:cs typeface="Courier New" panose="02070309020205020404" pitchFamily="49" charset="0"/>
              </a:rPr>
              <a:t> all</a:t>
            </a:r>
          </a:p>
          <a:p>
            <a:pPr marL="457200" lvl="1" indent="0">
              <a:buNone/>
            </a:pP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r>
              <a:rPr lang="de-DE" dirty="0" err="1">
                <a:latin typeface="Courier New" panose="02070309020205020404" pitchFamily="49" charset="0"/>
                <a:cs typeface="Courier New" panose="02070309020205020404" pitchFamily="49" charset="0"/>
              </a:rPr>
              <a:t>SourceB</a:t>
            </a:r>
            <a:r>
              <a:rPr lang="de-DE" dirty="0">
                <a:latin typeface="Courier New" panose="02070309020205020404" pitchFamily="49" charset="0"/>
                <a:cs typeface="Courier New" panose="02070309020205020404" pitchFamily="49" charset="0"/>
              </a:rPr>
              <a:t> { ... }</a:t>
            </a:r>
          </a:p>
          <a:p>
            <a:pPr marL="0" indent="0">
              <a:buNone/>
            </a:pPr>
            <a:endParaRPr lang="de-DE" dirty="0"/>
          </a:p>
        </p:txBody>
      </p:sp>
    </p:spTree>
    <p:extLst>
      <p:ext uri="{BB962C8B-B14F-4D97-AF65-F5344CB8AC3E}">
        <p14:creationId xmlns:p14="http://schemas.microsoft.com/office/powerpoint/2010/main" val="1500470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706142-9EF4-E8AA-D1C5-34CA8756F77C}"/>
              </a:ext>
            </a:extLst>
          </p:cNvPr>
          <p:cNvSpPr>
            <a:spLocks noGrp="1"/>
          </p:cNvSpPr>
          <p:nvPr>
            <p:ph type="title"/>
          </p:nvPr>
        </p:nvSpPr>
        <p:spPr/>
        <p:txBody>
          <a:bodyPr/>
          <a:lstStyle/>
          <a:p>
            <a:r>
              <a:rPr lang="de-DE" dirty="0"/>
              <a:t>Kompatible Elementlisten</a:t>
            </a:r>
          </a:p>
        </p:txBody>
      </p:sp>
      <p:sp>
        <p:nvSpPr>
          <p:cNvPr id="4" name="Inhaltsplatzhalter 3">
            <a:extLst>
              <a:ext uri="{FF2B5EF4-FFF2-40B4-BE49-F238E27FC236}">
                <a16:creationId xmlns:a16="http://schemas.microsoft.com/office/drawing/2014/main" id="{C80F9FC0-AACC-BAC6-F6D6-F74F59F38133}"/>
              </a:ext>
            </a:extLst>
          </p:cNvPr>
          <p:cNvSpPr>
            <a:spLocks noGrp="1"/>
          </p:cNvSpPr>
          <p:nvPr>
            <p:ph sz="half" idx="1"/>
          </p:nvPr>
        </p:nvSpPr>
        <p:spPr/>
        <p:txBody>
          <a:bodyPr>
            <a:normAutofit fontScale="47500" lnSpcReduction="20000"/>
          </a:bodyPr>
          <a:lstStyle/>
          <a:p>
            <a:pPr marL="0" indent="0">
              <a:buNone/>
            </a:pPr>
            <a:r>
              <a:rPr lang="de-DE" sz="5100" dirty="0"/>
              <a:t>Die Zuordnung erfolgt nach Position:</a:t>
            </a:r>
          </a:p>
          <a:p>
            <a:pPr marL="0" indent="0">
              <a:buNone/>
            </a:pPr>
            <a:r>
              <a:rPr lang="de-DE" dirty="0"/>
              <a:t>{</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 1</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                         // 2</a:t>
            </a:r>
          </a:p>
          <a:p>
            <a:pPr marL="0" indent="0">
              <a:buNone/>
            </a:pPr>
            <a:r>
              <a:rPr lang="de-DE" dirty="0">
                <a:latin typeface="Courier New" panose="02070309020205020404" pitchFamily="49" charset="0"/>
                <a:cs typeface="Courier New" panose="02070309020205020404" pitchFamily="49" charset="0"/>
              </a:rPr>
              <a:t>  cast( 'WITHOUT_DISCOUNT'</a:t>
            </a:r>
          </a:p>
          <a:p>
            <a:pPr marL="0"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( 20 ) )</a:t>
            </a:r>
          </a:p>
          <a:p>
            <a:pPr marL="0"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ItemCategory</a:t>
            </a:r>
            <a:r>
              <a:rPr lang="de-DE" dirty="0">
                <a:latin typeface="Courier New" panose="02070309020205020404" pitchFamily="49" charset="0"/>
                <a:cs typeface="Courier New" panose="02070309020205020404" pitchFamily="49" charset="0"/>
              </a:rPr>
              <a:t>                   // 3</a:t>
            </a:r>
          </a:p>
          <a:p>
            <a:pPr marL="0" indent="0">
              <a:buNone/>
            </a:pPr>
            <a:r>
              <a:rPr lang="de-DE" dirty="0">
                <a:latin typeface="Courier New" panose="02070309020205020404" pitchFamily="49" charset="0"/>
                <a:cs typeface="Courier New" panose="02070309020205020404" pitchFamily="49" charset="0"/>
              </a:rPr>
              <a:t>}</a:t>
            </a:r>
          </a:p>
          <a:p>
            <a:pPr marL="0" indent="0">
              <a:buNone/>
            </a:pPr>
            <a:r>
              <a:rPr lang="de-DE" dirty="0" err="1">
                <a:latin typeface="Courier New" panose="02070309020205020404" pitchFamily="49" charset="0"/>
                <a:cs typeface="Courier New" panose="02070309020205020404" pitchFamily="49" charset="0"/>
              </a:rPr>
              <a:t>union</a:t>
            </a:r>
            <a:r>
              <a:rPr lang="de-DE" dirty="0">
                <a:latin typeface="Courier New" panose="02070309020205020404" pitchFamily="49" charset="0"/>
                <a:cs typeface="Courier New" panose="02070309020205020404" pitchFamily="49" charset="0"/>
              </a:rPr>
              <a:t> all </a:t>
            </a:r>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p>
          <a:p>
            <a:pPr marL="0" indent="0">
              <a:buNone/>
            </a:pP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 1</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                         // 2</a:t>
            </a:r>
          </a:p>
          <a:p>
            <a:pPr marL="0" indent="0">
              <a:buNone/>
            </a:pPr>
            <a:r>
              <a:rPr lang="de-DE" dirty="0">
                <a:latin typeface="Courier New" panose="02070309020205020404" pitchFamily="49" charset="0"/>
                <a:cs typeface="Courier New" panose="02070309020205020404" pitchFamily="49" charset="0"/>
              </a:rPr>
              <a:t>  cast( 'WITH_DISCOUNT'</a:t>
            </a:r>
          </a:p>
          <a:p>
            <a:pPr marL="0"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( 20 ) )         // 3</a:t>
            </a:r>
          </a:p>
          <a:p>
            <a:pPr marL="0" indent="0">
              <a:buNone/>
            </a:pPr>
            <a:r>
              <a:rPr lang="de-DE" dirty="0">
                <a:latin typeface="Courier New" panose="02070309020205020404" pitchFamily="49" charset="0"/>
                <a:cs typeface="Courier New" panose="02070309020205020404" pitchFamily="49" charset="0"/>
              </a:rPr>
              <a:t>}</a:t>
            </a:r>
          </a:p>
          <a:p>
            <a:pPr marL="0" indent="0">
              <a:buNone/>
            </a:pPr>
            <a:endParaRPr lang="de-DE" dirty="0">
              <a:latin typeface="Courier New" panose="02070309020205020404" pitchFamily="49" charset="0"/>
              <a:cs typeface="Courier New" panose="02070309020205020404" pitchFamily="49" charset="0"/>
            </a:endParaRPr>
          </a:p>
        </p:txBody>
      </p:sp>
      <p:sp>
        <p:nvSpPr>
          <p:cNvPr id="5" name="Inhaltsplatzhalter 4">
            <a:extLst>
              <a:ext uri="{FF2B5EF4-FFF2-40B4-BE49-F238E27FC236}">
                <a16:creationId xmlns:a16="http://schemas.microsoft.com/office/drawing/2014/main" id="{58A87A6A-008B-53C1-E86F-FA131B6F07F8}"/>
              </a:ext>
            </a:extLst>
          </p:cNvPr>
          <p:cNvSpPr>
            <a:spLocks noGrp="1"/>
          </p:cNvSpPr>
          <p:nvPr>
            <p:ph sz="half" idx="2"/>
          </p:nvPr>
        </p:nvSpPr>
        <p:spPr/>
        <p:txBody>
          <a:bodyPr>
            <a:normAutofit fontScale="47500" lnSpcReduction="20000"/>
          </a:bodyPr>
          <a:lstStyle/>
          <a:p>
            <a:pPr marL="0" indent="0">
              <a:buNone/>
            </a:pPr>
            <a:r>
              <a:rPr lang="de-DE" sz="5900" dirty="0"/>
              <a:t>Erforderlich sind:</a:t>
            </a:r>
          </a:p>
          <a:p>
            <a:pPr lvl="0"/>
            <a:r>
              <a:rPr lang="de-DE" sz="5900" dirty="0"/>
              <a:t>dieselbe Anzahl von Elementen </a:t>
            </a:r>
          </a:p>
          <a:p>
            <a:pPr lvl="0"/>
            <a:r>
              <a:rPr lang="de-DE" sz="5900" dirty="0"/>
              <a:t>dieselbe fachliche Reihenfolge </a:t>
            </a:r>
          </a:p>
          <a:p>
            <a:pPr lvl="0"/>
            <a:r>
              <a:rPr lang="de-DE" sz="5900" dirty="0"/>
              <a:t>kompatible Datentypen </a:t>
            </a:r>
          </a:p>
          <a:p>
            <a:pPr lvl="0"/>
            <a:r>
              <a:rPr lang="de-DE" sz="5900" dirty="0"/>
              <a:t>passende Längen und Dezimalstellen </a:t>
            </a:r>
          </a:p>
          <a:p>
            <a:pPr lvl="0"/>
            <a:r>
              <a:rPr lang="de-DE" sz="5900" dirty="0"/>
              <a:t>übereinstimmende Semantik</a:t>
            </a:r>
          </a:p>
        </p:txBody>
      </p:sp>
    </p:spTree>
    <p:extLst>
      <p:ext uri="{BB962C8B-B14F-4D97-AF65-F5344CB8AC3E}">
        <p14:creationId xmlns:p14="http://schemas.microsoft.com/office/powerpoint/2010/main" val="1532596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0D43D8-0442-3824-B381-51AC303776E4}"/>
              </a:ext>
            </a:extLst>
          </p:cNvPr>
          <p:cNvSpPr>
            <a:spLocks noGrp="1"/>
          </p:cNvSpPr>
          <p:nvPr>
            <p:ph type="title"/>
          </p:nvPr>
        </p:nvSpPr>
        <p:spPr/>
        <p:txBody>
          <a:bodyPr/>
          <a:lstStyle/>
          <a:p>
            <a:r>
              <a:rPr lang="de-DE" dirty="0"/>
              <a:t>Herkunft einer Ergebniszeile kennzeichnen</a:t>
            </a:r>
          </a:p>
        </p:txBody>
      </p:sp>
      <p:sp>
        <p:nvSpPr>
          <p:cNvPr id="3" name="Inhaltsplatzhalter 2">
            <a:extLst>
              <a:ext uri="{FF2B5EF4-FFF2-40B4-BE49-F238E27FC236}">
                <a16:creationId xmlns:a16="http://schemas.microsoft.com/office/drawing/2014/main" id="{B9F9B78F-5231-FF7B-9770-E32C81279DF1}"/>
              </a:ext>
            </a:extLst>
          </p:cNvPr>
          <p:cNvSpPr>
            <a:spLocks noGrp="1"/>
          </p:cNvSpPr>
          <p:nvPr>
            <p:ph idx="1"/>
          </p:nvPr>
        </p:nvSpPr>
        <p:spPr/>
        <p:txBody>
          <a:bodyPr>
            <a:normAutofit lnSpcReduction="10000"/>
          </a:bodyPr>
          <a:lstStyle/>
          <a:p>
            <a:pPr marL="0" indent="0">
              <a:buNone/>
            </a:pPr>
            <a:r>
              <a:rPr lang="de-DE" dirty="0"/>
              <a:t>Konstante Werte ergänzen die Herkunft:</a:t>
            </a:r>
          </a:p>
          <a:p>
            <a:pPr marL="457200" lvl="1" indent="0">
              <a:buNone/>
            </a:pPr>
            <a:r>
              <a:rPr lang="de-DE" dirty="0">
                <a:latin typeface="Courier New" panose="02070309020205020404" pitchFamily="49" charset="0"/>
                <a:cs typeface="Courier New" panose="02070309020205020404" pitchFamily="49" charset="0"/>
              </a:rPr>
              <a:t>cast(</a:t>
            </a:r>
          </a:p>
          <a:p>
            <a:pPr marL="457200" lvl="1" indent="0">
              <a:buNone/>
            </a:pPr>
            <a:r>
              <a:rPr lang="de-DE" dirty="0">
                <a:latin typeface="Courier New" panose="02070309020205020404" pitchFamily="49" charset="0"/>
                <a:cs typeface="Courier New" panose="02070309020205020404" pitchFamily="49" charset="0"/>
              </a:rPr>
              <a:t>  'Online'</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( 20 )</a:t>
            </a: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SalesChannel</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Zweiter Zweig:</a:t>
            </a:r>
          </a:p>
          <a:p>
            <a:pPr marL="457200" lvl="1" indent="0">
              <a:buNone/>
            </a:pPr>
            <a:r>
              <a:rPr lang="de-DE" dirty="0">
                <a:latin typeface="Courier New" panose="02070309020205020404" pitchFamily="49" charset="0"/>
                <a:cs typeface="Courier New" panose="02070309020205020404" pitchFamily="49" charset="0"/>
              </a:rPr>
              <a:t>cast(</a:t>
            </a:r>
          </a:p>
          <a:p>
            <a:pPr marL="457200" lvl="1" indent="0">
              <a:buNone/>
            </a:pP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Direct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sales'</a:t>
            </a:r>
            <a:endParaRPr lang="de-DE" dirty="0">
              <a:latin typeface="Courier New" panose="02070309020205020404" pitchFamily="49" charset="0"/>
              <a:cs typeface="Courier New" panose="02070309020205020404" pitchFamily="49" charset="0"/>
            </a:endParaRPr>
          </a:p>
          <a:p>
            <a:pPr marL="457200" lvl="1" indent="0">
              <a:buNone/>
            </a:pPr>
            <a:r>
              <a:rPr lang="de-DE" dirty="0">
                <a:latin typeface="Courier New" panose="02070309020205020404" pitchFamily="49" charset="0"/>
                <a:cs typeface="Courier New" panose="02070309020205020404" pitchFamily="49" charset="0"/>
              </a:rPr>
              <a:t>  as </a:t>
            </a:r>
            <a:r>
              <a:rPr lang="de-DE" dirty="0" err="1">
                <a:latin typeface="Courier New" panose="02070309020205020404" pitchFamily="49" charset="0"/>
                <a:cs typeface="Courier New" panose="02070309020205020404" pitchFamily="49" charset="0"/>
              </a:rPr>
              <a:t>abap.char</a:t>
            </a:r>
            <a:r>
              <a:rPr lang="de-DE" dirty="0">
                <a:latin typeface="Courier New" panose="02070309020205020404" pitchFamily="49" charset="0"/>
                <a:cs typeface="Courier New" panose="02070309020205020404" pitchFamily="49" charset="0"/>
              </a:rPr>
              <a:t>( 20 )</a:t>
            </a:r>
          </a:p>
          <a:p>
            <a:pPr marL="457200" lvl="1" indent="0">
              <a:buNone/>
            </a:pPr>
            <a:r>
              <a:rPr lang="de-DE" dirty="0">
                <a:latin typeface="Courier New" panose="02070309020205020404" pitchFamily="49" charset="0"/>
                <a:cs typeface="Courier New" panose="02070309020205020404" pitchFamily="49" charset="0"/>
              </a:rPr>
              <a:t>)</a:t>
            </a:r>
          </a:p>
          <a:p>
            <a:pPr marL="0" indent="0">
              <a:buNone/>
            </a:pPr>
            <a:endParaRPr lang="de-DE" dirty="0"/>
          </a:p>
        </p:txBody>
      </p:sp>
    </p:spTree>
    <p:extLst>
      <p:ext uri="{BB962C8B-B14F-4D97-AF65-F5344CB8AC3E}">
        <p14:creationId xmlns:p14="http://schemas.microsoft.com/office/powerpoint/2010/main" val="2984833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9A18BB-F275-CE49-6304-B02CF74D95A6}"/>
              </a:ext>
            </a:extLst>
          </p:cNvPr>
          <p:cNvSpPr>
            <a:spLocks noGrp="1"/>
          </p:cNvSpPr>
          <p:nvPr>
            <p:ph type="title"/>
          </p:nvPr>
        </p:nvSpPr>
        <p:spPr/>
        <p:txBody>
          <a:bodyPr/>
          <a:lstStyle/>
          <a:p>
            <a:r>
              <a:rPr lang="de-DE" dirty="0"/>
              <a:t>Live-Coding 5: </a:t>
            </a:r>
            <a:br>
              <a:rPr lang="de-DE" dirty="0"/>
            </a:br>
            <a:r>
              <a:rPr lang="de-DE" dirty="0"/>
              <a:t>Positionstypen zusammenführen</a:t>
            </a:r>
          </a:p>
        </p:txBody>
      </p:sp>
      <p:sp>
        <p:nvSpPr>
          <p:cNvPr id="3" name="Inhaltsplatzhalter 2">
            <a:extLst>
              <a:ext uri="{FF2B5EF4-FFF2-40B4-BE49-F238E27FC236}">
                <a16:creationId xmlns:a16="http://schemas.microsoft.com/office/drawing/2014/main" id="{6CF18562-A3DA-83AE-72A9-04C909063C20}"/>
              </a:ext>
            </a:extLst>
          </p:cNvPr>
          <p:cNvSpPr>
            <a:spLocks noGrp="1"/>
          </p:cNvSpPr>
          <p:nvPr>
            <p:ph idx="1"/>
          </p:nvPr>
        </p:nvSpPr>
        <p:spPr/>
        <p:txBody>
          <a:bodyPr/>
          <a:lstStyle/>
          <a:p>
            <a:pPr marL="0" indent="0">
              <a:buNone/>
            </a:pPr>
            <a:r>
              <a:rPr lang="de-DE" dirty="0"/>
              <a:t>Neue View Entity:</a:t>
            </a:r>
          </a:p>
          <a:p>
            <a:pPr marL="457200" lvl="1" indent="0">
              <a:buNone/>
            </a:pPr>
            <a:r>
              <a:rPr lang="de-DE" dirty="0" err="1">
                <a:latin typeface="Courier New" panose="02070309020205020404" pitchFamily="49" charset="0"/>
                <a:cs typeface="Courier New" panose="02070309020205020404" pitchFamily="49" charset="0"/>
              </a:rPr>
              <a:t>ZI_CDSOrderUnion</a:t>
            </a:r>
            <a:endParaRPr lang="de-DE" dirty="0">
              <a:latin typeface="Courier New" panose="02070309020205020404" pitchFamily="49" charset="0"/>
              <a:cs typeface="Courier New" panose="02070309020205020404" pitchFamily="49" charset="0"/>
            </a:endParaRPr>
          </a:p>
          <a:p>
            <a:pPr marL="0" indent="0">
              <a:buNone/>
            </a:pPr>
            <a:r>
              <a:rPr lang="de-DE" dirty="0"/>
              <a:t>Erster Zweig:</a:t>
            </a:r>
          </a:p>
          <a:p>
            <a:pPr marL="457200" lvl="1" indent="0">
              <a:buNone/>
            </a:pPr>
            <a:r>
              <a:rPr lang="de-DE" dirty="0" err="1">
                <a:latin typeface="Courier New" panose="02070309020205020404" pitchFamily="49" charset="0"/>
                <a:cs typeface="Courier New" panose="02070309020205020404" pitchFamily="49" charset="0"/>
              </a:rPr>
              <a:t>OrderType</a:t>
            </a:r>
            <a:r>
              <a:rPr lang="de-DE" dirty="0">
                <a:latin typeface="Courier New" panose="02070309020205020404" pitchFamily="49" charset="0"/>
                <a:cs typeface="Courier New" panose="02070309020205020404" pitchFamily="49" charset="0"/>
              </a:rPr>
              <a:t> = 'O'</a:t>
            </a:r>
          </a:p>
          <a:p>
            <a:pPr marL="457200" lvl="1" indent="0">
              <a:buNone/>
            </a:pPr>
            <a:r>
              <a:rPr lang="de-DE" dirty="0" err="1">
                <a:latin typeface="Courier New" panose="02070309020205020404" pitchFamily="49" charset="0"/>
                <a:cs typeface="Courier New" panose="02070309020205020404" pitchFamily="49" charset="0"/>
              </a:rPr>
              <a:t>SalesChannel</a:t>
            </a:r>
            <a:r>
              <a:rPr lang="de-DE" dirty="0">
                <a:latin typeface="Courier New" panose="02070309020205020404" pitchFamily="49" charset="0"/>
                <a:cs typeface="Courier New" panose="02070309020205020404" pitchFamily="49" charset="0"/>
              </a:rPr>
              <a:t> = 'Online'</a:t>
            </a:r>
          </a:p>
          <a:p>
            <a:pPr marL="0" indent="0">
              <a:buNone/>
            </a:pPr>
            <a:r>
              <a:rPr lang="de-DE" dirty="0"/>
              <a:t>Zweiter Zweig:</a:t>
            </a:r>
          </a:p>
          <a:p>
            <a:pPr marL="457200" lvl="1" indent="0">
              <a:buNone/>
            </a:pPr>
            <a:r>
              <a:rPr lang="de-DE" dirty="0" err="1">
                <a:latin typeface="Courier New" panose="02070309020205020404" pitchFamily="49" charset="0"/>
                <a:cs typeface="Courier New" panose="02070309020205020404" pitchFamily="49" charset="0"/>
              </a:rPr>
              <a:t>OrderType</a:t>
            </a:r>
            <a:r>
              <a:rPr lang="de-DE" dirty="0">
                <a:latin typeface="Courier New" panose="02070309020205020404" pitchFamily="49" charset="0"/>
                <a:cs typeface="Courier New" panose="02070309020205020404" pitchFamily="49" charset="0"/>
              </a:rPr>
              <a:t> = 'D'</a:t>
            </a:r>
          </a:p>
          <a:p>
            <a:pPr marL="457200" lvl="1" indent="0">
              <a:buNone/>
            </a:pPr>
            <a:r>
              <a:rPr lang="de-DE" dirty="0" err="1">
                <a:latin typeface="Courier New" panose="02070309020205020404" pitchFamily="49" charset="0"/>
                <a:cs typeface="Courier New" panose="02070309020205020404" pitchFamily="49" charset="0"/>
              </a:rPr>
              <a:t>SalesChannel</a:t>
            </a:r>
            <a:r>
              <a:rPr lang="de-DE" dirty="0">
                <a:latin typeface="Courier New" panose="02070309020205020404" pitchFamily="49" charset="0"/>
                <a:cs typeface="Courier New" panose="02070309020205020404" pitchFamily="49" charset="0"/>
              </a:rPr>
              <a:t> = '</a:t>
            </a:r>
            <a:r>
              <a:rPr lang="de-DE" dirty="0" err="1">
                <a:latin typeface="Courier New" panose="02070309020205020404" pitchFamily="49" charset="0"/>
                <a:cs typeface="Courier New" panose="02070309020205020404" pitchFamily="49" charset="0"/>
              </a:rPr>
              <a:t>Direct</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sales'</a:t>
            </a:r>
            <a:endParaRPr lang="de-DE" dirty="0">
              <a:latin typeface="Courier New" panose="02070309020205020404" pitchFamily="49" charset="0"/>
              <a:cs typeface="Courier New" panose="02070309020205020404" pitchFamily="49" charset="0"/>
            </a:endParaRPr>
          </a:p>
          <a:p>
            <a:pPr marL="0" indent="0">
              <a:buNone/>
            </a:pPr>
            <a:endParaRPr lang="de-DE" dirty="0"/>
          </a:p>
        </p:txBody>
      </p:sp>
    </p:spTree>
    <p:extLst>
      <p:ext uri="{BB962C8B-B14F-4D97-AF65-F5344CB8AC3E}">
        <p14:creationId xmlns:p14="http://schemas.microsoft.com/office/powerpoint/2010/main" val="2248340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B80E06-A4EE-8F10-0904-4E2989177827}"/>
              </a:ext>
            </a:extLst>
          </p:cNvPr>
          <p:cNvSpPr>
            <a:spLocks noGrp="1"/>
          </p:cNvSpPr>
          <p:nvPr>
            <p:ph type="title"/>
          </p:nvPr>
        </p:nvSpPr>
        <p:spPr/>
        <p:txBody>
          <a:bodyPr/>
          <a:lstStyle/>
          <a:p>
            <a:r>
              <a:rPr lang="de-DE" dirty="0">
                <a:latin typeface="Courier New" panose="02070309020205020404" pitchFamily="49" charset="0"/>
                <a:cs typeface="Courier New" panose="02070309020205020404" pitchFamily="49" charset="0"/>
              </a:rPr>
              <a:t>UNION ALL</a:t>
            </a:r>
          </a:p>
        </p:txBody>
      </p:sp>
      <p:pic>
        <p:nvPicPr>
          <p:cNvPr id="5" name="Inhaltsplatzhalter 4">
            <a:extLst>
              <a:ext uri="{FF2B5EF4-FFF2-40B4-BE49-F238E27FC236}">
                <a16:creationId xmlns:a16="http://schemas.microsoft.com/office/drawing/2014/main" id="{A9153124-72B1-87D9-D412-93E937F1D34D}"/>
              </a:ext>
            </a:extLst>
          </p:cNvPr>
          <p:cNvPicPr>
            <a:picLocks noGrp="1" noChangeAspect="1"/>
          </p:cNvPicPr>
          <p:nvPr>
            <p:ph idx="1"/>
          </p:nvPr>
        </p:nvPicPr>
        <p:blipFill>
          <a:blip r:embed="rId3"/>
          <a:stretch>
            <a:fillRect/>
          </a:stretch>
        </p:blipFill>
        <p:spPr>
          <a:xfrm>
            <a:off x="2843485" y="1825625"/>
            <a:ext cx="6505030" cy="4351338"/>
          </a:xfrm>
          <a:prstGeom prst="rect">
            <a:avLst/>
          </a:prstGeom>
        </p:spPr>
      </p:pic>
    </p:spTree>
    <p:extLst>
      <p:ext uri="{BB962C8B-B14F-4D97-AF65-F5344CB8AC3E}">
        <p14:creationId xmlns:p14="http://schemas.microsoft.com/office/powerpoint/2010/main" val="1851608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0F3A3B-A757-E428-496F-7F9FCAC8F432}"/>
              </a:ext>
            </a:extLst>
          </p:cNvPr>
          <p:cNvSpPr>
            <a:spLocks noGrp="1"/>
          </p:cNvSpPr>
          <p:nvPr>
            <p:ph type="title"/>
          </p:nvPr>
        </p:nvSpPr>
        <p:spPr/>
        <p:txBody>
          <a:bodyPr/>
          <a:lstStyle/>
          <a:p>
            <a:r>
              <a:rPr lang="de-DE" dirty="0"/>
              <a:t>Ergebnis: Eine Sicht auf alle Vertriebskanäle</a:t>
            </a:r>
          </a:p>
        </p:txBody>
      </p:sp>
      <p:sp>
        <p:nvSpPr>
          <p:cNvPr id="3" name="Inhaltsplatzhalter 2">
            <a:extLst>
              <a:ext uri="{FF2B5EF4-FFF2-40B4-BE49-F238E27FC236}">
                <a16:creationId xmlns:a16="http://schemas.microsoft.com/office/drawing/2014/main" id="{11B6D407-4007-7455-8CF9-68B6B2827576}"/>
              </a:ext>
            </a:extLst>
          </p:cNvPr>
          <p:cNvSpPr>
            <a:spLocks noGrp="1"/>
          </p:cNvSpPr>
          <p:nvPr>
            <p:ph idx="1"/>
          </p:nvPr>
        </p:nvSpPr>
        <p:spPr/>
        <p:txBody>
          <a:bodyPr/>
          <a:lstStyle/>
          <a:p>
            <a:pPr marL="0" indent="0">
              <a:buNone/>
            </a:pPr>
            <a:r>
              <a:rPr lang="de-DE" b="1" dirty="0"/>
              <a:t>Erkenntnisse</a:t>
            </a:r>
            <a:endParaRPr lang="de-DE" dirty="0"/>
          </a:p>
          <a:p>
            <a:pPr lvl="0"/>
            <a:r>
              <a:rPr lang="de-DE" dirty="0"/>
              <a:t>Beide Zweige lesen aus derselben Datenquelle </a:t>
            </a:r>
          </a:p>
          <a:p>
            <a:pPr lvl="0"/>
            <a:r>
              <a:rPr lang="de-DE" dirty="0"/>
              <a:t>jeder Zweig verarbeitet einen bestimmten Bestelltyp </a:t>
            </a:r>
          </a:p>
          <a:p>
            <a:pPr lvl="0"/>
            <a:r>
              <a:rPr lang="de-DE" dirty="0"/>
              <a:t>die Elementlisten müssen positionsweise kompatibel sein </a:t>
            </a:r>
          </a:p>
          <a:p>
            <a:pPr lvl="0"/>
            <a:r>
              <a:rPr lang="de-DE" dirty="0"/>
              <a:t>die erste Teilabfrage bestimmt die Ergebnisnamen </a:t>
            </a:r>
          </a:p>
          <a:p>
            <a:pPr lvl="0"/>
            <a:r>
              <a:rPr lang="de-DE" dirty="0"/>
              <a:t>Literale ergänzen technische und fachliche Kennzeichnungen </a:t>
            </a:r>
          </a:p>
          <a:p>
            <a:pPr lvl="0"/>
            <a:r>
              <a:rPr lang="de-DE" dirty="0"/>
              <a:t>UNION ALL übernimmt alle Aufträge aus beiden Teilmengen </a:t>
            </a:r>
          </a:p>
          <a:p>
            <a:pPr lvl="0"/>
            <a:r>
              <a:rPr lang="de-DE" dirty="0"/>
              <a:t>weitere Bestelltypen benötigen weitere Zweige</a:t>
            </a:r>
          </a:p>
          <a:p>
            <a:endParaRPr lang="de-DE" dirty="0"/>
          </a:p>
        </p:txBody>
      </p:sp>
    </p:spTree>
    <p:extLst>
      <p:ext uri="{BB962C8B-B14F-4D97-AF65-F5344CB8AC3E}">
        <p14:creationId xmlns:p14="http://schemas.microsoft.com/office/powerpoint/2010/main" val="1419882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7E4700-4A55-59DB-F774-D85F974A71C6}"/>
              </a:ext>
            </a:extLst>
          </p:cNvPr>
          <p:cNvSpPr>
            <a:spLocks noGrp="1"/>
          </p:cNvSpPr>
          <p:nvPr>
            <p:ph type="title"/>
          </p:nvPr>
        </p:nvSpPr>
        <p:spPr/>
        <p:txBody>
          <a:bodyPr/>
          <a:lstStyle/>
          <a:p>
            <a:r>
              <a:rPr lang="de-DE" dirty="0"/>
              <a:t>Warum CDS-Modelle erweitern?</a:t>
            </a:r>
          </a:p>
        </p:txBody>
      </p:sp>
      <p:sp>
        <p:nvSpPr>
          <p:cNvPr id="4" name="Inhaltsplatzhalter 3">
            <a:extLst>
              <a:ext uri="{FF2B5EF4-FFF2-40B4-BE49-F238E27FC236}">
                <a16:creationId xmlns:a16="http://schemas.microsoft.com/office/drawing/2014/main" id="{12F67E65-268E-5246-EC2B-51438988FE81}"/>
              </a:ext>
            </a:extLst>
          </p:cNvPr>
          <p:cNvSpPr>
            <a:spLocks noGrp="1"/>
          </p:cNvSpPr>
          <p:nvPr>
            <p:ph sz="half" idx="1"/>
          </p:nvPr>
        </p:nvSpPr>
        <p:spPr/>
        <p:txBody>
          <a:bodyPr>
            <a:normAutofit/>
          </a:bodyPr>
          <a:lstStyle/>
          <a:p>
            <a:pPr marL="0" indent="0">
              <a:buNone/>
            </a:pPr>
            <a:r>
              <a:rPr lang="de-DE" dirty="0"/>
              <a:t>Eine bestehende CDS View Entity kann auf zwei Ebenen erweitert werden:</a:t>
            </a:r>
          </a:p>
          <a:p>
            <a:r>
              <a:rPr lang="de-DE" dirty="0"/>
              <a:t>View Extension</a:t>
            </a:r>
            <a:br>
              <a:rPr lang="de-DE" dirty="0"/>
            </a:br>
            <a:r>
              <a:rPr lang="de-DE" dirty="0"/>
              <a:t>Struktur der Ergebnismenge</a:t>
            </a:r>
          </a:p>
          <a:p>
            <a:r>
              <a:rPr lang="de-DE" dirty="0" err="1"/>
              <a:t>Metadata</a:t>
            </a:r>
            <a:r>
              <a:rPr lang="de-DE" dirty="0"/>
              <a:t> Extension</a:t>
            </a:r>
            <a:br>
              <a:rPr lang="de-DE" dirty="0"/>
            </a:br>
            <a:r>
              <a:rPr lang="de-DE" dirty="0"/>
              <a:t>Annotationen der Elemente</a:t>
            </a:r>
          </a:p>
        </p:txBody>
      </p:sp>
      <p:sp>
        <p:nvSpPr>
          <p:cNvPr id="5" name="Inhaltsplatzhalter 4">
            <a:extLst>
              <a:ext uri="{FF2B5EF4-FFF2-40B4-BE49-F238E27FC236}">
                <a16:creationId xmlns:a16="http://schemas.microsoft.com/office/drawing/2014/main" id="{80FDB110-8664-BE89-2D66-FEA5CEA1CC70}"/>
              </a:ext>
            </a:extLst>
          </p:cNvPr>
          <p:cNvSpPr>
            <a:spLocks noGrp="1"/>
          </p:cNvSpPr>
          <p:nvPr>
            <p:ph sz="half" idx="2"/>
          </p:nvPr>
        </p:nvSpPr>
        <p:spPr>
          <a:xfrm>
            <a:off x="6374674" y="1825625"/>
            <a:ext cx="5447212" cy="4351338"/>
          </a:xfrm>
        </p:spPr>
        <p:txBody>
          <a:bodyPr>
            <a:normAutofit/>
          </a:bodyPr>
          <a:lstStyle/>
          <a:p>
            <a:pPr marL="0" indent="0">
              <a:buNone/>
            </a:pPr>
            <a:r>
              <a:rPr lang="de-DE" sz="2400" dirty="0"/>
              <a:t>Beispiel:</a:t>
            </a:r>
          </a:p>
          <a:p>
            <a:pPr marL="0" indent="0">
              <a:buNone/>
            </a:pPr>
            <a:r>
              <a:rPr lang="de-DE" sz="2400" dirty="0" err="1">
                <a:latin typeface="Courier New" panose="02070309020205020404" pitchFamily="49" charset="0"/>
                <a:cs typeface="Courier New" panose="02070309020205020404" pitchFamily="49" charset="0"/>
              </a:rPr>
              <a:t>ZI_CDSOrder</a:t>
            </a:r>
            <a:endParaRPr lang="de-DE" sz="2400" dirty="0">
              <a:latin typeface="Courier New" panose="02070309020205020404" pitchFamily="49" charset="0"/>
              <a:cs typeface="Courier New" panose="02070309020205020404" pitchFamily="49" charset="0"/>
            </a:endParaRPr>
          </a:p>
          <a:p>
            <a:pPr marL="0" indent="0">
              <a:buNone/>
            </a:pPr>
            <a:r>
              <a:rPr lang="de-DE" sz="2400" dirty="0">
                <a:latin typeface="Courier New" panose="02070309020205020404" pitchFamily="49" charset="0"/>
                <a:cs typeface="Courier New" panose="02070309020205020404" pitchFamily="49" charset="0"/>
              </a:rPr>
              <a:t>    ├── View Extension</a:t>
            </a:r>
          </a:p>
          <a:p>
            <a:pPr marL="0" indent="0">
              <a:buNone/>
            </a:pPr>
            <a:r>
              <a:rPr lang="de-DE" sz="2400" dirty="0">
                <a:latin typeface="Courier New" panose="02070309020205020404" pitchFamily="49" charset="0"/>
                <a:cs typeface="Courier New" panose="02070309020205020404" pitchFamily="49" charset="0"/>
              </a:rPr>
              <a:t>    │     </a:t>
            </a:r>
            <a:r>
              <a:rPr lang="de-DE" sz="2400" dirty="0" err="1">
                <a:latin typeface="Courier New" panose="02070309020205020404" pitchFamily="49" charset="0"/>
                <a:cs typeface="Courier New" panose="02070309020205020404" pitchFamily="49" charset="0"/>
              </a:rPr>
              <a:t>ZZCustomerGroup</a:t>
            </a:r>
            <a:endParaRPr lang="de-DE" sz="2400" dirty="0">
              <a:latin typeface="Courier New" panose="02070309020205020404" pitchFamily="49" charset="0"/>
              <a:cs typeface="Courier New" panose="02070309020205020404" pitchFamily="49" charset="0"/>
            </a:endParaRPr>
          </a:p>
          <a:p>
            <a:pPr marL="0" indent="0">
              <a:buNone/>
            </a:pPr>
            <a:r>
              <a:rPr lang="de-DE" sz="2400" dirty="0">
                <a:latin typeface="Courier New" panose="02070309020205020404" pitchFamily="49" charset="0"/>
                <a:cs typeface="Courier New" panose="02070309020205020404" pitchFamily="49" charset="0"/>
              </a:rPr>
              <a:t>    │     </a:t>
            </a:r>
            <a:r>
              <a:rPr lang="de-DE" sz="2400" dirty="0" err="1">
                <a:latin typeface="Courier New" panose="02070309020205020404" pitchFamily="49" charset="0"/>
                <a:cs typeface="Courier New" panose="02070309020205020404" pitchFamily="49" charset="0"/>
              </a:rPr>
              <a:t>ZZDeliverySituation</a:t>
            </a:r>
            <a:endParaRPr lang="de-DE" sz="2400" dirty="0">
              <a:latin typeface="Courier New" panose="02070309020205020404" pitchFamily="49" charset="0"/>
              <a:cs typeface="Courier New" panose="02070309020205020404" pitchFamily="49" charset="0"/>
            </a:endParaRPr>
          </a:p>
          <a:p>
            <a:pPr marL="0" indent="0">
              <a:buNone/>
            </a:pPr>
            <a:r>
              <a:rPr lang="de-DE" sz="2400" dirty="0">
                <a:latin typeface="Courier New" panose="02070309020205020404" pitchFamily="49" charset="0"/>
                <a:cs typeface="Courier New" panose="02070309020205020404" pitchFamily="49" charset="0"/>
              </a:rPr>
              <a:t>    └── </a:t>
            </a:r>
            <a:r>
              <a:rPr lang="de-DE" sz="2400" dirty="0" err="1">
                <a:latin typeface="Courier New" panose="02070309020205020404" pitchFamily="49" charset="0"/>
                <a:cs typeface="Courier New" panose="02070309020205020404" pitchFamily="49" charset="0"/>
              </a:rPr>
              <a:t>Metadata</a:t>
            </a:r>
            <a:r>
              <a:rPr lang="de-DE" sz="2400" dirty="0">
                <a:latin typeface="Courier New" panose="02070309020205020404" pitchFamily="49" charset="0"/>
                <a:cs typeface="Courier New" panose="02070309020205020404" pitchFamily="49" charset="0"/>
              </a:rPr>
              <a:t> Extension</a:t>
            </a:r>
          </a:p>
          <a:p>
            <a:pPr marL="0" indent="0">
              <a:buNone/>
            </a:pPr>
            <a:r>
              <a:rPr lang="de-DE" sz="2400" dirty="0">
                <a:latin typeface="Courier New" panose="02070309020205020404" pitchFamily="49" charset="0"/>
                <a:cs typeface="Courier New" panose="02070309020205020404" pitchFamily="49" charset="0"/>
              </a:rPr>
              <a:t>          Bezeichnungen</a:t>
            </a:r>
          </a:p>
          <a:p>
            <a:pPr marL="0" indent="0">
              <a:buNone/>
            </a:pPr>
            <a:r>
              <a:rPr lang="de-DE" sz="2400" dirty="0">
                <a:latin typeface="Courier New" panose="02070309020205020404" pitchFamily="49" charset="0"/>
                <a:cs typeface="Courier New" panose="02070309020205020404" pitchFamily="49" charset="0"/>
              </a:rPr>
              <a:t>          UI-Darstellung</a:t>
            </a:r>
          </a:p>
          <a:p>
            <a:pPr marL="0" indent="0">
              <a:buNone/>
            </a:pPr>
            <a:endParaRPr lang="de-DE" sz="2400" dirty="0"/>
          </a:p>
        </p:txBody>
      </p:sp>
      <p:sp>
        <p:nvSpPr>
          <p:cNvPr id="7" name="Textfeld 6">
            <a:extLst>
              <a:ext uri="{FF2B5EF4-FFF2-40B4-BE49-F238E27FC236}">
                <a16:creationId xmlns:a16="http://schemas.microsoft.com/office/drawing/2014/main" id="{73945147-1882-1062-D876-3C8CF1DB7A65}"/>
              </a:ext>
            </a:extLst>
          </p:cNvPr>
          <p:cNvSpPr txBox="1"/>
          <p:nvPr/>
        </p:nvSpPr>
        <p:spPr>
          <a:xfrm>
            <a:off x="838200" y="5530632"/>
            <a:ext cx="10983686" cy="400110"/>
          </a:xfrm>
          <a:prstGeom prst="rect">
            <a:avLst/>
          </a:prstGeom>
          <a:noFill/>
        </p:spPr>
        <p:txBody>
          <a:bodyPr wrap="square">
            <a:spAutoFit/>
          </a:bodyPr>
          <a:lstStyle/>
          <a:p>
            <a:r>
              <a:rPr lang="de-DE" sz="2000" dirty="0">
                <a:highlight>
                  <a:srgbClr val="FFFF00"/>
                </a:highlight>
              </a:rPr>
              <a:t>Erweiterungen ergänzen ein CDS-Modell, ohne seine ursprüngliche Definition zu verändern.</a:t>
            </a:r>
          </a:p>
        </p:txBody>
      </p:sp>
    </p:spTree>
    <p:extLst>
      <p:ext uri="{BB962C8B-B14F-4D97-AF65-F5344CB8AC3E}">
        <p14:creationId xmlns:p14="http://schemas.microsoft.com/office/powerpoint/2010/main" val="28535325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BFDFA-A7A4-527F-076F-E390D82B998D}"/>
              </a:ext>
            </a:extLst>
          </p:cNvPr>
          <p:cNvSpPr>
            <a:spLocks noGrp="1"/>
          </p:cNvSpPr>
          <p:nvPr>
            <p:ph type="title"/>
          </p:nvPr>
        </p:nvSpPr>
        <p:spPr/>
        <p:txBody>
          <a:bodyPr/>
          <a:lstStyle/>
          <a:p>
            <a:r>
              <a:rPr lang="de-DE" dirty="0"/>
              <a:t>Erweiterbarkeit muss erlaubt sein</a:t>
            </a:r>
          </a:p>
        </p:txBody>
      </p:sp>
      <p:sp>
        <p:nvSpPr>
          <p:cNvPr id="5" name="Inhaltsplatzhalter 4">
            <a:extLst>
              <a:ext uri="{FF2B5EF4-FFF2-40B4-BE49-F238E27FC236}">
                <a16:creationId xmlns:a16="http://schemas.microsoft.com/office/drawing/2014/main" id="{85DFD0DC-FE41-460A-2013-8EA746563FFD}"/>
              </a:ext>
            </a:extLst>
          </p:cNvPr>
          <p:cNvSpPr>
            <a:spLocks noGrp="1"/>
          </p:cNvSpPr>
          <p:nvPr>
            <p:ph idx="1"/>
          </p:nvPr>
        </p:nvSpPr>
        <p:spPr/>
        <p:txBody>
          <a:bodyPr>
            <a:normAutofit/>
          </a:bodyPr>
          <a:lstStyle/>
          <a:p>
            <a:pPr marL="0" indent="0">
              <a:buNone/>
            </a:pPr>
            <a:r>
              <a:rPr lang="de-DE" sz="2400" dirty="0">
                <a:cs typeface="Courier New" panose="02070309020205020404" pitchFamily="49" charset="0"/>
              </a:rPr>
              <a:t>Strukturelle Erweiterung</a:t>
            </a:r>
          </a:p>
          <a:p>
            <a:pPr marL="457200" lvl="1" indent="0">
              <a:buNone/>
            </a:pPr>
            <a:r>
              <a:rPr lang="de-DE" sz="2000" dirty="0">
                <a:latin typeface="Courier New" panose="02070309020205020404" pitchFamily="49" charset="0"/>
                <a:cs typeface="Courier New" panose="02070309020205020404" pitchFamily="49" charset="0"/>
              </a:rPr>
              <a:t>@AbapCatalog.viewEnhancementCategory:[#PROJECTION_LIST]</a:t>
            </a:r>
          </a:p>
          <a:p>
            <a:pPr marL="0" indent="0">
              <a:buNone/>
            </a:pPr>
            <a:endParaRPr lang="de-DE" sz="2400" dirty="0">
              <a:latin typeface="Courier New" panose="02070309020205020404" pitchFamily="49" charset="0"/>
              <a:cs typeface="Courier New" panose="02070309020205020404" pitchFamily="49" charset="0"/>
            </a:endParaRPr>
          </a:p>
          <a:p>
            <a:pPr marL="0" indent="0">
              <a:buNone/>
            </a:pPr>
            <a:r>
              <a:rPr lang="de-DE" sz="2400" dirty="0">
                <a:cs typeface="Courier New" panose="02070309020205020404" pitchFamily="49" charset="0"/>
              </a:rPr>
              <a:t>Metadatenerweiterung</a:t>
            </a:r>
          </a:p>
          <a:p>
            <a:pPr marL="457200" lvl="1" indent="0">
              <a:buNone/>
            </a:pPr>
            <a:r>
              <a:rPr lang="de-DE" sz="2000" dirty="0">
                <a:latin typeface="Courier New" panose="02070309020205020404" pitchFamily="49" charset="0"/>
                <a:cs typeface="Courier New" panose="02070309020205020404" pitchFamily="49" charset="0"/>
              </a:rPr>
              <a:t>@Metadata.allowExtensions: </a:t>
            </a:r>
            <a:r>
              <a:rPr lang="de-DE" sz="2000" dirty="0" err="1">
                <a:latin typeface="Courier New" panose="02070309020205020404" pitchFamily="49" charset="0"/>
                <a:cs typeface="Courier New" panose="02070309020205020404" pitchFamily="49" charset="0"/>
              </a:rPr>
              <a:t>true</a:t>
            </a:r>
            <a:endParaRPr lang="de-DE"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9112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6A7054-ACF0-0B6D-FDFA-AA02D4428E9F}"/>
              </a:ext>
            </a:extLst>
          </p:cNvPr>
          <p:cNvSpPr>
            <a:spLocks noGrp="1"/>
          </p:cNvSpPr>
          <p:nvPr>
            <p:ph type="title"/>
          </p:nvPr>
        </p:nvSpPr>
        <p:spPr/>
        <p:txBody>
          <a:bodyPr/>
          <a:lstStyle/>
          <a:p>
            <a:r>
              <a:rPr lang="de-DE" dirty="0"/>
              <a:t>Struktur mit </a:t>
            </a:r>
            <a:r>
              <a:rPr lang="de-DE" dirty="0" err="1">
                <a:latin typeface="Courier New" panose="02070309020205020404" pitchFamily="49" charset="0"/>
                <a:cs typeface="Courier New" panose="02070309020205020404" pitchFamily="49" charset="0"/>
              </a:rPr>
              <a:t>extend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t> ergänzen</a:t>
            </a:r>
          </a:p>
        </p:txBody>
      </p:sp>
      <p:pic>
        <p:nvPicPr>
          <p:cNvPr id="5" name="Inhaltsplatzhalter 4">
            <a:extLst>
              <a:ext uri="{FF2B5EF4-FFF2-40B4-BE49-F238E27FC236}">
                <a16:creationId xmlns:a16="http://schemas.microsoft.com/office/drawing/2014/main" id="{0C308D79-17FC-EC4B-8ED7-49C950FF519D}"/>
              </a:ext>
            </a:extLst>
          </p:cNvPr>
          <p:cNvPicPr>
            <a:picLocks noGrp="1" noChangeAspect="1"/>
          </p:cNvPicPr>
          <p:nvPr>
            <p:ph sz="half" idx="1"/>
          </p:nvPr>
        </p:nvPicPr>
        <p:blipFill>
          <a:blip r:embed="rId3"/>
          <a:stretch>
            <a:fillRect/>
          </a:stretch>
        </p:blipFill>
        <p:spPr>
          <a:xfrm>
            <a:off x="838200" y="1825625"/>
            <a:ext cx="5181600" cy="2343677"/>
          </a:xfrm>
          <a:prstGeom prst="rect">
            <a:avLst/>
          </a:prstGeom>
        </p:spPr>
      </p:pic>
      <p:sp>
        <p:nvSpPr>
          <p:cNvPr id="6" name="Inhaltsplatzhalter 5">
            <a:extLst>
              <a:ext uri="{FF2B5EF4-FFF2-40B4-BE49-F238E27FC236}">
                <a16:creationId xmlns:a16="http://schemas.microsoft.com/office/drawing/2014/main" id="{555A9358-165A-D8A2-3110-509EBF6909BB}"/>
              </a:ext>
            </a:extLst>
          </p:cNvPr>
          <p:cNvSpPr>
            <a:spLocks noGrp="1"/>
          </p:cNvSpPr>
          <p:nvPr>
            <p:ph sz="half" idx="2"/>
          </p:nvPr>
        </p:nvSpPr>
        <p:spPr/>
        <p:txBody>
          <a:bodyPr/>
          <a:lstStyle/>
          <a:p>
            <a:pPr marL="0" indent="0">
              <a:buNone/>
            </a:pPr>
            <a:r>
              <a:rPr lang="de-DE" dirty="0"/>
              <a:t>Die Erweiterung kann enthalten:</a:t>
            </a:r>
          </a:p>
          <a:p>
            <a:pPr lvl="0"/>
            <a:r>
              <a:rPr lang="de-DE" dirty="0"/>
              <a:t>zusätzliche Elemente </a:t>
            </a:r>
          </a:p>
          <a:p>
            <a:pPr lvl="0"/>
            <a:r>
              <a:rPr lang="de-DE" dirty="0"/>
              <a:t>Pfadausdrücke </a:t>
            </a:r>
          </a:p>
          <a:p>
            <a:pPr lvl="0"/>
            <a:r>
              <a:rPr lang="de-DE" dirty="0"/>
              <a:t>berechnete Elemente </a:t>
            </a:r>
          </a:p>
          <a:p>
            <a:pPr lvl="0"/>
            <a:r>
              <a:rPr lang="de-DE" dirty="0"/>
              <a:t>weitere Assoziationen</a:t>
            </a:r>
          </a:p>
          <a:p>
            <a:endParaRPr lang="de-DE" dirty="0"/>
          </a:p>
        </p:txBody>
      </p:sp>
    </p:spTree>
    <p:extLst>
      <p:ext uri="{BB962C8B-B14F-4D97-AF65-F5344CB8AC3E}">
        <p14:creationId xmlns:p14="http://schemas.microsoft.com/office/powerpoint/2010/main" val="431583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BC0F30-6BC3-924E-8FF3-C1116E3B1CDD}"/>
              </a:ext>
            </a:extLst>
          </p:cNvPr>
          <p:cNvSpPr>
            <a:spLocks noGrp="1"/>
          </p:cNvSpPr>
          <p:nvPr>
            <p:ph type="title"/>
          </p:nvPr>
        </p:nvSpPr>
        <p:spPr/>
        <p:txBody>
          <a:bodyPr/>
          <a:lstStyle/>
          <a:p>
            <a:r>
              <a:rPr lang="de-DE" dirty="0"/>
              <a:t>Annotationen separat ergänzen</a:t>
            </a:r>
          </a:p>
        </p:txBody>
      </p:sp>
      <p:pic>
        <p:nvPicPr>
          <p:cNvPr id="5" name="Inhaltsplatzhalter 4">
            <a:extLst>
              <a:ext uri="{FF2B5EF4-FFF2-40B4-BE49-F238E27FC236}">
                <a16:creationId xmlns:a16="http://schemas.microsoft.com/office/drawing/2014/main" id="{F479EA76-215B-D307-E846-CFE28B58E7EE}"/>
              </a:ext>
            </a:extLst>
          </p:cNvPr>
          <p:cNvPicPr>
            <a:picLocks noGrp="1" noChangeAspect="1"/>
          </p:cNvPicPr>
          <p:nvPr>
            <p:ph sz="half" idx="1"/>
          </p:nvPr>
        </p:nvPicPr>
        <p:blipFill>
          <a:blip r:embed="rId3"/>
          <a:stretch>
            <a:fillRect/>
          </a:stretch>
        </p:blipFill>
        <p:spPr>
          <a:xfrm>
            <a:off x="838200" y="1829291"/>
            <a:ext cx="4515480" cy="2172003"/>
          </a:xfrm>
          <a:prstGeom prst="rect">
            <a:avLst/>
          </a:prstGeom>
        </p:spPr>
      </p:pic>
      <p:sp>
        <p:nvSpPr>
          <p:cNvPr id="6" name="Inhaltsplatzhalter 5">
            <a:extLst>
              <a:ext uri="{FF2B5EF4-FFF2-40B4-BE49-F238E27FC236}">
                <a16:creationId xmlns:a16="http://schemas.microsoft.com/office/drawing/2014/main" id="{D5F4C8C2-FCED-4318-097F-C4A05B80B6EF}"/>
              </a:ext>
            </a:extLst>
          </p:cNvPr>
          <p:cNvSpPr>
            <a:spLocks noGrp="1"/>
          </p:cNvSpPr>
          <p:nvPr>
            <p:ph sz="half" idx="2"/>
          </p:nvPr>
        </p:nvSpPr>
        <p:spPr/>
        <p:txBody>
          <a:bodyPr/>
          <a:lstStyle/>
          <a:p>
            <a:pPr marL="0" indent="0">
              <a:buNone/>
            </a:pPr>
            <a:r>
              <a:rPr lang="de-DE" dirty="0" err="1"/>
              <a:t>Metadata</a:t>
            </a:r>
            <a:r>
              <a:rPr lang="de-DE" dirty="0"/>
              <a:t> </a:t>
            </a:r>
            <a:r>
              <a:rPr lang="de-DE" dirty="0" err="1"/>
              <a:t>Extensions</a:t>
            </a:r>
            <a:r>
              <a:rPr lang="de-DE" dirty="0"/>
              <a:t>:</a:t>
            </a:r>
          </a:p>
          <a:p>
            <a:pPr lvl="0"/>
            <a:r>
              <a:rPr lang="de-DE" dirty="0"/>
              <a:t>enthalten keine Datenselektion </a:t>
            </a:r>
          </a:p>
          <a:p>
            <a:pPr lvl="0"/>
            <a:r>
              <a:rPr lang="de-DE" dirty="0"/>
              <a:t>erzeugen keine neuen Elemente </a:t>
            </a:r>
          </a:p>
          <a:p>
            <a:pPr lvl="0"/>
            <a:r>
              <a:rPr lang="de-DE" dirty="0"/>
              <a:t>annotieren vorhandene Elemente </a:t>
            </a:r>
          </a:p>
          <a:p>
            <a:pPr lvl="0"/>
            <a:r>
              <a:rPr lang="de-DE" dirty="0"/>
              <a:t>können unabhängig gepflegt werden </a:t>
            </a:r>
          </a:p>
          <a:p>
            <a:pPr lvl="0"/>
            <a:r>
              <a:rPr lang="de-DE" dirty="0" err="1"/>
              <a:t>Liegn</a:t>
            </a:r>
            <a:r>
              <a:rPr lang="de-DE" dirty="0"/>
              <a:t> auf einer Metadatenschicht</a:t>
            </a:r>
          </a:p>
          <a:p>
            <a:endParaRPr lang="de-DE" dirty="0"/>
          </a:p>
        </p:txBody>
      </p:sp>
    </p:spTree>
    <p:extLst>
      <p:ext uri="{BB962C8B-B14F-4D97-AF65-F5344CB8AC3E}">
        <p14:creationId xmlns:p14="http://schemas.microsoft.com/office/powerpoint/2010/main" val="3335776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098076-7E81-5B47-F9A2-9D9DAF11D3FA}"/>
              </a:ext>
            </a:extLst>
          </p:cNvPr>
          <p:cNvSpPr>
            <a:spLocks noGrp="1"/>
          </p:cNvSpPr>
          <p:nvPr>
            <p:ph type="title"/>
          </p:nvPr>
        </p:nvSpPr>
        <p:spPr/>
        <p:txBody>
          <a:bodyPr/>
          <a:lstStyle/>
          <a:p>
            <a:r>
              <a:rPr lang="de-DE" dirty="0"/>
              <a:t>Live-Coding 6: View und Metadaten erweitern</a:t>
            </a:r>
          </a:p>
        </p:txBody>
      </p:sp>
      <p:sp>
        <p:nvSpPr>
          <p:cNvPr id="3" name="Inhaltsplatzhalter 2">
            <a:extLst>
              <a:ext uri="{FF2B5EF4-FFF2-40B4-BE49-F238E27FC236}">
                <a16:creationId xmlns:a16="http://schemas.microsoft.com/office/drawing/2014/main" id="{32511A7C-45EC-8049-ABED-2EA1A0F7A32C}"/>
              </a:ext>
            </a:extLst>
          </p:cNvPr>
          <p:cNvSpPr>
            <a:spLocks noGrp="1"/>
          </p:cNvSpPr>
          <p:nvPr>
            <p:ph idx="1"/>
          </p:nvPr>
        </p:nvSpPr>
        <p:spPr/>
        <p:txBody>
          <a:bodyPr>
            <a:normAutofit lnSpcReduction="10000"/>
          </a:bodyPr>
          <a:lstStyle/>
          <a:p>
            <a:pPr marL="514350" lvl="0" indent="-514350">
              <a:buFont typeface="+mj-lt"/>
              <a:buAutoNum type="arabicPeriod"/>
            </a:pPr>
            <a:r>
              <a:rPr lang="de-DE" dirty="0"/>
              <a:t>Erweiterbarkeit von </a:t>
            </a:r>
            <a:r>
              <a:rPr lang="de-DE" dirty="0" err="1"/>
              <a:t>ZI_CDSOrder</a:t>
            </a:r>
            <a:r>
              <a:rPr lang="de-DE" dirty="0"/>
              <a:t> prüfen </a:t>
            </a:r>
          </a:p>
          <a:p>
            <a:pPr marL="514350" lvl="0" indent="-514350">
              <a:buFont typeface="+mj-lt"/>
              <a:buAutoNum type="arabicPeriod"/>
            </a:pPr>
            <a:r>
              <a:rPr lang="de-DE" dirty="0"/>
              <a:t>View Extension anlegen </a:t>
            </a:r>
          </a:p>
          <a:p>
            <a:pPr marL="514350" lvl="0" indent="-514350">
              <a:buFont typeface="+mj-lt"/>
              <a:buAutoNum type="arabicPeriod"/>
            </a:pPr>
            <a:r>
              <a:rPr lang="de-DE" dirty="0"/>
              <a:t>Zwei neue Elemente ergänzen </a:t>
            </a:r>
          </a:p>
          <a:p>
            <a:pPr marL="514350" lvl="0" indent="-514350">
              <a:buFont typeface="+mj-lt"/>
              <a:buAutoNum type="arabicPeriod"/>
            </a:pPr>
            <a:r>
              <a:rPr lang="de-DE" dirty="0"/>
              <a:t>Aktivieren und Datenvorschau prüfen </a:t>
            </a:r>
          </a:p>
          <a:p>
            <a:pPr marL="514350" lvl="0" indent="-514350">
              <a:buFont typeface="+mj-lt"/>
              <a:buAutoNum type="arabicPeriod"/>
            </a:pPr>
            <a:r>
              <a:rPr lang="de-DE" dirty="0" err="1"/>
              <a:t>Metadata</a:t>
            </a:r>
            <a:r>
              <a:rPr lang="de-DE" dirty="0"/>
              <a:t> Extension anlegen </a:t>
            </a:r>
          </a:p>
          <a:p>
            <a:pPr marL="514350" lvl="0" indent="-514350">
              <a:buFont typeface="+mj-lt"/>
              <a:buAutoNum type="arabicPeriod"/>
            </a:pPr>
            <a:r>
              <a:rPr lang="de-DE" dirty="0"/>
              <a:t>Bezeichnungen ergänzen </a:t>
            </a:r>
          </a:p>
          <a:p>
            <a:pPr marL="0" indent="0">
              <a:buNone/>
            </a:pPr>
            <a:r>
              <a:rPr lang="de-DE" dirty="0"/>
              <a:t>Neue Objekte:</a:t>
            </a:r>
          </a:p>
          <a:p>
            <a:r>
              <a:rPr lang="de-DE" dirty="0" err="1"/>
              <a:t>ZI_CDSOrderExtension</a:t>
            </a:r>
            <a:endParaRPr lang="de-DE" dirty="0"/>
          </a:p>
          <a:p>
            <a:r>
              <a:rPr lang="de-DE" dirty="0" err="1"/>
              <a:t>ZI_CDSOrder_MDE</a:t>
            </a:r>
            <a:endParaRPr lang="de-DE" dirty="0"/>
          </a:p>
          <a:p>
            <a:endParaRPr lang="de-DE" dirty="0"/>
          </a:p>
        </p:txBody>
      </p:sp>
    </p:spTree>
    <p:extLst>
      <p:ext uri="{BB962C8B-B14F-4D97-AF65-F5344CB8AC3E}">
        <p14:creationId xmlns:p14="http://schemas.microsoft.com/office/powerpoint/2010/main" val="3596407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65B72F-F336-527C-8DC8-2D5ACAC47451}"/>
              </a:ext>
            </a:extLst>
          </p:cNvPr>
          <p:cNvSpPr>
            <a:spLocks noGrp="1"/>
          </p:cNvSpPr>
          <p:nvPr>
            <p:ph type="title"/>
          </p:nvPr>
        </p:nvSpPr>
        <p:spPr/>
        <p:txBody>
          <a:bodyPr/>
          <a:lstStyle/>
          <a:p>
            <a:r>
              <a:rPr lang="de-DE" dirty="0"/>
              <a:t>Ergebnis und Abschluss von Teil 2</a:t>
            </a:r>
          </a:p>
        </p:txBody>
      </p:sp>
      <p:graphicFrame>
        <p:nvGraphicFramePr>
          <p:cNvPr id="4" name="Inhaltsplatzhalter 3">
            <a:extLst>
              <a:ext uri="{FF2B5EF4-FFF2-40B4-BE49-F238E27FC236}">
                <a16:creationId xmlns:a16="http://schemas.microsoft.com/office/drawing/2014/main" id="{26D15964-22EB-0AAF-BC92-C429337C2B32}"/>
              </a:ext>
            </a:extLst>
          </p:cNvPr>
          <p:cNvGraphicFramePr>
            <a:graphicFrameLocks noGrp="1"/>
          </p:cNvGraphicFramePr>
          <p:nvPr>
            <p:ph idx="1"/>
            <p:extLst>
              <p:ext uri="{D42A27DB-BD31-4B8C-83A1-F6EECF244321}">
                <p14:modId xmlns:p14="http://schemas.microsoft.com/office/powerpoint/2010/main" val="4210512496"/>
              </p:ext>
            </p:extLst>
          </p:nvPr>
        </p:nvGraphicFramePr>
        <p:xfrm>
          <a:off x="838200" y="1825625"/>
          <a:ext cx="10515600" cy="3235960"/>
        </p:xfrm>
        <a:graphic>
          <a:graphicData uri="http://schemas.openxmlformats.org/drawingml/2006/table">
            <a:tbl>
              <a:tblPr firstRow="1" bandRow="1">
                <a:tableStyleId>{5C22544A-7EE6-4342-B048-85BDC9FD1C3A}</a:tableStyleId>
              </a:tblPr>
              <a:tblGrid>
                <a:gridCol w="2923903">
                  <a:extLst>
                    <a:ext uri="{9D8B030D-6E8A-4147-A177-3AD203B41FA5}">
                      <a16:colId xmlns:a16="http://schemas.microsoft.com/office/drawing/2014/main" val="1340153943"/>
                    </a:ext>
                  </a:extLst>
                </a:gridCol>
                <a:gridCol w="7591697">
                  <a:extLst>
                    <a:ext uri="{9D8B030D-6E8A-4147-A177-3AD203B41FA5}">
                      <a16:colId xmlns:a16="http://schemas.microsoft.com/office/drawing/2014/main" val="2467140227"/>
                    </a:ext>
                  </a:extLst>
                </a:gridCol>
              </a:tblGrid>
              <a:tr h="370840">
                <a:tc>
                  <a:txBody>
                    <a:bodyPr/>
                    <a:lstStyle/>
                    <a:p>
                      <a:r>
                        <a:rPr lang="de-DE" dirty="0"/>
                        <a:t>Thema</a:t>
                      </a:r>
                    </a:p>
                  </a:txBody>
                  <a:tcPr/>
                </a:tc>
                <a:tc>
                  <a:txBody>
                    <a:bodyPr/>
                    <a:lstStyle/>
                    <a:p>
                      <a:r>
                        <a:rPr lang="de-DE" dirty="0"/>
                        <a:t>Ergebnis</a:t>
                      </a:r>
                    </a:p>
                  </a:txBody>
                  <a:tcPr/>
                </a:tc>
                <a:extLst>
                  <a:ext uri="{0D108BD9-81ED-4DB2-BD59-A6C34878D82A}">
                    <a16:rowId xmlns:a16="http://schemas.microsoft.com/office/drawing/2014/main" val="2377053124"/>
                  </a:ext>
                </a:extLst>
              </a:tr>
              <a:tr h="370840">
                <a:tc>
                  <a:txBody>
                    <a:bodyPr/>
                    <a:lstStyle/>
                    <a:p>
                      <a:r>
                        <a:rPr lang="de-DE" dirty="0"/>
                        <a:t>SQL-Ausdrücke</a:t>
                      </a:r>
                    </a:p>
                  </a:txBody>
                  <a:tcPr/>
                </a:tc>
                <a:tc>
                  <a:txBody>
                    <a:bodyPr/>
                    <a:lstStyle/>
                    <a:p>
                      <a:r>
                        <a:rPr lang="de-DE" dirty="0"/>
                        <a:t>Werte in der Datenbank berechnet</a:t>
                      </a:r>
                    </a:p>
                  </a:txBody>
                  <a:tcPr/>
                </a:tc>
                <a:extLst>
                  <a:ext uri="{0D108BD9-81ED-4DB2-BD59-A6C34878D82A}">
                    <a16:rowId xmlns:a16="http://schemas.microsoft.com/office/drawing/2014/main" val="3832749980"/>
                  </a:ext>
                </a:extLst>
              </a:tr>
              <a:tr h="370840">
                <a:tc>
                  <a:txBody>
                    <a:bodyPr/>
                    <a:lstStyle/>
                    <a:p>
                      <a:r>
                        <a:rPr lang="de-DE" dirty="0"/>
                        <a:t>Funktionen</a:t>
                      </a:r>
                    </a:p>
                  </a:txBody>
                  <a:tcPr/>
                </a:tc>
                <a:tc>
                  <a:txBody>
                    <a:bodyPr/>
                    <a:lstStyle/>
                    <a:p>
                      <a:r>
                        <a:rPr lang="de-DE" dirty="0"/>
                        <a:t>Zeichenketten und Datumswerte verarbeitet</a:t>
                      </a:r>
                    </a:p>
                  </a:txBody>
                  <a:tcPr/>
                </a:tc>
                <a:extLst>
                  <a:ext uri="{0D108BD9-81ED-4DB2-BD59-A6C34878D82A}">
                    <a16:rowId xmlns:a16="http://schemas.microsoft.com/office/drawing/2014/main" val="362790916"/>
                  </a:ext>
                </a:extLst>
              </a:tr>
              <a:tr h="370840">
                <a:tc>
                  <a:txBody>
                    <a:bodyPr/>
                    <a:lstStyle/>
                    <a:p>
                      <a:r>
                        <a:rPr lang="de-DE" dirty="0"/>
                        <a:t>Semantik</a:t>
                      </a:r>
                    </a:p>
                  </a:txBody>
                  <a:tcPr/>
                </a:tc>
                <a:tc>
                  <a:txBody>
                    <a:bodyPr/>
                    <a:lstStyle/>
                    <a:p>
                      <a:r>
                        <a:rPr lang="de-DE" dirty="0"/>
                        <a:t>Mengen und Beträge beschrieben</a:t>
                      </a:r>
                    </a:p>
                  </a:txBody>
                  <a:tcPr/>
                </a:tc>
                <a:extLst>
                  <a:ext uri="{0D108BD9-81ED-4DB2-BD59-A6C34878D82A}">
                    <a16:rowId xmlns:a16="http://schemas.microsoft.com/office/drawing/2014/main" val="3152273494"/>
                  </a:ext>
                </a:extLst>
              </a:tr>
              <a:tr h="370840">
                <a:tc>
                  <a:txBody>
                    <a:bodyPr/>
                    <a:lstStyle/>
                    <a:p>
                      <a:r>
                        <a:rPr lang="de-DE" dirty="0"/>
                        <a:t>Aggregationen</a:t>
                      </a:r>
                    </a:p>
                  </a:txBody>
                  <a:tcPr/>
                </a:tc>
                <a:tc>
                  <a:txBody>
                    <a:bodyPr/>
                    <a:lstStyle/>
                    <a:p>
                      <a:r>
                        <a:rPr lang="de-DE" dirty="0"/>
                        <a:t>mehrere Zeilen zusammengefasst</a:t>
                      </a:r>
                    </a:p>
                  </a:txBody>
                  <a:tcPr/>
                </a:tc>
                <a:extLst>
                  <a:ext uri="{0D108BD9-81ED-4DB2-BD59-A6C34878D82A}">
                    <a16:rowId xmlns:a16="http://schemas.microsoft.com/office/drawing/2014/main" val="666285022"/>
                  </a:ext>
                </a:extLst>
              </a:tr>
              <a:tr h="370840">
                <a:tc>
                  <a:txBody>
                    <a:bodyPr/>
                    <a:lstStyle/>
                    <a:p>
                      <a:r>
                        <a:rPr lang="de-DE" dirty="0">
                          <a:latin typeface="Courier New" panose="02070309020205020404" pitchFamily="49" charset="0"/>
                          <a:cs typeface="Courier New" panose="02070309020205020404" pitchFamily="49" charset="0"/>
                        </a:rPr>
                        <a:t>UNION ALL</a:t>
                      </a:r>
                    </a:p>
                  </a:txBody>
                  <a:tcPr/>
                </a:tc>
                <a:tc>
                  <a:txBody>
                    <a:bodyPr/>
                    <a:lstStyle/>
                    <a:p>
                      <a:r>
                        <a:rPr lang="de-DE" dirty="0"/>
                        <a:t>Bestelltypen vereinheitlicht</a:t>
                      </a:r>
                    </a:p>
                  </a:txBody>
                  <a:tcPr/>
                </a:tc>
                <a:extLst>
                  <a:ext uri="{0D108BD9-81ED-4DB2-BD59-A6C34878D82A}">
                    <a16:rowId xmlns:a16="http://schemas.microsoft.com/office/drawing/2014/main" val="57224457"/>
                  </a:ext>
                </a:extLst>
              </a:tr>
              <a:tr h="370840">
                <a:tc>
                  <a:txBody>
                    <a:bodyPr/>
                    <a:lstStyle/>
                    <a:p>
                      <a:r>
                        <a:rPr lang="de-DE" dirty="0"/>
                        <a:t>View Extension</a:t>
                      </a:r>
                    </a:p>
                  </a:txBody>
                  <a:tcPr/>
                </a:tc>
                <a:tc>
                  <a:txBody>
                    <a:bodyPr/>
                    <a:lstStyle/>
                    <a:p>
                      <a:r>
                        <a:rPr lang="de-DE" dirty="0"/>
                        <a:t>CDS-Struktur erweitert</a:t>
                      </a:r>
                    </a:p>
                  </a:txBody>
                  <a:tcPr/>
                </a:tc>
                <a:extLst>
                  <a:ext uri="{0D108BD9-81ED-4DB2-BD59-A6C34878D82A}">
                    <a16:rowId xmlns:a16="http://schemas.microsoft.com/office/drawing/2014/main" val="774694232"/>
                  </a:ext>
                </a:extLst>
              </a:tr>
              <a:tr h="370840">
                <a:tc>
                  <a:txBody>
                    <a:bodyPr/>
                    <a:lstStyle/>
                    <a:p>
                      <a:r>
                        <a:rPr lang="de-DE" dirty="0" err="1"/>
                        <a:t>Metadata</a:t>
                      </a:r>
                      <a:r>
                        <a:rPr lang="de-DE" dirty="0"/>
                        <a:t> Extension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Annotationen ergänzt</a:t>
                      </a:r>
                    </a:p>
                    <a:p>
                      <a:endParaRPr lang="de-DE" dirty="0"/>
                    </a:p>
                  </a:txBody>
                  <a:tcPr/>
                </a:tc>
                <a:extLst>
                  <a:ext uri="{0D108BD9-81ED-4DB2-BD59-A6C34878D82A}">
                    <a16:rowId xmlns:a16="http://schemas.microsoft.com/office/drawing/2014/main" val="2168923854"/>
                  </a:ext>
                </a:extLst>
              </a:tr>
            </a:tbl>
          </a:graphicData>
        </a:graphic>
      </p:graphicFrame>
    </p:spTree>
    <p:extLst>
      <p:ext uri="{BB962C8B-B14F-4D97-AF65-F5344CB8AC3E}">
        <p14:creationId xmlns:p14="http://schemas.microsoft.com/office/powerpoint/2010/main" val="2855860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F6B1C0-6498-9094-D941-19528FEE3EE4}"/>
              </a:ext>
            </a:extLst>
          </p:cNvPr>
          <p:cNvSpPr>
            <a:spLocks noGrp="1"/>
          </p:cNvSpPr>
          <p:nvPr>
            <p:ph type="title"/>
          </p:nvPr>
        </p:nvSpPr>
        <p:spPr/>
        <p:txBody>
          <a:bodyPr/>
          <a:lstStyle/>
          <a:p>
            <a:r>
              <a:rPr lang="de-DE" dirty="0"/>
              <a:t>Ressourcen</a:t>
            </a:r>
          </a:p>
        </p:txBody>
      </p:sp>
      <p:sp>
        <p:nvSpPr>
          <p:cNvPr id="3" name="Inhaltsplatzhalter 2">
            <a:extLst>
              <a:ext uri="{FF2B5EF4-FFF2-40B4-BE49-F238E27FC236}">
                <a16:creationId xmlns:a16="http://schemas.microsoft.com/office/drawing/2014/main" id="{414A8D02-C361-E8AE-D92B-53E118F8360A}"/>
              </a:ext>
            </a:extLst>
          </p:cNvPr>
          <p:cNvSpPr>
            <a:spLocks noGrp="1"/>
          </p:cNvSpPr>
          <p:nvPr>
            <p:ph idx="1"/>
          </p:nvPr>
        </p:nvSpPr>
        <p:spPr/>
        <p:txBody>
          <a:bodyPr>
            <a:normAutofit/>
          </a:bodyPr>
          <a:lstStyle/>
          <a:p>
            <a:pPr marL="0" indent="0">
              <a:buNone/>
            </a:pPr>
            <a:r>
              <a:rPr lang="de-DE" sz="1600" dirty="0">
                <a:hlinkClick r:id="rId3"/>
              </a:rPr>
              <a:t>https://www.rheinwerk-verlag.de/core-data-services-fuer-abap/</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r>
              <a:rPr lang="de-DE" sz="1600" dirty="0">
                <a:hlinkClick r:id="rId4"/>
              </a:rPr>
              <a:t>https://learning.sap.com/courses/building-data-models-with-the-abap-dictionary-and-abap-core-data-services</a:t>
            </a:r>
            <a:endParaRPr lang="de-DE" sz="1600" dirty="0"/>
          </a:p>
          <a:p>
            <a:pPr marL="0" indent="0">
              <a:buNone/>
            </a:pPr>
            <a:r>
              <a:rPr lang="de-DE" sz="1600" dirty="0">
                <a:hlinkClick r:id="rId5"/>
              </a:rPr>
              <a:t>https://training.sap.com/course/s4d430-data-modelling-in-abap-dictionary-and-abap-core-data-services-classroom-024-de-de</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p:txBody>
      </p:sp>
      <p:pic>
        <p:nvPicPr>
          <p:cNvPr id="6" name="Grafik 5" descr="Cover von Core Data Services für ABAP">
            <a:extLst>
              <a:ext uri="{FF2B5EF4-FFF2-40B4-BE49-F238E27FC236}">
                <a16:creationId xmlns:a16="http://schemas.microsoft.com/office/drawing/2014/main" id="{9BAE3DBD-B303-D270-8BE6-7DD896F40DDB}"/>
              </a:ext>
            </a:extLst>
          </p:cNvPr>
          <p:cNvPicPr>
            <a:picLocks noChangeAspect="1"/>
          </p:cNvPicPr>
          <p:nvPr/>
        </p:nvPicPr>
        <p:blipFill>
          <a:blip r:embed="rId6"/>
          <a:stretch>
            <a:fillRect/>
          </a:stretch>
        </p:blipFill>
        <p:spPr>
          <a:xfrm>
            <a:off x="299413" y="2157412"/>
            <a:ext cx="3133725" cy="2543175"/>
          </a:xfrm>
          <a:prstGeom prst="rect">
            <a:avLst/>
          </a:prstGeom>
        </p:spPr>
      </p:pic>
    </p:spTree>
    <p:extLst>
      <p:ext uri="{BB962C8B-B14F-4D97-AF65-F5344CB8AC3E}">
        <p14:creationId xmlns:p14="http://schemas.microsoft.com/office/powerpoint/2010/main" val="105356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802ED7-909F-E61F-4A08-6D4B936DB953}"/>
              </a:ext>
            </a:extLst>
          </p:cNvPr>
          <p:cNvSpPr>
            <a:spLocks noGrp="1"/>
          </p:cNvSpPr>
          <p:nvPr>
            <p:ph type="title"/>
          </p:nvPr>
        </p:nvSpPr>
        <p:spPr/>
        <p:txBody>
          <a:bodyPr anchor="b">
            <a:normAutofit/>
          </a:bodyPr>
          <a:lstStyle/>
          <a:p>
            <a:r>
              <a:rPr lang="de-DE" sz="3600" dirty="0"/>
              <a:t>Ressourcen: GitHub-Repository zur Veranstaltung</a:t>
            </a:r>
          </a:p>
        </p:txBody>
      </p:sp>
      <p:sp>
        <p:nvSpPr>
          <p:cNvPr id="3" name="Inhaltsplatzhalter 2">
            <a:extLst>
              <a:ext uri="{FF2B5EF4-FFF2-40B4-BE49-F238E27FC236}">
                <a16:creationId xmlns:a16="http://schemas.microsoft.com/office/drawing/2014/main" id="{9B7F34D7-59AD-384C-9508-3FF4807BDAED}"/>
              </a:ext>
            </a:extLst>
          </p:cNvPr>
          <p:cNvSpPr>
            <a:spLocks noGrp="1"/>
          </p:cNvSpPr>
          <p:nvPr>
            <p:ph idx="1"/>
          </p:nvPr>
        </p:nvSpPr>
        <p:spPr/>
        <p:txBody>
          <a:bodyPr anchor="b">
            <a:normAutofit/>
          </a:bodyPr>
          <a:lstStyle/>
          <a:p>
            <a:pPr marL="0" indent="0" algn="r">
              <a:buNone/>
            </a:pPr>
            <a:r>
              <a:rPr lang="de-DE" sz="2000" dirty="0">
                <a:hlinkClick r:id="rId3"/>
              </a:rPr>
              <a:t>https://github.com/MichaelWegelin/cds-workshop.git</a:t>
            </a:r>
            <a:r>
              <a:rPr lang="de-DE" sz="2000" dirty="0"/>
              <a:t> </a:t>
            </a:r>
          </a:p>
        </p:txBody>
      </p:sp>
      <p:pic>
        <p:nvPicPr>
          <p:cNvPr id="5" name="Grafik 4">
            <a:extLst>
              <a:ext uri="{FF2B5EF4-FFF2-40B4-BE49-F238E27FC236}">
                <a16:creationId xmlns:a16="http://schemas.microsoft.com/office/drawing/2014/main" id="{A512F91C-CDB1-72E7-609C-3DB9A3E98FF2}"/>
              </a:ext>
            </a:extLst>
          </p:cNvPr>
          <p:cNvPicPr>
            <a:picLocks noChangeAspect="1"/>
          </p:cNvPicPr>
          <p:nvPr/>
        </p:nvPicPr>
        <p:blipFill>
          <a:blip r:embed="rId4"/>
          <a:stretch>
            <a:fillRect/>
          </a:stretch>
        </p:blipFill>
        <p:spPr>
          <a:xfrm>
            <a:off x="838200" y="1825625"/>
            <a:ext cx="7884695" cy="3908970"/>
          </a:xfrm>
          <a:prstGeom prst="rect">
            <a:avLst/>
          </a:prstGeom>
        </p:spPr>
      </p:pic>
    </p:spTree>
    <p:extLst>
      <p:ext uri="{BB962C8B-B14F-4D97-AF65-F5344CB8AC3E}">
        <p14:creationId xmlns:p14="http://schemas.microsoft.com/office/powerpoint/2010/main" val="36850614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14175</Words>
  <Application>Microsoft Office PowerPoint</Application>
  <PresentationFormat>Breitbild</PresentationFormat>
  <Paragraphs>2132</Paragraphs>
  <Slides>47</Slides>
  <Notes>45</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47</vt:i4>
      </vt:variant>
    </vt:vector>
  </HeadingPairs>
  <TitlesOfParts>
    <vt:vector size="52" baseType="lpstr">
      <vt:lpstr>Aptos</vt:lpstr>
      <vt:lpstr>Aptos Display</vt:lpstr>
      <vt:lpstr>Arial</vt:lpstr>
      <vt:lpstr>Courier New</vt:lpstr>
      <vt:lpstr>Office</vt:lpstr>
      <vt:lpstr>Einführung in ABAP Core Data Services</vt:lpstr>
      <vt:lpstr>Agenda</vt:lpstr>
      <vt:lpstr>Praktische Ergebnisse des Live-Codings</vt:lpstr>
      <vt:lpstr>Ausgangspunkt: Unser CDS-Datenmodell</vt:lpstr>
      <vt:lpstr>Von Rohdaten zu fachlicher Information</vt:lpstr>
      <vt:lpstr>Klassische Verarbeitung auf dem ABAP Server</vt:lpstr>
      <vt:lpstr>Code Pushdown:  Berechnen, wo die Daten liegen</vt:lpstr>
      <vt:lpstr>Live-Coding 1 Beträge berechnen und klassifizieren</vt:lpstr>
      <vt:lpstr>SQL-Ausdrücke</vt:lpstr>
      <vt:lpstr>Ergebnis: Fachlich angereicherte Positionen</vt:lpstr>
      <vt:lpstr>Funktionen in CDS-Ausdrücken</vt:lpstr>
      <vt:lpstr>Zeichenketten verarbeiten</vt:lpstr>
      <vt:lpstr>Werte mit cast konvertieren</vt:lpstr>
      <vt:lpstr>Datumsdifferenzen berechnen</vt:lpstr>
      <vt:lpstr>Verschachtelte Funktionen</vt:lpstr>
      <vt:lpstr>Live-Coding 2: Texte und Termine auswerten</vt:lpstr>
      <vt:lpstr>SQL-Funktionen</vt:lpstr>
      <vt:lpstr>Ergebnis: Daten werden zu Kontext</vt:lpstr>
      <vt:lpstr>Zahlenwert und fachliche Bedeutung</vt:lpstr>
      <vt:lpstr>Semantik berechneter Elemente</vt:lpstr>
      <vt:lpstr>Nullwert ist nicht Initialwert</vt:lpstr>
      <vt:lpstr>Live-Coding 3: Währungssemantik ergänzen</vt:lpstr>
      <vt:lpstr>Semantische Annotationen</vt:lpstr>
      <vt:lpstr>Ergebnis:  Technisch und fachlich vollständige Werte</vt:lpstr>
      <vt:lpstr>Von Einzelwerten zu Kennzahlen</vt:lpstr>
      <vt:lpstr>Gruppen mit GROUP BY bilden</vt:lpstr>
      <vt:lpstr>Was genau soll gezählt werden?</vt:lpstr>
      <vt:lpstr>Gruppierung und Semantik</vt:lpstr>
      <vt:lpstr>Filtern vor und nach der Aggregation</vt:lpstr>
      <vt:lpstr>Live-Coding 4:  Umsatz nach Kunde aggregieren</vt:lpstr>
      <vt:lpstr>Aggregation</vt:lpstr>
      <vt:lpstr>Ergebnis: Neue Granularität</vt:lpstr>
      <vt:lpstr>Ergebnismengen vereinigen</vt:lpstr>
      <vt:lpstr>UNION oder UNION ALL?</vt:lpstr>
      <vt:lpstr>Kompatible Elementlisten</vt:lpstr>
      <vt:lpstr>Herkunft einer Ergebniszeile kennzeichnen</vt:lpstr>
      <vt:lpstr>Live-Coding 5:  Positionstypen zusammenführen</vt:lpstr>
      <vt:lpstr>UNION ALL</vt:lpstr>
      <vt:lpstr>Ergebnis: Eine Sicht auf alle Vertriebskanäle</vt:lpstr>
      <vt:lpstr>Warum CDS-Modelle erweitern?</vt:lpstr>
      <vt:lpstr>Erweiterbarkeit muss erlaubt sein</vt:lpstr>
      <vt:lpstr>Struktur mit extend view entity ergänzen</vt:lpstr>
      <vt:lpstr>Annotationen separat ergänzen</vt:lpstr>
      <vt:lpstr>Live-Coding 6: View und Metadaten erweitern</vt:lpstr>
      <vt:lpstr>Ergebnis und Abschluss von Teil 2</vt:lpstr>
      <vt:lpstr>Ressourcen</vt:lpstr>
      <vt:lpstr>Ressourcen: GitHub-Repository zur Veranstaltung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Wegelin</dc:creator>
  <cp:lastModifiedBy>Michael Wegelin</cp:lastModifiedBy>
  <cp:revision>1</cp:revision>
  <dcterms:created xsi:type="dcterms:W3CDTF">2025-04-11T06:58:28Z</dcterms:created>
  <dcterms:modified xsi:type="dcterms:W3CDTF">2026-08-10T14:38:06Z</dcterms:modified>
</cp:coreProperties>
</file>