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98" r:id="rId3"/>
    <p:sldId id="299" r:id="rId4"/>
    <p:sldId id="301" r:id="rId5"/>
    <p:sldId id="300" r:id="rId6"/>
    <p:sldId id="302" r:id="rId7"/>
    <p:sldId id="303" r:id="rId8"/>
    <p:sldId id="304" r:id="rId9"/>
    <p:sldId id="311" r:id="rId10"/>
    <p:sldId id="312" r:id="rId11"/>
    <p:sldId id="313" r:id="rId12"/>
    <p:sldId id="314" r:id="rId13"/>
    <p:sldId id="315" r:id="rId14"/>
    <p:sldId id="316" r:id="rId15"/>
    <p:sldId id="305" r:id="rId16"/>
    <p:sldId id="306" r:id="rId17"/>
    <p:sldId id="307" r:id="rId18"/>
    <p:sldId id="308" r:id="rId19"/>
    <p:sldId id="309" r:id="rId20"/>
    <p:sldId id="310" r:id="rId21"/>
    <p:sldId id="317" r:id="rId22"/>
    <p:sldId id="318" r:id="rId23"/>
    <p:sldId id="319" r:id="rId24"/>
    <p:sldId id="320" r:id="rId25"/>
    <p:sldId id="321" r:id="rId26"/>
    <p:sldId id="322" r:id="rId27"/>
    <p:sldId id="323" r:id="rId28"/>
    <p:sldId id="324" r:id="rId29"/>
    <p:sldId id="325" r:id="rId30"/>
    <p:sldId id="326" r:id="rId31"/>
    <p:sldId id="327" r:id="rId32"/>
    <p:sldId id="334" r:id="rId33"/>
    <p:sldId id="328" r:id="rId34"/>
    <p:sldId id="329" r:id="rId35"/>
    <p:sldId id="330" r:id="rId36"/>
    <p:sldId id="331" r:id="rId37"/>
    <p:sldId id="332" r:id="rId38"/>
    <p:sldId id="333"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 id="348" r:id="rId53"/>
    <p:sldId id="349" r:id="rId54"/>
    <p:sldId id="350" r:id="rId55"/>
    <p:sldId id="351" r:id="rId56"/>
    <p:sldId id="352" r:id="rId57"/>
    <p:sldId id="353" r:id="rId58"/>
    <p:sldId id="354" r:id="rId59"/>
    <p:sldId id="294" r:id="rId60"/>
    <p:sldId id="297" r:id="rId6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führung" id="{A71FEE34-3DD5-4C60-832B-F7B9E07D03ED}">
          <p14:sldIdLst>
            <p14:sldId id="256"/>
            <p14:sldId id="298"/>
            <p14:sldId id="299"/>
            <p14:sldId id="301"/>
            <p14:sldId id="300"/>
            <p14:sldId id="302"/>
            <p14:sldId id="303"/>
            <p14:sldId id="304"/>
          </p14:sldIdLst>
        </p14:section>
        <p14:section name="Metadaten-Erweiterungen" id="{74CDCA57-1194-443D-9608-46C62722BB91}">
          <p14:sldIdLst>
            <p14:sldId id="311"/>
            <p14:sldId id="312"/>
            <p14:sldId id="313"/>
            <p14:sldId id="314"/>
            <p14:sldId id="315"/>
            <p14:sldId id="316"/>
          </p14:sldIdLst>
        </p14:section>
        <p14:section name="List-Reports gestalten" id="{7990F407-5800-4CFF-849E-2497BFB44822}">
          <p14:sldIdLst>
            <p14:sldId id="305"/>
            <p14:sldId id="306"/>
            <p14:sldId id="307"/>
            <p14:sldId id="308"/>
            <p14:sldId id="309"/>
            <p14:sldId id="310"/>
          </p14:sldIdLst>
        </p14:section>
        <p14:section name="Object Pages gestalten" id="{4BB6FAAE-6B26-4008-8AC1-1950284ABD94}">
          <p14:sldIdLst>
            <p14:sldId id="317"/>
            <p14:sldId id="318"/>
            <p14:sldId id="319"/>
            <p14:sldId id="320"/>
            <p14:sldId id="321"/>
            <p14:sldId id="322"/>
          </p14:sldIdLst>
        </p14:section>
        <p14:section name="Navigation über Assoziationen" id="{E69AA76A-BFF2-4176-B8B9-C312056C1CE6}">
          <p14:sldIdLst>
            <p14:sldId id="323"/>
            <p14:sldId id="324"/>
            <p14:sldId id="325"/>
            <p14:sldId id="326"/>
            <p14:sldId id="327"/>
          </p14:sldIdLst>
        </p14:section>
        <p14:section name="Visuelle Elemente" id="{7B881E04-5702-46BB-97D9-058FD8F1756A}">
          <p14:sldIdLst>
            <p14:sldId id="334"/>
            <p14:sldId id="328"/>
            <p14:sldId id="329"/>
            <p14:sldId id="330"/>
            <p14:sldId id="331"/>
            <p14:sldId id="332"/>
            <p14:sldId id="333"/>
            <p14:sldId id="335"/>
          </p14:sldIdLst>
        </p14:section>
        <p14:section name="Analytische Queries" id="{9B60A7D9-D8BC-4CF5-8A9D-27822C7B67A9}">
          <p14:sldIdLst>
            <p14:sldId id="336"/>
            <p14:sldId id="337"/>
            <p14:sldId id="338"/>
            <p14:sldId id="339"/>
            <p14:sldId id="340"/>
            <p14:sldId id="341"/>
            <p14:sldId id="342"/>
            <p14:sldId id="343"/>
          </p14:sldIdLst>
        </p14:section>
        <p14:section name="Hierarchien" id="{FE100021-66B0-4768-9390-9B63D1DF53BD}">
          <p14:sldIdLst>
            <p14:sldId id="344"/>
            <p14:sldId id="345"/>
            <p14:sldId id="346"/>
            <p14:sldId id="347"/>
            <p14:sldId id="348"/>
            <p14:sldId id="349"/>
            <p14:sldId id="350"/>
            <p14:sldId id="351"/>
          </p14:sldIdLst>
        </p14:section>
        <p14:section name="Zusammenfassung" id="{5DECAE8D-F944-4086-9991-78A14543E16F}">
          <p14:sldIdLst>
            <p14:sldId id="352"/>
            <p14:sldId id="353"/>
            <p14:sldId id="354"/>
          </p14:sldIdLst>
        </p14:section>
        <p14:section name="Ressourcen" id="{190EA87C-8E91-4DCA-AF0E-5140B7EBB5C9}">
          <p14:sldIdLst>
            <p14:sldId id="294"/>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B7865-6B12-42AE-9322-D31843AAF80B}" v="320" dt="2026-09-09T10:53:42.71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31" autoAdjust="0"/>
    <p:restoredTop sz="71373" autoAdjust="0"/>
  </p:normalViewPr>
  <p:slideViewPr>
    <p:cSldViewPr snapToGrid="0">
      <p:cViewPr varScale="1">
        <p:scale>
          <a:sx n="55" d="100"/>
          <a:sy n="55" d="100"/>
        </p:scale>
        <p:origin x="1075" y="4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egelin" userId="44f55030-522d-4388-8c84-12427b5d3861" providerId="ADAL" clId="{0C4B0DB6-929A-4816-82F8-C5CA7CCA52CE}"/>
    <pc:docChg chg="undo custSel addSld delSld modSld sldOrd addSection delSection modSection">
      <pc:chgData name="Michael Wegelin" userId="44f55030-522d-4388-8c84-12427b5d3861" providerId="ADAL" clId="{0C4B0DB6-929A-4816-82F8-C5CA7CCA52CE}" dt="2026-09-09T10:53:42.701" v="18842" actId="20577"/>
      <pc:docMkLst>
        <pc:docMk/>
      </pc:docMkLst>
      <pc:sldChg chg="modSp mod ord modNotesTx">
        <pc:chgData name="Michael Wegelin" userId="44f55030-522d-4388-8c84-12427b5d3861" providerId="ADAL" clId="{0C4B0DB6-929A-4816-82F8-C5CA7CCA52CE}" dt="2026-09-08T18:40:04.723" v="16566" actId="20578"/>
        <pc:sldMkLst>
          <pc:docMk/>
          <pc:sldMk cId="625399248" sldId="256"/>
        </pc:sldMkLst>
        <pc:spChg chg="mod">
          <ac:chgData name="Michael Wegelin" userId="44f55030-522d-4388-8c84-12427b5d3861" providerId="ADAL" clId="{0C4B0DB6-929A-4816-82F8-C5CA7CCA52CE}" dt="2026-09-08T18:21:32.869" v="16321" actId="113"/>
          <ac:spMkLst>
            <pc:docMk/>
            <pc:sldMk cId="625399248" sldId="256"/>
            <ac:spMk id="3" creationId="{602C510F-AB78-3A01-3A34-CB0CE8198C66}"/>
          </ac:spMkLst>
        </pc:spChg>
      </pc:sldChg>
      <pc:sldChg chg="modSp mod">
        <pc:chgData name="Michael Wegelin" userId="44f55030-522d-4388-8c84-12427b5d3861" providerId="ADAL" clId="{0C4B0DB6-929A-4816-82F8-C5CA7CCA52CE}" dt="2026-09-09T10:53:42.701" v="18842" actId="20577"/>
        <pc:sldMkLst>
          <pc:docMk/>
          <pc:sldMk cId="105356027" sldId="294"/>
        </pc:sldMkLst>
        <pc:spChg chg="mod">
          <ac:chgData name="Michael Wegelin" userId="44f55030-522d-4388-8c84-12427b5d3861" providerId="ADAL" clId="{0C4B0DB6-929A-4816-82F8-C5CA7CCA52CE}" dt="2026-09-09T10:53:42.701" v="18842" actId="20577"/>
          <ac:spMkLst>
            <pc:docMk/>
            <pc:sldMk cId="105356027" sldId="294"/>
            <ac:spMk id="3" creationId="{414A8D02-C361-E8AE-D92B-53E118F8360A}"/>
          </ac:spMkLst>
        </pc:spChg>
      </pc:sldChg>
      <pc:sldChg chg="addSp delSp modSp new mod modClrScheme chgLayout modNotesTx">
        <pc:chgData name="Michael Wegelin" userId="44f55030-522d-4388-8c84-12427b5d3861" providerId="ADAL" clId="{0C4B0DB6-929A-4816-82F8-C5CA7CCA52CE}" dt="2026-09-08T18:28:28.197" v="16413" actId="20577"/>
        <pc:sldMkLst>
          <pc:docMk/>
          <pc:sldMk cId="2578804583" sldId="298"/>
        </pc:sldMkLst>
        <pc:spChg chg="add mod ord">
          <ac:chgData name="Michael Wegelin" userId="44f55030-522d-4388-8c84-12427b5d3861" providerId="ADAL" clId="{0C4B0DB6-929A-4816-82F8-C5CA7CCA52CE}" dt="2026-08-10T07:39:22.370" v="14019" actId="20577"/>
          <ac:spMkLst>
            <pc:docMk/>
            <pc:sldMk cId="2578804583" sldId="298"/>
            <ac:spMk id="4" creationId="{EFADA1E8-AC5F-1BA7-2DB9-FF684ED6E5D9}"/>
          </ac:spMkLst>
        </pc:spChg>
        <pc:spChg chg="add mod ord">
          <ac:chgData name="Michael Wegelin" userId="44f55030-522d-4388-8c84-12427b5d3861" providerId="ADAL" clId="{0C4B0DB6-929A-4816-82F8-C5CA7CCA52CE}" dt="2026-09-08T18:28:28.197" v="16413" actId="20577"/>
          <ac:spMkLst>
            <pc:docMk/>
            <pc:sldMk cId="2578804583" sldId="298"/>
            <ac:spMk id="5" creationId="{E0CC596D-566C-A44C-5FDD-BCE18BC98293}"/>
          </ac:spMkLst>
        </pc:spChg>
      </pc:sldChg>
      <pc:sldChg chg="addSp delSp modSp new mod modNotesTx">
        <pc:chgData name="Michael Wegelin" userId="44f55030-522d-4388-8c84-12427b5d3861" providerId="ADAL" clId="{0C4B0DB6-929A-4816-82F8-C5CA7CCA52CE}" dt="2026-08-10T07:43:30.356" v="14094" actId="20577"/>
        <pc:sldMkLst>
          <pc:docMk/>
          <pc:sldMk cId="21303992" sldId="299"/>
        </pc:sldMkLst>
        <pc:spChg chg="mod">
          <ac:chgData name="Michael Wegelin" userId="44f55030-522d-4388-8c84-12427b5d3861" providerId="ADAL" clId="{0C4B0DB6-929A-4816-82F8-C5CA7CCA52CE}" dt="2026-08-10T07:43:30.356" v="14094" actId="20577"/>
          <ac:spMkLst>
            <pc:docMk/>
            <pc:sldMk cId="21303992" sldId="299"/>
            <ac:spMk id="2" creationId="{939A6580-6F1B-70BF-8057-092C0BE9A574}"/>
          </ac:spMkLst>
        </pc:spChg>
        <pc:graphicFrameChg chg="add mod ord modGraphic">
          <ac:chgData name="Michael Wegelin" userId="44f55030-522d-4388-8c84-12427b5d3861" providerId="ADAL" clId="{0C4B0DB6-929A-4816-82F8-C5CA7CCA52CE}" dt="2026-08-10T07:43:15.732" v="14056" actId="14734"/>
          <ac:graphicFrameMkLst>
            <pc:docMk/>
            <pc:sldMk cId="21303992" sldId="299"/>
            <ac:graphicFrameMk id="4" creationId="{39EE1BA3-C6BB-EA3B-C101-D2018C80B5BC}"/>
          </ac:graphicFrameMkLst>
        </pc:graphicFrameChg>
      </pc:sldChg>
      <pc:sldChg chg="addSp delSp modSp new mod modNotesTx">
        <pc:chgData name="Michael Wegelin" userId="44f55030-522d-4388-8c84-12427b5d3861" providerId="ADAL" clId="{0C4B0DB6-929A-4816-82F8-C5CA7CCA52CE}" dt="2026-09-08T18:34:46.587" v="16477"/>
        <pc:sldMkLst>
          <pc:docMk/>
          <pc:sldMk cId="675667850" sldId="300"/>
        </pc:sldMkLst>
        <pc:spChg chg="mod">
          <ac:chgData name="Michael Wegelin" userId="44f55030-522d-4388-8c84-12427b5d3861" providerId="ADAL" clId="{0C4B0DB6-929A-4816-82F8-C5CA7CCA52CE}" dt="2026-09-08T18:31:44.622" v="16454" actId="20577"/>
          <ac:spMkLst>
            <pc:docMk/>
            <pc:sldMk cId="675667850" sldId="300"/>
            <ac:spMk id="2" creationId="{258930C0-6930-3884-D8CF-E38FBDF50431}"/>
          </ac:spMkLst>
        </pc:spChg>
        <pc:spChg chg="del">
          <ac:chgData name="Michael Wegelin" userId="44f55030-522d-4388-8c84-12427b5d3861" providerId="ADAL" clId="{0C4B0DB6-929A-4816-82F8-C5CA7CCA52CE}" dt="2026-09-08T18:33:51.747" v="16455" actId="3680"/>
          <ac:spMkLst>
            <pc:docMk/>
            <pc:sldMk cId="675667850" sldId="300"/>
            <ac:spMk id="3" creationId="{AD0F48E1-4AB1-29B5-1771-9B241E54D843}"/>
          </ac:spMkLst>
        </pc:spChg>
        <pc:graphicFrameChg chg="add mod ord modGraphic">
          <ac:chgData name="Michael Wegelin" userId="44f55030-522d-4388-8c84-12427b5d3861" providerId="ADAL" clId="{0C4B0DB6-929A-4816-82F8-C5CA7CCA52CE}" dt="2026-09-08T18:34:46.587" v="16477"/>
          <ac:graphicFrameMkLst>
            <pc:docMk/>
            <pc:sldMk cId="675667850" sldId="300"/>
            <ac:graphicFrameMk id="4" creationId="{2625D793-EB91-768A-3BC6-BD2B40B99375}"/>
          </ac:graphicFrameMkLst>
        </pc:graphicFrameChg>
      </pc:sldChg>
      <pc:sldChg chg="addSp delSp modSp new del mod modNotesTx">
        <pc:chgData name="Michael Wegelin" userId="44f55030-522d-4388-8c84-12427b5d3861" providerId="ADAL" clId="{0C4B0DB6-929A-4816-82F8-C5CA7CCA52CE}" dt="2026-09-08T18:24:53.784" v="16329" actId="47"/>
        <pc:sldMkLst>
          <pc:docMk/>
          <pc:sldMk cId="2846214406" sldId="300"/>
        </pc:sldMkLst>
      </pc:sldChg>
      <pc:sldChg chg="addSp delSp modSp new del mod modClrScheme chgLayout">
        <pc:chgData name="Michael Wegelin" userId="44f55030-522d-4388-8c84-12427b5d3861" providerId="ADAL" clId="{0C4B0DB6-929A-4816-82F8-C5CA7CCA52CE}" dt="2026-09-08T18:24:54.825" v="16330" actId="47"/>
        <pc:sldMkLst>
          <pc:docMk/>
          <pc:sldMk cId="9069471" sldId="301"/>
        </pc:sldMkLst>
      </pc:sldChg>
      <pc:sldChg chg="add modNotesTx">
        <pc:chgData name="Michael Wegelin" userId="44f55030-522d-4388-8c84-12427b5d3861" providerId="ADAL" clId="{0C4B0DB6-929A-4816-82F8-C5CA7CCA52CE}" dt="2026-09-08T18:29:45.242" v="16421" actId="20577"/>
        <pc:sldMkLst>
          <pc:docMk/>
          <pc:sldMk cId="2846214406" sldId="301"/>
        </pc:sldMkLst>
      </pc:sldChg>
      <pc:sldChg chg="addSp delSp modSp new del mod modClrScheme chgLayout modNotesTx">
        <pc:chgData name="Michael Wegelin" userId="44f55030-522d-4388-8c84-12427b5d3861" providerId="ADAL" clId="{0C4B0DB6-929A-4816-82F8-C5CA7CCA52CE}" dt="2026-09-08T18:24:55.486" v="16331" actId="47"/>
        <pc:sldMkLst>
          <pc:docMk/>
          <pc:sldMk cId="1653378949" sldId="302"/>
        </pc:sldMkLst>
      </pc:sldChg>
      <pc:sldChg chg="addSp delSp modSp new mod modClrScheme chgLayout modNotesTx">
        <pc:chgData name="Michael Wegelin" userId="44f55030-522d-4388-8c84-12427b5d3861" providerId="ADAL" clId="{0C4B0DB6-929A-4816-82F8-C5CA7CCA52CE}" dt="2026-09-08T18:36:28.215" v="16517" actId="5793"/>
        <pc:sldMkLst>
          <pc:docMk/>
          <pc:sldMk cId="2650347178" sldId="302"/>
        </pc:sldMkLst>
        <pc:spChg chg="mod ord">
          <ac:chgData name="Michael Wegelin" userId="44f55030-522d-4388-8c84-12427b5d3861" providerId="ADAL" clId="{0C4B0DB6-929A-4816-82F8-C5CA7CCA52CE}" dt="2026-09-08T18:36:22.439" v="16515" actId="700"/>
          <ac:spMkLst>
            <pc:docMk/>
            <pc:sldMk cId="2650347178" sldId="302"/>
            <ac:spMk id="2" creationId="{9817DB8F-6874-F201-22BB-051F1E900289}"/>
          </ac:spMkLst>
        </pc:spChg>
        <pc:spChg chg="add del mod ord">
          <ac:chgData name="Michael Wegelin" userId="44f55030-522d-4388-8c84-12427b5d3861" providerId="ADAL" clId="{0C4B0DB6-929A-4816-82F8-C5CA7CCA52CE}" dt="2026-09-08T18:36:28.215" v="16517" actId="5793"/>
          <ac:spMkLst>
            <pc:docMk/>
            <pc:sldMk cId="2650347178" sldId="302"/>
            <ac:spMk id="3" creationId="{50F60228-3163-0944-6A9A-93D251F0E56D}"/>
          </ac:spMkLst>
        </pc:spChg>
        <pc:spChg chg="add del mod ord">
          <ac:chgData name="Michael Wegelin" userId="44f55030-522d-4388-8c84-12427b5d3861" providerId="ADAL" clId="{0C4B0DB6-929A-4816-82F8-C5CA7CCA52CE}" dt="2026-09-08T18:36:22.439" v="16515" actId="700"/>
          <ac:spMkLst>
            <pc:docMk/>
            <pc:sldMk cId="2650347178" sldId="302"/>
            <ac:spMk id="4" creationId="{B656807E-B1B6-D295-10F4-F55BC5B34982}"/>
          </ac:spMkLst>
        </pc:spChg>
        <pc:spChg chg="add del mod ord">
          <ac:chgData name="Michael Wegelin" userId="44f55030-522d-4388-8c84-12427b5d3861" providerId="ADAL" clId="{0C4B0DB6-929A-4816-82F8-C5CA7CCA52CE}" dt="2026-09-08T18:36:22.439" v="16515" actId="700"/>
          <ac:spMkLst>
            <pc:docMk/>
            <pc:sldMk cId="2650347178" sldId="302"/>
            <ac:spMk id="5" creationId="{5391D6E9-EC2C-5370-2F4B-6336C75E94CD}"/>
          </ac:spMkLst>
        </pc:spChg>
      </pc:sldChg>
      <pc:sldChg chg="modSp new mod modNotesTx">
        <pc:chgData name="Michael Wegelin" userId="44f55030-522d-4388-8c84-12427b5d3861" providerId="ADAL" clId="{0C4B0DB6-929A-4816-82F8-C5CA7CCA52CE}" dt="2026-09-08T18:37:57.739" v="16528" actId="5793"/>
        <pc:sldMkLst>
          <pc:docMk/>
          <pc:sldMk cId="3059476399" sldId="303"/>
        </pc:sldMkLst>
        <pc:spChg chg="mod">
          <ac:chgData name="Michael Wegelin" userId="44f55030-522d-4388-8c84-12427b5d3861" providerId="ADAL" clId="{0C4B0DB6-929A-4816-82F8-C5CA7CCA52CE}" dt="2026-09-08T18:36:53.449" v="16519"/>
          <ac:spMkLst>
            <pc:docMk/>
            <pc:sldMk cId="3059476399" sldId="303"/>
            <ac:spMk id="2" creationId="{37E919F1-0BE6-FE9E-2A65-0F292C930918}"/>
          </ac:spMkLst>
        </pc:spChg>
        <pc:spChg chg="mod">
          <ac:chgData name="Michael Wegelin" userId="44f55030-522d-4388-8c84-12427b5d3861" providerId="ADAL" clId="{0C4B0DB6-929A-4816-82F8-C5CA7CCA52CE}" dt="2026-09-08T18:37:57.739" v="16528" actId="5793"/>
          <ac:spMkLst>
            <pc:docMk/>
            <pc:sldMk cId="3059476399" sldId="303"/>
            <ac:spMk id="3" creationId="{C4ABD870-FFAA-7A47-8569-CD5384A4B8BA}"/>
          </ac:spMkLst>
        </pc:spChg>
      </pc:sldChg>
      <pc:sldChg chg="addSp delSp modSp new del mod modClrScheme chgLayout modNotesTx">
        <pc:chgData name="Michael Wegelin" userId="44f55030-522d-4388-8c84-12427b5d3861" providerId="ADAL" clId="{0C4B0DB6-929A-4816-82F8-C5CA7CCA52CE}" dt="2026-09-08T18:24:56.392" v="16332" actId="47"/>
        <pc:sldMkLst>
          <pc:docMk/>
          <pc:sldMk cId="4059057196" sldId="303"/>
        </pc:sldMkLst>
      </pc:sldChg>
      <pc:sldChg chg="modSp new mod modNotesTx">
        <pc:chgData name="Michael Wegelin" userId="44f55030-522d-4388-8c84-12427b5d3861" providerId="ADAL" clId="{0C4B0DB6-929A-4816-82F8-C5CA7CCA52CE}" dt="2026-09-08T18:39:46.008" v="16565" actId="12"/>
        <pc:sldMkLst>
          <pc:docMk/>
          <pc:sldMk cId="89411553" sldId="304"/>
        </pc:sldMkLst>
        <pc:spChg chg="mod">
          <ac:chgData name="Michael Wegelin" userId="44f55030-522d-4388-8c84-12427b5d3861" providerId="ADAL" clId="{0C4B0DB6-929A-4816-82F8-C5CA7CCA52CE}" dt="2026-09-08T18:38:36.020" v="16554" actId="20577"/>
          <ac:spMkLst>
            <pc:docMk/>
            <pc:sldMk cId="89411553" sldId="304"/>
            <ac:spMk id="2" creationId="{74AE0FE2-E535-56BF-F29F-3230A05F3DB3}"/>
          </ac:spMkLst>
        </pc:spChg>
        <pc:spChg chg="mod">
          <ac:chgData name="Michael Wegelin" userId="44f55030-522d-4388-8c84-12427b5d3861" providerId="ADAL" clId="{0C4B0DB6-929A-4816-82F8-C5CA7CCA52CE}" dt="2026-09-08T18:39:46.008" v="16565" actId="12"/>
          <ac:spMkLst>
            <pc:docMk/>
            <pc:sldMk cId="89411553" sldId="304"/>
            <ac:spMk id="3" creationId="{1C0C15ED-7548-AEC6-8F59-5C664E78B531}"/>
          </ac:spMkLst>
        </pc:spChg>
      </pc:sldChg>
      <pc:sldChg chg="modSp new del mod modNotesTx">
        <pc:chgData name="Michael Wegelin" userId="44f55030-522d-4388-8c84-12427b5d3861" providerId="ADAL" clId="{0C4B0DB6-929A-4816-82F8-C5CA7CCA52CE}" dt="2026-09-08T18:24:57.637" v="16333" actId="47"/>
        <pc:sldMkLst>
          <pc:docMk/>
          <pc:sldMk cId="923718186" sldId="304"/>
        </pc:sldMkLst>
      </pc:sldChg>
      <pc:sldChg chg="modSp new mod modNotesTx">
        <pc:chgData name="Michael Wegelin" userId="44f55030-522d-4388-8c84-12427b5d3861" providerId="ADAL" clId="{0C4B0DB6-929A-4816-82F8-C5CA7CCA52CE}" dt="2026-09-08T18:57:46.850" v="16837" actId="20577"/>
        <pc:sldMkLst>
          <pc:docMk/>
          <pc:sldMk cId="813780977" sldId="305"/>
        </pc:sldMkLst>
        <pc:spChg chg="mod">
          <ac:chgData name="Michael Wegelin" userId="44f55030-522d-4388-8c84-12427b5d3861" providerId="ADAL" clId="{0C4B0DB6-929A-4816-82F8-C5CA7CCA52CE}" dt="2026-09-08T18:56:52.529" v="16828"/>
          <ac:spMkLst>
            <pc:docMk/>
            <pc:sldMk cId="813780977" sldId="305"/>
            <ac:spMk id="2" creationId="{755461BA-B456-3E4A-7DF4-C21395B20F18}"/>
          </ac:spMkLst>
        </pc:spChg>
        <pc:spChg chg="mod">
          <ac:chgData name="Michael Wegelin" userId="44f55030-522d-4388-8c84-12427b5d3861" providerId="ADAL" clId="{0C4B0DB6-929A-4816-82F8-C5CA7CCA52CE}" dt="2026-09-08T18:57:21.600" v="16833" actId="2711"/>
          <ac:spMkLst>
            <pc:docMk/>
            <pc:sldMk cId="813780977" sldId="305"/>
            <ac:spMk id="3" creationId="{B0659B97-D4DC-B6F5-88CF-97164B1ED347}"/>
          </ac:spMkLst>
        </pc:spChg>
      </pc:sldChg>
      <pc:sldChg chg="addSp delSp modSp new del mod modClrScheme chgLayout modNotesTx">
        <pc:chgData name="Michael Wegelin" userId="44f55030-522d-4388-8c84-12427b5d3861" providerId="ADAL" clId="{0C4B0DB6-929A-4816-82F8-C5CA7CCA52CE}" dt="2026-09-08T18:24:58.683" v="16334" actId="47"/>
        <pc:sldMkLst>
          <pc:docMk/>
          <pc:sldMk cId="2326356364" sldId="305"/>
        </pc:sldMkLst>
      </pc:sldChg>
      <pc:sldChg chg="addSp delSp modSp new mod modNotesTx">
        <pc:chgData name="Michael Wegelin" userId="44f55030-522d-4388-8c84-12427b5d3861" providerId="ADAL" clId="{0C4B0DB6-929A-4816-82F8-C5CA7CCA52CE}" dt="2026-09-08T19:06:10.551" v="16860" actId="14100"/>
        <pc:sldMkLst>
          <pc:docMk/>
          <pc:sldMk cId="2412798150" sldId="306"/>
        </pc:sldMkLst>
        <pc:spChg chg="mod">
          <ac:chgData name="Michael Wegelin" userId="44f55030-522d-4388-8c84-12427b5d3861" providerId="ADAL" clId="{0C4B0DB6-929A-4816-82F8-C5CA7CCA52CE}" dt="2026-09-08T19:01:26.042" v="16842" actId="2711"/>
          <ac:spMkLst>
            <pc:docMk/>
            <pc:sldMk cId="2412798150" sldId="306"/>
            <ac:spMk id="2" creationId="{A80A8946-4AD5-0218-62F3-6E42ACA51DE6}"/>
          </ac:spMkLst>
        </pc:spChg>
        <pc:spChg chg="del">
          <ac:chgData name="Michael Wegelin" userId="44f55030-522d-4388-8c84-12427b5d3861" providerId="ADAL" clId="{0C4B0DB6-929A-4816-82F8-C5CA7CCA52CE}" dt="2026-09-08T19:00:56.291" v="16838" actId="22"/>
          <ac:spMkLst>
            <pc:docMk/>
            <pc:sldMk cId="2412798150" sldId="306"/>
            <ac:spMk id="3" creationId="{C77554C8-E677-9C38-9347-DC22C33DE5FC}"/>
          </ac:spMkLst>
        </pc:spChg>
        <pc:picChg chg="add mod ord">
          <ac:chgData name="Michael Wegelin" userId="44f55030-522d-4388-8c84-12427b5d3861" providerId="ADAL" clId="{0C4B0DB6-929A-4816-82F8-C5CA7CCA52CE}" dt="2026-09-08T19:06:10.551" v="16860" actId="14100"/>
          <ac:picMkLst>
            <pc:docMk/>
            <pc:sldMk cId="2412798150" sldId="306"/>
            <ac:picMk id="5" creationId="{C07EFB58-5B15-1C21-252D-23370E562BF4}"/>
          </ac:picMkLst>
        </pc:picChg>
      </pc:sldChg>
      <pc:sldChg chg="addSp delSp modSp new del mod modClrScheme chgLayout modNotesTx">
        <pc:chgData name="Michael Wegelin" userId="44f55030-522d-4388-8c84-12427b5d3861" providerId="ADAL" clId="{0C4B0DB6-929A-4816-82F8-C5CA7CCA52CE}" dt="2026-09-08T18:25:00.036" v="16335" actId="47"/>
        <pc:sldMkLst>
          <pc:docMk/>
          <pc:sldMk cId="2801675066" sldId="306"/>
        </pc:sldMkLst>
      </pc:sldChg>
      <pc:sldChg chg="addSp delSp modSp new del mod modClrScheme chgLayout modNotesTx">
        <pc:chgData name="Michael Wegelin" userId="44f55030-522d-4388-8c84-12427b5d3861" providerId="ADAL" clId="{0C4B0DB6-929A-4816-82F8-C5CA7CCA52CE}" dt="2026-09-08T18:25:07.485" v="16336" actId="47"/>
        <pc:sldMkLst>
          <pc:docMk/>
          <pc:sldMk cId="2983007538" sldId="307"/>
        </pc:sldMkLst>
      </pc:sldChg>
      <pc:sldChg chg="addSp delSp modSp new mod modNotesTx">
        <pc:chgData name="Michael Wegelin" userId="44f55030-522d-4388-8c84-12427b5d3861" providerId="ADAL" clId="{0C4B0DB6-929A-4816-82F8-C5CA7CCA52CE}" dt="2026-09-08T19:05:02.065" v="16854" actId="20577"/>
        <pc:sldMkLst>
          <pc:docMk/>
          <pc:sldMk cId="3060387740" sldId="307"/>
        </pc:sldMkLst>
        <pc:spChg chg="mod">
          <ac:chgData name="Michael Wegelin" userId="44f55030-522d-4388-8c84-12427b5d3861" providerId="ADAL" clId="{0C4B0DB6-929A-4816-82F8-C5CA7CCA52CE}" dt="2026-09-08T19:02:20.650" v="16848" actId="2711"/>
          <ac:spMkLst>
            <pc:docMk/>
            <pc:sldMk cId="3060387740" sldId="307"/>
            <ac:spMk id="2" creationId="{49C64DFA-CFB4-0AA3-74DB-DC145717EF2F}"/>
          </ac:spMkLst>
        </pc:spChg>
        <pc:spChg chg="del">
          <ac:chgData name="Michael Wegelin" userId="44f55030-522d-4388-8c84-12427b5d3861" providerId="ADAL" clId="{0C4B0DB6-929A-4816-82F8-C5CA7CCA52CE}" dt="2026-09-08T19:04:11.076" v="16849" actId="22"/>
          <ac:spMkLst>
            <pc:docMk/>
            <pc:sldMk cId="3060387740" sldId="307"/>
            <ac:spMk id="3" creationId="{7F1F0AA5-E7D1-66DD-DE9F-AC17B18DD09A}"/>
          </ac:spMkLst>
        </pc:spChg>
        <pc:picChg chg="add mod ord">
          <ac:chgData name="Michael Wegelin" userId="44f55030-522d-4388-8c84-12427b5d3861" providerId="ADAL" clId="{0C4B0DB6-929A-4816-82F8-C5CA7CCA52CE}" dt="2026-09-08T19:04:24.451" v="16851" actId="14100"/>
          <ac:picMkLst>
            <pc:docMk/>
            <pc:sldMk cId="3060387740" sldId="307"/>
            <ac:picMk id="5" creationId="{D63B3E2D-2A09-473E-4AF5-318785DD08CB}"/>
          </ac:picMkLst>
        </pc:picChg>
      </pc:sldChg>
      <pc:sldChg chg="addSp delSp modSp new mod modNotesTx">
        <pc:chgData name="Michael Wegelin" userId="44f55030-522d-4388-8c84-12427b5d3861" providerId="ADAL" clId="{0C4B0DB6-929A-4816-82F8-C5CA7CCA52CE}" dt="2026-09-08T19:07:58.938" v="16873"/>
        <pc:sldMkLst>
          <pc:docMk/>
          <pc:sldMk cId="476440104" sldId="308"/>
        </pc:sldMkLst>
        <pc:spChg chg="mod">
          <ac:chgData name="Michael Wegelin" userId="44f55030-522d-4388-8c84-12427b5d3861" providerId="ADAL" clId="{0C4B0DB6-929A-4816-82F8-C5CA7CCA52CE}" dt="2026-09-08T19:05:39.235" v="16856" actId="2711"/>
          <ac:spMkLst>
            <pc:docMk/>
            <pc:sldMk cId="476440104" sldId="308"/>
            <ac:spMk id="2" creationId="{00C0AD24-ABE1-CC33-AF20-FD33311731F2}"/>
          </ac:spMkLst>
        </pc:spChg>
        <pc:spChg chg="del">
          <ac:chgData name="Michael Wegelin" userId="44f55030-522d-4388-8c84-12427b5d3861" providerId="ADAL" clId="{0C4B0DB6-929A-4816-82F8-C5CA7CCA52CE}" dt="2026-09-08T19:07:15.423" v="16865" actId="3680"/>
          <ac:spMkLst>
            <pc:docMk/>
            <pc:sldMk cId="476440104" sldId="308"/>
            <ac:spMk id="3" creationId="{D35A4BC5-14D9-0E23-84C8-A6191C31D78F}"/>
          </ac:spMkLst>
        </pc:spChg>
        <pc:graphicFrameChg chg="add mod ord modGraphic">
          <ac:chgData name="Michael Wegelin" userId="44f55030-522d-4388-8c84-12427b5d3861" providerId="ADAL" clId="{0C4B0DB6-929A-4816-82F8-C5CA7CCA52CE}" dt="2026-09-08T19:07:58.938" v="16873"/>
          <ac:graphicFrameMkLst>
            <pc:docMk/>
            <pc:sldMk cId="476440104" sldId="308"/>
            <ac:graphicFrameMk id="4" creationId="{A0661688-49BD-F896-6CB0-CD257C74ED50}"/>
          </ac:graphicFrameMkLst>
        </pc:graphicFrameChg>
      </pc:sldChg>
      <pc:sldChg chg="addSp delSp modSp new del mod modClrScheme chgLayout modNotesTx">
        <pc:chgData name="Michael Wegelin" userId="44f55030-522d-4388-8c84-12427b5d3861" providerId="ADAL" clId="{0C4B0DB6-929A-4816-82F8-C5CA7CCA52CE}" dt="2026-09-08T18:25:08.685" v="16337" actId="47"/>
        <pc:sldMkLst>
          <pc:docMk/>
          <pc:sldMk cId="2526800824" sldId="308"/>
        </pc:sldMkLst>
      </pc:sldChg>
      <pc:sldChg chg="addSp delSp modSp new del mod modClrScheme chgLayout modNotesTx">
        <pc:chgData name="Michael Wegelin" userId="44f55030-522d-4388-8c84-12427b5d3861" providerId="ADAL" clId="{0C4B0DB6-929A-4816-82F8-C5CA7CCA52CE}" dt="2026-09-08T18:25:09.693" v="16338" actId="47"/>
        <pc:sldMkLst>
          <pc:docMk/>
          <pc:sldMk cId="1706218837" sldId="309"/>
        </pc:sldMkLst>
      </pc:sldChg>
      <pc:sldChg chg="addSp delSp modSp new mod modNotesTx">
        <pc:chgData name="Michael Wegelin" userId="44f55030-522d-4388-8c84-12427b5d3861" providerId="ADAL" clId="{0C4B0DB6-929A-4816-82F8-C5CA7CCA52CE}" dt="2026-09-08T19:09:53.597" v="16898" actId="14100"/>
        <pc:sldMkLst>
          <pc:docMk/>
          <pc:sldMk cId="3763321511" sldId="309"/>
        </pc:sldMkLst>
        <pc:spChg chg="mod">
          <ac:chgData name="Michael Wegelin" userId="44f55030-522d-4388-8c84-12427b5d3861" providerId="ADAL" clId="{0C4B0DB6-929A-4816-82F8-C5CA7CCA52CE}" dt="2026-09-08T19:09:03.544" v="16895" actId="6549"/>
          <ac:spMkLst>
            <pc:docMk/>
            <pc:sldMk cId="3763321511" sldId="309"/>
            <ac:spMk id="2" creationId="{56FB5F06-61B7-EA14-180F-88FF546B067A}"/>
          </ac:spMkLst>
        </pc:spChg>
        <pc:spChg chg="del">
          <ac:chgData name="Michael Wegelin" userId="44f55030-522d-4388-8c84-12427b5d3861" providerId="ADAL" clId="{0C4B0DB6-929A-4816-82F8-C5CA7CCA52CE}" dt="2026-09-08T19:09:48.845" v="16896" actId="22"/>
          <ac:spMkLst>
            <pc:docMk/>
            <pc:sldMk cId="3763321511" sldId="309"/>
            <ac:spMk id="3" creationId="{C596E68F-75EE-9702-4B08-BFFD7B11E711}"/>
          </ac:spMkLst>
        </pc:spChg>
        <pc:picChg chg="add mod ord">
          <ac:chgData name="Michael Wegelin" userId="44f55030-522d-4388-8c84-12427b5d3861" providerId="ADAL" clId="{0C4B0DB6-929A-4816-82F8-C5CA7CCA52CE}" dt="2026-09-08T19:09:53.597" v="16898" actId="14100"/>
          <ac:picMkLst>
            <pc:docMk/>
            <pc:sldMk cId="3763321511" sldId="309"/>
            <ac:picMk id="5" creationId="{DEDC1ECC-DA24-A940-20B3-B6734969B5E9}"/>
          </ac:picMkLst>
        </pc:picChg>
      </pc:sldChg>
      <pc:sldChg chg="modSp new del mod modNotesTx">
        <pc:chgData name="Michael Wegelin" userId="44f55030-522d-4388-8c84-12427b5d3861" providerId="ADAL" clId="{0C4B0DB6-929A-4816-82F8-C5CA7CCA52CE}" dt="2026-09-08T18:25:11.073" v="16339" actId="47"/>
        <pc:sldMkLst>
          <pc:docMk/>
          <pc:sldMk cId="1712992591" sldId="310"/>
        </pc:sldMkLst>
      </pc:sldChg>
      <pc:sldChg chg="modSp new mod">
        <pc:chgData name="Michael Wegelin" userId="44f55030-522d-4388-8c84-12427b5d3861" providerId="ADAL" clId="{0C4B0DB6-929A-4816-82F8-C5CA7CCA52CE}" dt="2026-09-08T19:11:06.156" v="16921" actId="5793"/>
        <pc:sldMkLst>
          <pc:docMk/>
          <pc:sldMk cId="3572140272" sldId="310"/>
        </pc:sldMkLst>
        <pc:spChg chg="mod">
          <ac:chgData name="Michael Wegelin" userId="44f55030-522d-4388-8c84-12427b5d3861" providerId="ADAL" clId="{0C4B0DB6-929A-4816-82F8-C5CA7CCA52CE}" dt="2026-09-08T19:10:55.543" v="16919" actId="20577"/>
          <ac:spMkLst>
            <pc:docMk/>
            <pc:sldMk cId="3572140272" sldId="310"/>
            <ac:spMk id="2" creationId="{9E09B210-F67F-74B2-075B-F1C42F4DB765}"/>
          </ac:spMkLst>
        </pc:spChg>
        <pc:spChg chg="mod">
          <ac:chgData name="Michael Wegelin" userId="44f55030-522d-4388-8c84-12427b5d3861" providerId="ADAL" clId="{0C4B0DB6-929A-4816-82F8-C5CA7CCA52CE}" dt="2026-09-08T19:11:06.156" v="16921" actId="5793"/>
          <ac:spMkLst>
            <pc:docMk/>
            <pc:sldMk cId="3572140272" sldId="310"/>
            <ac:spMk id="3" creationId="{0588A28B-381E-1F62-35C4-6CE355F5CD90}"/>
          </ac:spMkLst>
        </pc:spChg>
      </pc:sldChg>
      <pc:sldChg chg="modSp new del mod modNotesTx">
        <pc:chgData name="Michael Wegelin" userId="44f55030-522d-4388-8c84-12427b5d3861" providerId="ADAL" clId="{0C4B0DB6-929A-4816-82F8-C5CA7CCA52CE}" dt="2026-09-08T18:25:12.445" v="16340" actId="47"/>
        <pc:sldMkLst>
          <pc:docMk/>
          <pc:sldMk cId="1145613476" sldId="311"/>
        </pc:sldMkLst>
      </pc:sldChg>
      <pc:sldChg chg="modSp new mod modNotesTx">
        <pc:chgData name="Michael Wegelin" userId="44f55030-522d-4388-8c84-12427b5d3861" providerId="ADAL" clId="{0C4B0DB6-929A-4816-82F8-C5CA7CCA52CE}" dt="2026-09-08T18:44:44.830" v="16590" actId="20577"/>
        <pc:sldMkLst>
          <pc:docMk/>
          <pc:sldMk cId="3439242894" sldId="311"/>
        </pc:sldMkLst>
        <pc:spChg chg="mod">
          <ac:chgData name="Michael Wegelin" userId="44f55030-522d-4388-8c84-12427b5d3861" providerId="ADAL" clId="{0C4B0DB6-929A-4816-82F8-C5CA7CCA52CE}" dt="2026-09-08T18:43:43.357" v="16583"/>
          <ac:spMkLst>
            <pc:docMk/>
            <pc:sldMk cId="3439242894" sldId="311"/>
            <ac:spMk id="2" creationId="{9FDC71B3-F916-D9D1-CC12-A923568DF6C0}"/>
          </ac:spMkLst>
        </pc:spChg>
        <pc:spChg chg="mod">
          <ac:chgData name="Michael Wegelin" userId="44f55030-522d-4388-8c84-12427b5d3861" providerId="ADAL" clId="{0C4B0DB6-929A-4816-82F8-C5CA7CCA52CE}" dt="2026-09-08T18:44:05.846" v="16586" actId="5793"/>
          <ac:spMkLst>
            <pc:docMk/>
            <pc:sldMk cId="3439242894" sldId="311"/>
            <ac:spMk id="3" creationId="{50C60EBA-60EC-925B-E9BB-D576FB58706C}"/>
          </ac:spMkLst>
        </pc:spChg>
      </pc:sldChg>
      <pc:sldChg chg="addSp delSp modSp new mod modNotesTx">
        <pc:chgData name="Michael Wegelin" userId="44f55030-522d-4388-8c84-12427b5d3861" providerId="ADAL" clId="{0C4B0DB6-929A-4816-82F8-C5CA7CCA52CE}" dt="2026-09-08T18:47:03.612" v="16636" actId="20577"/>
        <pc:sldMkLst>
          <pc:docMk/>
          <pc:sldMk cId="2610462987" sldId="312"/>
        </pc:sldMkLst>
        <pc:spChg chg="mod">
          <ac:chgData name="Michael Wegelin" userId="44f55030-522d-4388-8c84-12427b5d3861" providerId="ADAL" clId="{0C4B0DB6-929A-4816-82F8-C5CA7CCA52CE}" dt="2026-09-08T18:45:07.226" v="16591"/>
          <ac:spMkLst>
            <pc:docMk/>
            <pc:sldMk cId="2610462987" sldId="312"/>
            <ac:spMk id="2" creationId="{C2ADF9EE-37DA-B726-5478-D65C2210D4CD}"/>
          </ac:spMkLst>
        </pc:spChg>
        <pc:spChg chg="del">
          <ac:chgData name="Michael Wegelin" userId="44f55030-522d-4388-8c84-12427b5d3861" providerId="ADAL" clId="{0C4B0DB6-929A-4816-82F8-C5CA7CCA52CE}" dt="2026-09-08T18:45:19.926" v="16592" actId="3680"/>
          <ac:spMkLst>
            <pc:docMk/>
            <pc:sldMk cId="2610462987" sldId="312"/>
            <ac:spMk id="3" creationId="{A09DE44F-D252-1DFA-B225-F7CA7AE2F14A}"/>
          </ac:spMkLst>
        </pc:spChg>
        <pc:graphicFrameChg chg="add mod ord modGraphic">
          <ac:chgData name="Michael Wegelin" userId="44f55030-522d-4388-8c84-12427b5d3861" providerId="ADAL" clId="{0C4B0DB6-929A-4816-82F8-C5CA7CCA52CE}" dt="2026-09-08T18:46:12.697" v="16601"/>
          <ac:graphicFrameMkLst>
            <pc:docMk/>
            <pc:sldMk cId="2610462987" sldId="312"/>
            <ac:graphicFrameMk id="4" creationId="{1532E5D4-2F72-F968-021C-79C4839FDAAD}"/>
          </ac:graphicFrameMkLst>
        </pc:graphicFrameChg>
      </pc:sldChg>
      <pc:sldChg chg="addSp modSp new del mod modNotesTx">
        <pc:chgData name="Michael Wegelin" userId="44f55030-522d-4388-8c84-12427b5d3861" providerId="ADAL" clId="{0C4B0DB6-929A-4816-82F8-C5CA7CCA52CE}" dt="2026-09-08T18:25:13.333" v="16341" actId="47"/>
        <pc:sldMkLst>
          <pc:docMk/>
          <pc:sldMk cId="3628458173" sldId="312"/>
        </pc:sldMkLst>
      </pc:sldChg>
      <pc:sldChg chg="modSp new mod modNotesTx">
        <pc:chgData name="Michael Wegelin" userId="44f55030-522d-4388-8c84-12427b5d3861" providerId="ADAL" clId="{0C4B0DB6-929A-4816-82F8-C5CA7CCA52CE}" dt="2026-09-08T18:48:39.819" v="16648" actId="20577"/>
        <pc:sldMkLst>
          <pc:docMk/>
          <pc:sldMk cId="425677126" sldId="313"/>
        </pc:sldMkLst>
        <pc:spChg chg="mod">
          <ac:chgData name="Michael Wegelin" userId="44f55030-522d-4388-8c84-12427b5d3861" providerId="ADAL" clId="{0C4B0DB6-929A-4816-82F8-C5CA7CCA52CE}" dt="2026-09-08T18:47:20.588" v="16637"/>
          <ac:spMkLst>
            <pc:docMk/>
            <pc:sldMk cId="425677126" sldId="313"/>
            <ac:spMk id="2" creationId="{4EE1DFBF-DFF6-A616-A534-3D02502734C2}"/>
          </ac:spMkLst>
        </pc:spChg>
        <pc:spChg chg="mod">
          <ac:chgData name="Michael Wegelin" userId="44f55030-522d-4388-8c84-12427b5d3861" providerId="ADAL" clId="{0C4B0DB6-929A-4816-82F8-C5CA7CCA52CE}" dt="2026-09-08T18:47:58.661" v="16643" actId="27636"/>
          <ac:spMkLst>
            <pc:docMk/>
            <pc:sldMk cId="425677126" sldId="313"/>
            <ac:spMk id="3" creationId="{B2373F65-8363-938C-E070-6F9F5E4B4C45}"/>
          </ac:spMkLst>
        </pc:spChg>
      </pc:sldChg>
      <pc:sldChg chg="addSp delSp modSp new del mod">
        <pc:chgData name="Michael Wegelin" userId="44f55030-522d-4388-8c84-12427b5d3861" providerId="ADAL" clId="{0C4B0DB6-929A-4816-82F8-C5CA7CCA52CE}" dt="2026-09-08T18:25:14.585" v="16342" actId="47"/>
        <pc:sldMkLst>
          <pc:docMk/>
          <pc:sldMk cId="3610546121" sldId="313"/>
        </pc:sldMkLst>
      </pc:sldChg>
      <pc:sldChg chg="modSp new del mod modNotesTx">
        <pc:chgData name="Michael Wegelin" userId="44f55030-522d-4388-8c84-12427b5d3861" providerId="ADAL" clId="{0C4B0DB6-929A-4816-82F8-C5CA7CCA52CE}" dt="2026-09-08T18:25:16.311" v="16343" actId="47"/>
        <pc:sldMkLst>
          <pc:docMk/>
          <pc:sldMk cId="316401924" sldId="314"/>
        </pc:sldMkLst>
      </pc:sldChg>
      <pc:sldChg chg="modSp new mod modNotesTx">
        <pc:chgData name="Michael Wegelin" userId="44f55030-522d-4388-8c84-12427b5d3861" providerId="ADAL" clId="{0C4B0DB6-929A-4816-82F8-C5CA7CCA52CE}" dt="2026-09-08T18:49:43.539" v="16682" actId="27636"/>
        <pc:sldMkLst>
          <pc:docMk/>
          <pc:sldMk cId="1796488573" sldId="314"/>
        </pc:sldMkLst>
        <pc:spChg chg="mod">
          <ac:chgData name="Michael Wegelin" userId="44f55030-522d-4388-8c84-12427b5d3861" providerId="ADAL" clId="{0C4B0DB6-929A-4816-82F8-C5CA7CCA52CE}" dt="2026-09-08T18:48:51.276" v="16674" actId="20577"/>
          <ac:spMkLst>
            <pc:docMk/>
            <pc:sldMk cId="1796488573" sldId="314"/>
            <ac:spMk id="2" creationId="{C3B8CA9E-2AF6-0325-EC97-32168C3EA6D9}"/>
          </ac:spMkLst>
        </pc:spChg>
        <pc:spChg chg="mod">
          <ac:chgData name="Michael Wegelin" userId="44f55030-522d-4388-8c84-12427b5d3861" providerId="ADAL" clId="{0C4B0DB6-929A-4816-82F8-C5CA7CCA52CE}" dt="2026-09-08T18:49:43.539" v="16682" actId="27636"/>
          <ac:spMkLst>
            <pc:docMk/>
            <pc:sldMk cId="1796488573" sldId="314"/>
            <ac:spMk id="3" creationId="{18C09904-8299-EA32-96CB-D382B449FB2A}"/>
          </ac:spMkLst>
        </pc:spChg>
      </pc:sldChg>
      <pc:sldChg chg="modSp new mod modNotesTx">
        <pc:chgData name="Michael Wegelin" userId="44f55030-522d-4388-8c84-12427b5d3861" providerId="ADAL" clId="{0C4B0DB6-929A-4816-82F8-C5CA7CCA52CE}" dt="2026-09-08T18:50:57.338" v="16760" actId="20577"/>
        <pc:sldMkLst>
          <pc:docMk/>
          <pc:sldMk cId="254962471" sldId="315"/>
        </pc:sldMkLst>
        <pc:spChg chg="mod">
          <ac:chgData name="Michael Wegelin" userId="44f55030-522d-4388-8c84-12427b5d3861" providerId="ADAL" clId="{0C4B0DB6-929A-4816-82F8-C5CA7CCA52CE}" dt="2026-09-08T18:50:01.356" v="16715" actId="20577"/>
          <ac:spMkLst>
            <pc:docMk/>
            <pc:sldMk cId="254962471" sldId="315"/>
            <ac:spMk id="2" creationId="{0C4D3B03-EEBA-AD33-761D-9B0FEFA1F2D2}"/>
          </ac:spMkLst>
        </pc:spChg>
        <pc:spChg chg="mod">
          <ac:chgData name="Michael Wegelin" userId="44f55030-522d-4388-8c84-12427b5d3861" providerId="ADAL" clId="{0C4B0DB6-929A-4816-82F8-C5CA7CCA52CE}" dt="2026-09-08T18:50:13.152" v="16719" actId="27636"/>
          <ac:spMkLst>
            <pc:docMk/>
            <pc:sldMk cId="254962471" sldId="315"/>
            <ac:spMk id="3" creationId="{D64B7BCA-5C8D-73B6-180D-ED87AC570214}"/>
          </ac:spMkLst>
        </pc:spChg>
      </pc:sldChg>
      <pc:sldChg chg="modSp new del mod modNotesTx">
        <pc:chgData name="Michael Wegelin" userId="44f55030-522d-4388-8c84-12427b5d3861" providerId="ADAL" clId="{0C4B0DB6-929A-4816-82F8-C5CA7CCA52CE}" dt="2026-09-08T18:25:24.566" v="16344" actId="47"/>
        <pc:sldMkLst>
          <pc:docMk/>
          <pc:sldMk cId="4238661724" sldId="315"/>
        </pc:sldMkLst>
      </pc:sldChg>
      <pc:sldChg chg="addSp delSp modSp new mod modNotesTx">
        <pc:chgData name="Michael Wegelin" userId="44f55030-522d-4388-8c84-12427b5d3861" providerId="ADAL" clId="{0C4B0DB6-929A-4816-82F8-C5CA7CCA52CE}" dt="2026-09-08T19:05:49.359" v="16857" actId="2711"/>
        <pc:sldMkLst>
          <pc:docMk/>
          <pc:sldMk cId="2542288798" sldId="316"/>
        </pc:sldMkLst>
        <pc:spChg chg="mod">
          <ac:chgData name="Michael Wegelin" userId="44f55030-522d-4388-8c84-12427b5d3861" providerId="ADAL" clId="{0C4B0DB6-929A-4816-82F8-C5CA7CCA52CE}" dt="2026-09-08T18:51:07.677" v="16777" actId="20577"/>
          <ac:spMkLst>
            <pc:docMk/>
            <pc:sldMk cId="2542288798" sldId="316"/>
            <ac:spMk id="2" creationId="{9A45E4C1-CCB8-93EA-451B-6595527E8E1C}"/>
          </ac:spMkLst>
        </pc:spChg>
        <pc:spChg chg="del">
          <ac:chgData name="Michael Wegelin" userId="44f55030-522d-4388-8c84-12427b5d3861" providerId="ADAL" clId="{0C4B0DB6-929A-4816-82F8-C5CA7CCA52CE}" dt="2026-09-08T18:51:24.173" v="16778" actId="3680"/>
          <ac:spMkLst>
            <pc:docMk/>
            <pc:sldMk cId="2542288798" sldId="316"/>
            <ac:spMk id="3" creationId="{F3908F12-4D9B-848E-1C9F-60F8C37F27FA}"/>
          </ac:spMkLst>
        </pc:spChg>
        <pc:spChg chg="add del">
          <ac:chgData name="Michael Wegelin" userId="44f55030-522d-4388-8c84-12427b5d3861" providerId="ADAL" clId="{0C4B0DB6-929A-4816-82F8-C5CA7CCA52CE}" dt="2026-09-08T18:51:32.207" v="16780" actId="22"/>
          <ac:spMkLst>
            <pc:docMk/>
            <pc:sldMk cId="2542288798" sldId="316"/>
            <ac:spMk id="6" creationId="{301227FC-AFE5-5A0F-6B80-39C34AAD3E5D}"/>
          </ac:spMkLst>
        </pc:spChg>
        <pc:graphicFrameChg chg="add mod ord modGraphic">
          <ac:chgData name="Michael Wegelin" userId="44f55030-522d-4388-8c84-12427b5d3861" providerId="ADAL" clId="{0C4B0DB6-929A-4816-82F8-C5CA7CCA52CE}" dt="2026-09-08T19:05:49.359" v="16857" actId="2711"/>
          <ac:graphicFrameMkLst>
            <pc:docMk/>
            <pc:sldMk cId="2542288798" sldId="316"/>
            <ac:graphicFrameMk id="4" creationId="{66EED2F1-F4B4-934C-344C-A4273B29D3BF}"/>
          </ac:graphicFrameMkLst>
        </pc:graphicFrameChg>
      </pc:sldChg>
      <pc:sldChg chg="modSp new del mod modNotesTx">
        <pc:chgData name="Michael Wegelin" userId="44f55030-522d-4388-8c84-12427b5d3861" providerId="ADAL" clId="{0C4B0DB6-929A-4816-82F8-C5CA7CCA52CE}" dt="2026-09-08T18:25:26.850" v="16345" actId="47"/>
        <pc:sldMkLst>
          <pc:docMk/>
          <pc:sldMk cId="3941829136" sldId="316"/>
        </pc:sldMkLst>
      </pc:sldChg>
      <pc:sldChg chg="new del">
        <pc:chgData name="Michael Wegelin" userId="44f55030-522d-4388-8c84-12427b5d3861" providerId="ADAL" clId="{0C4B0DB6-929A-4816-82F8-C5CA7CCA52CE}" dt="2026-09-08T18:56:49.741" v="16827" actId="47"/>
        <pc:sldMkLst>
          <pc:docMk/>
          <pc:sldMk cId="900801364" sldId="317"/>
        </pc:sldMkLst>
      </pc:sldChg>
      <pc:sldChg chg="addSp modSp new del mod modClrScheme chgLayout modNotesTx">
        <pc:chgData name="Michael Wegelin" userId="44f55030-522d-4388-8c84-12427b5d3861" providerId="ADAL" clId="{0C4B0DB6-929A-4816-82F8-C5CA7CCA52CE}" dt="2026-09-08T18:25:27.947" v="16346" actId="47"/>
        <pc:sldMkLst>
          <pc:docMk/>
          <pc:sldMk cId="3840686079" sldId="317"/>
        </pc:sldMkLst>
      </pc:sldChg>
      <pc:sldChg chg="modSp new mod modNotesTx">
        <pc:chgData name="Michael Wegelin" userId="44f55030-522d-4388-8c84-12427b5d3861" providerId="ADAL" clId="{0C4B0DB6-929A-4816-82F8-C5CA7CCA52CE}" dt="2026-09-08T19:18:06.164" v="16935" actId="20577"/>
        <pc:sldMkLst>
          <pc:docMk/>
          <pc:sldMk cId="4107561813" sldId="317"/>
        </pc:sldMkLst>
        <pc:spChg chg="mod">
          <ac:chgData name="Michael Wegelin" userId="44f55030-522d-4388-8c84-12427b5d3861" providerId="ADAL" clId="{0C4B0DB6-929A-4816-82F8-C5CA7CCA52CE}" dt="2026-09-08T19:17:18.801" v="16928"/>
          <ac:spMkLst>
            <pc:docMk/>
            <pc:sldMk cId="4107561813" sldId="317"/>
            <ac:spMk id="2" creationId="{85A0A95A-5E58-69CB-663E-1EE9A2552AE7}"/>
          </ac:spMkLst>
        </pc:spChg>
        <pc:spChg chg="mod">
          <ac:chgData name="Michael Wegelin" userId="44f55030-522d-4388-8c84-12427b5d3861" providerId="ADAL" clId="{0C4B0DB6-929A-4816-82F8-C5CA7CCA52CE}" dt="2026-09-08T19:17:30.006" v="16931" actId="20577"/>
          <ac:spMkLst>
            <pc:docMk/>
            <pc:sldMk cId="4107561813" sldId="317"/>
            <ac:spMk id="3" creationId="{529DB125-138E-CE71-8A05-2F4AA2139C07}"/>
          </ac:spMkLst>
        </pc:spChg>
      </pc:sldChg>
      <pc:sldChg chg="addSp delSp modSp new mod modNotesTx">
        <pc:chgData name="Michael Wegelin" userId="44f55030-522d-4388-8c84-12427b5d3861" providerId="ADAL" clId="{0C4B0DB6-929A-4816-82F8-C5CA7CCA52CE}" dt="2026-09-08T19:21:03.148" v="16951" actId="20577"/>
        <pc:sldMkLst>
          <pc:docMk/>
          <pc:sldMk cId="1105270125" sldId="318"/>
        </pc:sldMkLst>
        <pc:spChg chg="mod">
          <ac:chgData name="Michael Wegelin" userId="44f55030-522d-4388-8c84-12427b5d3861" providerId="ADAL" clId="{0C4B0DB6-929A-4816-82F8-C5CA7CCA52CE}" dt="2026-09-08T19:18:25.287" v="16937" actId="2711"/>
          <ac:spMkLst>
            <pc:docMk/>
            <pc:sldMk cId="1105270125" sldId="318"/>
            <ac:spMk id="2" creationId="{772028C7-A82F-7451-D44E-8CC4A4CA9EE7}"/>
          </ac:spMkLst>
        </pc:spChg>
        <pc:spChg chg="del">
          <ac:chgData name="Michael Wegelin" userId="44f55030-522d-4388-8c84-12427b5d3861" providerId="ADAL" clId="{0C4B0DB6-929A-4816-82F8-C5CA7CCA52CE}" dt="2026-09-08T19:19:34.810" v="16942" actId="22"/>
          <ac:spMkLst>
            <pc:docMk/>
            <pc:sldMk cId="1105270125" sldId="318"/>
            <ac:spMk id="3" creationId="{05B01747-2DF1-0776-E284-98EB8B518005}"/>
          </ac:spMkLst>
        </pc:spChg>
        <pc:picChg chg="add mod ord">
          <ac:chgData name="Michael Wegelin" userId="44f55030-522d-4388-8c84-12427b5d3861" providerId="ADAL" clId="{0C4B0DB6-929A-4816-82F8-C5CA7CCA52CE}" dt="2026-09-08T19:19:43.472" v="16945" actId="14100"/>
          <ac:picMkLst>
            <pc:docMk/>
            <pc:sldMk cId="1105270125" sldId="318"/>
            <ac:picMk id="5" creationId="{5E644A7B-7697-53B5-C193-8392AF81EDD1}"/>
          </ac:picMkLst>
        </pc:picChg>
      </pc:sldChg>
      <pc:sldChg chg="modSp new del mod modNotesTx">
        <pc:chgData name="Michael Wegelin" userId="44f55030-522d-4388-8c84-12427b5d3861" providerId="ADAL" clId="{0C4B0DB6-929A-4816-82F8-C5CA7CCA52CE}" dt="2026-09-08T18:25:29.550" v="16347" actId="47"/>
        <pc:sldMkLst>
          <pc:docMk/>
          <pc:sldMk cId="3274042602" sldId="318"/>
        </pc:sldMkLst>
      </pc:sldChg>
      <pc:sldChg chg="addSp delSp modSp new mod modNotesTx">
        <pc:chgData name="Michael Wegelin" userId="44f55030-522d-4388-8c84-12427b5d3861" providerId="ADAL" clId="{0C4B0DB6-929A-4816-82F8-C5CA7CCA52CE}" dt="2026-09-08T19:24:04.780" v="16960" actId="14100"/>
        <pc:sldMkLst>
          <pc:docMk/>
          <pc:sldMk cId="2296720729" sldId="319"/>
        </pc:sldMkLst>
        <pc:spChg chg="mod">
          <ac:chgData name="Michael Wegelin" userId="44f55030-522d-4388-8c84-12427b5d3861" providerId="ADAL" clId="{0C4B0DB6-929A-4816-82F8-C5CA7CCA52CE}" dt="2026-09-08T19:21:20.090" v="16952"/>
          <ac:spMkLst>
            <pc:docMk/>
            <pc:sldMk cId="2296720729" sldId="319"/>
            <ac:spMk id="2" creationId="{7EE96327-8847-E11F-4D68-F6B0F32A8697}"/>
          </ac:spMkLst>
        </pc:spChg>
        <pc:spChg chg="del">
          <ac:chgData name="Michael Wegelin" userId="44f55030-522d-4388-8c84-12427b5d3861" providerId="ADAL" clId="{0C4B0DB6-929A-4816-82F8-C5CA7CCA52CE}" dt="2026-09-08T19:23:53.369" v="16957" actId="22"/>
          <ac:spMkLst>
            <pc:docMk/>
            <pc:sldMk cId="2296720729" sldId="319"/>
            <ac:spMk id="3" creationId="{389EFCE5-DB6D-61D1-480F-E50EF9A38E4A}"/>
          </ac:spMkLst>
        </pc:spChg>
        <pc:picChg chg="add mod ord">
          <ac:chgData name="Michael Wegelin" userId="44f55030-522d-4388-8c84-12427b5d3861" providerId="ADAL" clId="{0C4B0DB6-929A-4816-82F8-C5CA7CCA52CE}" dt="2026-09-08T19:24:04.780" v="16960" actId="14100"/>
          <ac:picMkLst>
            <pc:docMk/>
            <pc:sldMk cId="2296720729" sldId="319"/>
            <ac:picMk id="5" creationId="{0C163BA8-798B-70E8-A5AF-E4F8BAD28D82}"/>
          </ac:picMkLst>
        </pc:picChg>
      </pc:sldChg>
      <pc:sldChg chg="addSp delSp modSp new del mod modClrScheme chgLayout">
        <pc:chgData name="Michael Wegelin" userId="44f55030-522d-4388-8c84-12427b5d3861" providerId="ADAL" clId="{0C4B0DB6-929A-4816-82F8-C5CA7CCA52CE}" dt="2026-09-08T18:25:30.765" v="16348" actId="47"/>
        <pc:sldMkLst>
          <pc:docMk/>
          <pc:sldMk cId="2324986770" sldId="319"/>
        </pc:sldMkLst>
      </pc:sldChg>
      <pc:sldChg chg="addSp delSp modSp new del mod modClrScheme chgLayout modNotesTx">
        <pc:chgData name="Michael Wegelin" userId="44f55030-522d-4388-8c84-12427b5d3861" providerId="ADAL" clId="{0C4B0DB6-929A-4816-82F8-C5CA7CCA52CE}" dt="2026-09-08T18:25:31.873" v="16349" actId="47"/>
        <pc:sldMkLst>
          <pc:docMk/>
          <pc:sldMk cId="1087535187" sldId="320"/>
        </pc:sldMkLst>
      </pc:sldChg>
      <pc:sldChg chg="addSp delSp modSp new mod modClrScheme chgLayout modNotesTx">
        <pc:chgData name="Michael Wegelin" userId="44f55030-522d-4388-8c84-12427b5d3861" providerId="ADAL" clId="{0C4B0DB6-929A-4816-82F8-C5CA7CCA52CE}" dt="2026-09-08T19:31:05.749" v="16981" actId="20577"/>
        <pc:sldMkLst>
          <pc:docMk/>
          <pc:sldMk cId="3863484005" sldId="320"/>
        </pc:sldMkLst>
        <pc:spChg chg="mod ord">
          <ac:chgData name="Michael Wegelin" userId="44f55030-522d-4388-8c84-12427b5d3861" providerId="ADAL" clId="{0C4B0DB6-929A-4816-82F8-C5CA7CCA52CE}" dt="2026-09-08T19:27:48.552" v="16966" actId="700"/>
          <ac:spMkLst>
            <pc:docMk/>
            <pc:sldMk cId="3863484005" sldId="320"/>
            <ac:spMk id="2" creationId="{01B5515F-81A4-955B-7900-5DCC87CE94D2}"/>
          </ac:spMkLst>
        </pc:spChg>
        <pc:spChg chg="del mod ord">
          <ac:chgData name="Michael Wegelin" userId="44f55030-522d-4388-8c84-12427b5d3861" providerId="ADAL" clId="{0C4B0DB6-929A-4816-82F8-C5CA7CCA52CE}" dt="2026-09-08T19:27:48.552" v="16966" actId="700"/>
          <ac:spMkLst>
            <pc:docMk/>
            <pc:sldMk cId="3863484005" sldId="320"/>
            <ac:spMk id="3" creationId="{68E30AF5-A781-710A-6F8C-66473E4B78D8}"/>
          </ac:spMkLst>
        </pc:spChg>
        <pc:spChg chg="add del mod ord">
          <ac:chgData name="Michael Wegelin" userId="44f55030-522d-4388-8c84-12427b5d3861" providerId="ADAL" clId="{0C4B0DB6-929A-4816-82F8-C5CA7CCA52CE}" dt="2026-09-08T19:27:55.942" v="16968" actId="22"/>
          <ac:spMkLst>
            <pc:docMk/>
            <pc:sldMk cId="3863484005" sldId="320"/>
            <ac:spMk id="4" creationId="{B4F90B33-823D-0AD8-3444-79075795A5BB}"/>
          </ac:spMkLst>
        </pc:spChg>
        <pc:spChg chg="add del mod ord">
          <ac:chgData name="Michael Wegelin" userId="44f55030-522d-4388-8c84-12427b5d3861" providerId="ADAL" clId="{0C4B0DB6-929A-4816-82F8-C5CA7CCA52CE}" dt="2026-09-08T19:28:30.142" v="16969" actId="22"/>
          <ac:spMkLst>
            <pc:docMk/>
            <pc:sldMk cId="3863484005" sldId="320"/>
            <ac:spMk id="5" creationId="{F246D72C-AD26-9ADD-DCBB-068649E6C430}"/>
          </ac:spMkLst>
        </pc:spChg>
        <pc:spChg chg="add del mod">
          <ac:chgData name="Michael Wegelin" userId="44f55030-522d-4388-8c84-12427b5d3861" providerId="ADAL" clId="{0C4B0DB6-929A-4816-82F8-C5CA7CCA52CE}" dt="2026-09-08T19:29:31.434" v="16972" actId="22"/>
          <ac:spMkLst>
            <pc:docMk/>
            <pc:sldMk cId="3863484005" sldId="320"/>
            <ac:spMk id="11" creationId="{A4884CB2-30F2-587B-149B-0A82367B5807}"/>
          </ac:spMkLst>
        </pc:spChg>
        <pc:picChg chg="add del mod ord">
          <ac:chgData name="Michael Wegelin" userId="44f55030-522d-4388-8c84-12427b5d3861" providerId="ADAL" clId="{0C4B0DB6-929A-4816-82F8-C5CA7CCA52CE}" dt="2026-09-08T19:29:27.241" v="16971" actId="478"/>
          <ac:picMkLst>
            <pc:docMk/>
            <pc:sldMk cId="3863484005" sldId="320"/>
            <ac:picMk id="7" creationId="{9970314C-11F7-E2A0-DE13-816185ED55CA}"/>
          </ac:picMkLst>
        </pc:picChg>
        <pc:picChg chg="add mod ord">
          <ac:chgData name="Michael Wegelin" userId="44f55030-522d-4388-8c84-12427b5d3861" providerId="ADAL" clId="{0C4B0DB6-929A-4816-82F8-C5CA7CCA52CE}" dt="2026-09-08T19:28:35.225" v="16970" actId="1076"/>
          <ac:picMkLst>
            <pc:docMk/>
            <pc:sldMk cId="3863484005" sldId="320"/>
            <ac:picMk id="9" creationId="{1BC8E5E9-E192-92CA-17C7-F81CCC6ACD4A}"/>
          </ac:picMkLst>
        </pc:picChg>
        <pc:picChg chg="add mod ord">
          <ac:chgData name="Michael Wegelin" userId="44f55030-522d-4388-8c84-12427b5d3861" providerId="ADAL" clId="{0C4B0DB6-929A-4816-82F8-C5CA7CCA52CE}" dt="2026-09-08T19:29:37.940" v="16974" actId="14100"/>
          <ac:picMkLst>
            <pc:docMk/>
            <pc:sldMk cId="3863484005" sldId="320"/>
            <ac:picMk id="13" creationId="{AF98B170-2309-D56F-8FC7-976A9AC52701}"/>
          </ac:picMkLst>
        </pc:picChg>
      </pc:sldChg>
      <pc:sldChg chg="addSp modSp new del mod modNotesTx">
        <pc:chgData name="Michael Wegelin" userId="44f55030-522d-4388-8c84-12427b5d3861" providerId="ADAL" clId="{0C4B0DB6-929A-4816-82F8-C5CA7CCA52CE}" dt="2026-09-08T18:25:34.800" v="16350" actId="47"/>
        <pc:sldMkLst>
          <pc:docMk/>
          <pc:sldMk cId="553407719" sldId="321"/>
        </pc:sldMkLst>
      </pc:sldChg>
      <pc:sldChg chg="addSp delSp modSp new mod modNotesTx">
        <pc:chgData name="Michael Wegelin" userId="44f55030-522d-4388-8c84-12427b5d3861" providerId="ADAL" clId="{0C4B0DB6-929A-4816-82F8-C5CA7CCA52CE}" dt="2026-09-08T19:33:07.159" v="16998" actId="20577"/>
        <pc:sldMkLst>
          <pc:docMk/>
          <pc:sldMk cId="3764823496" sldId="321"/>
        </pc:sldMkLst>
        <pc:spChg chg="mod">
          <ac:chgData name="Michael Wegelin" userId="44f55030-522d-4388-8c84-12427b5d3861" providerId="ADAL" clId="{0C4B0DB6-929A-4816-82F8-C5CA7CCA52CE}" dt="2026-09-08T19:31:20.132" v="16982"/>
          <ac:spMkLst>
            <pc:docMk/>
            <pc:sldMk cId="3764823496" sldId="321"/>
            <ac:spMk id="2" creationId="{2E7AF190-FF5B-0608-34BB-42D4E212DC22}"/>
          </ac:spMkLst>
        </pc:spChg>
        <pc:spChg chg="del">
          <ac:chgData name="Michael Wegelin" userId="44f55030-522d-4388-8c84-12427b5d3861" providerId="ADAL" clId="{0C4B0DB6-929A-4816-82F8-C5CA7CCA52CE}" dt="2026-09-08T19:31:33.419" v="16983" actId="3680"/>
          <ac:spMkLst>
            <pc:docMk/>
            <pc:sldMk cId="3764823496" sldId="321"/>
            <ac:spMk id="3" creationId="{516E2F8F-2C98-2D54-EE13-4219341BC476}"/>
          </ac:spMkLst>
        </pc:spChg>
        <pc:graphicFrameChg chg="add mod ord modGraphic">
          <ac:chgData name="Michael Wegelin" userId="44f55030-522d-4388-8c84-12427b5d3861" providerId="ADAL" clId="{0C4B0DB6-929A-4816-82F8-C5CA7CCA52CE}" dt="2026-09-08T19:32:40.133" v="16993"/>
          <ac:graphicFrameMkLst>
            <pc:docMk/>
            <pc:sldMk cId="3764823496" sldId="321"/>
            <ac:graphicFrameMk id="4" creationId="{17E3107D-75F0-780D-A3C4-07AC0BAE530F}"/>
          </ac:graphicFrameMkLst>
        </pc:graphicFrameChg>
      </pc:sldChg>
      <pc:sldChg chg="addSp modSp new del mod modNotesTx">
        <pc:chgData name="Michael Wegelin" userId="44f55030-522d-4388-8c84-12427b5d3861" providerId="ADAL" clId="{0C4B0DB6-929A-4816-82F8-C5CA7CCA52CE}" dt="2026-09-08T18:25:36.177" v="16351" actId="47"/>
        <pc:sldMkLst>
          <pc:docMk/>
          <pc:sldMk cId="727698569" sldId="322"/>
        </pc:sldMkLst>
      </pc:sldChg>
      <pc:sldChg chg="addSp delSp modSp new mod">
        <pc:chgData name="Michael Wegelin" userId="44f55030-522d-4388-8c84-12427b5d3861" providerId="ADAL" clId="{0C4B0DB6-929A-4816-82F8-C5CA7CCA52CE}" dt="2026-09-08T19:36:57.037" v="17029"/>
        <pc:sldMkLst>
          <pc:docMk/>
          <pc:sldMk cId="1668681771" sldId="322"/>
        </pc:sldMkLst>
        <pc:spChg chg="mod">
          <ac:chgData name="Michael Wegelin" userId="44f55030-522d-4388-8c84-12427b5d3861" providerId="ADAL" clId="{0C4B0DB6-929A-4816-82F8-C5CA7CCA52CE}" dt="2026-09-08T19:33:33.552" v="17019" actId="20577"/>
          <ac:spMkLst>
            <pc:docMk/>
            <pc:sldMk cId="1668681771" sldId="322"/>
            <ac:spMk id="2" creationId="{9DFCF78A-9246-70DF-8E8A-1B61AE4B71AD}"/>
          </ac:spMkLst>
        </pc:spChg>
        <pc:spChg chg="mod">
          <ac:chgData name="Michael Wegelin" userId="44f55030-522d-4388-8c84-12427b5d3861" providerId="ADAL" clId="{0C4B0DB6-929A-4816-82F8-C5CA7CCA52CE}" dt="2026-09-08T19:33:57.313" v="17026" actId="12"/>
          <ac:spMkLst>
            <pc:docMk/>
            <pc:sldMk cId="1668681771" sldId="322"/>
            <ac:spMk id="3" creationId="{9C4D130E-3645-ED35-3F09-F1DD4DA26605}"/>
          </ac:spMkLst>
        </pc:spChg>
        <pc:spChg chg="add del mod">
          <ac:chgData name="Michael Wegelin" userId="44f55030-522d-4388-8c84-12427b5d3861" providerId="ADAL" clId="{0C4B0DB6-929A-4816-82F8-C5CA7CCA52CE}" dt="2026-09-08T19:36:57.037" v="17029"/>
          <ac:spMkLst>
            <pc:docMk/>
            <pc:sldMk cId="1668681771" sldId="322"/>
            <ac:spMk id="4" creationId="{ECA28F7A-7EB8-19E4-5184-CCA5E3BEBC3B}"/>
          </ac:spMkLst>
        </pc:spChg>
      </pc:sldChg>
      <pc:sldChg chg="addSp modSp new del mod modNotesTx">
        <pc:chgData name="Michael Wegelin" userId="44f55030-522d-4388-8c84-12427b5d3861" providerId="ADAL" clId="{0C4B0DB6-929A-4816-82F8-C5CA7CCA52CE}" dt="2026-09-08T18:25:39.333" v="16353" actId="47"/>
        <pc:sldMkLst>
          <pc:docMk/>
          <pc:sldMk cId="1487480560" sldId="323"/>
        </pc:sldMkLst>
      </pc:sldChg>
      <pc:sldChg chg="addSp delSp modSp new mod modNotesTx">
        <pc:chgData name="Michael Wegelin" userId="44f55030-522d-4388-8c84-12427b5d3861" providerId="ADAL" clId="{0C4B0DB6-929A-4816-82F8-C5CA7CCA52CE}" dt="2026-09-08T19:52:22.768" v="17062" actId="20577"/>
        <pc:sldMkLst>
          <pc:docMk/>
          <pc:sldMk cId="3145606684" sldId="323"/>
        </pc:sldMkLst>
        <pc:spChg chg="mod">
          <ac:chgData name="Michael Wegelin" userId="44f55030-522d-4388-8c84-12427b5d3861" providerId="ADAL" clId="{0C4B0DB6-929A-4816-82F8-C5CA7CCA52CE}" dt="2026-09-08T19:49:01.892" v="17036"/>
          <ac:spMkLst>
            <pc:docMk/>
            <pc:sldMk cId="3145606684" sldId="323"/>
            <ac:spMk id="2" creationId="{E41F416D-CECC-28BC-B878-F13FC23B25DB}"/>
          </ac:spMkLst>
        </pc:spChg>
        <pc:spChg chg="del">
          <ac:chgData name="Michael Wegelin" userId="44f55030-522d-4388-8c84-12427b5d3861" providerId="ADAL" clId="{0C4B0DB6-929A-4816-82F8-C5CA7CCA52CE}" dt="2026-09-08T19:49:48.388" v="17040" actId="22"/>
          <ac:spMkLst>
            <pc:docMk/>
            <pc:sldMk cId="3145606684" sldId="323"/>
            <ac:spMk id="3" creationId="{5963A474-6842-D048-8DFF-5CCEA395FEB3}"/>
          </ac:spMkLst>
        </pc:spChg>
        <pc:picChg chg="add mod ord">
          <ac:chgData name="Michael Wegelin" userId="44f55030-522d-4388-8c84-12427b5d3861" providerId="ADAL" clId="{0C4B0DB6-929A-4816-82F8-C5CA7CCA52CE}" dt="2026-09-08T19:49:48.388" v="17040" actId="22"/>
          <ac:picMkLst>
            <pc:docMk/>
            <pc:sldMk cId="3145606684" sldId="323"/>
            <ac:picMk id="5" creationId="{4C4D9FA1-5CC6-8BF9-67C5-36435DEAF270}"/>
          </ac:picMkLst>
        </pc:picChg>
      </pc:sldChg>
      <pc:sldChg chg="addSp delSp modSp new mod modClrScheme chgLayout modNotesTx">
        <pc:chgData name="Michael Wegelin" userId="44f55030-522d-4388-8c84-12427b5d3861" providerId="ADAL" clId="{0C4B0DB6-929A-4816-82F8-C5CA7CCA52CE}" dt="2026-09-08T19:55:39.986" v="17123" actId="700"/>
        <pc:sldMkLst>
          <pc:docMk/>
          <pc:sldMk cId="364161018" sldId="324"/>
        </pc:sldMkLst>
        <pc:spChg chg="mod ord">
          <ac:chgData name="Michael Wegelin" userId="44f55030-522d-4388-8c84-12427b5d3861" providerId="ADAL" clId="{0C4B0DB6-929A-4816-82F8-C5CA7CCA52CE}" dt="2026-09-08T19:55:39.986" v="17123" actId="700"/>
          <ac:spMkLst>
            <pc:docMk/>
            <pc:sldMk cId="364161018" sldId="324"/>
            <ac:spMk id="2" creationId="{383A09BE-BEBF-6682-FF7B-82C47BFC27C4}"/>
          </ac:spMkLst>
        </pc:spChg>
        <pc:spChg chg="del">
          <ac:chgData name="Michael Wegelin" userId="44f55030-522d-4388-8c84-12427b5d3861" providerId="ADAL" clId="{0C4B0DB6-929A-4816-82F8-C5CA7CCA52CE}" dt="2026-09-08T19:53:20.027" v="17064" actId="22"/>
          <ac:spMkLst>
            <pc:docMk/>
            <pc:sldMk cId="364161018" sldId="324"/>
            <ac:spMk id="3" creationId="{2725B34D-C69A-A784-48A2-A53053E38844}"/>
          </ac:spMkLst>
        </pc:spChg>
        <pc:spChg chg="add del mod ord">
          <ac:chgData name="Michael Wegelin" userId="44f55030-522d-4388-8c84-12427b5d3861" providerId="ADAL" clId="{0C4B0DB6-929A-4816-82F8-C5CA7CCA52CE}" dt="2026-09-08T19:55:39.986" v="17123" actId="700"/>
          <ac:spMkLst>
            <pc:docMk/>
            <pc:sldMk cId="364161018" sldId="324"/>
            <ac:spMk id="6" creationId="{56853FC3-C304-9309-BA59-32D286E6A556}"/>
          </ac:spMkLst>
        </pc:spChg>
        <pc:spChg chg="add del mod ord">
          <ac:chgData name="Michael Wegelin" userId="44f55030-522d-4388-8c84-12427b5d3861" providerId="ADAL" clId="{0C4B0DB6-929A-4816-82F8-C5CA7CCA52CE}" dt="2026-09-08T19:55:39.986" v="17123" actId="700"/>
          <ac:spMkLst>
            <pc:docMk/>
            <pc:sldMk cId="364161018" sldId="324"/>
            <ac:spMk id="7" creationId="{03E3CBF2-6319-4F47-B536-3781BC4BFFF6}"/>
          </ac:spMkLst>
        </pc:spChg>
        <pc:spChg chg="add del mod ord">
          <ac:chgData name="Michael Wegelin" userId="44f55030-522d-4388-8c84-12427b5d3861" providerId="ADAL" clId="{0C4B0DB6-929A-4816-82F8-C5CA7CCA52CE}" dt="2026-09-08T19:55:39.986" v="17123" actId="700"/>
          <ac:spMkLst>
            <pc:docMk/>
            <pc:sldMk cId="364161018" sldId="324"/>
            <ac:spMk id="8" creationId="{2D9A782F-E175-81E4-7D71-1096B60C4DB4}"/>
          </ac:spMkLst>
        </pc:spChg>
        <pc:picChg chg="add mod ord">
          <ac:chgData name="Michael Wegelin" userId="44f55030-522d-4388-8c84-12427b5d3861" providerId="ADAL" clId="{0C4B0DB6-929A-4816-82F8-C5CA7CCA52CE}" dt="2026-09-08T19:55:39.986" v="17123" actId="700"/>
          <ac:picMkLst>
            <pc:docMk/>
            <pc:sldMk cId="364161018" sldId="324"/>
            <ac:picMk id="5" creationId="{31462961-DF30-FD8C-A75C-2C40E4530EBE}"/>
          </ac:picMkLst>
        </pc:picChg>
      </pc:sldChg>
      <pc:sldChg chg="addSp modSp new del mod ord modNotesTx">
        <pc:chgData name="Michael Wegelin" userId="44f55030-522d-4388-8c84-12427b5d3861" providerId="ADAL" clId="{0C4B0DB6-929A-4816-82F8-C5CA7CCA52CE}" dt="2026-09-08T18:25:37.592" v="16352" actId="47"/>
        <pc:sldMkLst>
          <pc:docMk/>
          <pc:sldMk cId="2413763748" sldId="324"/>
        </pc:sldMkLst>
      </pc:sldChg>
      <pc:sldChg chg="modSp new del mod modNotesTx">
        <pc:chgData name="Michael Wegelin" userId="44f55030-522d-4388-8c84-12427b5d3861" providerId="ADAL" clId="{0C4B0DB6-929A-4816-82F8-C5CA7CCA52CE}" dt="2026-09-08T18:25:41.563" v="16354" actId="47"/>
        <pc:sldMkLst>
          <pc:docMk/>
          <pc:sldMk cId="1021498145" sldId="325"/>
        </pc:sldMkLst>
      </pc:sldChg>
      <pc:sldChg chg="addSp delSp modSp new mod modClrScheme chgLayout modNotesTx">
        <pc:chgData name="Michael Wegelin" userId="44f55030-522d-4388-8c84-12427b5d3861" providerId="ADAL" clId="{0C4B0DB6-929A-4816-82F8-C5CA7CCA52CE}" dt="2026-09-08T19:59:23.376" v="17172" actId="20577"/>
        <pc:sldMkLst>
          <pc:docMk/>
          <pc:sldMk cId="1162973259" sldId="325"/>
        </pc:sldMkLst>
        <pc:spChg chg="mod ord">
          <ac:chgData name="Michael Wegelin" userId="44f55030-522d-4388-8c84-12427b5d3861" providerId="ADAL" clId="{0C4B0DB6-929A-4816-82F8-C5CA7CCA52CE}" dt="2026-09-08T19:55:46.726" v="17124" actId="700"/>
          <ac:spMkLst>
            <pc:docMk/>
            <pc:sldMk cId="1162973259" sldId="325"/>
            <ac:spMk id="2" creationId="{00971293-28EA-6C82-857D-50E366632DED}"/>
          </ac:spMkLst>
        </pc:spChg>
        <pc:spChg chg="del mod ord">
          <ac:chgData name="Michael Wegelin" userId="44f55030-522d-4388-8c84-12427b5d3861" providerId="ADAL" clId="{0C4B0DB6-929A-4816-82F8-C5CA7CCA52CE}" dt="2026-09-08T19:55:20.738" v="17103" actId="700"/>
          <ac:spMkLst>
            <pc:docMk/>
            <pc:sldMk cId="1162973259" sldId="325"/>
            <ac:spMk id="3" creationId="{73B18E9D-9F10-1B75-075F-62FCCE228D44}"/>
          </ac:spMkLst>
        </pc:spChg>
        <pc:spChg chg="add del mod ord">
          <ac:chgData name="Michael Wegelin" userId="44f55030-522d-4388-8c84-12427b5d3861" providerId="ADAL" clId="{0C4B0DB6-929A-4816-82F8-C5CA7CCA52CE}" dt="2026-09-08T19:55:32.383" v="17121" actId="700"/>
          <ac:spMkLst>
            <pc:docMk/>
            <pc:sldMk cId="1162973259" sldId="325"/>
            <ac:spMk id="4" creationId="{5CD7245F-6811-E5C5-DAED-3E899675A435}"/>
          </ac:spMkLst>
        </pc:spChg>
        <pc:spChg chg="add del mod ord">
          <ac:chgData name="Michael Wegelin" userId="44f55030-522d-4388-8c84-12427b5d3861" providerId="ADAL" clId="{0C4B0DB6-929A-4816-82F8-C5CA7CCA52CE}" dt="2026-09-08T19:55:32.383" v="17121" actId="700"/>
          <ac:spMkLst>
            <pc:docMk/>
            <pc:sldMk cId="1162973259" sldId="325"/>
            <ac:spMk id="5" creationId="{BEBEA374-035D-8F5F-626A-DC00F33E8114}"/>
          </ac:spMkLst>
        </pc:spChg>
        <pc:spChg chg="add del mod ord">
          <ac:chgData name="Michael Wegelin" userId="44f55030-522d-4388-8c84-12427b5d3861" providerId="ADAL" clId="{0C4B0DB6-929A-4816-82F8-C5CA7CCA52CE}" dt="2026-09-08T19:55:46.726" v="17124" actId="700"/>
          <ac:spMkLst>
            <pc:docMk/>
            <pc:sldMk cId="1162973259" sldId="325"/>
            <ac:spMk id="6" creationId="{FE8AFDFB-25A1-2653-ABD2-84AEEA5F5788}"/>
          </ac:spMkLst>
        </pc:spChg>
        <pc:spChg chg="add del mod ord">
          <ac:chgData name="Michael Wegelin" userId="44f55030-522d-4388-8c84-12427b5d3861" providerId="ADAL" clId="{0C4B0DB6-929A-4816-82F8-C5CA7CCA52CE}" dt="2026-09-08T19:55:46.726" v="17124" actId="700"/>
          <ac:spMkLst>
            <pc:docMk/>
            <pc:sldMk cId="1162973259" sldId="325"/>
            <ac:spMk id="7" creationId="{F5345768-7AC4-7CC4-32C5-3BCCF68972C2}"/>
          </ac:spMkLst>
        </pc:spChg>
        <pc:spChg chg="add mod ord">
          <ac:chgData name="Michael Wegelin" userId="44f55030-522d-4388-8c84-12427b5d3861" providerId="ADAL" clId="{0C4B0DB6-929A-4816-82F8-C5CA7CCA52CE}" dt="2026-09-08T19:55:51.772" v="17139" actId="20577"/>
          <ac:spMkLst>
            <pc:docMk/>
            <pc:sldMk cId="1162973259" sldId="325"/>
            <ac:spMk id="8" creationId="{2178D4C9-204D-5307-C4E6-5E6984CA3EC0}"/>
          </ac:spMkLst>
        </pc:spChg>
        <pc:spChg chg="add del mod ord">
          <ac:chgData name="Michael Wegelin" userId="44f55030-522d-4388-8c84-12427b5d3861" providerId="ADAL" clId="{0C4B0DB6-929A-4816-82F8-C5CA7CCA52CE}" dt="2026-09-08T19:56:49.244" v="17140" actId="22"/>
          <ac:spMkLst>
            <pc:docMk/>
            <pc:sldMk cId="1162973259" sldId="325"/>
            <ac:spMk id="9" creationId="{A002D6D6-79EE-C12B-D57A-14A7717A6D5D}"/>
          </ac:spMkLst>
        </pc:spChg>
        <pc:spChg chg="add mod ord">
          <ac:chgData name="Michael Wegelin" userId="44f55030-522d-4388-8c84-12427b5d3861" providerId="ADAL" clId="{0C4B0DB6-929A-4816-82F8-C5CA7CCA52CE}" dt="2026-09-08T19:57:10.925" v="17156" actId="20577"/>
          <ac:spMkLst>
            <pc:docMk/>
            <pc:sldMk cId="1162973259" sldId="325"/>
            <ac:spMk id="10" creationId="{1E0C44C5-D3BA-CDC7-D36F-D13C2059BDB2}"/>
          </ac:spMkLst>
        </pc:spChg>
        <pc:spChg chg="add del mod ord">
          <ac:chgData name="Michael Wegelin" userId="44f55030-522d-4388-8c84-12427b5d3861" providerId="ADAL" clId="{0C4B0DB6-929A-4816-82F8-C5CA7CCA52CE}" dt="2026-09-08T19:57:43.648" v="17157" actId="22"/>
          <ac:spMkLst>
            <pc:docMk/>
            <pc:sldMk cId="1162973259" sldId="325"/>
            <ac:spMk id="11" creationId="{4ABC6375-6D3D-C9C2-995B-EC25611A845F}"/>
          </ac:spMkLst>
        </pc:spChg>
        <pc:picChg chg="add mod ord">
          <ac:chgData name="Michael Wegelin" userId="44f55030-522d-4388-8c84-12427b5d3861" providerId="ADAL" clId="{0C4B0DB6-929A-4816-82F8-C5CA7CCA52CE}" dt="2026-09-08T19:56:56.182" v="17142" actId="14100"/>
          <ac:picMkLst>
            <pc:docMk/>
            <pc:sldMk cId="1162973259" sldId="325"/>
            <ac:picMk id="13" creationId="{D88D0460-A99B-53E9-1711-98F5D703D8B1}"/>
          </ac:picMkLst>
        </pc:picChg>
        <pc:picChg chg="add mod ord">
          <ac:chgData name="Michael Wegelin" userId="44f55030-522d-4388-8c84-12427b5d3861" providerId="ADAL" clId="{0C4B0DB6-929A-4816-82F8-C5CA7CCA52CE}" dt="2026-09-08T19:57:52.916" v="17159" actId="14100"/>
          <ac:picMkLst>
            <pc:docMk/>
            <pc:sldMk cId="1162973259" sldId="325"/>
            <ac:picMk id="15" creationId="{BDB2686E-FDB2-88A1-4781-141F7B382AE4}"/>
          </ac:picMkLst>
        </pc:picChg>
      </pc:sldChg>
      <pc:sldChg chg="modSp new modNotesTx">
        <pc:chgData name="Michael Wegelin" userId="44f55030-522d-4388-8c84-12427b5d3861" providerId="ADAL" clId="{0C4B0DB6-929A-4816-82F8-C5CA7CCA52CE}" dt="2026-09-08T20:00:27.149" v="17177" actId="20577"/>
        <pc:sldMkLst>
          <pc:docMk/>
          <pc:sldMk cId="638438175" sldId="326"/>
        </pc:sldMkLst>
        <pc:spChg chg="mod">
          <ac:chgData name="Michael Wegelin" userId="44f55030-522d-4388-8c84-12427b5d3861" providerId="ADAL" clId="{0C4B0DB6-929A-4816-82F8-C5CA7CCA52CE}" dt="2026-09-08T19:59:40.738" v="17173"/>
          <ac:spMkLst>
            <pc:docMk/>
            <pc:sldMk cId="638438175" sldId="326"/>
            <ac:spMk id="2" creationId="{246DE9E2-505B-FFA2-0675-0450E086A08C}"/>
          </ac:spMkLst>
        </pc:spChg>
        <pc:spChg chg="mod">
          <ac:chgData name="Michael Wegelin" userId="44f55030-522d-4388-8c84-12427b5d3861" providerId="ADAL" clId="{0C4B0DB6-929A-4816-82F8-C5CA7CCA52CE}" dt="2026-09-08T20:00:00.035" v="17174"/>
          <ac:spMkLst>
            <pc:docMk/>
            <pc:sldMk cId="638438175" sldId="326"/>
            <ac:spMk id="3" creationId="{45C040D4-9E5F-3D20-BF9E-BC44172805BA}"/>
          </ac:spMkLst>
        </pc:spChg>
      </pc:sldChg>
      <pc:sldChg chg="addSp modSp new del mod modClrScheme chgLayout">
        <pc:chgData name="Michael Wegelin" userId="44f55030-522d-4388-8c84-12427b5d3861" providerId="ADAL" clId="{0C4B0DB6-929A-4816-82F8-C5CA7CCA52CE}" dt="2026-09-08T18:25:43.299" v="16355" actId="47"/>
        <pc:sldMkLst>
          <pc:docMk/>
          <pc:sldMk cId="2586359284" sldId="326"/>
        </pc:sldMkLst>
      </pc:sldChg>
      <pc:sldChg chg="addSp delSp modSp new del mod">
        <pc:chgData name="Michael Wegelin" userId="44f55030-522d-4388-8c84-12427b5d3861" providerId="ADAL" clId="{0C4B0DB6-929A-4816-82F8-C5CA7CCA52CE}" dt="2026-09-08T18:25:44.876" v="16356" actId="47"/>
        <pc:sldMkLst>
          <pc:docMk/>
          <pc:sldMk cId="1160368949" sldId="327"/>
        </pc:sldMkLst>
      </pc:sldChg>
      <pc:sldChg chg="modSp new mod">
        <pc:chgData name="Michael Wegelin" userId="44f55030-522d-4388-8c84-12427b5d3861" providerId="ADAL" clId="{0C4B0DB6-929A-4816-82F8-C5CA7CCA52CE}" dt="2026-09-08T20:01:41.760" v="17213" actId="12"/>
        <pc:sldMkLst>
          <pc:docMk/>
          <pc:sldMk cId="3138167333" sldId="327"/>
        </pc:sldMkLst>
        <pc:spChg chg="mod">
          <ac:chgData name="Michael Wegelin" userId="44f55030-522d-4388-8c84-12427b5d3861" providerId="ADAL" clId="{0C4B0DB6-929A-4816-82F8-C5CA7CCA52CE}" dt="2026-09-08T20:01:25.586" v="17207" actId="20577"/>
          <ac:spMkLst>
            <pc:docMk/>
            <pc:sldMk cId="3138167333" sldId="327"/>
            <ac:spMk id="2" creationId="{FBDB229E-C787-DE34-2FDC-220F9777EA19}"/>
          </ac:spMkLst>
        </pc:spChg>
        <pc:spChg chg="mod">
          <ac:chgData name="Michael Wegelin" userId="44f55030-522d-4388-8c84-12427b5d3861" providerId="ADAL" clId="{0C4B0DB6-929A-4816-82F8-C5CA7CCA52CE}" dt="2026-09-08T20:01:41.760" v="17213" actId="12"/>
          <ac:spMkLst>
            <pc:docMk/>
            <pc:sldMk cId="3138167333" sldId="327"/>
            <ac:spMk id="3" creationId="{DC401DA8-5F8B-10E2-5E31-920A25A928F3}"/>
          </ac:spMkLst>
        </pc:spChg>
      </pc:sldChg>
      <pc:sldChg chg="addSp delSp modSp new mod modClrScheme chgLayout modNotesTx">
        <pc:chgData name="Michael Wegelin" userId="44f55030-522d-4388-8c84-12427b5d3861" providerId="ADAL" clId="{0C4B0DB6-929A-4816-82F8-C5CA7CCA52CE}" dt="2026-09-09T07:01:21.297" v="17269" actId="14100"/>
        <pc:sldMkLst>
          <pc:docMk/>
          <pc:sldMk cId="1041579006" sldId="328"/>
        </pc:sldMkLst>
        <pc:spChg chg="mod ord">
          <ac:chgData name="Michael Wegelin" userId="44f55030-522d-4388-8c84-12427b5d3861" providerId="ADAL" clId="{0C4B0DB6-929A-4816-82F8-C5CA7CCA52CE}" dt="2026-09-09T06:58:33.816" v="17264" actId="700"/>
          <ac:spMkLst>
            <pc:docMk/>
            <pc:sldMk cId="1041579006" sldId="328"/>
            <ac:spMk id="2" creationId="{59ACC96A-9E89-59A4-CFF0-2064EC79CA62}"/>
          </ac:spMkLst>
        </pc:spChg>
        <pc:spChg chg="del mod ord">
          <ac:chgData name="Michael Wegelin" userId="44f55030-522d-4388-8c84-12427b5d3861" providerId="ADAL" clId="{0C4B0DB6-929A-4816-82F8-C5CA7CCA52CE}" dt="2026-09-09T06:58:33.816" v="17264" actId="700"/>
          <ac:spMkLst>
            <pc:docMk/>
            <pc:sldMk cId="1041579006" sldId="328"/>
            <ac:spMk id="3" creationId="{A397FC9C-0CC2-1F90-4DC9-529196108586}"/>
          </ac:spMkLst>
        </pc:spChg>
        <pc:spChg chg="add mod ord">
          <ac:chgData name="Michael Wegelin" userId="44f55030-522d-4388-8c84-12427b5d3861" providerId="ADAL" clId="{0C4B0DB6-929A-4816-82F8-C5CA7CCA52CE}" dt="2026-09-09T06:58:47.403" v="17266" actId="5793"/>
          <ac:spMkLst>
            <pc:docMk/>
            <pc:sldMk cId="1041579006" sldId="328"/>
            <ac:spMk id="4" creationId="{3683E5EF-9EA2-415D-0521-65F21A55EBC6}"/>
          </ac:spMkLst>
        </pc:spChg>
        <pc:spChg chg="add del mod ord">
          <ac:chgData name="Michael Wegelin" userId="44f55030-522d-4388-8c84-12427b5d3861" providerId="ADAL" clId="{0C4B0DB6-929A-4816-82F8-C5CA7CCA52CE}" dt="2026-09-09T07:01:10.227" v="17267" actId="22"/>
          <ac:spMkLst>
            <pc:docMk/>
            <pc:sldMk cId="1041579006" sldId="328"/>
            <ac:spMk id="5" creationId="{E56F8147-EA10-0CAE-04B2-1CDBEECAFFE4}"/>
          </ac:spMkLst>
        </pc:spChg>
        <pc:picChg chg="add mod ord">
          <ac:chgData name="Michael Wegelin" userId="44f55030-522d-4388-8c84-12427b5d3861" providerId="ADAL" clId="{0C4B0DB6-929A-4816-82F8-C5CA7CCA52CE}" dt="2026-09-09T07:01:21.297" v="17269" actId="14100"/>
          <ac:picMkLst>
            <pc:docMk/>
            <pc:sldMk cId="1041579006" sldId="328"/>
            <ac:picMk id="7" creationId="{916E8AFF-A96E-6841-6E11-C135D7745D4A}"/>
          </ac:picMkLst>
        </pc:picChg>
      </pc:sldChg>
      <pc:sldChg chg="new del">
        <pc:chgData name="Michael Wegelin" userId="44f55030-522d-4388-8c84-12427b5d3861" providerId="ADAL" clId="{0C4B0DB6-929A-4816-82F8-C5CA7CCA52CE}" dt="2026-09-08T20:13:33.339" v="17214" actId="47"/>
        <pc:sldMkLst>
          <pc:docMk/>
          <pc:sldMk cId="1779042603" sldId="328"/>
        </pc:sldMkLst>
      </pc:sldChg>
      <pc:sldChg chg="modSp new del mod modNotesTx">
        <pc:chgData name="Michael Wegelin" userId="44f55030-522d-4388-8c84-12427b5d3861" providerId="ADAL" clId="{0C4B0DB6-929A-4816-82F8-C5CA7CCA52CE}" dt="2026-09-08T18:25:46.596" v="16357" actId="47"/>
        <pc:sldMkLst>
          <pc:docMk/>
          <pc:sldMk cId="3023016842" sldId="328"/>
        </pc:sldMkLst>
      </pc:sldChg>
      <pc:sldChg chg="addSp delSp modSp new mod modClrScheme chgLayout modNotesTx">
        <pc:chgData name="Michael Wegelin" userId="44f55030-522d-4388-8c84-12427b5d3861" providerId="ADAL" clId="{0C4B0DB6-929A-4816-82F8-C5CA7CCA52CE}" dt="2026-09-09T07:04:44.793" v="17299" actId="20577"/>
        <pc:sldMkLst>
          <pc:docMk/>
          <pc:sldMk cId="492118492" sldId="329"/>
        </pc:sldMkLst>
        <pc:spChg chg="mod ord">
          <ac:chgData name="Michael Wegelin" userId="44f55030-522d-4388-8c84-12427b5d3861" providerId="ADAL" clId="{0C4B0DB6-929A-4816-82F8-C5CA7CCA52CE}" dt="2026-09-09T07:02:53.895" v="17271" actId="700"/>
          <ac:spMkLst>
            <pc:docMk/>
            <pc:sldMk cId="492118492" sldId="329"/>
            <ac:spMk id="2" creationId="{2B435AB8-8D2E-1C18-378E-4AA9FE2C349B}"/>
          </ac:spMkLst>
        </pc:spChg>
        <pc:spChg chg="del mod ord">
          <ac:chgData name="Michael Wegelin" userId="44f55030-522d-4388-8c84-12427b5d3861" providerId="ADAL" clId="{0C4B0DB6-929A-4816-82F8-C5CA7CCA52CE}" dt="2026-09-09T07:02:53.895" v="17271" actId="700"/>
          <ac:spMkLst>
            <pc:docMk/>
            <pc:sldMk cId="492118492" sldId="329"/>
            <ac:spMk id="3" creationId="{FC3AFA95-2C6D-E6CA-5E19-45D9CD95A047}"/>
          </ac:spMkLst>
        </pc:spChg>
        <pc:spChg chg="add mod ord">
          <ac:chgData name="Michael Wegelin" userId="44f55030-522d-4388-8c84-12427b5d3861" providerId="ADAL" clId="{0C4B0DB6-929A-4816-82F8-C5CA7CCA52CE}" dt="2026-09-09T07:03:03.779" v="17274" actId="5793"/>
          <ac:spMkLst>
            <pc:docMk/>
            <pc:sldMk cId="492118492" sldId="329"/>
            <ac:spMk id="4" creationId="{B2E6C7F8-A362-6A09-BE8A-8325C97C158C}"/>
          </ac:spMkLst>
        </pc:spChg>
        <pc:spChg chg="add del mod ord">
          <ac:chgData name="Michael Wegelin" userId="44f55030-522d-4388-8c84-12427b5d3861" providerId="ADAL" clId="{0C4B0DB6-929A-4816-82F8-C5CA7CCA52CE}" dt="2026-09-09T07:03:15.754" v="17275" actId="22"/>
          <ac:spMkLst>
            <pc:docMk/>
            <pc:sldMk cId="492118492" sldId="329"/>
            <ac:spMk id="5" creationId="{48C5C923-CB41-53DE-6B3D-9B95DBBE82F0}"/>
          </ac:spMkLst>
        </pc:spChg>
        <pc:picChg chg="add mod ord">
          <ac:chgData name="Michael Wegelin" userId="44f55030-522d-4388-8c84-12427b5d3861" providerId="ADAL" clId="{0C4B0DB6-929A-4816-82F8-C5CA7CCA52CE}" dt="2026-09-09T07:03:29.865" v="17277" actId="14100"/>
          <ac:picMkLst>
            <pc:docMk/>
            <pc:sldMk cId="492118492" sldId="329"/>
            <ac:picMk id="7" creationId="{FA7BA378-C333-1FA5-ED0A-23C732C3D2F3}"/>
          </ac:picMkLst>
        </pc:picChg>
      </pc:sldChg>
      <pc:sldChg chg="modSp new del mod modNotesTx">
        <pc:chgData name="Michael Wegelin" userId="44f55030-522d-4388-8c84-12427b5d3861" providerId="ADAL" clId="{0C4B0DB6-929A-4816-82F8-C5CA7CCA52CE}" dt="2026-09-08T18:25:51.247" v="16358" actId="47"/>
        <pc:sldMkLst>
          <pc:docMk/>
          <pc:sldMk cId="900885963" sldId="329"/>
        </pc:sldMkLst>
      </pc:sldChg>
      <pc:sldChg chg="addSp delSp modSp new mod modNotesTx">
        <pc:chgData name="Michael Wegelin" userId="44f55030-522d-4388-8c84-12427b5d3861" providerId="ADAL" clId="{0C4B0DB6-929A-4816-82F8-C5CA7CCA52CE}" dt="2026-09-09T07:08:12.806" v="17328"/>
        <pc:sldMkLst>
          <pc:docMk/>
          <pc:sldMk cId="68936376" sldId="330"/>
        </pc:sldMkLst>
        <pc:spChg chg="mod">
          <ac:chgData name="Michael Wegelin" userId="44f55030-522d-4388-8c84-12427b5d3861" providerId="ADAL" clId="{0C4B0DB6-929A-4816-82F8-C5CA7CCA52CE}" dt="2026-09-09T07:05:22.054" v="17300"/>
          <ac:spMkLst>
            <pc:docMk/>
            <pc:sldMk cId="68936376" sldId="330"/>
            <ac:spMk id="2" creationId="{518541A9-3D8B-AECE-40C5-E4D8F90E3AFA}"/>
          </ac:spMkLst>
        </pc:spChg>
        <pc:spChg chg="del">
          <ac:chgData name="Michael Wegelin" userId="44f55030-522d-4388-8c84-12427b5d3861" providerId="ADAL" clId="{0C4B0DB6-929A-4816-82F8-C5CA7CCA52CE}" dt="2026-09-09T07:06:44.401" v="17310" actId="3680"/>
          <ac:spMkLst>
            <pc:docMk/>
            <pc:sldMk cId="68936376" sldId="330"/>
            <ac:spMk id="3" creationId="{DD695AEF-EFF3-ECBB-73A0-8583BAC96BAC}"/>
          </ac:spMkLst>
        </pc:spChg>
        <pc:graphicFrameChg chg="add mod ord modGraphic">
          <ac:chgData name="Michael Wegelin" userId="44f55030-522d-4388-8c84-12427b5d3861" providerId="ADAL" clId="{0C4B0DB6-929A-4816-82F8-C5CA7CCA52CE}" dt="2026-09-09T07:08:12.806" v="17328"/>
          <ac:graphicFrameMkLst>
            <pc:docMk/>
            <pc:sldMk cId="68936376" sldId="330"/>
            <ac:graphicFrameMk id="4" creationId="{0834B369-B710-9136-474F-D13B93DB6C69}"/>
          </ac:graphicFrameMkLst>
        </pc:graphicFrameChg>
      </pc:sldChg>
      <pc:sldChg chg="modSp new del mod modNotesTx">
        <pc:chgData name="Michael Wegelin" userId="44f55030-522d-4388-8c84-12427b5d3861" providerId="ADAL" clId="{0C4B0DB6-929A-4816-82F8-C5CA7CCA52CE}" dt="2026-09-08T18:25:53.120" v="16359" actId="47"/>
        <pc:sldMkLst>
          <pc:docMk/>
          <pc:sldMk cId="1500470203" sldId="330"/>
        </pc:sldMkLst>
      </pc:sldChg>
      <pc:sldChg chg="addSp delSp modSp new del mod modClrScheme chgLayout modNotesTx">
        <pc:chgData name="Michael Wegelin" userId="44f55030-522d-4388-8c84-12427b5d3861" providerId="ADAL" clId="{0C4B0DB6-929A-4816-82F8-C5CA7CCA52CE}" dt="2026-09-08T18:25:54.198" v="16360" actId="47"/>
        <pc:sldMkLst>
          <pc:docMk/>
          <pc:sldMk cId="1532596945" sldId="331"/>
        </pc:sldMkLst>
      </pc:sldChg>
      <pc:sldChg chg="addSp delSp modSp new mod modNotesTx">
        <pc:chgData name="Michael Wegelin" userId="44f55030-522d-4388-8c84-12427b5d3861" providerId="ADAL" clId="{0C4B0DB6-929A-4816-82F8-C5CA7CCA52CE}" dt="2026-09-09T07:09:54.384" v="17335" actId="14100"/>
        <pc:sldMkLst>
          <pc:docMk/>
          <pc:sldMk cId="3829369603" sldId="331"/>
        </pc:sldMkLst>
        <pc:spChg chg="mod">
          <ac:chgData name="Michael Wegelin" userId="44f55030-522d-4388-8c84-12427b5d3861" providerId="ADAL" clId="{0C4B0DB6-929A-4816-82F8-C5CA7CCA52CE}" dt="2026-09-09T07:08:37.125" v="17329"/>
          <ac:spMkLst>
            <pc:docMk/>
            <pc:sldMk cId="3829369603" sldId="331"/>
            <ac:spMk id="2" creationId="{0A48D1BD-A91D-1B91-1E1E-FB0A03379682}"/>
          </ac:spMkLst>
        </pc:spChg>
        <pc:spChg chg="del">
          <ac:chgData name="Michael Wegelin" userId="44f55030-522d-4388-8c84-12427b5d3861" providerId="ADAL" clId="{0C4B0DB6-929A-4816-82F8-C5CA7CCA52CE}" dt="2026-09-09T07:09:45.408" v="17333" actId="22"/>
          <ac:spMkLst>
            <pc:docMk/>
            <pc:sldMk cId="3829369603" sldId="331"/>
            <ac:spMk id="3" creationId="{5E1BA214-5AC2-FB8C-C291-7582B270D8EC}"/>
          </ac:spMkLst>
        </pc:spChg>
        <pc:picChg chg="add mod ord">
          <ac:chgData name="Michael Wegelin" userId="44f55030-522d-4388-8c84-12427b5d3861" providerId="ADAL" clId="{0C4B0DB6-929A-4816-82F8-C5CA7CCA52CE}" dt="2026-09-09T07:09:54.384" v="17335" actId="14100"/>
          <ac:picMkLst>
            <pc:docMk/>
            <pc:sldMk cId="3829369603" sldId="331"/>
            <ac:picMk id="5" creationId="{053F5CBD-3690-6534-936E-8ED67FF39245}"/>
          </ac:picMkLst>
        </pc:picChg>
      </pc:sldChg>
      <pc:sldChg chg="addSp delSp modSp new mod modClrScheme chgLayout modNotesTx">
        <pc:chgData name="Michael Wegelin" userId="44f55030-522d-4388-8c84-12427b5d3861" providerId="ADAL" clId="{0C4B0DB6-929A-4816-82F8-C5CA7CCA52CE}" dt="2026-09-09T07:24:57.378" v="17402" actId="2711"/>
        <pc:sldMkLst>
          <pc:docMk/>
          <pc:sldMk cId="325245596" sldId="332"/>
        </pc:sldMkLst>
        <pc:spChg chg="mod ord">
          <ac:chgData name="Michael Wegelin" userId="44f55030-522d-4388-8c84-12427b5d3861" providerId="ADAL" clId="{0C4B0DB6-929A-4816-82F8-C5CA7CCA52CE}" dt="2026-09-09T07:14:09.850" v="17341" actId="700"/>
          <ac:spMkLst>
            <pc:docMk/>
            <pc:sldMk cId="325245596" sldId="332"/>
            <ac:spMk id="2" creationId="{5577C9B1-3DF8-66E3-C4F8-870A3163772F}"/>
          </ac:spMkLst>
        </pc:spChg>
        <pc:spChg chg="del mod ord">
          <ac:chgData name="Michael Wegelin" userId="44f55030-522d-4388-8c84-12427b5d3861" providerId="ADAL" clId="{0C4B0DB6-929A-4816-82F8-C5CA7CCA52CE}" dt="2026-09-09T07:14:09.850" v="17341" actId="700"/>
          <ac:spMkLst>
            <pc:docMk/>
            <pc:sldMk cId="325245596" sldId="332"/>
            <ac:spMk id="3" creationId="{0261289B-EDD0-9F58-432D-6552DCBAE8B2}"/>
          </ac:spMkLst>
        </pc:spChg>
        <pc:spChg chg="add del mod ord">
          <ac:chgData name="Michael Wegelin" userId="44f55030-522d-4388-8c84-12427b5d3861" providerId="ADAL" clId="{0C4B0DB6-929A-4816-82F8-C5CA7CCA52CE}" dt="2026-09-09T07:23:08.584" v="17351" actId="3680"/>
          <ac:spMkLst>
            <pc:docMk/>
            <pc:sldMk cId="325245596" sldId="332"/>
            <ac:spMk id="4" creationId="{5D7572C8-DF61-8F03-FE0B-1D3E6F15E9A1}"/>
          </ac:spMkLst>
        </pc:spChg>
        <pc:spChg chg="add del mod ord">
          <ac:chgData name="Michael Wegelin" userId="44f55030-522d-4388-8c84-12427b5d3861" providerId="ADAL" clId="{0C4B0DB6-929A-4816-82F8-C5CA7CCA52CE}" dt="2026-09-09T07:22:43.473" v="17348" actId="22"/>
          <ac:spMkLst>
            <pc:docMk/>
            <pc:sldMk cId="325245596" sldId="332"/>
            <ac:spMk id="5" creationId="{1A10E480-2F53-8317-08C1-E79594877F60}"/>
          </ac:spMkLst>
        </pc:spChg>
        <pc:graphicFrameChg chg="add mod ord modGraphic">
          <ac:chgData name="Michael Wegelin" userId="44f55030-522d-4388-8c84-12427b5d3861" providerId="ADAL" clId="{0C4B0DB6-929A-4816-82F8-C5CA7CCA52CE}" dt="2026-09-09T07:24:57.378" v="17402" actId="2711"/>
          <ac:graphicFrameMkLst>
            <pc:docMk/>
            <pc:sldMk cId="325245596" sldId="332"/>
            <ac:graphicFrameMk id="10" creationId="{32C57766-1720-D47A-C34D-F7C393E07C88}"/>
          </ac:graphicFrameMkLst>
        </pc:graphicFrameChg>
        <pc:picChg chg="add del mod ord">
          <ac:chgData name="Michael Wegelin" userId="44f55030-522d-4388-8c84-12427b5d3861" providerId="ADAL" clId="{0C4B0DB6-929A-4816-82F8-C5CA7CCA52CE}" dt="2026-09-09T07:22:16.360" v="17347" actId="22"/>
          <ac:picMkLst>
            <pc:docMk/>
            <pc:sldMk cId="325245596" sldId="332"/>
            <ac:picMk id="7" creationId="{1D1C69F0-7950-BB5D-4AC5-BC438BDBDFD2}"/>
          </ac:picMkLst>
        </pc:picChg>
        <pc:picChg chg="add mod ord">
          <ac:chgData name="Michael Wegelin" userId="44f55030-522d-4388-8c84-12427b5d3861" providerId="ADAL" clId="{0C4B0DB6-929A-4816-82F8-C5CA7CCA52CE}" dt="2026-09-09T07:22:51.497" v="17350" actId="14100"/>
          <ac:picMkLst>
            <pc:docMk/>
            <pc:sldMk cId="325245596" sldId="332"/>
            <ac:picMk id="9" creationId="{C87A798A-2A57-7B3C-FBA9-ED26F9E19D9F}"/>
          </ac:picMkLst>
        </pc:picChg>
      </pc:sldChg>
      <pc:sldChg chg="modSp new del mod modNotesTx">
        <pc:chgData name="Michael Wegelin" userId="44f55030-522d-4388-8c84-12427b5d3861" providerId="ADAL" clId="{0C4B0DB6-929A-4816-82F8-C5CA7CCA52CE}" dt="2026-09-08T18:25:54.982" v="16361" actId="47"/>
        <pc:sldMkLst>
          <pc:docMk/>
          <pc:sldMk cId="2984833570" sldId="332"/>
        </pc:sldMkLst>
      </pc:sldChg>
      <pc:sldChg chg="modSp new del mod modNotesTx">
        <pc:chgData name="Michael Wegelin" userId="44f55030-522d-4388-8c84-12427b5d3861" providerId="ADAL" clId="{0C4B0DB6-929A-4816-82F8-C5CA7CCA52CE}" dt="2026-09-08T18:25:56.067" v="16362" actId="47"/>
        <pc:sldMkLst>
          <pc:docMk/>
          <pc:sldMk cId="2248340541" sldId="333"/>
        </pc:sldMkLst>
      </pc:sldChg>
      <pc:sldChg chg="addSp delSp modSp new mod modClrScheme chgLayout modNotesTx">
        <pc:chgData name="Michael Wegelin" userId="44f55030-522d-4388-8c84-12427b5d3861" providerId="ADAL" clId="{0C4B0DB6-929A-4816-82F8-C5CA7CCA52CE}" dt="2026-09-09T07:27:15.963" v="17410" actId="22"/>
        <pc:sldMkLst>
          <pc:docMk/>
          <pc:sldMk cId="3431319716" sldId="333"/>
        </pc:sldMkLst>
        <pc:spChg chg="mod ord">
          <ac:chgData name="Michael Wegelin" userId="44f55030-522d-4388-8c84-12427b5d3861" providerId="ADAL" clId="{0C4B0DB6-929A-4816-82F8-C5CA7CCA52CE}" dt="2026-09-09T07:25:16.538" v="17404" actId="700"/>
          <ac:spMkLst>
            <pc:docMk/>
            <pc:sldMk cId="3431319716" sldId="333"/>
            <ac:spMk id="2" creationId="{B7673561-673C-4051-7C67-AF27A24EB57B}"/>
          </ac:spMkLst>
        </pc:spChg>
        <pc:spChg chg="del mod ord">
          <ac:chgData name="Michael Wegelin" userId="44f55030-522d-4388-8c84-12427b5d3861" providerId="ADAL" clId="{0C4B0DB6-929A-4816-82F8-C5CA7CCA52CE}" dt="2026-09-09T07:25:16.538" v="17404" actId="700"/>
          <ac:spMkLst>
            <pc:docMk/>
            <pc:sldMk cId="3431319716" sldId="333"/>
            <ac:spMk id="3" creationId="{5F24175F-3FD4-2E37-6ADE-49FE3D9400F3}"/>
          </ac:spMkLst>
        </pc:spChg>
        <pc:spChg chg="add del mod ord">
          <ac:chgData name="Michael Wegelin" userId="44f55030-522d-4388-8c84-12427b5d3861" providerId="ADAL" clId="{0C4B0DB6-929A-4816-82F8-C5CA7CCA52CE}" dt="2026-09-09T07:26:33.774" v="17408" actId="22"/>
          <ac:spMkLst>
            <pc:docMk/>
            <pc:sldMk cId="3431319716" sldId="333"/>
            <ac:spMk id="4" creationId="{20E5F6D5-326A-3CFA-7783-F505A60474B9}"/>
          </ac:spMkLst>
        </pc:spChg>
        <pc:spChg chg="add del mod ord">
          <ac:chgData name="Michael Wegelin" userId="44f55030-522d-4388-8c84-12427b5d3861" providerId="ADAL" clId="{0C4B0DB6-929A-4816-82F8-C5CA7CCA52CE}" dt="2026-09-09T07:27:15.963" v="17410" actId="22"/>
          <ac:spMkLst>
            <pc:docMk/>
            <pc:sldMk cId="3431319716" sldId="333"/>
            <ac:spMk id="5" creationId="{DF45CB1C-1A0E-9F6B-C5EB-342BBEF7BA6B}"/>
          </ac:spMkLst>
        </pc:spChg>
        <pc:picChg chg="add mod ord">
          <ac:chgData name="Michael Wegelin" userId="44f55030-522d-4388-8c84-12427b5d3861" providerId="ADAL" clId="{0C4B0DB6-929A-4816-82F8-C5CA7CCA52CE}" dt="2026-09-09T07:26:37.090" v="17409" actId="1076"/>
          <ac:picMkLst>
            <pc:docMk/>
            <pc:sldMk cId="3431319716" sldId="333"/>
            <ac:picMk id="7" creationId="{CE2E7F8A-0BAE-098F-2972-F706AB6FB72B}"/>
          </ac:picMkLst>
        </pc:picChg>
        <pc:picChg chg="add mod ord">
          <ac:chgData name="Michael Wegelin" userId="44f55030-522d-4388-8c84-12427b5d3861" providerId="ADAL" clId="{0C4B0DB6-929A-4816-82F8-C5CA7CCA52CE}" dt="2026-09-09T07:27:15.963" v="17410" actId="22"/>
          <ac:picMkLst>
            <pc:docMk/>
            <pc:sldMk cId="3431319716" sldId="333"/>
            <ac:picMk id="9" creationId="{76A8CB9C-CC92-925F-5517-42EFF8A1F21D}"/>
          </ac:picMkLst>
        </pc:picChg>
      </pc:sldChg>
      <pc:sldChg chg="addSp delSp modSp new del mod">
        <pc:chgData name="Michael Wegelin" userId="44f55030-522d-4388-8c84-12427b5d3861" providerId="ADAL" clId="{0C4B0DB6-929A-4816-82F8-C5CA7CCA52CE}" dt="2026-09-08T18:25:56.720" v="16363" actId="47"/>
        <pc:sldMkLst>
          <pc:docMk/>
          <pc:sldMk cId="1851608673" sldId="334"/>
        </pc:sldMkLst>
      </pc:sldChg>
      <pc:sldChg chg="addSp delSp modSp new mod ord modNotesTx">
        <pc:chgData name="Michael Wegelin" userId="44f55030-522d-4388-8c84-12427b5d3861" providerId="ADAL" clId="{0C4B0DB6-929A-4816-82F8-C5CA7CCA52CE}" dt="2026-09-09T07:03:36.327" v="17279" actId="478"/>
        <pc:sldMkLst>
          <pc:docMk/>
          <pc:sldMk cId="2526558229" sldId="334"/>
        </pc:sldMkLst>
        <pc:spChg chg="mod">
          <ac:chgData name="Michael Wegelin" userId="44f55030-522d-4388-8c84-12427b5d3861" providerId="ADAL" clId="{0C4B0DB6-929A-4816-82F8-C5CA7CCA52CE}" dt="2026-09-09T06:22:40.772" v="17223"/>
          <ac:spMkLst>
            <pc:docMk/>
            <pc:sldMk cId="2526558229" sldId="334"/>
            <ac:spMk id="2" creationId="{FFF0A45B-6187-2E6B-0993-C9C2E624A3B8}"/>
          </ac:spMkLst>
        </pc:spChg>
        <pc:spChg chg="del">
          <ac:chgData name="Michael Wegelin" userId="44f55030-522d-4388-8c84-12427b5d3861" providerId="ADAL" clId="{0C4B0DB6-929A-4816-82F8-C5CA7CCA52CE}" dt="2026-09-09T06:52:14.693" v="17228" actId="3680"/>
          <ac:spMkLst>
            <pc:docMk/>
            <pc:sldMk cId="2526558229" sldId="334"/>
            <ac:spMk id="3" creationId="{5221069D-F31F-0614-179A-09614B50A743}"/>
          </ac:spMkLst>
        </pc:spChg>
        <pc:graphicFrameChg chg="add mod ord modGraphic">
          <ac:chgData name="Michael Wegelin" userId="44f55030-522d-4388-8c84-12427b5d3861" providerId="ADAL" clId="{0C4B0DB6-929A-4816-82F8-C5CA7CCA52CE}" dt="2026-09-09T06:57:16.080" v="17259" actId="2711"/>
          <ac:graphicFrameMkLst>
            <pc:docMk/>
            <pc:sldMk cId="2526558229" sldId="334"/>
            <ac:graphicFrameMk id="4" creationId="{25B01BBF-8C22-AC52-9092-09418877A485}"/>
          </ac:graphicFrameMkLst>
        </pc:graphicFrameChg>
        <pc:picChg chg="add del mod">
          <ac:chgData name="Michael Wegelin" userId="44f55030-522d-4388-8c84-12427b5d3861" providerId="ADAL" clId="{0C4B0DB6-929A-4816-82F8-C5CA7CCA52CE}" dt="2026-09-09T07:03:36.327" v="17279" actId="478"/>
          <ac:picMkLst>
            <pc:docMk/>
            <pc:sldMk cId="2526558229" sldId="334"/>
            <ac:picMk id="6" creationId="{C5276C6D-49D1-EEEA-B8B9-0C0310B1228B}"/>
          </ac:picMkLst>
        </pc:picChg>
        <pc:picChg chg="add del mod">
          <ac:chgData name="Michael Wegelin" userId="44f55030-522d-4388-8c84-12427b5d3861" providerId="ADAL" clId="{0C4B0DB6-929A-4816-82F8-C5CA7CCA52CE}" dt="2026-09-09T07:03:35.128" v="17278" actId="478"/>
          <ac:picMkLst>
            <pc:docMk/>
            <pc:sldMk cId="2526558229" sldId="334"/>
            <ac:picMk id="8" creationId="{4E5092A5-5276-E43E-C2E2-BA4FE9299461}"/>
          </ac:picMkLst>
        </pc:picChg>
      </pc:sldChg>
      <pc:sldChg chg="modSp new del mod modNotesTx">
        <pc:chgData name="Michael Wegelin" userId="44f55030-522d-4388-8c84-12427b5d3861" providerId="ADAL" clId="{0C4B0DB6-929A-4816-82F8-C5CA7CCA52CE}" dt="2026-09-08T18:25:57.834" v="16364" actId="47"/>
        <pc:sldMkLst>
          <pc:docMk/>
          <pc:sldMk cId="1419882908" sldId="335"/>
        </pc:sldMkLst>
      </pc:sldChg>
      <pc:sldChg chg="addSp delSp modSp new mod modClrScheme chgLayout modNotesTx">
        <pc:chgData name="Michael Wegelin" userId="44f55030-522d-4388-8c84-12427b5d3861" providerId="ADAL" clId="{0C4B0DB6-929A-4816-82F8-C5CA7CCA52CE}" dt="2026-09-09T07:35:15.939" v="17666" actId="20577"/>
        <pc:sldMkLst>
          <pc:docMk/>
          <pc:sldMk cId="2726241591" sldId="335"/>
        </pc:sldMkLst>
        <pc:spChg chg="del mod ord">
          <ac:chgData name="Michael Wegelin" userId="44f55030-522d-4388-8c84-12427b5d3861" providerId="ADAL" clId="{0C4B0DB6-929A-4816-82F8-C5CA7CCA52CE}" dt="2026-09-09T07:30:02.800" v="17412" actId="700"/>
          <ac:spMkLst>
            <pc:docMk/>
            <pc:sldMk cId="2726241591" sldId="335"/>
            <ac:spMk id="2" creationId="{1B2FA0C8-07B7-3897-29FC-DDA274A56833}"/>
          </ac:spMkLst>
        </pc:spChg>
        <pc:spChg chg="del mod ord">
          <ac:chgData name="Michael Wegelin" userId="44f55030-522d-4388-8c84-12427b5d3861" providerId="ADAL" clId="{0C4B0DB6-929A-4816-82F8-C5CA7CCA52CE}" dt="2026-09-09T07:30:02.800" v="17412" actId="700"/>
          <ac:spMkLst>
            <pc:docMk/>
            <pc:sldMk cId="2726241591" sldId="335"/>
            <ac:spMk id="3" creationId="{6F5ECFBF-84B4-FDA8-75EC-80ADC8218438}"/>
          </ac:spMkLst>
        </pc:spChg>
        <pc:spChg chg="del">
          <ac:chgData name="Michael Wegelin" userId="44f55030-522d-4388-8c84-12427b5d3861" providerId="ADAL" clId="{0C4B0DB6-929A-4816-82F8-C5CA7CCA52CE}" dt="2026-09-09T07:30:02.800" v="17412" actId="700"/>
          <ac:spMkLst>
            <pc:docMk/>
            <pc:sldMk cId="2726241591" sldId="335"/>
            <ac:spMk id="4" creationId="{D9A88729-F9CA-B1DB-CC9F-D7F8E8DA8865}"/>
          </ac:spMkLst>
        </pc:spChg>
        <pc:spChg chg="add mod ord">
          <ac:chgData name="Michael Wegelin" userId="44f55030-522d-4388-8c84-12427b5d3861" providerId="ADAL" clId="{0C4B0DB6-929A-4816-82F8-C5CA7CCA52CE}" dt="2026-09-09T07:30:10.668" v="17438" actId="20577"/>
          <ac:spMkLst>
            <pc:docMk/>
            <pc:sldMk cId="2726241591" sldId="335"/>
            <ac:spMk id="5" creationId="{40D6EAA3-62FB-E036-73BA-3326D473AD16}"/>
          </ac:spMkLst>
        </pc:spChg>
        <pc:spChg chg="add mod ord">
          <ac:chgData name="Michael Wegelin" userId="44f55030-522d-4388-8c84-12427b5d3861" providerId="ADAL" clId="{0C4B0DB6-929A-4816-82F8-C5CA7CCA52CE}" dt="2026-09-09T07:30:48.986" v="17460" actId="12"/>
          <ac:spMkLst>
            <pc:docMk/>
            <pc:sldMk cId="2726241591" sldId="335"/>
            <ac:spMk id="6" creationId="{798B285B-2DED-EB72-91D5-F3943135645F}"/>
          </ac:spMkLst>
        </pc:spChg>
      </pc:sldChg>
      <pc:sldChg chg="addSp delSp modSp new mod modNotesTx">
        <pc:chgData name="Michael Wegelin" userId="44f55030-522d-4388-8c84-12427b5d3861" providerId="ADAL" clId="{0C4B0DB6-929A-4816-82F8-C5CA7CCA52CE}" dt="2026-09-09T08:05:33.646" v="17708" actId="14100"/>
        <pc:sldMkLst>
          <pc:docMk/>
          <pc:sldMk cId="714939092" sldId="336"/>
        </pc:sldMkLst>
        <pc:spChg chg="mod">
          <ac:chgData name="Michael Wegelin" userId="44f55030-522d-4388-8c84-12427b5d3861" providerId="ADAL" clId="{0C4B0DB6-929A-4816-82F8-C5CA7CCA52CE}" dt="2026-09-09T08:03:04.946" v="17675"/>
          <ac:spMkLst>
            <pc:docMk/>
            <pc:sldMk cId="714939092" sldId="336"/>
            <ac:spMk id="2" creationId="{5B72EB9B-AB01-732C-256A-FC752846EEAF}"/>
          </ac:spMkLst>
        </pc:spChg>
        <pc:spChg chg="del">
          <ac:chgData name="Michael Wegelin" userId="44f55030-522d-4388-8c84-12427b5d3861" providerId="ADAL" clId="{0C4B0DB6-929A-4816-82F8-C5CA7CCA52CE}" dt="2026-09-09T08:03:46.135" v="17679" actId="3680"/>
          <ac:spMkLst>
            <pc:docMk/>
            <pc:sldMk cId="714939092" sldId="336"/>
            <ac:spMk id="3" creationId="{899A03E7-3658-3FEA-A706-977EA3D39734}"/>
          </ac:spMkLst>
        </pc:spChg>
        <pc:spChg chg="add mod">
          <ac:chgData name="Michael Wegelin" userId="44f55030-522d-4388-8c84-12427b5d3861" providerId="ADAL" clId="{0C4B0DB6-929A-4816-82F8-C5CA7CCA52CE}" dt="2026-09-09T08:05:33.646" v="17708" actId="14100"/>
          <ac:spMkLst>
            <pc:docMk/>
            <pc:sldMk cId="714939092" sldId="336"/>
            <ac:spMk id="6" creationId="{C6DA2EC9-B1C8-D823-5803-B7962AAB868C}"/>
          </ac:spMkLst>
        </pc:spChg>
        <pc:graphicFrameChg chg="add mod ord modGraphic">
          <ac:chgData name="Michael Wegelin" userId="44f55030-522d-4388-8c84-12427b5d3861" providerId="ADAL" clId="{0C4B0DB6-929A-4816-82F8-C5CA7CCA52CE}" dt="2026-09-09T08:05:01.921" v="17704"/>
          <ac:graphicFrameMkLst>
            <pc:docMk/>
            <pc:sldMk cId="714939092" sldId="336"/>
            <ac:graphicFrameMk id="4" creationId="{08971FA6-1EC9-967F-9455-CB30CFDD9BF0}"/>
          </ac:graphicFrameMkLst>
        </pc:graphicFrameChg>
      </pc:sldChg>
      <pc:sldChg chg="addSp delSp modSp new del mod modClrScheme chgLayout modNotesTx">
        <pc:chgData name="Michael Wegelin" userId="44f55030-522d-4388-8c84-12427b5d3861" providerId="ADAL" clId="{0C4B0DB6-929A-4816-82F8-C5CA7CCA52CE}" dt="2026-09-08T18:26:00.585" v="16365" actId="47"/>
        <pc:sldMkLst>
          <pc:docMk/>
          <pc:sldMk cId="2853532542" sldId="336"/>
        </pc:sldMkLst>
      </pc:sldChg>
      <pc:sldChg chg="addSp delSp modSp new del mod modClrScheme chgLayout modNotesTx">
        <pc:chgData name="Michael Wegelin" userId="44f55030-522d-4388-8c84-12427b5d3861" providerId="ADAL" clId="{0C4B0DB6-929A-4816-82F8-C5CA7CCA52CE}" dt="2026-09-08T18:26:01.445" v="16366" actId="47"/>
        <pc:sldMkLst>
          <pc:docMk/>
          <pc:sldMk cId="159112063" sldId="337"/>
        </pc:sldMkLst>
      </pc:sldChg>
      <pc:sldChg chg="addSp delSp modSp new mod modNotesTx">
        <pc:chgData name="Michael Wegelin" userId="44f55030-522d-4388-8c84-12427b5d3861" providerId="ADAL" clId="{0C4B0DB6-929A-4816-82F8-C5CA7CCA52CE}" dt="2026-09-09T08:08:12.810" v="17723"/>
        <pc:sldMkLst>
          <pc:docMk/>
          <pc:sldMk cId="985813584" sldId="337"/>
        </pc:sldMkLst>
        <pc:spChg chg="mod">
          <ac:chgData name="Michael Wegelin" userId="44f55030-522d-4388-8c84-12427b5d3861" providerId="ADAL" clId="{0C4B0DB6-929A-4816-82F8-C5CA7CCA52CE}" dt="2026-09-09T08:05:45.811" v="17709"/>
          <ac:spMkLst>
            <pc:docMk/>
            <pc:sldMk cId="985813584" sldId="337"/>
            <ac:spMk id="2" creationId="{0B8B9370-E538-D46A-BA35-FB01B68D9F6F}"/>
          </ac:spMkLst>
        </pc:spChg>
        <pc:spChg chg="del">
          <ac:chgData name="Michael Wegelin" userId="44f55030-522d-4388-8c84-12427b5d3861" providerId="ADAL" clId="{0C4B0DB6-929A-4816-82F8-C5CA7CCA52CE}" dt="2026-09-09T08:06:35.633" v="17713" actId="3680"/>
          <ac:spMkLst>
            <pc:docMk/>
            <pc:sldMk cId="985813584" sldId="337"/>
            <ac:spMk id="3" creationId="{D86A7613-8365-169B-6BFF-A7A6BEC36044}"/>
          </ac:spMkLst>
        </pc:spChg>
        <pc:graphicFrameChg chg="add mod ord modGraphic">
          <ac:chgData name="Michael Wegelin" userId="44f55030-522d-4388-8c84-12427b5d3861" providerId="ADAL" clId="{0C4B0DB6-929A-4816-82F8-C5CA7CCA52CE}" dt="2026-09-09T08:08:12.810" v="17723"/>
          <ac:graphicFrameMkLst>
            <pc:docMk/>
            <pc:sldMk cId="985813584" sldId="337"/>
            <ac:graphicFrameMk id="4" creationId="{0B322490-3390-C49A-2D14-E46C9DEC1DF7}"/>
          </ac:graphicFrameMkLst>
        </pc:graphicFrameChg>
      </pc:sldChg>
      <pc:sldChg chg="addSp delSp modSp new del mod modClrScheme chgLayout modNotesTx">
        <pc:chgData name="Michael Wegelin" userId="44f55030-522d-4388-8c84-12427b5d3861" providerId="ADAL" clId="{0C4B0DB6-929A-4816-82F8-C5CA7CCA52CE}" dt="2026-09-08T18:26:02.249" v="16367" actId="47"/>
        <pc:sldMkLst>
          <pc:docMk/>
          <pc:sldMk cId="431583442" sldId="338"/>
        </pc:sldMkLst>
      </pc:sldChg>
      <pc:sldChg chg="addSp delSp modSp new mod modNotesTx">
        <pc:chgData name="Michael Wegelin" userId="44f55030-522d-4388-8c84-12427b5d3861" providerId="ADAL" clId="{0C4B0DB6-929A-4816-82F8-C5CA7CCA52CE}" dt="2026-09-09T08:13:56.254" v="17776" actId="14100"/>
        <pc:sldMkLst>
          <pc:docMk/>
          <pc:sldMk cId="1757699168" sldId="338"/>
        </pc:sldMkLst>
        <pc:spChg chg="mod">
          <ac:chgData name="Michael Wegelin" userId="44f55030-522d-4388-8c84-12427b5d3861" providerId="ADAL" clId="{0C4B0DB6-929A-4816-82F8-C5CA7CCA52CE}" dt="2026-09-09T08:08:46.139" v="17724"/>
          <ac:spMkLst>
            <pc:docMk/>
            <pc:sldMk cId="1757699168" sldId="338"/>
            <ac:spMk id="2" creationId="{8C9A0C24-CB7E-020B-8688-D77DAAB19D86}"/>
          </ac:spMkLst>
        </pc:spChg>
        <pc:spChg chg="del">
          <ac:chgData name="Michael Wegelin" userId="44f55030-522d-4388-8c84-12427b5d3861" providerId="ADAL" clId="{0C4B0DB6-929A-4816-82F8-C5CA7CCA52CE}" dt="2026-09-09T08:09:37.337" v="17728" actId="3680"/>
          <ac:spMkLst>
            <pc:docMk/>
            <pc:sldMk cId="1757699168" sldId="338"/>
            <ac:spMk id="3" creationId="{3DA84D37-8EC9-9A91-3286-904DAA25B5E2}"/>
          </ac:spMkLst>
        </pc:spChg>
        <pc:spChg chg="add mod">
          <ac:chgData name="Michael Wegelin" userId="44f55030-522d-4388-8c84-12427b5d3861" providerId="ADAL" clId="{0C4B0DB6-929A-4816-82F8-C5CA7CCA52CE}" dt="2026-09-09T08:12:11.694" v="17742" actId="20577"/>
          <ac:spMkLst>
            <pc:docMk/>
            <pc:sldMk cId="1757699168" sldId="338"/>
            <ac:spMk id="5" creationId="{9EE3C713-82FF-A72E-C982-D1DB578A893D}"/>
          </ac:spMkLst>
        </pc:spChg>
        <pc:spChg chg="add mod">
          <ac:chgData name="Michael Wegelin" userId="44f55030-522d-4388-8c84-12427b5d3861" providerId="ADAL" clId="{0C4B0DB6-929A-4816-82F8-C5CA7CCA52CE}" dt="2026-09-09T08:13:05.449" v="17769" actId="14100"/>
          <ac:spMkLst>
            <pc:docMk/>
            <pc:sldMk cId="1757699168" sldId="338"/>
            <ac:spMk id="7" creationId="{8C3B6541-4FCC-FC3D-4087-0EA97189AE2B}"/>
          </ac:spMkLst>
        </pc:spChg>
        <pc:spChg chg="add mod">
          <ac:chgData name="Michael Wegelin" userId="44f55030-522d-4388-8c84-12427b5d3861" providerId="ADAL" clId="{0C4B0DB6-929A-4816-82F8-C5CA7CCA52CE}" dt="2026-09-09T08:12:44.019" v="17763" actId="20577"/>
          <ac:spMkLst>
            <pc:docMk/>
            <pc:sldMk cId="1757699168" sldId="338"/>
            <ac:spMk id="9" creationId="{9A97AE8F-E791-7C59-2A8F-9ECB788147F3}"/>
          </ac:spMkLst>
        </pc:spChg>
        <pc:spChg chg="add mod">
          <ac:chgData name="Michael Wegelin" userId="44f55030-522d-4388-8c84-12427b5d3861" providerId="ADAL" clId="{0C4B0DB6-929A-4816-82F8-C5CA7CCA52CE}" dt="2026-09-09T08:12:58.161" v="17767" actId="20577"/>
          <ac:spMkLst>
            <pc:docMk/>
            <pc:sldMk cId="1757699168" sldId="338"/>
            <ac:spMk id="11" creationId="{C1BAFE1C-A6E2-BCA7-4910-E37AFC743933}"/>
          </ac:spMkLst>
        </pc:spChg>
        <pc:graphicFrameChg chg="add mod ord modGraphic">
          <ac:chgData name="Michael Wegelin" userId="44f55030-522d-4388-8c84-12427b5d3861" providerId="ADAL" clId="{0C4B0DB6-929A-4816-82F8-C5CA7CCA52CE}" dt="2026-09-09T08:13:56.254" v="17776" actId="14100"/>
          <ac:graphicFrameMkLst>
            <pc:docMk/>
            <pc:sldMk cId="1757699168" sldId="338"/>
            <ac:graphicFrameMk id="4" creationId="{130F805F-C630-12F8-0FCF-C154838AD41A}"/>
          </ac:graphicFrameMkLst>
        </pc:graphicFrameChg>
        <pc:cxnChg chg="add">
          <ac:chgData name="Michael Wegelin" userId="44f55030-522d-4388-8c84-12427b5d3861" providerId="ADAL" clId="{0C4B0DB6-929A-4816-82F8-C5CA7CCA52CE}" dt="2026-09-09T08:13:12.751" v="17770" actId="11529"/>
          <ac:cxnSpMkLst>
            <pc:docMk/>
            <pc:sldMk cId="1757699168" sldId="338"/>
            <ac:cxnSpMk id="13" creationId="{EE6B9513-032A-4C0B-C5DF-A341F400641B}"/>
          </ac:cxnSpMkLst>
        </pc:cxnChg>
        <pc:cxnChg chg="add mod">
          <ac:chgData name="Michael Wegelin" userId="44f55030-522d-4388-8c84-12427b5d3861" providerId="ADAL" clId="{0C4B0DB6-929A-4816-82F8-C5CA7CCA52CE}" dt="2026-09-09T08:13:44.459" v="17774" actId="14100"/>
          <ac:cxnSpMkLst>
            <pc:docMk/>
            <pc:sldMk cId="1757699168" sldId="338"/>
            <ac:cxnSpMk id="15" creationId="{A6D23BB9-087A-5692-B014-1460C7BB8F65}"/>
          </ac:cxnSpMkLst>
        </pc:cxnChg>
        <pc:cxnChg chg="add">
          <ac:chgData name="Michael Wegelin" userId="44f55030-522d-4388-8c84-12427b5d3861" providerId="ADAL" clId="{0C4B0DB6-929A-4816-82F8-C5CA7CCA52CE}" dt="2026-09-09T08:13:36.826" v="17773" actId="11529"/>
          <ac:cxnSpMkLst>
            <pc:docMk/>
            <pc:sldMk cId="1757699168" sldId="338"/>
            <ac:cxnSpMk id="18" creationId="{A6D5DF4F-46FC-88F2-3977-3B19569B8F60}"/>
          </ac:cxnSpMkLst>
        </pc:cxnChg>
      </pc:sldChg>
      <pc:sldChg chg="addSp delSp modSp new mod modClrScheme chgLayout modNotesTx">
        <pc:chgData name="Michael Wegelin" userId="44f55030-522d-4388-8c84-12427b5d3861" providerId="ADAL" clId="{0C4B0DB6-929A-4816-82F8-C5CA7CCA52CE}" dt="2026-09-09T08:19:52.332" v="17785" actId="5793"/>
        <pc:sldMkLst>
          <pc:docMk/>
          <pc:sldMk cId="1732912075" sldId="339"/>
        </pc:sldMkLst>
        <pc:spChg chg="mod ord">
          <ac:chgData name="Michael Wegelin" userId="44f55030-522d-4388-8c84-12427b5d3861" providerId="ADAL" clId="{0C4B0DB6-929A-4816-82F8-C5CA7CCA52CE}" dt="2026-09-09T08:19:11.962" v="17781" actId="700"/>
          <ac:spMkLst>
            <pc:docMk/>
            <pc:sldMk cId="1732912075" sldId="339"/>
            <ac:spMk id="2" creationId="{B9CB407E-36D4-25B0-A00D-3AF4D3952937}"/>
          </ac:spMkLst>
        </pc:spChg>
        <pc:spChg chg="del mod ord">
          <ac:chgData name="Michael Wegelin" userId="44f55030-522d-4388-8c84-12427b5d3861" providerId="ADAL" clId="{0C4B0DB6-929A-4816-82F8-C5CA7CCA52CE}" dt="2026-09-09T08:19:11.962" v="17781" actId="700"/>
          <ac:spMkLst>
            <pc:docMk/>
            <pc:sldMk cId="1732912075" sldId="339"/>
            <ac:spMk id="3" creationId="{E492443B-CD14-9943-2116-3264961233DE}"/>
          </ac:spMkLst>
        </pc:spChg>
        <pc:spChg chg="add mod ord">
          <ac:chgData name="Michael Wegelin" userId="44f55030-522d-4388-8c84-12427b5d3861" providerId="ADAL" clId="{0C4B0DB6-929A-4816-82F8-C5CA7CCA52CE}" dt="2026-09-09T08:19:52.332" v="17785" actId="5793"/>
          <ac:spMkLst>
            <pc:docMk/>
            <pc:sldMk cId="1732912075" sldId="339"/>
            <ac:spMk id="4" creationId="{72BBE074-9951-6001-15F0-C67D1B79E2F7}"/>
          </ac:spMkLst>
        </pc:spChg>
        <pc:spChg chg="add del mod ord">
          <ac:chgData name="Michael Wegelin" userId="44f55030-522d-4388-8c84-12427b5d3861" providerId="ADAL" clId="{0C4B0DB6-929A-4816-82F8-C5CA7CCA52CE}" dt="2026-09-09T08:19:19.771" v="17782" actId="22"/>
          <ac:spMkLst>
            <pc:docMk/>
            <pc:sldMk cId="1732912075" sldId="339"/>
            <ac:spMk id="5" creationId="{7E68DFC6-55EB-4A8C-E468-437718F142FB}"/>
          </ac:spMkLst>
        </pc:spChg>
        <pc:picChg chg="add mod ord">
          <ac:chgData name="Michael Wegelin" userId="44f55030-522d-4388-8c84-12427b5d3861" providerId="ADAL" clId="{0C4B0DB6-929A-4816-82F8-C5CA7CCA52CE}" dt="2026-09-09T08:19:27.953" v="17783" actId="1076"/>
          <ac:picMkLst>
            <pc:docMk/>
            <pc:sldMk cId="1732912075" sldId="339"/>
            <ac:picMk id="7" creationId="{DC43EE8C-5336-0D1E-8505-E425461876FB}"/>
          </ac:picMkLst>
        </pc:picChg>
      </pc:sldChg>
      <pc:sldChg chg="addSp delSp modSp new del mod modClrScheme chgLayout modNotesTx">
        <pc:chgData name="Michael Wegelin" userId="44f55030-522d-4388-8c84-12427b5d3861" providerId="ADAL" clId="{0C4B0DB6-929A-4816-82F8-C5CA7CCA52CE}" dt="2026-09-08T18:26:03.093" v="16368" actId="47"/>
        <pc:sldMkLst>
          <pc:docMk/>
          <pc:sldMk cId="3335776353" sldId="339"/>
        </pc:sldMkLst>
      </pc:sldChg>
      <pc:sldChg chg="addSp delSp modSp new mod modNotesTx">
        <pc:chgData name="Michael Wegelin" userId="44f55030-522d-4388-8c84-12427b5d3861" providerId="ADAL" clId="{0C4B0DB6-929A-4816-82F8-C5CA7CCA52CE}" dt="2026-09-09T08:22:19.052" v="17792" actId="14100"/>
        <pc:sldMkLst>
          <pc:docMk/>
          <pc:sldMk cId="3368975879" sldId="340"/>
        </pc:sldMkLst>
        <pc:spChg chg="mod">
          <ac:chgData name="Michael Wegelin" userId="44f55030-522d-4388-8c84-12427b5d3861" providerId="ADAL" clId="{0C4B0DB6-929A-4816-82F8-C5CA7CCA52CE}" dt="2026-09-09T08:20:30.083" v="17786"/>
          <ac:spMkLst>
            <pc:docMk/>
            <pc:sldMk cId="3368975879" sldId="340"/>
            <ac:spMk id="2" creationId="{BED3F7E1-F283-836E-F640-50C89F0FE865}"/>
          </ac:spMkLst>
        </pc:spChg>
        <pc:spChg chg="del">
          <ac:chgData name="Michael Wegelin" userId="44f55030-522d-4388-8c84-12427b5d3861" providerId="ADAL" clId="{0C4B0DB6-929A-4816-82F8-C5CA7CCA52CE}" dt="2026-09-09T08:22:07.191" v="17790" actId="22"/>
          <ac:spMkLst>
            <pc:docMk/>
            <pc:sldMk cId="3368975879" sldId="340"/>
            <ac:spMk id="3" creationId="{A2A78942-0BF4-53BE-B2CB-7601152BF9E4}"/>
          </ac:spMkLst>
        </pc:spChg>
        <pc:picChg chg="add mod ord">
          <ac:chgData name="Michael Wegelin" userId="44f55030-522d-4388-8c84-12427b5d3861" providerId="ADAL" clId="{0C4B0DB6-929A-4816-82F8-C5CA7CCA52CE}" dt="2026-09-09T08:22:19.052" v="17792" actId="14100"/>
          <ac:picMkLst>
            <pc:docMk/>
            <pc:sldMk cId="3368975879" sldId="340"/>
            <ac:picMk id="5" creationId="{03D14047-BC8E-618D-B6BC-97E432BBB225}"/>
          </ac:picMkLst>
        </pc:picChg>
      </pc:sldChg>
      <pc:sldChg chg="modSp new del mod modNotesTx">
        <pc:chgData name="Michael Wegelin" userId="44f55030-522d-4388-8c84-12427b5d3861" providerId="ADAL" clId="{0C4B0DB6-929A-4816-82F8-C5CA7CCA52CE}" dt="2026-09-08T18:26:04.098" v="16369" actId="47"/>
        <pc:sldMkLst>
          <pc:docMk/>
          <pc:sldMk cId="3596407555" sldId="340"/>
        </pc:sldMkLst>
      </pc:sldChg>
      <pc:sldChg chg="addSp delSp modSp new mod modNotesTx">
        <pc:chgData name="Michael Wegelin" userId="44f55030-522d-4388-8c84-12427b5d3861" providerId="ADAL" clId="{0C4B0DB6-929A-4816-82F8-C5CA7CCA52CE}" dt="2026-09-09T08:26:53.777" v="17799" actId="14100"/>
        <pc:sldMkLst>
          <pc:docMk/>
          <pc:sldMk cId="2432175878" sldId="341"/>
        </pc:sldMkLst>
        <pc:spChg chg="mod">
          <ac:chgData name="Michael Wegelin" userId="44f55030-522d-4388-8c84-12427b5d3861" providerId="ADAL" clId="{0C4B0DB6-929A-4816-82F8-C5CA7CCA52CE}" dt="2026-09-09T08:22:53.676" v="17793"/>
          <ac:spMkLst>
            <pc:docMk/>
            <pc:sldMk cId="2432175878" sldId="341"/>
            <ac:spMk id="2" creationId="{4BCDDBFF-D0ED-6C06-CB02-BB6E608C77B5}"/>
          </ac:spMkLst>
        </pc:spChg>
        <pc:spChg chg="del">
          <ac:chgData name="Michael Wegelin" userId="44f55030-522d-4388-8c84-12427b5d3861" providerId="ADAL" clId="{0C4B0DB6-929A-4816-82F8-C5CA7CCA52CE}" dt="2026-09-09T08:26:45.839" v="17797" actId="22"/>
          <ac:spMkLst>
            <pc:docMk/>
            <pc:sldMk cId="2432175878" sldId="341"/>
            <ac:spMk id="3" creationId="{CA63D946-F8A6-72F4-FECF-26424A543806}"/>
          </ac:spMkLst>
        </pc:spChg>
        <pc:picChg chg="add mod ord">
          <ac:chgData name="Michael Wegelin" userId="44f55030-522d-4388-8c84-12427b5d3861" providerId="ADAL" clId="{0C4B0DB6-929A-4816-82F8-C5CA7CCA52CE}" dt="2026-09-09T08:26:53.777" v="17799" actId="14100"/>
          <ac:picMkLst>
            <pc:docMk/>
            <pc:sldMk cId="2432175878" sldId="341"/>
            <ac:picMk id="5" creationId="{789AC9F2-FD63-71E6-C8FB-9CA860A520B9}"/>
          </ac:picMkLst>
        </pc:picChg>
      </pc:sldChg>
      <pc:sldChg chg="addSp delSp modSp new del mod modNotesTx">
        <pc:chgData name="Michael Wegelin" userId="44f55030-522d-4388-8c84-12427b5d3861" providerId="ADAL" clId="{0C4B0DB6-929A-4816-82F8-C5CA7CCA52CE}" dt="2026-09-08T18:26:05.641" v="16370" actId="47"/>
        <pc:sldMkLst>
          <pc:docMk/>
          <pc:sldMk cId="2855860497" sldId="341"/>
        </pc:sldMkLst>
      </pc:sldChg>
      <pc:sldChg chg="addSp delSp modSp new mod modNotesTx">
        <pc:chgData name="Michael Wegelin" userId="44f55030-522d-4388-8c84-12427b5d3861" providerId="ADAL" clId="{0C4B0DB6-929A-4816-82F8-C5CA7CCA52CE}" dt="2026-09-09T08:34:26.468" v="17818" actId="20577"/>
        <pc:sldMkLst>
          <pc:docMk/>
          <pc:sldMk cId="1709381662" sldId="342"/>
        </pc:sldMkLst>
        <pc:spChg chg="mod">
          <ac:chgData name="Michael Wegelin" userId="44f55030-522d-4388-8c84-12427b5d3861" providerId="ADAL" clId="{0C4B0DB6-929A-4816-82F8-C5CA7CCA52CE}" dt="2026-09-09T08:32:14.052" v="17800"/>
          <ac:spMkLst>
            <pc:docMk/>
            <pc:sldMk cId="1709381662" sldId="342"/>
            <ac:spMk id="2" creationId="{ADE84FF0-D28A-6D68-3FA2-CB3878346DC9}"/>
          </ac:spMkLst>
        </pc:spChg>
        <pc:spChg chg="del">
          <ac:chgData name="Michael Wegelin" userId="44f55030-522d-4388-8c84-12427b5d3861" providerId="ADAL" clId="{0C4B0DB6-929A-4816-82F8-C5CA7CCA52CE}" dt="2026-09-09T08:32:29.347" v="17801" actId="3680"/>
          <ac:spMkLst>
            <pc:docMk/>
            <pc:sldMk cId="1709381662" sldId="342"/>
            <ac:spMk id="3" creationId="{54122450-117D-C75C-A855-4D22A4AE0292}"/>
          </ac:spMkLst>
        </pc:spChg>
        <pc:spChg chg="add mod">
          <ac:chgData name="Michael Wegelin" userId="44f55030-522d-4388-8c84-12427b5d3861" providerId="ADAL" clId="{0C4B0DB6-929A-4816-82F8-C5CA7CCA52CE}" dt="2026-09-09T08:33:57.278" v="17815" actId="13926"/>
          <ac:spMkLst>
            <pc:docMk/>
            <pc:sldMk cId="1709381662" sldId="342"/>
            <ac:spMk id="6" creationId="{00FAC65A-1A91-68F1-6DEC-339ACC15A6DC}"/>
          </ac:spMkLst>
        </pc:spChg>
        <pc:graphicFrameChg chg="add mod ord modGraphic">
          <ac:chgData name="Michael Wegelin" userId="44f55030-522d-4388-8c84-12427b5d3861" providerId="ADAL" clId="{0C4B0DB6-929A-4816-82F8-C5CA7CCA52CE}" dt="2026-09-09T08:33:33.404" v="17811"/>
          <ac:graphicFrameMkLst>
            <pc:docMk/>
            <pc:sldMk cId="1709381662" sldId="342"/>
            <ac:graphicFrameMk id="4" creationId="{9D3F1EAF-0515-29A7-2ACF-5513491CCA78}"/>
          </ac:graphicFrameMkLst>
        </pc:graphicFrameChg>
      </pc:sldChg>
      <pc:sldChg chg="addSp delSp modSp new mod modClrScheme chgLayout modNotesTx">
        <pc:chgData name="Michael Wegelin" userId="44f55030-522d-4388-8c84-12427b5d3861" providerId="ADAL" clId="{0C4B0DB6-929A-4816-82F8-C5CA7CCA52CE}" dt="2026-09-09T08:40:23.880" v="17982" actId="20577"/>
        <pc:sldMkLst>
          <pc:docMk/>
          <pc:sldMk cId="2001607576" sldId="343"/>
        </pc:sldMkLst>
        <pc:spChg chg="mod ord">
          <ac:chgData name="Michael Wegelin" userId="44f55030-522d-4388-8c84-12427b5d3861" providerId="ADAL" clId="{0C4B0DB6-929A-4816-82F8-C5CA7CCA52CE}" dt="2026-09-09T08:38:31.735" v="17979" actId="700"/>
          <ac:spMkLst>
            <pc:docMk/>
            <pc:sldMk cId="2001607576" sldId="343"/>
            <ac:spMk id="2" creationId="{69522FCB-E42A-25E3-4BFE-CDEC4AE04483}"/>
          </ac:spMkLst>
        </pc:spChg>
        <pc:spChg chg="mod ord">
          <ac:chgData name="Michael Wegelin" userId="44f55030-522d-4388-8c84-12427b5d3861" providerId="ADAL" clId="{0C4B0DB6-929A-4816-82F8-C5CA7CCA52CE}" dt="2026-09-09T08:38:31.735" v="17979" actId="700"/>
          <ac:spMkLst>
            <pc:docMk/>
            <pc:sldMk cId="2001607576" sldId="343"/>
            <ac:spMk id="3" creationId="{341AA458-01F0-EA5D-2154-D494811115B0}"/>
          </ac:spMkLst>
        </pc:spChg>
        <pc:spChg chg="add del mod ord">
          <ac:chgData name="Michael Wegelin" userId="44f55030-522d-4388-8c84-12427b5d3861" providerId="ADAL" clId="{0C4B0DB6-929A-4816-82F8-C5CA7CCA52CE}" dt="2026-09-09T08:38:37.577" v="17980" actId="22"/>
          <ac:spMkLst>
            <pc:docMk/>
            <pc:sldMk cId="2001607576" sldId="343"/>
            <ac:spMk id="4" creationId="{D74E4F94-AAB8-2624-3721-EF1C80657EEE}"/>
          </ac:spMkLst>
        </pc:spChg>
        <pc:picChg chg="add mod ord">
          <ac:chgData name="Michael Wegelin" userId="44f55030-522d-4388-8c84-12427b5d3861" providerId="ADAL" clId="{0C4B0DB6-929A-4816-82F8-C5CA7CCA52CE}" dt="2026-09-09T08:38:37.577" v="17980" actId="22"/>
          <ac:picMkLst>
            <pc:docMk/>
            <pc:sldMk cId="2001607576" sldId="343"/>
            <ac:picMk id="6" creationId="{358B5D8C-88EA-7E59-57EE-3A5792F6EEFA}"/>
          </ac:picMkLst>
        </pc:picChg>
      </pc:sldChg>
      <pc:sldChg chg="addSp delSp modSp new mod modClrScheme chgLayout modNotesTx">
        <pc:chgData name="Michael Wegelin" userId="44f55030-522d-4388-8c84-12427b5d3861" providerId="ADAL" clId="{0C4B0DB6-929A-4816-82F8-C5CA7CCA52CE}" dt="2026-09-09T08:53:41.613" v="18059" actId="2711"/>
        <pc:sldMkLst>
          <pc:docMk/>
          <pc:sldMk cId="576144855" sldId="344"/>
        </pc:sldMkLst>
        <pc:spChg chg="del mod ord">
          <ac:chgData name="Michael Wegelin" userId="44f55030-522d-4388-8c84-12427b5d3861" providerId="ADAL" clId="{0C4B0DB6-929A-4816-82F8-C5CA7CCA52CE}" dt="2026-09-09T08:50:57.194" v="17984" actId="700"/>
          <ac:spMkLst>
            <pc:docMk/>
            <pc:sldMk cId="576144855" sldId="344"/>
            <ac:spMk id="2" creationId="{6555411A-D147-8834-D144-7979F5591649}"/>
          </ac:spMkLst>
        </pc:spChg>
        <pc:spChg chg="del mod ord">
          <ac:chgData name="Michael Wegelin" userId="44f55030-522d-4388-8c84-12427b5d3861" providerId="ADAL" clId="{0C4B0DB6-929A-4816-82F8-C5CA7CCA52CE}" dt="2026-09-09T08:50:57.194" v="17984" actId="700"/>
          <ac:spMkLst>
            <pc:docMk/>
            <pc:sldMk cId="576144855" sldId="344"/>
            <ac:spMk id="3" creationId="{611C8C97-4A69-40F7-26AB-B6F6E6C116BD}"/>
          </ac:spMkLst>
        </pc:spChg>
        <pc:spChg chg="del">
          <ac:chgData name="Michael Wegelin" userId="44f55030-522d-4388-8c84-12427b5d3861" providerId="ADAL" clId="{0C4B0DB6-929A-4816-82F8-C5CA7CCA52CE}" dt="2026-09-09T08:50:57.194" v="17984" actId="700"/>
          <ac:spMkLst>
            <pc:docMk/>
            <pc:sldMk cId="576144855" sldId="344"/>
            <ac:spMk id="4" creationId="{35F34E10-3351-68BB-BA91-B64FF5457057}"/>
          </ac:spMkLst>
        </pc:spChg>
        <pc:spChg chg="add mod ord">
          <ac:chgData name="Michael Wegelin" userId="44f55030-522d-4388-8c84-12427b5d3861" providerId="ADAL" clId="{0C4B0DB6-929A-4816-82F8-C5CA7CCA52CE}" dt="2026-09-09T08:52:50.554" v="18001" actId="700"/>
          <ac:spMkLst>
            <pc:docMk/>
            <pc:sldMk cId="576144855" sldId="344"/>
            <ac:spMk id="5" creationId="{9F69FAA6-6BAD-7461-2A47-9578EE7E0AC3}"/>
          </ac:spMkLst>
        </pc:spChg>
        <pc:spChg chg="add del mod ord">
          <ac:chgData name="Michael Wegelin" userId="44f55030-522d-4388-8c84-12427b5d3861" providerId="ADAL" clId="{0C4B0DB6-929A-4816-82F8-C5CA7CCA52CE}" dt="2026-09-09T08:52:50.554" v="18001" actId="700"/>
          <ac:spMkLst>
            <pc:docMk/>
            <pc:sldMk cId="576144855" sldId="344"/>
            <ac:spMk id="6" creationId="{D9A18884-2E16-D75E-6239-ED49A3400C17}"/>
          </ac:spMkLst>
        </pc:spChg>
        <pc:spChg chg="add mod ord">
          <ac:chgData name="Michael Wegelin" userId="44f55030-522d-4388-8c84-12427b5d3861" providerId="ADAL" clId="{0C4B0DB6-929A-4816-82F8-C5CA7CCA52CE}" dt="2026-09-09T08:52:58.136" v="18020" actId="20577"/>
          <ac:spMkLst>
            <pc:docMk/>
            <pc:sldMk cId="576144855" sldId="344"/>
            <ac:spMk id="7" creationId="{816C6DBA-5198-99AE-E938-1DD780F84096}"/>
          </ac:spMkLst>
        </pc:spChg>
        <pc:spChg chg="add mod ord">
          <ac:chgData name="Michael Wegelin" userId="44f55030-522d-4388-8c84-12427b5d3861" providerId="ADAL" clId="{0C4B0DB6-929A-4816-82F8-C5CA7CCA52CE}" dt="2026-09-09T08:53:34.590" v="18057" actId="27636"/>
          <ac:spMkLst>
            <pc:docMk/>
            <pc:sldMk cId="576144855" sldId="344"/>
            <ac:spMk id="8" creationId="{A08AE035-389B-D7A9-AC6C-B4A76A0A804A}"/>
          </ac:spMkLst>
        </pc:spChg>
        <pc:spChg chg="add mod ord">
          <ac:chgData name="Michael Wegelin" userId="44f55030-522d-4388-8c84-12427b5d3861" providerId="ADAL" clId="{0C4B0DB6-929A-4816-82F8-C5CA7CCA52CE}" dt="2026-09-09T08:53:07.632" v="18047" actId="20577"/>
          <ac:spMkLst>
            <pc:docMk/>
            <pc:sldMk cId="576144855" sldId="344"/>
            <ac:spMk id="9" creationId="{53B36EF7-606B-F23D-9EB8-84AEAAE28186}"/>
          </ac:spMkLst>
        </pc:spChg>
        <pc:spChg chg="add mod ord">
          <ac:chgData name="Michael Wegelin" userId="44f55030-522d-4388-8c84-12427b5d3861" providerId="ADAL" clId="{0C4B0DB6-929A-4816-82F8-C5CA7CCA52CE}" dt="2026-09-09T08:53:41.613" v="18059" actId="2711"/>
          <ac:spMkLst>
            <pc:docMk/>
            <pc:sldMk cId="576144855" sldId="344"/>
            <ac:spMk id="10" creationId="{B2A7FEE9-40DF-E360-42A7-56C51C882007}"/>
          </ac:spMkLst>
        </pc:spChg>
      </pc:sldChg>
      <pc:sldChg chg="addSp delSp modSp new mod modNotesTx">
        <pc:chgData name="Michael Wegelin" userId="44f55030-522d-4388-8c84-12427b5d3861" providerId="ADAL" clId="{0C4B0DB6-929A-4816-82F8-C5CA7CCA52CE}" dt="2026-09-09T08:56:05.258" v="18076"/>
        <pc:sldMkLst>
          <pc:docMk/>
          <pc:sldMk cId="2582722505" sldId="345"/>
        </pc:sldMkLst>
        <pc:spChg chg="mod">
          <ac:chgData name="Michael Wegelin" userId="44f55030-522d-4388-8c84-12427b5d3861" providerId="ADAL" clId="{0C4B0DB6-929A-4816-82F8-C5CA7CCA52CE}" dt="2026-09-09T08:54:08.754" v="18060"/>
          <ac:spMkLst>
            <pc:docMk/>
            <pc:sldMk cId="2582722505" sldId="345"/>
            <ac:spMk id="2" creationId="{C99EE8EF-4B66-C0F6-E694-DE60CE12DBD7}"/>
          </ac:spMkLst>
        </pc:spChg>
        <pc:spChg chg="del">
          <ac:chgData name="Michael Wegelin" userId="44f55030-522d-4388-8c84-12427b5d3861" providerId="ADAL" clId="{0C4B0DB6-929A-4816-82F8-C5CA7CCA52CE}" dt="2026-09-09T08:54:53.056" v="18064" actId="3680"/>
          <ac:spMkLst>
            <pc:docMk/>
            <pc:sldMk cId="2582722505" sldId="345"/>
            <ac:spMk id="3" creationId="{9890B7EE-998C-21F6-0502-5565974725CD}"/>
          </ac:spMkLst>
        </pc:spChg>
        <pc:graphicFrameChg chg="add mod ord modGraphic">
          <ac:chgData name="Michael Wegelin" userId="44f55030-522d-4388-8c84-12427b5d3861" providerId="ADAL" clId="{0C4B0DB6-929A-4816-82F8-C5CA7CCA52CE}" dt="2026-09-09T08:56:05.258" v="18076"/>
          <ac:graphicFrameMkLst>
            <pc:docMk/>
            <pc:sldMk cId="2582722505" sldId="345"/>
            <ac:graphicFrameMk id="4" creationId="{825F7FFB-FF77-1298-4DCA-29E722867381}"/>
          </ac:graphicFrameMkLst>
        </pc:graphicFrameChg>
      </pc:sldChg>
      <pc:sldChg chg="addSp modSp new mod modNotesTx">
        <pc:chgData name="Michael Wegelin" userId="44f55030-522d-4388-8c84-12427b5d3861" providerId="ADAL" clId="{0C4B0DB6-929A-4816-82F8-C5CA7CCA52CE}" dt="2026-09-09T09:07:09.907" v="18309" actId="20577"/>
        <pc:sldMkLst>
          <pc:docMk/>
          <pc:sldMk cId="75808469" sldId="346"/>
        </pc:sldMkLst>
        <pc:spChg chg="mod">
          <ac:chgData name="Michael Wegelin" userId="44f55030-522d-4388-8c84-12427b5d3861" providerId="ADAL" clId="{0C4B0DB6-929A-4816-82F8-C5CA7CCA52CE}" dt="2026-09-09T08:56:18.163" v="18077"/>
          <ac:spMkLst>
            <pc:docMk/>
            <pc:sldMk cId="75808469" sldId="346"/>
            <ac:spMk id="2" creationId="{D67ECB16-E2E4-331C-4F42-FC717B53A4D8}"/>
          </ac:spMkLst>
        </pc:spChg>
        <pc:spChg chg="add mod">
          <ac:chgData name="Michael Wegelin" userId="44f55030-522d-4388-8c84-12427b5d3861" providerId="ADAL" clId="{0C4B0DB6-929A-4816-82F8-C5CA7CCA52CE}" dt="2026-09-09T09:04:50.915" v="18215" actId="1076"/>
          <ac:spMkLst>
            <pc:docMk/>
            <pc:sldMk cId="75808469" sldId="346"/>
            <ac:spMk id="4" creationId="{7AD47633-41FA-F728-507F-243517049882}"/>
          </ac:spMkLst>
        </pc:spChg>
        <pc:spChg chg="add mod">
          <ac:chgData name="Michael Wegelin" userId="44f55030-522d-4388-8c84-12427b5d3861" providerId="ADAL" clId="{0C4B0DB6-929A-4816-82F8-C5CA7CCA52CE}" dt="2026-09-09T09:04:31.647" v="18212" actId="1076"/>
          <ac:spMkLst>
            <pc:docMk/>
            <pc:sldMk cId="75808469" sldId="346"/>
            <ac:spMk id="6" creationId="{BC49BB58-0F22-2D6E-352E-0EC8C4BB8D8A}"/>
          </ac:spMkLst>
        </pc:spChg>
        <pc:spChg chg="add mod">
          <ac:chgData name="Michael Wegelin" userId="44f55030-522d-4388-8c84-12427b5d3861" providerId="ADAL" clId="{0C4B0DB6-929A-4816-82F8-C5CA7CCA52CE}" dt="2026-09-09T09:06:10.717" v="18270" actId="20577"/>
          <ac:spMkLst>
            <pc:docMk/>
            <pc:sldMk cId="75808469" sldId="346"/>
            <ac:spMk id="8" creationId="{E5932054-97FB-98F3-DF05-DFE89138941E}"/>
          </ac:spMkLst>
        </pc:spChg>
        <pc:spChg chg="add mod">
          <ac:chgData name="Michael Wegelin" userId="44f55030-522d-4388-8c84-12427b5d3861" providerId="ADAL" clId="{0C4B0DB6-929A-4816-82F8-C5CA7CCA52CE}" dt="2026-09-09T09:05:58.974" v="18250" actId="20577"/>
          <ac:spMkLst>
            <pc:docMk/>
            <pc:sldMk cId="75808469" sldId="346"/>
            <ac:spMk id="10" creationId="{34B4DD59-A0A6-594E-C6A7-D2A5676946B1}"/>
          </ac:spMkLst>
        </pc:spChg>
        <pc:cxnChg chg="add mod">
          <ac:chgData name="Michael Wegelin" userId="44f55030-522d-4388-8c84-12427b5d3861" providerId="ADAL" clId="{0C4B0DB6-929A-4816-82F8-C5CA7CCA52CE}" dt="2026-09-09T09:04:50.915" v="18215" actId="1076"/>
          <ac:cxnSpMkLst>
            <pc:docMk/>
            <pc:sldMk cId="75808469" sldId="346"/>
            <ac:cxnSpMk id="12" creationId="{AE699B25-BD9F-81EF-19CD-166D041B10D6}"/>
          </ac:cxnSpMkLst>
        </pc:cxnChg>
        <pc:cxnChg chg="add mod">
          <ac:chgData name="Michael Wegelin" userId="44f55030-522d-4388-8c84-12427b5d3861" providerId="ADAL" clId="{0C4B0DB6-929A-4816-82F8-C5CA7CCA52CE}" dt="2026-09-09T09:05:23.234" v="18219" actId="14100"/>
          <ac:cxnSpMkLst>
            <pc:docMk/>
            <pc:sldMk cId="75808469" sldId="346"/>
            <ac:cxnSpMk id="16" creationId="{58442338-6624-7864-5E98-C0C34C50D9AB}"/>
          </ac:cxnSpMkLst>
        </pc:cxnChg>
        <pc:cxnChg chg="add mod">
          <ac:chgData name="Michael Wegelin" userId="44f55030-522d-4388-8c84-12427b5d3861" providerId="ADAL" clId="{0C4B0DB6-929A-4816-82F8-C5CA7CCA52CE}" dt="2026-09-09T09:05:13.119" v="18218" actId="14100"/>
          <ac:cxnSpMkLst>
            <pc:docMk/>
            <pc:sldMk cId="75808469" sldId="346"/>
            <ac:cxnSpMk id="18" creationId="{EE027F81-4325-0F18-1FBA-0B885B40CA17}"/>
          </ac:cxnSpMkLst>
        </pc:cxnChg>
      </pc:sldChg>
      <pc:sldChg chg="addSp delSp modSp new mod modClrScheme chgLayout modNotesTx">
        <pc:chgData name="Michael Wegelin" userId="44f55030-522d-4388-8c84-12427b5d3861" providerId="ADAL" clId="{0C4B0DB6-929A-4816-82F8-C5CA7CCA52CE}" dt="2026-09-09T09:11:45.722" v="18336" actId="1076"/>
        <pc:sldMkLst>
          <pc:docMk/>
          <pc:sldMk cId="259557828" sldId="347"/>
        </pc:sldMkLst>
        <pc:spChg chg="mod ord">
          <ac:chgData name="Michael Wegelin" userId="44f55030-522d-4388-8c84-12427b5d3861" providerId="ADAL" clId="{0C4B0DB6-929A-4816-82F8-C5CA7CCA52CE}" dt="2026-09-09T09:09:48.545" v="18315" actId="700"/>
          <ac:spMkLst>
            <pc:docMk/>
            <pc:sldMk cId="259557828" sldId="347"/>
            <ac:spMk id="2" creationId="{AA2058EF-BD6D-3E1C-A121-A54F21EF19CA}"/>
          </ac:spMkLst>
        </pc:spChg>
        <pc:spChg chg="del">
          <ac:chgData name="Michael Wegelin" userId="44f55030-522d-4388-8c84-12427b5d3861" providerId="ADAL" clId="{0C4B0DB6-929A-4816-82F8-C5CA7CCA52CE}" dt="2026-09-09T09:09:35.774" v="18314" actId="22"/>
          <ac:spMkLst>
            <pc:docMk/>
            <pc:sldMk cId="259557828" sldId="347"/>
            <ac:spMk id="3" creationId="{236D9B66-4EAF-9527-2777-BBBD116FFB9B}"/>
          </ac:spMkLst>
        </pc:spChg>
        <pc:spChg chg="add del mod ord">
          <ac:chgData name="Michael Wegelin" userId="44f55030-522d-4388-8c84-12427b5d3861" providerId="ADAL" clId="{0C4B0DB6-929A-4816-82F8-C5CA7CCA52CE}" dt="2026-09-09T09:09:59.751" v="18317" actId="22"/>
          <ac:spMkLst>
            <pc:docMk/>
            <pc:sldMk cId="259557828" sldId="347"/>
            <ac:spMk id="6" creationId="{A193EE4B-6D6E-1CE5-1581-8045AD1411C9}"/>
          </ac:spMkLst>
        </pc:spChg>
        <pc:spChg chg="add del mod">
          <ac:chgData name="Michael Wegelin" userId="44f55030-522d-4388-8c84-12427b5d3861" providerId="ADAL" clId="{0C4B0DB6-929A-4816-82F8-C5CA7CCA52CE}" dt="2026-09-09T09:10:19.698" v="18320" actId="3680"/>
          <ac:spMkLst>
            <pc:docMk/>
            <pc:sldMk cId="259557828" sldId="347"/>
            <ac:spMk id="8" creationId="{E561061A-8BB5-FE05-BE2F-CA96B93BAD28}"/>
          </ac:spMkLst>
        </pc:spChg>
        <pc:graphicFrameChg chg="add mod ord modGraphic">
          <ac:chgData name="Michael Wegelin" userId="44f55030-522d-4388-8c84-12427b5d3861" providerId="ADAL" clId="{0C4B0DB6-929A-4816-82F8-C5CA7CCA52CE}" dt="2026-09-09T09:11:45.722" v="18336" actId="1076"/>
          <ac:graphicFrameMkLst>
            <pc:docMk/>
            <pc:sldMk cId="259557828" sldId="347"/>
            <ac:graphicFrameMk id="11" creationId="{426A16CA-AF27-70F6-907D-723390E7C3A6}"/>
          </ac:graphicFrameMkLst>
        </pc:graphicFrameChg>
        <pc:picChg chg="add del mod ord">
          <ac:chgData name="Michael Wegelin" userId="44f55030-522d-4388-8c84-12427b5d3861" providerId="ADAL" clId="{0C4B0DB6-929A-4816-82F8-C5CA7CCA52CE}" dt="2026-09-09T09:09:55.346" v="18316" actId="478"/>
          <ac:picMkLst>
            <pc:docMk/>
            <pc:sldMk cId="259557828" sldId="347"/>
            <ac:picMk id="5" creationId="{E5F51262-E523-01FC-0776-0B5D67316E91}"/>
          </ac:picMkLst>
        </pc:picChg>
        <pc:picChg chg="add mod ord">
          <ac:chgData name="Michael Wegelin" userId="44f55030-522d-4388-8c84-12427b5d3861" providerId="ADAL" clId="{0C4B0DB6-929A-4816-82F8-C5CA7CCA52CE}" dt="2026-09-09T09:10:07.427" v="18319" actId="14100"/>
          <ac:picMkLst>
            <pc:docMk/>
            <pc:sldMk cId="259557828" sldId="347"/>
            <ac:picMk id="10" creationId="{70F2BDFA-ECBA-3717-F311-CBAF3A87B6D8}"/>
          </ac:picMkLst>
        </pc:picChg>
      </pc:sldChg>
      <pc:sldChg chg="addSp delSp modSp new mod modNotesTx">
        <pc:chgData name="Michael Wegelin" userId="44f55030-522d-4388-8c84-12427b5d3861" providerId="ADAL" clId="{0C4B0DB6-929A-4816-82F8-C5CA7CCA52CE}" dt="2026-09-09T10:21:12.778" v="18373"/>
        <pc:sldMkLst>
          <pc:docMk/>
          <pc:sldMk cId="3587780031" sldId="348"/>
        </pc:sldMkLst>
        <pc:spChg chg="mod">
          <ac:chgData name="Michael Wegelin" userId="44f55030-522d-4388-8c84-12427b5d3861" providerId="ADAL" clId="{0C4B0DB6-929A-4816-82F8-C5CA7CCA52CE}" dt="2026-09-09T09:12:08.447" v="18337"/>
          <ac:spMkLst>
            <pc:docMk/>
            <pc:sldMk cId="3587780031" sldId="348"/>
            <ac:spMk id="2" creationId="{6FB0A437-5DA7-0C05-A4FB-5FC753D594EC}"/>
          </ac:spMkLst>
        </pc:spChg>
        <pc:spChg chg="del">
          <ac:chgData name="Michael Wegelin" userId="44f55030-522d-4388-8c84-12427b5d3861" providerId="ADAL" clId="{0C4B0DB6-929A-4816-82F8-C5CA7CCA52CE}" dt="2026-09-09T09:13:31.405" v="18345" actId="3680"/>
          <ac:spMkLst>
            <pc:docMk/>
            <pc:sldMk cId="3587780031" sldId="348"/>
            <ac:spMk id="3" creationId="{37F4CC7E-F473-9255-813C-5AE02FC3A16F}"/>
          </ac:spMkLst>
        </pc:spChg>
        <pc:graphicFrameChg chg="add mod ord modGraphic">
          <ac:chgData name="Michael Wegelin" userId="44f55030-522d-4388-8c84-12427b5d3861" providerId="ADAL" clId="{0C4B0DB6-929A-4816-82F8-C5CA7CCA52CE}" dt="2026-09-09T10:21:12.778" v="18373"/>
          <ac:graphicFrameMkLst>
            <pc:docMk/>
            <pc:sldMk cId="3587780031" sldId="348"/>
            <ac:graphicFrameMk id="4" creationId="{3C7A6E37-59FE-232F-344D-1AC3579F212B}"/>
          </ac:graphicFrameMkLst>
        </pc:graphicFrameChg>
      </pc:sldChg>
      <pc:sldChg chg="addSp delSp modSp new mod modClrScheme chgLayout modNotesTx">
        <pc:chgData name="Michael Wegelin" userId="44f55030-522d-4388-8c84-12427b5d3861" providerId="ADAL" clId="{0C4B0DB6-929A-4816-82F8-C5CA7CCA52CE}" dt="2026-09-09T10:27:15.012" v="18405" actId="1035"/>
        <pc:sldMkLst>
          <pc:docMk/>
          <pc:sldMk cId="3906090918" sldId="349"/>
        </pc:sldMkLst>
        <pc:spChg chg="mod ord">
          <ac:chgData name="Michael Wegelin" userId="44f55030-522d-4388-8c84-12427b5d3861" providerId="ADAL" clId="{0C4B0DB6-929A-4816-82F8-C5CA7CCA52CE}" dt="2026-09-09T10:26:10.108" v="18383" actId="700"/>
          <ac:spMkLst>
            <pc:docMk/>
            <pc:sldMk cId="3906090918" sldId="349"/>
            <ac:spMk id="2" creationId="{2C455658-D2D7-938E-9DDD-69738FF70CDD}"/>
          </ac:spMkLst>
        </pc:spChg>
        <pc:spChg chg="del">
          <ac:chgData name="Michael Wegelin" userId="44f55030-522d-4388-8c84-12427b5d3861" providerId="ADAL" clId="{0C4B0DB6-929A-4816-82F8-C5CA7CCA52CE}" dt="2026-09-09T10:25:05.004" v="18378" actId="22"/>
          <ac:spMkLst>
            <pc:docMk/>
            <pc:sldMk cId="3906090918" sldId="349"/>
            <ac:spMk id="3" creationId="{D4B0C6E8-1819-A00E-F127-BD58C1F942F0}"/>
          </ac:spMkLst>
        </pc:spChg>
        <pc:spChg chg="add del mod ord">
          <ac:chgData name="Michael Wegelin" userId="44f55030-522d-4388-8c84-12427b5d3861" providerId="ADAL" clId="{0C4B0DB6-929A-4816-82F8-C5CA7CCA52CE}" dt="2026-09-09T10:26:10.108" v="18383" actId="700"/>
          <ac:spMkLst>
            <pc:docMk/>
            <pc:sldMk cId="3906090918" sldId="349"/>
            <ac:spMk id="7" creationId="{97BDD1D9-B4B5-914C-621B-8D18F3816D13}"/>
          </ac:spMkLst>
        </pc:spChg>
        <pc:spChg chg="add mod ord">
          <ac:chgData name="Michael Wegelin" userId="44f55030-522d-4388-8c84-12427b5d3861" providerId="ADAL" clId="{0C4B0DB6-929A-4816-82F8-C5CA7CCA52CE}" dt="2026-09-09T10:27:15.012" v="18405" actId="1035"/>
          <ac:spMkLst>
            <pc:docMk/>
            <pc:sldMk cId="3906090918" sldId="349"/>
            <ac:spMk id="10" creationId="{907845DF-B5AD-F2BA-3636-ECCE6EED2A7B}"/>
          </ac:spMkLst>
        </pc:spChg>
        <pc:spChg chg="add del mod ord">
          <ac:chgData name="Michael Wegelin" userId="44f55030-522d-4388-8c84-12427b5d3861" providerId="ADAL" clId="{0C4B0DB6-929A-4816-82F8-C5CA7CCA52CE}" dt="2026-09-09T10:26:13.962" v="18384" actId="22"/>
          <ac:spMkLst>
            <pc:docMk/>
            <pc:sldMk cId="3906090918" sldId="349"/>
            <ac:spMk id="11" creationId="{5C987D32-A0C7-29D6-A53F-B0CFF73DF9B0}"/>
          </ac:spMkLst>
        </pc:spChg>
        <pc:picChg chg="add del mod ord">
          <ac:chgData name="Michael Wegelin" userId="44f55030-522d-4388-8c84-12427b5d3861" providerId="ADAL" clId="{0C4B0DB6-929A-4816-82F8-C5CA7CCA52CE}" dt="2026-09-09T10:25:57.495" v="18380" actId="478"/>
          <ac:picMkLst>
            <pc:docMk/>
            <pc:sldMk cId="3906090918" sldId="349"/>
            <ac:picMk id="5" creationId="{88E48187-FD24-FD33-5006-E7A13AF189EF}"/>
          </ac:picMkLst>
        </pc:picChg>
        <pc:picChg chg="add del">
          <ac:chgData name="Michael Wegelin" userId="44f55030-522d-4388-8c84-12427b5d3861" providerId="ADAL" clId="{0C4B0DB6-929A-4816-82F8-C5CA7CCA52CE}" dt="2026-09-09T10:26:01.018" v="18382" actId="478"/>
          <ac:picMkLst>
            <pc:docMk/>
            <pc:sldMk cId="3906090918" sldId="349"/>
            <ac:picMk id="9" creationId="{FBE47F9B-F510-7DE9-40CA-BF59BE308555}"/>
          </ac:picMkLst>
        </pc:picChg>
        <pc:picChg chg="add mod ord">
          <ac:chgData name="Michael Wegelin" userId="44f55030-522d-4388-8c84-12427b5d3861" providerId="ADAL" clId="{0C4B0DB6-929A-4816-82F8-C5CA7CCA52CE}" dt="2026-09-09T10:27:04.858" v="18392" actId="14100"/>
          <ac:picMkLst>
            <pc:docMk/>
            <pc:sldMk cId="3906090918" sldId="349"/>
            <ac:picMk id="13" creationId="{8C3983C4-01B8-EBF0-02AE-E4BEB763BFD4}"/>
          </ac:picMkLst>
        </pc:picChg>
      </pc:sldChg>
      <pc:sldChg chg="addSp delSp modSp new mod modNotesTx">
        <pc:chgData name="Michael Wegelin" userId="44f55030-522d-4388-8c84-12427b5d3861" providerId="ADAL" clId="{0C4B0DB6-929A-4816-82F8-C5CA7CCA52CE}" dt="2026-09-09T10:29:27.678" v="18411" actId="20577"/>
        <pc:sldMkLst>
          <pc:docMk/>
          <pc:sldMk cId="3183967169" sldId="350"/>
        </pc:sldMkLst>
        <pc:spChg chg="mod">
          <ac:chgData name="Michael Wegelin" userId="44f55030-522d-4388-8c84-12427b5d3861" providerId="ADAL" clId="{0C4B0DB6-929A-4816-82F8-C5CA7CCA52CE}" dt="2026-09-09T10:29:06.252" v="18408"/>
          <ac:spMkLst>
            <pc:docMk/>
            <pc:sldMk cId="3183967169" sldId="350"/>
            <ac:spMk id="2" creationId="{88C48198-489A-4D49-6546-674661558D22}"/>
          </ac:spMkLst>
        </pc:spChg>
        <pc:spChg chg="del">
          <ac:chgData name="Michael Wegelin" userId="44f55030-522d-4388-8c84-12427b5d3861" providerId="ADAL" clId="{0C4B0DB6-929A-4816-82F8-C5CA7CCA52CE}" dt="2026-09-09T10:28:38.564" v="18406" actId="22"/>
          <ac:spMkLst>
            <pc:docMk/>
            <pc:sldMk cId="3183967169" sldId="350"/>
            <ac:spMk id="3" creationId="{57E393E2-5BB7-78B4-D557-9CB565774D22}"/>
          </ac:spMkLst>
        </pc:spChg>
        <pc:picChg chg="add mod ord">
          <ac:chgData name="Michael Wegelin" userId="44f55030-522d-4388-8c84-12427b5d3861" providerId="ADAL" clId="{0C4B0DB6-929A-4816-82F8-C5CA7CCA52CE}" dt="2026-09-09T10:28:41.709" v="18407" actId="1076"/>
          <ac:picMkLst>
            <pc:docMk/>
            <pc:sldMk cId="3183967169" sldId="350"/>
            <ac:picMk id="5" creationId="{A2754EA8-F624-937B-736C-BF76A95F8C4D}"/>
          </ac:picMkLst>
        </pc:picChg>
      </pc:sldChg>
      <pc:sldChg chg="modSp new mod modNotesTx">
        <pc:chgData name="Michael Wegelin" userId="44f55030-522d-4388-8c84-12427b5d3861" providerId="ADAL" clId="{0C4B0DB6-929A-4816-82F8-C5CA7CCA52CE}" dt="2026-09-09T10:38:59.070" v="18757" actId="20577"/>
        <pc:sldMkLst>
          <pc:docMk/>
          <pc:sldMk cId="429356175" sldId="351"/>
        </pc:sldMkLst>
        <pc:spChg chg="mod">
          <ac:chgData name="Michael Wegelin" userId="44f55030-522d-4388-8c84-12427b5d3861" providerId="ADAL" clId="{0C4B0DB6-929A-4816-82F8-C5CA7CCA52CE}" dt="2026-09-09T10:29:45.301" v="18412"/>
          <ac:spMkLst>
            <pc:docMk/>
            <pc:sldMk cId="429356175" sldId="351"/>
            <ac:spMk id="2" creationId="{6534CD07-AA0E-FA53-5E82-09ABF3690D25}"/>
          </ac:spMkLst>
        </pc:spChg>
        <pc:spChg chg="mod">
          <ac:chgData name="Michael Wegelin" userId="44f55030-522d-4388-8c84-12427b5d3861" providerId="ADAL" clId="{0C4B0DB6-929A-4816-82F8-C5CA7CCA52CE}" dt="2026-09-09T10:38:59.070" v="18757" actId="20577"/>
          <ac:spMkLst>
            <pc:docMk/>
            <pc:sldMk cId="429356175" sldId="351"/>
            <ac:spMk id="3" creationId="{92461E9E-DF3F-03D2-9AEF-6996DF558631}"/>
          </ac:spMkLst>
        </pc:spChg>
      </pc:sldChg>
      <pc:sldChg chg="addSp delSp modSp new mod modClrScheme chgLayout modNotesTx">
        <pc:chgData name="Michael Wegelin" userId="44f55030-522d-4388-8c84-12427b5d3861" providerId="ADAL" clId="{0C4B0DB6-929A-4816-82F8-C5CA7CCA52CE}" dt="2026-09-09T10:43:17.945" v="18805"/>
        <pc:sldMkLst>
          <pc:docMk/>
          <pc:sldMk cId="2872352815" sldId="352"/>
        </pc:sldMkLst>
        <pc:spChg chg="mod ord">
          <ac:chgData name="Michael Wegelin" userId="44f55030-522d-4388-8c84-12427b5d3861" providerId="ADAL" clId="{0C4B0DB6-929A-4816-82F8-C5CA7CCA52CE}" dt="2026-09-09T10:42:37.346" v="18766" actId="700"/>
          <ac:spMkLst>
            <pc:docMk/>
            <pc:sldMk cId="2872352815" sldId="352"/>
            <ac:spMk id="2" creationId="{A607F2AB-9DA1-0EBC-6D10-6A1043F7A109}"/>
          </ac:spMkLst>
        </pc:spChg>
        <pc:spChg chg="del mod ord">
          <ac:chgData name="Michael Wegelin" userId="44f55030-522d-4388-8c84-12427b5d3861" providerId="ADAL" clId="{0C4B0DB6-929A-4816-82F8-C5CA7CCA52CE}" dt="2026-09-09T10:42:37.346" v="18766" actId="700"/>
          <ac:spMkLst>
            <pc:docMk/>
            <pc:sldMk cId="2872352815" sldId="352"/>
            <ac:spMk id="3" creationId="{59859A02-A500-ABA5-A571-10C3AB4E7914}"/>
          </ac:spMkLst>
        </pc:spChg>
        <pc:spChg chg="add mod ord">
          <ac:chgData name="Michael Wegelin" userId="44f55030-522d-4388-8c84-12427b5d3861" providerId="ADAL" clId="{0C4B0DB6-929A-4816-82F8-C5CA7CCA52CE}" dt="2026-09-09T10:42:43.809" v="18780" actId="20577"/>
          <ac:spMkLst>
            <pc:docMk/>
            <pc:sldMk cId="2872352815" sldId="352"/>
            <ac:spMk id="4" creationId="{7B6DA598-6B27-7CDE-221F-7FF378E3D417}"/>
          </ac:spMkLst>
        </pc:spChg>
        <pc:spChg chg="add mod ord">
          <ac:chgData name="Michael Wegelin" userId="44f55030-522d-4388-8c84-12427b5d3861" providerId="ADAL" clId="{0C4B0DB6-929A-4816-82F8-C5CA7CCA52CE}" dt="2026-09-09T10:43:09.476" v="18804" actId="20577"/>
          <ac:spMkLst>
            <pc:docMk/>
            <pc:sldMk cId="2872352815" sldId="352"/>
            <ac:spMk id="5" creationId="{01A8F99F-2D30-66C0-F22C-E2919E63F0DE}"/>
          </ac:spMkLst>
        </pc:spChg>
        <pc:spChg chg="add mod ord">
          <ac:chgData name="Michael Wegelin" userId="44f55030-522d-4388-8c84-12427b5d3861" providerId="ADAL" clId="{0C4B0DB6-929A-4816-82F8-C5CA7CCA52CE}" dt="2026-09-09T10:42:50.309" v="18788" actId="20577"/>
          <ac:spMkLst>
            <pc:docMk/>
            <pc:sldMk cId="2872352815" sldId="352"/>
            <ac:spMk id="6" creationId="{A4250954-86E2-F469-EC05-A504DD6D87D4}"/>
          </ac:spMkLst>
        </pc:spChg>
        <pc:spChg chg="add mod ord">
          <ac:chgData name="Michael Wegelin" userId="44f55030-522d-4388-8c84-12427b5d3861" providerId="ADAL" clId="{0C4B0DB6-929A-4816-82F8-C5CA7CCA52CE}" dt="2026-09-09T10:43:17.945" v="18805"/>
          <ac:spMkLst>
            <pc:docMk/>
            <pc:sldMk cId="2872352815" sldId="352"/>
            <ac:spMk id="7" creationId="{75AB94CF-690B-F261-4730-62BDFB1A1F89}"/>
          </ac:spMkLst>
        </pc:spChg>
      </pc:sldChg>
      <pc:sldChg chg="addSp delSp modSp new mod modNotesTx">
        <pc:chgData name="Michael Wegelin" userId="44f55030-522d-4388-8c84-12427b5d3861" providerId="ADAL" clId="{0C4B0DB6-929A-4816-82F8-C5CA7CCA52CE}" dt="2026-09-09T10:45:01.560" v="18823" actId="14734"/>
        <pc:sldMkLst>
          <pc:docMk/>
          <pc:sldMk cId="2416698958" sldId="353"/>
        </pc:sldMkLst>
        <pc:spChg chg="mod">
          <ac:chgData name="Michael Wegelin" userId="44f55030-522d-4388-8c84-12427b5d3861" providerId="ADAL" clId="{0C4B0DB6-929A-4816-82F8-C5CA7CCA52CE}" dt="2026-09-09T10:44:00.183" v="18810"/>
          <ac:spMkLst>
            <pc:docMk/>
            <pc:sldMk cId="2416698958" sldId="353"/>
            <ac:spMk id="2" creationId="{D866F2AD-1FAD-FDD9-9600-F73AED2A4C13}"/>
          </ac:spMkLst>
        </pc:spChg>
        <pc:spChg chg="del">
          <ac:chgData name="Michael Wegelin" userId="44f55030-522d-4388-8c84-12427b5d3861" providerId="ADAL" clId="{0C4B0DB6-929A-4816-82F8-C5CA7CCA52CE}" dt="2026-09-09T10:44:09.102" v="18811" actId="3680"/>
          <ac:spMkLst>
            <pc:docMk/>
            <pc:sldMk cId="2416698958" sldId="353"/>
            <ac:spMk id="3" creationId="{BD883D18-183D-0114-041C-C21A3A48BBC3}"/>
          </ac:spMkLst>
        </pc:spChg>
        <pc:spChg chg="add del">
          <ac:chgData name="Michael Wegelin" userId="44f55030-522d-4388-8c84-12427b5d3861" providerId="ADAL" clId="{0C4B0DB6-929A-4816-82F8-C5CA7CCA52CE}" dt="2026-09-09T10:44:17.627" v="18813" actId="22"/>
          <ac:spMkLst>
            <pc:docMk/>
            <pc:sldMk cId="2416698958" sldId="353"/>
            <ac:spMk id="6" creationId="{E0F5703D-1521-578A-B25E-CDB093C81408}"/>
          </ac:spMkLst>
        </pc:spChg>
        <pc:graphicFrameChg chg="add mod ord modGraphic">
          <ac:chgData name="Michael Wegelin" userId="44f55030-522d-4388-8c84-12427b5d3861" providerId="ADAL" clId="{0C4B0DB6-929A-4816-82F8-C5CA7CCA52CE}" dt="2026-09-09T10:45:01.560" v="18823" actId="14734"/>
          <ac:graphicFrameMkLst>
            <pc:docMk/>
            <pc:sldMk cId="2416698958" sldId="353"/>
            <ac:graphicFrameMk id="4" creationId="{112E7720-0B01-057A-C3B3-3DF864ADDCF2}"/>
          </ac:graphicFrameMkLst>
        </pc:graphicFrameChg>
      </pc:sldChg>
      <pc:sldChg chg="modSp new mod modNotesTx">
        <pc:chgData name="Michael Wegelin" userId="44f55030-522d-4388-8c84-12427b5d3861" providerId="ADAL" clId="{0C4B0DB6-929A-4816-82F8-C5CA7CCA52CE}" dt="2026-09-09T10:46:12.976" v="18839" actId="12"/>
        <pc:sldMkLst>
          <pc:docMk/>
          <pc:sldMk cId="92841004" sldId="354"/>
        </pc:sldMkLst>
        <pc:spChg chg="mod">
          <ac:chgData name="Michael Wegelin" userId="44f55030-522d-4388-8c84-12427b5d3861" providerId="ADAL" clId="{0C4B0DB6-929A-4816-82F8-C5CA7CCA52CE}" dt="2026-09-09T10:45:43.164" v="18828"/>
          <ac:spMkLst>
            <pc:docMk/>
            <pc:sldMk cId="92841004" sldId="354"/>
            <ac:spMk id="2" creationId="{B7280F62-C66E-CC59-82E0-BB865F904842}"/>
          </ac:spMkLst>
        </pc:spChg>
        <pc:spChg chg="mod">
          <ac:chgData name="Michael Wegelin" userId="44f55030-522d-4388-8c84-12427b5d3861" providerId="ADAL" clId="{0C4B0DB6-929A-4816-82F8-C5CA7CCA52CE}" dt="2026-09-09T10:46:12.976" v="18839" actId="12"/>
          <ac:spMkLst>
            <pc:docMk/>
            <pc:sldMk cId="92841004" sldId="354"/>
            <ac:spMk id="3" creationId="{040117C3-1489-6963-5C8E-83E3F91758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31E49-3ADF-4A64-8B32-5D33D9E563E5}" type="datetimeFigureOut">
              <a:rPr lang="de-DE" smtClean="0"/>
              <a:t>09.09.2026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75E6B-8EF9-407D-AAC9-FC0EA114427C}" type="slidenum">
              <a:rPr lang="de-DE" smtClean="0"/>
              <a:t>‹Nr.›</a:t>
            </a:fld>
            <a:endParaRPr lang="de-DE" dirty="0"/>
          </a:p>
        </p:txBody>
      </p:sp>
    </p:spTree>
    <p:extLst>
      <p:ext uri="{BB962C8B-B14F-4D97-AF65-F5344CB8AC3E}">
        <p14:creationId xmlns:p14="http://schemas.microsoft.com/office/powerpoint/2010/main" val="16566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help.sap.com/doc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Willkommen zum dritten und letzten Teil unserer Kursreihe über ABAP Core Data Services.</a:t>
            </a:r>
          </a:p>
          <a:p>
            <a:endParaRPr lang="de-DE" dirty="0"/>
          </a:p>
          <a:p>
            <a:r>
              <a:rPr lang="de-DE" dirty="0"/>
              <a:t>In den ersten beiden Teilen haben wir ein CDS-Datenmodell für Aufträge, Auftragspositionen, Kunden und Produkte aufgebaut. Danach haben wir dieses Modell um Berechnungen, Aggregationen, Vereinigungen und Erweiterungen ergänzt.</a:t>
            </a:r>
          </a:p>
          <a:p>
            <a:endParaRPr lang="de-DE" dirty="0"/>
          </a:p>
          <a:p>
            <a:r>
              <a:rPr lang="de-DE" dirty="0"/>
              <a:t>Heute betrachten wir zwei besonders wichtige Einsatzgebiete von CDS: die Gestaltung von Fiori-Elements-Anwendungen und die Bereitstellung analytischer Datenmodelle.</a:t>
            </a:r>
          </a:p>
          <a:p>
            <a:endParaRPr lang="de-DE" dirty="0"/>
          </a:p>
          <a:p>
            <a:r>
              <a:rPr lang="de-DE" dirty="0"/>
              <a:t>Dabei schreiben wir nur wenig klassischen Programmcode. Viele Eigenschaften der späteren Anwendung beschreiben wir deklarativ durch Annotationen. Wir geben also nicht Schritt für Schritt vor, wie eine Benutzeroberfläche aufgebaut werden soll, sondern beschreiben die Bedeutung und gewünschte Darstellung unserer Daten.</a:t>
            </a:r>
          </a:p>
        </p:txBody>
      </p:sp>
      <p:sp>
        <p:nvSpPr>
          <p:cNvPr id="4" name="Foliennummernplatzhalter 3"/>
          <p:cNvSpPr>
            <a:spLocks noGrp="1"/>
          </p:cNvSpPr>
          <p:nvPr>
            <p:ph type="sldNum" sz="quarter" idx="5"/>
          </p:nvPr>
        </p:nvSpPr>
        <p:spPr/>
        <p:txBody>
          <a:bodyPr/>
          <a:lstStyle/>
          <a:p>
            <a:fld id="{E9475E6B-8EF9-407D-AAC9-FC0EA114427C}" type="slidenum">
              <a:rPr lang="de-DE" smtClean="0"/>
              <a:t>1</a:t>
            </a:fld>
            <a:endParaRPr lang="de-DE" dirty="0"/>
          </a:p>
        </p:txBody>
      </p:sp>
    </p:spTree>
    <p:extLst>
      <p:ext uri="{BB962C8B-B14F-4D97-AF65-F5344CB8AC3E}">
        <p14:creationId xmlns:p14="http://schemas.microsoft.com/office/powerpoint/2010/main" val="164424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erste größere Themenblock beschäftigt sich mit Fiori Elements.</a:t>
            </a:r>
          </a:p>
          <a:p>
            <a:endParaRPr lang="de-DE" dirty="0"/>
          </a:p>
          <a:p>
            <a:r>
              <a:rPr lang="de-DE" dirty="0"/>
              <a:t>Wir gestalten zunächst einen List Report für unsere Aufträge. Anschließend ergänzen wir eine </a:t>
            </a:r>
            <a:r>
              <a:rPr lang="de-DE" dirty="0" err="1"/>
              <a:t>Object</a:t>
            </a:r>
            <a:r>
              <a:rPr lang="de-DE" dirty="0"/>
              <a:t> Page mit Kopfdaten, Abschnitten und Auftragspositionen. Dabei sehen wir, wie Fiori Elements die bereits vorhandenen CDS-Assoziationen für Navigation und eingebettete Tabellen verwendet.</a:t>
            </a:r>
          </a:p>
          <a:p>
            <a:endParaRPr lang="de-DE" dirty="0"/>
          </a:p>
          <a:p>
            <a:r>
              <a:rPr lang="de-DE" dirty="0"/>
              <a:t>Danach ergänzen wir eine Kennzahl, eine farbliche Bewertung und ein Diagramm.</a:t>
            </a:r>
          </a:p>
          <a:p>
            <a:endParaRPr lang="de-DE" dirty="0"/>
          </a:p>
          <a:p>
            <a:r>
              <a:rPr lang="de-DE" dirty="0"/>
              <a:t>Im zweiten Themenblock wechseln wir von der transaktionalen beziehungsweise objektorientierten Darstellung zur Analytik. Wir bauen aus den vorhandenen Views einen analytischen Cube und eine analytische Query.</a:t>
            </a:r>
          </a:p>
          <a:p>
            <a:endParaRPr lang="de-DE" dirty="0"/>
          </a:p>
          <a:p>
            <a:r>
              <a:rPr lang="de-DE" dirty="0"/>
              <a:t>Zum Abschluss erstellen wir eine echte Produkthierarchie. Kategorien bilden darin die Strukturknoten und Produkte die Blätter.</a:t>
            </a:r>
          </a:p>
        </p:txBody>
      </p:sp>
      <p:sp>
        <p:nvSpPr>
          <p:cNvPr id="4" name="Foliennummernplatzhalter 3"/>
          <p:cNvSpPr>
            <a:spLocks noGrp="1"/>
          </p:cNvSpPr>
          <p:nvPr>
            <p:ph type="sldNum" sz="quarter" idx="5"/>
          </p:nvPr>
        </p:nvSpPr>
        <p:spPr/>
        <p:txBody>
          <a:bodyPr/>
          <a:lstStyle/>
          <a:p>
            <a:fld id="{E9475E6B-8EF9-407D-AAC9-FC0EA114427C}" type="slidenum">
              <a:rPr lang="de-DE" smtClean="0"/>
              <a:t>2</a:t>
            </a:fld>
            <a:endParaRPr lang="de-DE" dirty="0"/>
          </a:p>
        </p:txBody>
      </p:sp>
    </p:spTree>
    <p:extLst>
      <p:ext uri="{BB962C8B-B14F-4D97-AF65-F5344CB8AC3E}">
        <p14:creationId xmlns:p14="http://schemas.microsoft.com/office/powerpoint/2010/main" val="2236897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werden heute nicht sechs voneinander unabhängige Beispiele entwickeln. Die Live-</a:t>
            </a:r>
            <a:r>
              <a:rPr lang="de-DE" dirty="0" err="1"/>
              <a:t>Codings</a:t>
            </a:r>
            <a:r>
              <a:rPr lang="de-DE" dirty="0"/>
              <a:t> bauen aufeinander und auf dem Datenmodell aus Teil 1 auf.</a:t>
            </a:r>
          </a:p>
          <a:p>
            <a:endParaRPr lang="de-DE" dirty="0"/>
          </a:p>
          <a:p>
            <a:r>
              <a:rPr lang="de-DE" dirty="0"/>
              <a:t>In den ersten drei Live-</a:t>
            </a:r>
            <a:r>
              <a:rPr lang="de-DE" dirty="0" err="1"/>
              <a:t>Codings</a:t>
            </a:r>
            <a:r>
              <a:rPr lang="de-DE" dirty="0"/>
              <a:t> entsteht die View Entity </a:t>
            </a:r>
            <a:r>
              <a:rPr lang="de-DE" sz="1200" kern="1200" dirty="0" err="1">
                <a:solidFill>
                  <a:schemeClr val="tx1"/>
                </a:solidFill>
                <a:latin typeface="+mn-lt"/>
                <a:ea typeface="+mn-ea"/>
                <a:cs typeface="+mn-cs"/>
              </a:rPr>
              <a:t>ZI_CDSOrderItemCalc</a:t>
            </a:r>
            <a:r>
              <a:rPr lang="de-DE" dirty="0"/>
              <a:t>. Sie basiert auf den Auftragspositionen und ergänzt deren Daten zunächst um berechnete Beträge. Danach kommen Funktionen für Zeichenketten und Datumswerte hinzu. Im dritten Schritt vervollständigen wir die fachliche Semantik der berechneten Beträge.</a:t>
            </a:r>
          </a:p>
          <a:p>
            <a:endParaRPr lang="de-DE" dirty="0"/>
          </a:p>
          <a:p>
            <a:r>
              <a:rPr lang="de-DE" dirty="0"/>
              <a:t>Anschließend verwenden wir diese berechneten Positionswerte als Grundlage für eine Aggregation. Dabei ermitteln wir den Umsatz pro Kunde und Währung.</a:t>
            </a:r>
          </a:p>
          <a:p>
            <a:endParaRPr lang="de-DE" dirty="0"/>
          </a:p>
          <a:p>
            <a:r>
              <a:rPr lang="de-DE" dirty="0"/>
              <a:t>Danach sehen wir uns eine andere Form der Datenverarbeitung an. Wir teilen Aufträge nach ihrer Auftragsart in zwei Mengen und führen diese mit </a:t>
            </a:r>
            <a:r>
              <a:rPr lang="de-DE" sz="1200" kern="1200" dirty="0">
                <a:solidFill>
                  <a:schemeClr val="tx1"/>
                </a:solidFill>
                <a:latin typeface="+mn-lt"/>
                <a:ea typeface="+mn-ea"/>
                <a:cs typeface="+mn-cs"/>
              </a:rPr>
              <a:t>UNION ALL</a:t>
            </a:r>
            <a:r>
              <a:rPr lang="de-DE" dirty="0"/>
              <a:t> wieder zu einer gemeinsamen Ergebnismenge zusammen.</a:t>
            </a:r>
          </a:p>
          <a:p>
            <a:endParaRPr lang="de-DE" dirty="0"/>
          </a:p>
          <a:p>
            <a:r>
              <a:rPr lang="de-DE" dirty="0"/>
              <a:t>Im letzten Live-Coding erweitern wir die vorhandene </a:t>
            </a:r>
            <a:r>
              <a:rPr lang="de-DE" sz="1200" kern="1200" dirty="0" err="1">
                <a:solidFill>
                  <a:schemeClr val="tx1"/>
                </a:solidFill>
                <a:latin typeface="+mn-lt"/>
                <a:ea typeface="+mn-ea"/>
                <a:cs typeface="+mn-cs"/>
              </a:rPr>
              <a:t>ZI_CDSOrder</a:t>
            </a:r>
            <a:r>
              <a:rPr lang="de-DE" dirty="0"/>
              <a:t>. Dabei unterscheiden wir zwischen einer strukturellen Erweiterung der Elementliste und einer Erweiterung der Metadaten.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a:t>
            </a:fld>
            <a:endParaRPr lang="de-DE" dirty="0"/>
          </a:p>
        </p:txBody>
      </p:sp>
    </p:spTree>
    <p:extLst>
      <p:ext uri="{BB962C8B-B14F-4D97-AF65-F5344CB8AC3E}">
        <p14:creationId xmlns:p14="http://schemas.microsoft.com/office/powerpoint/2010/main" val="2706142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beginnen nicht mit einem leeren System. Unser Ausgangspunkt ist das Datenmodell, das in den ersten beiden Teilen entstanden ist.</a:t>
            </a:r>
          </a:p>
          <a:p>
            <a:r>
              <a:rPr lang="de-DE" dirty="0"/>
              <a:t>Im Mittelpunkt steht der Auftrag. Er ist über eine Assoziation mit dem Kunden verbunden. Ein Auftrag besitzt mehrere Positionen, </a:t>
            </a:r>
          </a:p>
          <a:p>
            <a:r>
              <a:rPr lang="de-DE" dirty="0"/>
              <a:t>und jede Position verweist auf ein Produkt. Das Produkt wiederum ist einer Kategorie zugeordnet.</a:t>
            </a:r>
          </a:p>
          <a:p>
            <a:endParaRPr lang="de-DE" dirty="0"/>
          </a:p>
          <a:p>
            <a:r>
              <a:rPr lang="de-DE" dirty="0"/>
              <a:t>Außerdem haben wir bereits berechnete Beträge, Rabatte sowie Mengen- und Währungsangaben modelliert. Diese Vorarbeit zahlt sich jetzt aus.</a:t>
            </a:r>
          </a:p>
          <a:p>
            <a:endParaRPr lang="de-DE" dirty="0"/>
          </a:p>
          <a:p>
            <a:r>
              <a:rPr lang="de-DE" dirty="0"/>
              <a:t>Fiori Elements kann beispielsweise Texte, Einheiten und Währungen nur dann korrekt darstellen, wenn die fachliche Semantik im CDS-Modell beschrieben wurde. Auch die Navigation zu Positionen oder Produkten basiert auf den bereits vorhandenen Assoziationen.</a:t>
            </a:r>
          </a:p>
          <a:p>
            <a:endParaRPr lang="de-DE" dirty="0"/>
          </a:p>
          <a:p>
            <a:r>
              <a:rPr lang="de-DE" dirty="0"/>
              <a:t>Der dritte Teil setzt deshalb unmittelbar auf dem bisherigen Datenmodell auf.</a:t>
            </a:r>
          </a:p>
        </p:txBody>
      </p:sp>
      <p:sp>
        <p:nvSpPr>
          <p:cNvPr id="4" name="Foliennummernplatzhalter 3"/>
          <p:cNvSpPr>
            <a:spLocks noGrp="1"/>
          </p:cNvSpPr>
          <p:nvPr>
            <p:ph type="sldNum" sz="quarter" idx="5"/>
          </p:nvPr>
        </p:nvSpPr>
        <p:spPr/>
        <p:txBody>
          <a:bodyPr/>
          <a:lstStyle/>
          <a:p>
            <a:fld id="{E9475E6B-8EF9-407D-AAC9-FC0EA114427C}" type="slidenum">
              <a:rPr lang="de-DE" smtClean="0"/>
              <a:t>4</a:t>
            </a:fld>
            <a:endParaRPr lang="de-DE" dirty="0"/>
          </a:p>
        </p:txBody>
      </p:sp>
    </p:spTree>
    <p:extLst>
      <p:ext uri="{BB962C8B-B14F-4D97-AF65-F5344CB8AC3E}">
        <p14:creationId xmlns:p14="http://schemas.microsoft.com/office/powerpoint/2010/main" val="3382124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CDS View Entity wird nicht unmittelbar zu einer Fiori-Anwendung. Zwischen dem Datenmodell und der Benutzeroberfläche liegen weitere Schichten.</a:t>
            </a:r>
          </a:p>
          <a:p>
            <a:endParaRPr lang="de-DE" dirty="0"/>
          </a:p>
          <a:p>
            <a:r>
              <a:rPr lang="de-DE" dirty="0"/>
              <a:t>Das CDS-Modell beschreibt die Daten, ihre Beziehungen und ihre fachliche Bedeutung.</a:t>
            </a:r>
          </a:p>
          <a:p>
            <a:endParaRPr lang="de-DE" dirty="0"/>
          </a:p>
          <a:p>
            <a:r>
              <a:rPr lang="de-DE" dirty="0"/>
              <a:t>Im RAP-Modell wird daraus ein Geschäftsobjekt. Dort wird unter anderem festgelegt, welche Entitäten veröffentlicht und welche Operationen erlaubt werden.</a:t>
            </a:r>
          </a:p>
          <a:p>
            <a:endParaRPr lang="de-DE" dirty="0"/>
          </a:p>
          <a:p>
            <a:r>
              <a:rPr lang="de-DE" dirty="0"/>
              <a:t>Eine Service Definition bestimmt, welche Bestandteile des Modells über einen Service erreichbar sind. Das Service Binding stellt diesen Service beispielsweise als </a:t>
            </a:r>
            <a:r>
              <a:rPr lang="de-DE" dirty="0" err="1"/>
              <a:t>OData</a:t>
            </a:r>
            <a:r>
              <a:rPr lang="de-DE" dirty="0"/>
              <a:t> V4 bereit.</a:t>
            </a:r>
          </a:p>
          <a:p>
            <a:endParaRPr lang="de-DE" dirty="0"/>
          </a:p>
          <a:p>
            <a:r>
              <a:rPr lang="de-DE" dirty="0"/>
              <a:t>Fiori Elements liest anschließend die Metadaten dieses </a:t>
            </a:r>
            <a:r>
              <a:rPr lang="de-DE" dirty="0" err="1"/>
              <a:t>OData</a:t>
            </a:r>
            <a:r>
              <a:rPr lang="de-DE" dirty="0"/>
              <a:t>-Service. Aus Entitäten, Eigenschaften, Assoziationen und Annotationen generiert das Framework die Benutzeroberfläche.</a:t>
            </a:r>
          </a:p>
          <a:p>
            <a:endParaRPr lang="de-DE" dirty="0"/>
          </a:p>
          <a:p>
            <a:r>
              <a:rPr lang="de-DE" dirty="0"/>
              <a:t>Die Oberfläche basiert damit nicht nur auf den Daten selbst, sondern vor allem auf deren Metadaten.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a:t>
            </a:fld>
            <a:endParaRPr lang="de-DE" dirty="0"/>
          </a:p>
        </p:txBody>
      </p:sp>
    </p:spTree>
    <p:extLst>
      <p:ext uri="{BB962C8B-B14F-4D97-AF65-F5344CB8AC3E}">
        <p14:creationId xmlns:p14="http://schemas.microsoft.com/office/powerpoint/2010/main" val="73317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Annotationen sind zusätzliche Metadaten, die sich auf eine View oder auf einzelne Elemente beziehen.</a:t>
            </a:r>
          </a:p>
          <a:p>
            <a:endParaRPr lang="de-DE" dirty="0"/>
          </a:p>
          <a:p>
            <a:r>
              <a:rPr lang="de-DE" dirty="0"/>
              <a:t>Mit ihnen können wir beispielsweise bestimmen, dass die Auftragsnummer als Spalte in einem List Report erscheint. Wir können die Reihenfolge der Spalten festlegen, Felder als Selektionskriterien anbieten oder die Bestandteile einer </a:t>
            </a:r>
            <a:r>
              <a:rPr lang="de-DE" dirty="0" err="1"/>
              <a:t>Object</a:t>
            </a:r>
            <a:r>
              <a:rPr lang="de-DE" dirty="0"/>
              <a:t> Page gruppieren.</a:t>
            </a:r>
          </a:p>
          <a:p>
            <a:endParaRPr lang="de-DE" dirty="0"/>
          </a:p>
          <a:p>
            <a:r>
              <a:rPr lang="de-DE" dirty="0"/>
              <a:t>Annotationen können außerdem semantische Aussagen enthalten. Ein Wert kann etwa als Betrag, Währung, Datum, Text oder Kennzahl gekennzeichnet werden.</a:t>
            </a:r>
          </a:p>
          <a:p>
            <a:endParaRPr lang="de-DE" dirty="0"/>
          </a:p>
          <a:p>
            <a:r>
              <a:rPr lang="de-DE" dirty="0"/>
              <a:t>Wichtig ist: Die Annotation implementiert die Tabelle nicht selbst. Sie beschreibt lediglich, welche Rolle das Feld in der Oberfläche einnehmen soll. Fiori Elements interpretiert diese Beschreibung und erzeugt daraus die passenden UI-Steuerelemente.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a:t>
            </a:fld>
            <a:endParaRPr lang="de-DE" dirty="0"/>
          </a:p>
        </p:txBody>
      </p:sp>
    </p:spTree>
    <p:extLst>
      <p:ext uri="{BB962C8B-B14F-4D97-AF65-F5344CB8AC3E}">
        <p14:creationId xmlns:p14="http://schemas.microsoft.com/office/powerpoint/2010/main" val="683703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Fiori Elements stellt vorgefertigte Anwendungsmuster zur Verfügung. Für unser Beispiel verwenden wir vor allem den List Report und die </a:t>
            </a:r>
            <a:r>
              <a:rPr lang="de-DE" dirty="0" err="1"/>
              <a:t>Object</a:t>
            </a:r>
            <a:r>
              <a:rPr lang="de-DE" dirty="0"/>
              <a:t> Page.</a:t>
            </a:r>
          </a:p>
          <a:p>
            <a:endParaRPr lang="de-DE" dirty="0"/>
          </a:p>
          <a:p>
            <a:r>
              <a:rPr lang="de-DE" dirty="0"/>
              <a:t>Der List Report zeigt eine filterbare Liste von Aufträgen. Von dort navigieren wir zu einer </a:t>
            </a:r>
            <a:r>
              <a:rPr lang="de-DE" dirty="0" err="1"/>
              <a:t>Object</a:t>
            </a:r>
            <a:r>
              <a:rPr lang="de-DE" dirty="0"/>
              <a:t> Page, die einen einzelnen Auftrag mit seinen Kopfdaten und Positionen darstellt.</a:t>
            </a:r>
          </a:p>
          <a:p>
            <a:endParaRPr lang="de-DE" dirty="0"/>
          </a:p>
          <a:p>
            <a:r>
              <a:rPr lang="de-DE" dirty="0"/>
              <a:t>Das Framework übernimmt dabei viele wiederkehrende Aufgaben: Tabellen, Filterleisten, Navigation, responsive Darstellung, Meldungen und das Zusammenspiel mit dem </a:t>
            </a:r>
            <a:r>
              <a:rPr lang="de-DE" dirty="0" err="1"/>
              <a:t>OData</a:t>
            </a:r>
            <a:r>
              <a:rPr lang="de-DE" dirty="0"/>
              <a:t>-Service.</a:t>
            </a:r>
          </a:p>
          <a:p>
            <a:endParaRPr lang="de-DE" dirty="0"/>
          </a:p>
          <a:p>
            <a:r>
              <a:rPr lang="de-DE" dirty="0"/>
              <a:t>Der Vorteil besteht nicht nur darin, weniger UI-Code schreiben zu müssen. Anwendungen, die auf denselben </a:t>
            </a:r>
            <a:r>
              <a:rPr lang="de-DE" dirty="0" err="1"/>
              <a:t>Floorplans</a:t>
            </a:r>
            <a:r>
              <a:rPr lang="de-DE" dirty="0"/>
              <a:t> basieren, verhalten sich auch konsistent.</a:t>
            </a:r>
          </a:p>
          <a:p>
            <a:endParaRPr lang="de-DE" dirty="0"/>
          </a:p>
          <a:p>
            <a:r>
              <a:rPr lang="de-DE" dirty="0"/>
              <a:t>Die Kehrseite ist, dass wir uns innerhalb der von Fiori Elements vorgesehenen Erweiterungspunkte bewegen. Für stark individuelle Oberflächen wäre weiterhin eine frei entwickelte SAPUI5-Anwendung geeigneter.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a:t>
            </a:fld>
            <a:endParaRPr lang="de-DE" dirty="0"/>
          </a:p>
        </p:txBody>
      </p:sp>
    </p:spTree>
    <p:extLst>
      <p:ext uri="{BB962C8B-B14F-4D97-AF65-F5344CB8AC3E}">
        <p14:creationId xmlns:p14="http://schemas.microsoft.com/office/powerpoint/2010/main" val="2350924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Am Ende des heutigen Kursteils haben wir zwei unterschiedliche, aber miteinander verwandte Ergebnisse.</a:t>
            </a:r>
          </a:p>
          <a:p>
            <a:endParaRPr lang="de-DE" dirty="0"/>
          </a:p>
          <a:p>
            <a:r>
              <a:rPr lang="de-DE" dirty="0"/>
              <a:t>Das erste Ergebnis ist eine Fiori-Elements-Anwendung. Wir können Aufträge filtern, in einer Tabelle anzeigen und zu einer Detailseite navigieren. Dort sehen wir die Auftragsdaten, die zugehörigen Positionen und zusätzliche Visualisierungen.</a:t>
            </a:r>
          </a:p>
          <a:p>
            <a:endParaRPr lang="de-DE" dirty="0"/>
          </a:p>
          <a:p>
            <a:r>
              <a:rPr lang="de-DE" dirty="0"/>
              <a:t>Das zweite Ergebnis ist ein analytisches Datenmodell. Eine analytische Query aggregiert die Nettobeträge nach verschiedenen Merkmalen. Über eine Produkthierarchie können wir die Werte von der gesamten Produktpalette über Kategorien und Unterkategorien bis zu einzelnen Produkten aufklappen.</a:t>
            </a:r>
          </a:p>
          <a:p>
            <a:endParaRPr lang="de-DE" dirty="0"/>
          </a:p>
          <a:p>
            <a:r>
              <a:rPr lang="de-DE" dirty="0"/>
              <a:t>Diese Hierarchie ist mehr als eine einfache Kategorienhierarchie: Kategorien bilden Strukturknoten, während die konkreten Produkte die Blätter darstellen.</a:t>
            </a:r>
          </a:p>
          <a:p>
            <a:endParaRPr lang="de-DE" dirty="0"/>
          </a:p>
          <a:p>
            <a:r>
              <a:rPr lang="de-DE" dirty="0"/>
              <a:t>Wir entwickeln beide Ergebnisse in sechs Live-Coding-Abschnitten. Als Erstes klären wir jedoch, wo die benötigten Annotationen gespeichert werden können und welche Annotationsebene sich für welche Aufgabe eignet.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a:t>
            </a:fld>
            <a:endParaRPr lang="de-DE" dirty="0"/>
          </a:p>
        </p:txBody>
      </p:sp>
    </p:spTree>
    <p:extLst>
      <p:ext uri="{BB962C8B-B14F-4D97-AF65-F5344CB8AC3E}">
        <p14:creationId xmlns:p14="http://schemas.microsoft.com/office/powerpoint/2010/main" val="1315042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Annotationen können grundsätzlich direkt in einer CDS View Entity stehen. Bei einigen Annotationen ist das auch fachlich sinnvoll.</a:t>
            </a:r>
          </a:p>
          <a:p>
            <a:endParaRPr lang="de-DE" dirty="0"/>
          </a:p>
          <a:p>
            <a:r>
              <a:rPr lang="de-DE" dirty="0"/>
              <a:t>Die Information, dass ein Feld einen Betrag darstellt und ein anderes Feld den zugehörigen Währungscode enthält, gehört beispielsweise zum Datenmodell. Diese Semantik gilt unabhängig davon, in welcher Anwendung die Daten später verwendet werden.</a:t>
            </a:r>
          </a:p>
          <a:p>
            <a:endParaRPr lang="de-DE" dirty="0"/>
          </a:p>
          <a:p>
            <a:r>
              <a:rPr lang="de-DE" dirty="0"/>
              <a:t>Anders sieht es bei der Frage aus, ob ein Feld an der dritten oder fünften Position eines List Reports erscheinen soll. Das ist keine Eigenschaft der Daten, sondern eine Entscheidung über ihre Darstellung.</a:t>
            </a:r>
          </a:p>
          <a:p>
            <a:endParaRPr lang="de-DE" dirty="0"/>
          </a:p>
          <a:p>
            <a:r>
              <a:rPr lang="de-DE" dirty="0"/>
              <a:t>Wenn wir alle Annotationen direkt in die View schreiben, vermischen sich Datenmodell, fachliche Semantik und UI-Gestaltung. Gerade die umfangreichen </a:t>
            </a:r>
            <a:r>
              <a:rPr lang="de-DE" sz="1200" kern="1200" dirty="0">
                <a:solidFill>
                  <a:schemeClr val="tx1"/>
                </a:solidFill>
                <a:latin typeface="+mn-lt"/>
                <a:ea typeface="+mn-ea"/>
                <a:cs typeface="+mn-cs"/>
              </a:rPr>
              <a:t>@UI</a:t>
            </a:r>
            <a:r>
              <a:rPr lang="de-DE" dirty="0"/>
              <a:t>-Annotationen einer </a:t>
            </a:r>
            <a:r>
              <a:rPr lang="de-DE" dirty="0" err="1"/>
              <a:t>Object</a:t>
            </a:r>
            <a:r>
              <a:rPr lang="de-DE" dirty="0"/>
              <a:t> Page können dann mehr Platz einnehmen als die eigentliche CDS-Definition.</a:t>
            </a:r>
          </a:p>
          <a:p>
            <a:endParaRPr lang="de-DE" dirty="0"/>
          </a:p>
          <a:p>
            <a:r>
              <a:rPr lang="de-DE" dirty="0" err="1"/>
              <a:t>Metadata</a:t>
            </a:r>
            <a:r>
              <a:rPr lang="de-DE" dirty="0"/>
              <a:t> </a:t>
            </a:r>
            <a:r>
              <a:rPr lang="de-DE" dirty="0" err="1"/>
              <a:t>Extensions</a:t>
            </a:r>
            <a:r>
              <a:rPr lang="de-DE" dirty="0"/>
              <a:t> ermöglichen uns, diese Aspekte voneinander zu trennen.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a:t>
            </a:fld>
            <a:endParaRPr lang="de-DE" dirty="0"/>
          </a:p>
        </p:txBody>
      </p:sp>
    </p:spTree>
    <p:extLst>
      <p:ext uri="{BB962C8B-B14F-4D97-AF65-F5344CB8AC3E}">
        <p14:creationId xmlns:p14="http://schemas.microsoft.com/office/powerpoint/2010/main" val="3941695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unser Szenario können Annotationen an drei verschiedenen Stellen vorkommen.</a:t>
            </a:r>
          </a:p>
          <a:p>
            <a:endParaRPr lang="de-DE" dirty="0"/>
          </a:p>
          <a:p>
            <a:r>
              <a:rPr lang="de-DE" dirty="0"/>
              <a:t>Die erste Möglichkeit ist die CDS View Entity selbst. Dort befinden sich üblicherweise Annotationen, die unmittelbar zum Datenmodell gehören. Dazu zählen die Währungs- und Mengensemantik, Textbeziehungen oder analytische Eigenschaften.</a:t>
            </a:r>
          </a:p>
          <a:p>
            <a:endParaRPr lang="de-DE" dirty="0"/>
          </a:p>
          <a:p>
            <a:r>
              <a:rPr lang="de-DE" dirty="0"/>
              <a:t>Die zweite Möglichkeit ist eine Metadatenerweiterung. Sie ist ein eigenes Entwicklungsobjekt im ABAP Repository und ergänzt die Metadaten einer vorhandenen CDS-Entität. Das eignet sich besonders für </a:t>
            </a:r>
            <a:r>
              <a:rPr lang="de-DE" sz="1200" kern="1200" dirty="0">
                <a:solidFill>
                  <a:schemeClr val="tx1"/>
                </a:solidFill>
                <a:latin typeface="+mn-lt"/>
                <a:ea typeface="+mn-ea"/>
                <a:cs typeface="+mn-cs"/>
              </a:rPr>
              <a:t>@UI</a:t>
            </a:r>
            <a:r>
              <a:rPr lang="de-DE" dirty="0"/>
              <a:t>-Annotationen.</a:t>
            </a:r>
          </a:p>
          <a:p>
            <a:endParaRPr lang="de-DE" dirty="0"/>
          </a:p>
          <a:p>
            <a:r>
              <a:rPr lang="de-DE" dirty="0"/>
              <a:t>Die dritte Möglichkeit sind lokale Annotationen innerhalb eines Fiori- beziehungsweise SAPUI5-Projekts. Sie gelten nur für diese konkrete Anwendung.</a:t>
            </a:r>
          </a:p>
          <a:p>
            <a:endParaRPr lang="de-DE" dirty="0"/>
          </a:p>
          <a:p>
            <a:r>
              <a:rPr lang="de-DE" dirty="0"/>
              <a:t>In unserem Workshop verwenden wir Metadatenerweiterungen. Damit bleiben die UI-Annotationen im Backend zentral verfügbar, ohne die eigentliche View Entity zu überladen.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10</a:t>
            </a:fld>
            <a:endParaRPr lang="de-DE" dirty="0"/>
          </a:p>
        </p:txBody>
      </p:sp>
    </p:spTree>
    <p:extLst>
      <p:ext uri="{BB962C8B-B14F-4D97-AF65-F5344CB8AC3E}">
        <p14:creationId xmlns:p14="http://schemas.microsoft.com/office/powerpoint/2010/main" val="1641790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Hier sehen wir die direkte Variante. Die Annotationen stehen unmittelbar vor dem Element, auf das sie sich beziehen.</a:t>
            </a:r>
          </a:p>
          <a:p>
            <a:endParaRPr lang="de-DE" dirty="0"/>
          </a:p>
          <a:p>
            <a:r>
              <a:rPr lang="de-DE" sz="1200" kern="1200" dirty="0">
                <a:solidFill>
                  <a:schemeClr val="tx1"/>
                </a:solidFill>
                <a:latin typeface="+mn-lt"/>
                <a:ea typeface="+mn-ea"/>
                <a:cs typeface="+mn-cs"/>
              </a:rPr>
              <a:t>@UI.selectionField</a:t>
            </a:r>
            <a:r>
              <a:rPr lang="de-DE" dirty="0"/>
              <a:t> nimmt die Auftragsnummer in die Filterleiste auf. </a:t>
            </a:r>
            <a:r>
              <a:rPr lang="de-DE" sz="1200" kern="1200" dirty="0">
                <a:solidFill>
                  <a:schemeClr val="tx1"/>
                </a:solidFill>
                <a:latin typeface="+mn-lt"/>
                <a:ea typeface="+mn-ea"/>
                <a:cs typeface="+mn-cs"/>
              </a:rPr>
              <a:t>@UI.lineItem</a:t>
            </a:r>
            <a:r>
              <a:rPr lang="de-DE" dirty="0"/>
              <a:t> zeigt sie als Spalte in der Ergebnistabelle an.</a:t>
            </a:r>
          </a:p>
          <a:p>
            <a:endParaRPr lang="de-DE" dirty="0"/>
          </a:p>
          <a:p>
            <a:r>
              <a:rPr lang="de-DE" dirty="0"/>
              <a:t>Technisch ist diese Variante vollkommen zulässig. Bei einer sehr kleinen View kann sie sogar übersichtlich sein.</a:t>
            </a:r>
          </a:p>
          <a:p>
            <a:endParaRPr lang="de-DE" dirty="0"/>
          </a:p>
          <a:p>
            <a:r>
              <a:rPr lang="de-DE" dirty="0"/>
              <a:t>Sobald wir aber mehrere Tabellenfelder, Filter, Header-Informationen, Field Groups, </a:t>
            </a:r>
            <a:r>
              <a:rPr lang="de-DE" dirty="0" err="1"/>
              <a:t>Facets</a:t>
            </a:r>
            <a:r>
              <a:rPr lang="de-DE" dirty="0"/>
              <a:t>, Data Points und Diagramme definieren, wird die CDS View schnell unübersichtlich.</a:t>
            </a:r>
          </a:p>
          <a:p>
            <a:endParaRPr lang="de-DE" dirty="0"/>
          </a:p>
          <a:p>
            <a:r>
              <a:rPr lang="de-DE" dirty="0"/>
              <a:t>Außerdem kann dieselbe fachliche View in mehreren Anwendungen unterschiedlich dargestellt werden. Die Position einer Tabellenspalte sollte deshalb nicht zwingend Bestandteil des zentralen Datenmodells sein.</a:t>
            </a:r>
          </a:p>
          <a:p>
            <a:endParaRPr lang="de-DE" dirty="0"/>
          </a:p>
          <a:p>
            <a:r>
              <a:rPr lang="de-DE" dirty="0"/>
              <a:t>Wir lagern diese Annotationen daher in ein separates Entwicklungsobjekt aus.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11</a:t>
            </a:fld>
            <a:endParaRPr lang="de-DE" dirty="0"/>
          </a:p>
        </p:txBody>
      </p:sp>
    </p:spTree>
    <p:extLst>
      <p:ext uri="{BB962C8B-B14F-4D97-AF65-F5344CB8AC3E}">
        <p14:creationId xmlns:p14="http://schemas.microsoft.com/office/powerpoint/2010/main" val="1987238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a:t>
            </a:r>
            <a:r>
              <a:rPr lang="de-DE" dirty="0" err="1"/>
              <a:t>Metadata</a:t>
            </a:r>
            <a:r>
              <a:rPr lang="de-DE" dirty="0"/>
              <a:t> Extension wird mit </a:t>
            </a:r>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definiert.</a:t>
            </a:r>
          </a:p>
          <a:p>
            <a:endParaRPr lang="de-DE" dirty="0"/>
          </a:p>
          <a:p>
            <a:r>
              <a:rPr lang="de-DE" dirty="0"/>
              <a:t>Sie besitzt keine eigene Datenquelle und liefert auch keine Datensätze. Stattdessen ergänzt sie die Metadaten einer bereits vorhandenen CDS-Entität.</a:t>
            </a:r>
          </a:p>
          <a:p>
            <a:endParaRPr lang="de-DE" dirty="0"/>
          </a:p>
          <a:p>
            <a:r>
              <a:rPr lang="de-DE" dirty="0"/>
              <a:t>Innerhalb der geschweiften Klammern führen wir nur diejenigen Elemente auf, die wir annotieren möchten. Die Elemente werden nicht erneut definiert. Deshalb stehen hier weder Datentypen noch Aliasnamen.</a:t>
            </a:r>
          </a:p>
          <a:p>
            <a:endParaRPr lang="de-DE" dirty="0"/>
          </a:p>
          <a:p>
            <a:r>
              <a:rPr lang="de-DE" dirty="0"/>
              <a:t>Die </a:t>
            </a:r>
            <a:r>
              <a:rPr lang="de-DE" dirty="0" err="1"/>
              <a:t>Metadata</a:t>
            </a:r>
            <a:r>
              <a:rPr lang="de-DE" dirty="0"/>
              <a:t> Extension ist ein eigenständiges Repository-Objekt. In den ABAP Development Tools wird sie als </a:t>
            </a:r>
            <a:r>
              <a:rPr lang="de-DE" dirty="0" err="1"/>
              <a:t>Metadata</a:t>
            </a:r>
            <a:r>
              <a:rPr lang="de-DE" dirty="0"/>
              <a:t> Extension mit der Dateiendung </a:t>
            </a:r>
            <a:r>
              <a:rPr lang="de-DE" sz="1200" kern="1200" dirty="0" err="1">
                <a:solidFill>
                  <a:schemeClr val="tx1"/>
                </a:solidFill>
                <a:latin typeface="+mn-lt"/>
                <a:ea typeface="+mn-ea"/>
                <a:cs typeface="+mn-cs"/>
              </a:rPr>
              <a:t>ddlx</a:t>
            </a:r>
            <a:r>
              <a:rPr lang="de-DE" dirty="0"/>
              <a:t> angelegt.</a:t>
            </a:r>
          </a:p>
          <a:p>
            <a:endParaRPr lang="de-DE" dirty="0"/>
          </a:p>
          <a:p>
            <a:r>
              <a:rPr lang="de-DE" dirty="0"/>
              <a:t>Änderungen an der Darstellung können dadurch vorgenommen werden, ohne die eigentliche View Entity zu verändern.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12</a:t>
            </a:fld>
            <a:endParaRPr lang="de-DE" dirty="0"/>
          </a:p>
        </p:txBody>
      </p:sp>
    </p:spTree>
    <p:extLst>
      <p:ext uri="{BB962C8B-B14F-4D97-AF65-F5344CB8AC3E}">
        <p14:creationId xmlns:p14="http://schemas.microsoft.com/office/powerpoint/2010/main" val="544406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Metadatenerweiterung darf eine CDS-Entität nicht ungefragt ergänzen. Die zu annotierende View muss dies ausdrücklich erlauben.</a:t>
            </a:r>
          </a:p>
          <a:p>
            <a:endParaRPr lang="de-DE" dirty="0"/>
          </a:p>
          <a:p>
            <a:r>
              <a:rPr lang="de-DE" dirty="0"/>
              <a:t>Dazu verwenden wir die Annotation </a:t>
            </a:r>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r>
              <a:rPr lang="de-DE" dirty="0"/>
              <a:t>.</a:t>
            </a:r>
          </a:p>
          <a:p>
            <a:endParaRPr lang="de-DE" dirty="0"/>
          </a:p>
          <a:p>
            <a:r>
              <a:rPr lang="de-DE" dirty="0"/>
              <a:t>Diese Annotation steht in der Definition der View Entity, nicht in der </a:t>
            </a:r>
            <a:r>
              <a:rPr lang="de-DE" dirty="0" err="1"/>
              <a:t>Metadata</a:t>
            </a:r>
            <a:r>
              <a:rPr lang="de-DE" dirty="0"/>
              <a:t> Extension. Sie ist gewissermaßen die Freigabe dafür, dass weitere Metadaten aus einem separaten Objekt hinzukommen dürfen.</a:t>
            </a:r>
          </a:p>
          <a:p>
            <a:endParaRPr lang="de-DE" dirty="0"/>
          </a:p>
          <a:p>
            <a:r>
              <a:rPr lang="de-DE" dirty="0"/>
              <a:t>Fehlt diese Freigabe, lässt sich die </a:t>
            </a:r>
            <a:r>
              <a:rPr lang="de-DE" dirty="0" err="1"/>
              <a:t>Metadata</a:t>
            </a:r>
            <a:r>
              <a:rPr lang="de-DE" dirty="0"/>
              <a:t> Extension nicht wie vorgesehen verwenden.</a:t>
            </a:r>
          </a:p>
          <a:p>
            <a:endParaRPr lang="de-DE" dirty="0"/>
          </a:p>
          <a:p>
            <a:r>
              <a:rPr lang="de-DE" dirty="0"/>
              <a:t>Im Live-Coding werden wir deshalb zunächst die </a:t>
            </a:r>
            <a:r>
              <a:rPr lang="de-DE" dirty="0" err="1"/>
              <a:t>Consumption</a:t>
            </a:r>
            <a:r>
              <a:rPr lang="de-DE" dirty="0"/>
              <a:t> beziehungsweise </a:t>
            </a:r>
            <a:r>
              <a:rPr lang="de-DE" dirty="0" err="1"/>
              <a:t>Projection</a:t>
            </a:r>
            <a:r>
              <a:rPr lang="de-DE" dirty="0"/>
              <a:t> View überprüfen und dort </a:t>
            </a:r>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r>
              <a:rPr lang="de-DE" dirty="0"/>
              <a:t> ergänzen. Anschließend legen wir die Metadatenerweiterung an.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13</a:t>
            </a:fld>
            <a:endParaRPr lang="de-DE" dirty="0"/>
          </a:p>
        </p:txBody>
      </p:sp>
    </p:spTree>
    <p:extLst>
      <p:ext uri="{BB962C8B-B14F-4D97-AF65-F5344CB8AC3E}">
        <p14:creationId xmlns:p14="http://schemas.microsoft.com/office/powerpoint/2010/main" val="1002158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Jede </a:t>
            </a:r>
            <a:r>
              <a:rPr lang="de-DE" dirty="0" err="1"/>
              <a:t>Metadata</a:t>
            </a:r>
            <a:r>
              <a:rPr lang="de-DE" dirty="0"/>
              <a:t> Extension wird einer Annotationsebene zugeordnet. Diese Ebene beschreibt, aus welchem Kontext die Ergänzung stammt.</a:t>
            </a:r>
          </a:p>
          <a:p>
            <a:endParaRPr lang="de-DE" dirty="0"/>
          </a:p>
          <a:p>
            <a:r>
              <a:rPr lang="de-DE" dirty="0"/>
              <a:t>Die Ebene </a:t>
            </a:r>
            <a:r>
              <a:rPr lang="de-DE" sz="1200" kern="1200" dirty="0">
                <a:solidFill>
                  <a:schemeClr val="tx1"/>
                </a:solidFill>
                <a:latin typeface="+mn-lt"/>
                <a:ea typeface="+mn-ea"/>
                <a:cs typeface="+mn-cs"/>
              </a:rPr>
              <a:t>#CORE</a:t>
            </a:r>
            <a:r>
              <a:rPr lang="de-DE" dirty="0"/>
              <a:t> steht für die ursprüngliche, allgemeine Definition. Darüber können beispielsweise Lokalisierungen, Branchenlösungen, Partner und schließlich Kunden eigene Metadaten ergänzen.</a:t>
            </a:r>
          </a:p>
          <a:p>
            <a:endParaRPr lang="de-DE" dirty="0"/>
          </a:p>
          <a:p>
            <a:r>
              <a:rPr lang="de-DE" dirty="0"/>
              <a:t>Die Ebenen bilden damit ein Erweiterungsmodell. Eine kundenspezifische Anpassung kann eine allgemeinere Festlegung überlagern, ohne das ursprüngliche Entwicklungsobjekt zu modifizieren.</a:t>
            </a:r>
          </a:p>
          <a:p>
            <a:endParaRPr lang="de-DE" dirty="0"/>
          </a:p>
          <a:p>
            <a:r>
              <a:rPr lang="de-DE" dirty="0"/>
              <a:t>Für unsere eigene Anwendung verwenden wir im Workshop die Ebene </a:t>
            </a:r>
            <a:r>
              <a:rPr lang="de-DE" sz="1200" kern="1200" dirty="0">
                <a:solidFill>
                  <a:schemeClr val="tx1"/>
                </a:solidFill>
                <a:latin typeface="+mn-lt"/>
                <a:ea typeface="+mn-ea"/>
                <a:cs typeface="+mn-cs"/>
              </a:rPr>
              <a:t>#CORE</a:t>
            </a:r>
            <a:r>
              <a:rPr lang="de-DE" dirty="0"/>
              <a:t>. Wir entwickeln sowohl das Datenmodell als auch dessen ursprüngliche UI-Beschreibung selbst. Eine kundenspezifische Überlagerung eines ausgelieferten SAP-Objekts ist hier nicht unser Ziel.</a:t>
            </a:r>
          </a:p>
          <a:p>
            <a:endParaRPr lang="de-DE" dirty="0"/>
          </a:p>
          <a:p>
            <a:r>
              <a:rPr lang="de-DE" dirty="0"/>
              <a:t>Welche Annotation sich tatsächlich überlagern oder ergänzen lässt, hängt auch von der Definition der jeweiligen Annotation ab. Für das folgende Live-Coding genügt zunächst das Grundprinzip: Die Schichten ermöglichen Erweiterungen, ohne die </a:t>
            </a:r>
          </a:p>
          <a:p>
            <a:r>
              <a:rPr lang="de-DE" dirty="0"/>
              <a:t>darunterliegenden Objekte zu verändern.</a:t>
            </a:r>
          </a:p>
          <a:p>
            <a:endParaRPr lang="de-DE" dirty="0"/>
          </a:p>
          <a:p>
            <a:r>
              <a:rPr lang="de-DE" dirty="0"/>
              <a:t>SAP beschreibt die Auswertung und Rangfolge der </a:t>
            </a:r>
            <a:r>
              <a:rPr lang="de-DE" dirty="0" err="1"/>
              <a:t>Metadata</a:t>
            </a:r>
            <a:r>
              <a:rPr lang="de-DE" dirty="0"/>
              <a:t>-Extension-Ebenen in der </a:t>
            </a:r>
            <a:r>
              <a:rPr lang="de-DE" dirty="0">
                <a:hlinkClick r:id="rId3"/>
              </a:rPr>
              <a:t>ABAP-CDS-Dokumentation</a:t>
            </a:r>
            <a:r>
              <a:rPr lang="de-DE" dirty="0"/>
              <a:t>.</a:t>
            </a:r>
          </a:p>
          <a:p>
            <a:endParaRPr lang="de-DE" dirty="0"/>
          </a:p>
          <a:p>
            <a:r>
              <a:rPr lang="de-DE" dirty="0"/>
              <a:t>Damit haben wir die technische Grundlage geschaffen.</a:t>
            </a:r>
          </a:p>
          <a:p>
            <a:endParaRPr lang="de-DE" dirty="0"/>
          </a:p>
          <a:p>
            <a:r>
              <a:rPr lang="de-DE" dirty="0"/>
              <a:t>Wir wissen jetzt:</a:t>
            </a:r>
          </a:p>
          <a:p>
            <a:pPr lvl="0"/>
            <a:endParaRPr lang="de-DE" dirty="0"/>
          </a:p>
          <a:p>
            <a:pPr marL="171450" lvl="0" indent="-171450">
              <a:buFont typeface="Arial" panose="020B0604020202020204" pitchFamily="34" charset="0"/>
              <a:buChar char="•"/>
            </a:pPr>
            <a:r>
              <a:rPr lang="de-DE" dirty="0"/>
              <a:t>Die Projektionsview stellt die für die Anwendung benötigten Daten bereit. </a:t>
            </a:r>
          </a:p>
          <a:p>
            <a:pPr marL="171450" lvl="0" indent="-171450">
              <a:buFont typeface="Arial" panose="020B0604020202020204" pitchFamily="34" charset="0"/>
              <a:buChar char="•"/>
            </a:pPr>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r>
              <a:rPr lang="de-DE" dirty="0"/>
              <a:t> erlaubt eine separate Annotation. </a:t>
            </a:r>
          </a:p>
          <a:p>
            <a:pPr marL="171450" lvl="0" indent="-171450">
              <a:buFont typeface="Arial" panose="020B0604020202020204" pitchFamily="34" charset="0"/>
              <a:buChar char="•"/>
            </a:pPr>
            <a:r>
              <a:rPr lang="de-DE" dirty="0"/>
              <a:t>Die Metadatenerweiterung enthält unsere UI-Beschreibung. </a:t>
            </a:r>
          </a:p>
          <a:p>
            <a:pPr marL="171450" lvl="0" indent="-171450">
              <a:buFont typeface="Arial" panose="020B0604020202020204" pitchFamily="34" charset="0"/>
              <a:buChar char="•"/>
            </a:pPr>
            <a:r>
              <a:rPr lang="de-DE" dirty="0"/>
              <a:t>Mit </a:t>
            </a:r>
            <a:r>
              <a:rPr lang="de-DE" sz="1200" kern="1200" dirty="0">
                <a:solidFill>
                  <a:schemeClr val="tx1"/>
                </a:solidFill>
                <a:latin typeface="+mn-lt"/>
                <a:ea typeface="+mn-ea"/>
                <a:cs typeface="+mn-cs"/>
              </a:rPr>
              <a:t>@Metadata.layer: #CORE</a:t>
            </a:r>
            <a:r>
              <a:rPr lang="de-DE" dirty="0"/>
              <a:t> ordnen wir diese Beschreibung der grundlegenden Anwendungsebene zu. </a:t>
            </a:r>
          </a:p>
          <a:p>
            <a:endParaRPr lang="de-DE" dirty="0"/>
          </a:p>
          <a:p>
            <a:r>
              <a:rPr lang="de-DE" dirty="0"/>
              <a:t>Im ersten Live-Coding gestalten wir damit nun den List Report. Wir legen fest, welche Felder in der Filterleiste angeboten werden und welche Spalten in der Ergebnistabelle erscheinen.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14</a:t>
            </a:fld>
            <a:endParaRPr lang="de-DE" dirty="0"/>
          </a:p>
        </p:txBody>
      </p:sp>
    </p:spTree>
    <p:extLst>
      <p:ext uri="{BB962C8B-B14F-4D97-AF65-F5344CB8AC3E}">
        <p14:creationId xmlns:p14="http://schemas.microsoft.com/office/powerpoint/2010/main" val="2770038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erster </a:t>
            </a:r>
            <a:r>
              <a:rPr lang="de-DE" dirty="0" err="1"/>
              <a:t>Floorplan</a:t>
            </a:r>
            <a:r>
              <a:rPr lang="de-DE" dirty="0"/>
              <a:t> ist der List Report. Er dient dazu, eine Menge gleichartiger Geschäftsobjekte zu suchen, zu filtern und tabellarisch darzustellen.</a:t>
            </a:r>
          </a:p>
          <a:p>
            <a:endParaRPr lang="de-DE" dirty="0"/>
          </a:p>
          <a:p>
            <a:r>
              <a:rPr lang="de-DE" dirty="0"/>
              <a:t>In unserem Beispiel sind die Geschäftsobjekte die Aufträge.</a:t>
            </a:r>
          </a:p>
          <a:p>
            <a:endParaRPr lang="de-DE" dirty="0"/>
          </a:p>
          <a:p>
            <a:r>
              <a:rPr lang="de-DE" dirty="0"/>
              <a:t>Der obere Bereich enthält die Filterleiste. Dort kann der Anwender beispielsweise nach Auftragsnummer, Kunde, Status oder Verkaufsorganisation filtern.</a:t>
            </a:r>
          </a:p>
          <a:p>
            <a:endParaRPr lang="de-DE" dirty="0"/>
          </a:p>
          <a:p>
            <a:r>
              <a:rPr lang="de-DE" dirty="0"/>
              <a:t>Darunter befindet sich die Ergebnistabelle. Durch Auswahl eines Auftrags gelangt der Anwender später zur zugehörigen </a:t>
            </a:r>
            <a:r>
              <a:rPr lang="de-DE" dirty="0" err="1"/>
              <a:t>Object</a:t>
            </a:r>
            <a:r>
              <a:rPr lang="de-DE" dirty="0"/>
              <a:t> Page.</a:t>
            </a:r>
          </a:p>
          <a:p>
            <a:endParaRPr lang="de-DE" dirty="0"/>
          </a:p>
          <a:p>
            <a:r>
              <a:rPr lang="de-DE" dirty="0"/>
              <a:t>Für den ersten Entwicklungsschritt benötigen wir nur zwei Annotationen: </a:t>
            </a:r>
            <a:r>
              <a:rPr lang="de-DE" sz="1200" kern="1200" dirty="0">
                <a:solidFill>
                  <a:schemeClr val="tx1"/>
                </a:solidFill>
                <a:latin typeface="+mn-lt"/>
                <a:ea typeface="+mn-ea"/>
                <a:cs typeface="+mn-cs"/>
              </a:rPr>
              <a:t>@UI.selectionField</a:t>
            </a:r>
            <a:r>
              <a:rPr lang="de-DE" dirty="0"/>
              <a:t> für die Filterleiste und </a:t>
            </a:r>
            <a:r>
              <a:rPr lang="de-DE" sz="1200" kern="1200" dirty="0">
                <a:solidFill>
                  <a:schemeClr val="tx1"/>
                </a:solidFill>
                <a:latin typeface="+mn-lt"/>
                <a:ea typeface="+mn-ea"/>
                <a:cs typeface="+mn-cs"/>
              </a:rPr>
              <a:t>@UI.lineItem</a:t>
            </a:r>
            <a:r>
              <a:rPr lang="de-DE" dirty="0"/>
              <a:t> für die Tabelle.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15</a:t>
            </a:fld>
            <a:endParaRPr lang="de-DE" dirty="0"/>
          </a:p>
        </p:txBody>
      </p:sp>
    </p:spTree>
    <p:extLst>
      <p:ext uri="{BB962C8B-B14F-4D97-AF65-F5344CB8AC3E}">
        <p14:creationId xmlns:p14="http://schemas.microsoft.com/office/powerpoint/2010/main" val="1879630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a:solidFill>
                  <a:schemeClr val="tx1"/>
                </a:solidFill>
                <a:latin typeface="+mn-lt"/>
                <a:ea typeface="+mn-ea"/>
                <a:cs typeface="+mn-cs"/>
              </a:rPr>
              <a:t>@UI.selectionField</a:t>
            </a:r>
            <a:r>
              <a:rPr lang="de-DE" dirty="0"/>
              <a:t> legen wir fest, dass ein Element als Filterfeld angeboten werden soll.</a:t>
            </a:r>
          </a:p>
          <a:p>
            <a:endParaRPr lang="de-DE" dirty="0"/>
          </a:p>
          <a:p>
            <a:r>
              <a:rPr lang="de-DE" dirty="0"/>
              <a:t>Die Eigenschaft </a:t>
            </a:r>
            <a:r>
              <a:rPr lang="de-DE" sz="1200" kern="1200" dirty="0" err="1">
                <a:solidFill>
                  <a:schemeClr val="tx1"/>
                </a:solidFill>
                <a:latin typeface="+mn-lt"/>
                <a:ea typeface="+mn-ea"/>
                <a:cs typeface="+mn-cs"/>
              </a:rPr>
              <a:t>position</a:t>
            </a:r>
            <a:r>
              <a:rPr lang="de-DE" dirty="0"/>
              <a:t> bestimmt die Reihenfolge innerhalb der Filterleiste. Das Feld mit dem kleinsten Positionswert erscheint zuerst.</a:t>
            </a:r>
          </a:p>
          <a:p>
            <a:endParaRPr lang="de-DE" dirty="0"/>
          </a:p>
          <a:p>
            <a:r>
              <a:rPr lang="de-DE" dirty="0"/>
              <a:t>Üblicherweise verwenden wir Abstände von zehn. Dadurch können später weitere Felder zwischen zwei vorhandenen Positionen ergänzt werden, ohne alle Positionsangaben ändern zu müssen.</a:t>
            </a:r>
          </a:p>
          <a:p>
            <a:endParaRPr lang="de-DE" dirty="0"/>
          </a:p>
          <a:p>
            <a:r>
              <a:rPr lang="de-DE" dirty="0"/>
              <a:t>Die Positionen müssen nicht mit der Reihenfolge der Elemente in der CDS View übereinstimmen. Die </a:t>
            </a:r>
            <a:r>
              <a:rPr lang="de-DE" dirty="0" err="1"/>
              <a:t>Metadata</a:t>
            </a:r>
            <a:r>
              <a:rPr lang="de-DE" dirty="0"/>
              <a:t> Extension beschreibt eine eigene Darstellung der Daten.</a:t>
            </a:r>
          </a:p>
          <a:p>
            <a:endParaRPr lang="de-DE" dirty="0"/>
          </a:p>
          <a:p>
            <a:r>
              <a:rPr lang="de-DE" dirty="0"/>
              <a:t>Abhängig vom Datentyp erzeugt Fiori Elements das passende Filterelement. Für ein Datum erhalten wir beispielsweise eine geeignete Datumseingabe, während ein Status oder eine Organisation als Text beziehungsweise Wertehilfe dargestellt werden kann, sofern das Datenmodell die entsprechenden Metadaten bereitstellt.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16</a:t>
            </a:fld>
            <a:endParaRPr lang="de-DE" dirty="0"/>
          </a:p>
        </p:txBody>
      </p:sp>
    </p:spTree>
    <p:extLst>
      <p:ext uri="{BB962C8B-B14F-4D97-AF65-F5344CB8AC3E}">
        <p14:creationId xmlns:p14="http://schemas.microsoft.com/office/powerpoint/2010/main" val="2123454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latin typeface="+mn-lt"/>
                <a:ea typeface="+mn-ea"/>
                <a:cs typeface="+mn-cs"/>
              </a:rPr>
              <a:t>@UI.lineItem</a:t>
            </a:r>
            <a:r>
              <a:rPr lang="de-DE" dirty="0"/>
              <a:t> nimmt ein Element in die Ergebnistabelle des List Reports auf.</a:t>
            </a:r>
          </a:p>
          <a:p>
            <a:endParaRPr lang="de-DE" dirty="0"/>
          </a:p>
          <a:p>
            <a:r>
              <a:rPr lang="de-DE" dirty="0"/>
              <a:t>Auch hier steuert </a:t>
            </a:r>
            <a:r>
              <a:rPr lang="de-DE" sz="1200" kern="1200" dirty="0" err="1">
                <a:solidFill>
                  <a:schemeClr val="tx1"/>
                </a:solidFill>
                <a:latin typeface="+mn-lt"/>
                <a:ea typeface="+mn-ea"/>
                <a:cs typeface="+mn-cs"/>
              </a:rPr>
              <a:t>position</a:t>
            </a:r>
            <a:r>
              <a:rPr lang="de-DE" dirty="0"/>
              <a:t> die Reihenfolge. Zusätzlich können wir mit </a:t>
            </a:r>
            <a:r>
              <a:rPr lang="de-DE" sz="1200" kern="1200" dirty="0" err="1">
                <a:solidFill>
                  <a:schemeClr val="tx1"/>
                </a:solidFill>
                <a:latin typeface="+mn-lt"/>
                <a:ea typeface="+mn-ea"/>
                <a:cs typeface="+mn-cs"/>
              </a:rPr>
              <a:t>importance</a:t>
            </a:r>
            <a:r>
              <a:rPr lang="de-DE" dirty="0"/>
              <a:t> angeben, wie wichtig eine Spalte für die Darstellung ist.</a:t>
            </a:r>
          </a:p>
          <a:p>
            <a:endParaRPr lang="de-DE" dirty="0"/>
          </a:p>
          <a:p>
            <a:r>
              <a:rPr lang="de-DE" dirty="0"/>
              <a:t>Diese Information wird insbesondere bei kleinen Bildschirmbreiten relevant. Fiori Elements kann weniger wichtige Spalten ausblenden oder in einen untergeordneten Darstellungsbereich verschieben.</a:t>
            </a:r>
          </a:p>
          <a:p>
            <a:endParaRPr lang="de-DE" dirty="0"/>
          </a:p>
          <a:p>
            <a:r>
              <a:rPr lang="de-DE" dirty="0"/>
              <a:t>Mit </a:t>
            </a:r>
            <a:r>
              <a:rPr lang="de-DE" sz="1200" kern="1200" dirty="0" err="1">
                <a:solidFill>
                  <a:schemeClr val="tx1"/>
                </a:solidFill>
                <a:latin typeface="+mn-lt"/>
                <a:ea typeface="+mn-ea"/>
                <a:cs typeface="+mn-cs"/>
              </a:rPr>
              <a:t>label</a:t>
            </a:r>
            <a:r>
              <a:rPr lang="de-DE" dirty="0"/>
              <a:t> kann innerhalb der UI-Annotation eine abweichende Spaltenüberschrift angegeben werden. Das sollte jedoch sparsam verwendet werden. Wenn eine Bezeichnung überall gleich gelten soll, ist eine allgemeine Elementbezeichnung im Datenmodell meist die bessere Lösung.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17</a:t>
            </a:fld>
            <a:endParaRPr lang="de-DE" dirty="0"/>
          </a:p>
        </p:txBody>
      </p:sp>
    </p:spTree>
    <p:extLst>
      <p:ext uri="{BB962C8B-B14F-4D97-AF65-F5344CB8AC3E}">
        <p14:creationId xmlns:p14="http://schemas.microsoft.com/office/powerpoint/2010/main" val="1189934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List Report muss auf unterschiedlichen Bildschirmgrößen funktionieren. Auf einem großen Desktopmonitor können mehr Spalten angezeigt werden als auf einem Tablet oder Smartphone.</a:t>
            </a:r>
          </a:p>
          <a:p>
            <a:endParaRPr lang="de-DE" dirty="0"/>
          </a:p>
          <a:p>
            <a:r>
              <a:rPr lang="de-DE" dirty="0"/>
              <a:t>Mit </a:t>
            </a:r>
            <a:r>
              <a:rPr lang="de-DE" sz="1200" kern="1200" dirty="0" err="1">
                <a:solidFill>
                  <a:schemeClr val="tx1"/>
                </a:solidFill>
                <a:latin typeface="+mn-lt"/>
                <a:ea typeface="+mn-ea"/>
                <a:cs typeface="+mn-cs"/>
              </a:rPr>
              <a:t>importance</a:t>
            </a:r>
            <a:r>
              <a:rPr lang="de-DE" dirty="0"/>
              <a:t> helfen wir Fiori Elements bei dieser responsiven Darstellung.</a:t>
            </a:r>
          </a:p>
          <a:p>
            <a:endParaRPr lang="de-DE" dirty="0"/>
          </a:p>
          <a:p>
            <a:r>
              <a:rPr lang="de-DE" dirty="0"/>
              <a:t>Auftragsnummer, Kunde und Status sind für die Identifikation eines Auftrags besonders wichtig. Sie erhalten deshalb die Priorität </a:t>
            </a:r>
            <a:r>
              <a:rPr lang="de-DE" sz="1200" kern="1200" dirty="0">
                <a:solidFill>
                  <a:schemeClr val="tx1"/>
                </a:solidFill>
                <a:latin typeface="+mn-lt"/>
                <a:ea typeface="+mn-ea"/>
                <a:cs typeface="+mn-cs"/>
              </a:rPr>
              <a:t>#HIGH</a:t>
            </a:r>
            <a:r>
              <a:rPr lang="de-DE" dirty="0"/>
              <a:t>.</a:t>
            </a:r>
          </a:p>
          <a:p>
            <a:endParaRPr lang="de-DE" dirty="0"/>
          </a:p>
          <a:p>
            <a:r>
              <a:rPr lang="de-DE" dirty="0"/>
              <a:t>Datumsangaben können wir mit </a:t>
            </a:r>
            <a:r>
              <a:rPr lang="de-DE" sz="1200" kern="1200" dirty="0">
                <a:solidFill>
                  <a:schemeClr val="tx1"/>
                </a:solidFill>
                <a:latin typeface="+mn-lt"/>
                <a:ea typeface="+mn-ea"/>
                <a:cs typeface="+mn-cs"/>
              </a:rPr>
              <a:t>#MEDIUM</a:t>
            </a:r>
            <a:r>
              <a:rPr lang="de-DE" dirty="0"/>
              <a:t> kennzeichnen. Zusatzinformationen wie die Verkaufsorganisation können je nach Anwendungsfall die Priorität </a:t>
            </a:r>
            <a:r>
              <a:rPr lang="de-DE" sz="1200" kern="1200" dirty="0">
                <a:solidFill>
                  <a:schemeClr val="tx1"/>
                </a:solidFill>
                <a:latin typeface="+mn-lt"/>
                <a:ea typeface="+mn-ea"/>
                <a:cs typeface="+mn-cs"/>
              </a:rPr>
              <a:t>#LOW</a:t>
            </a:r>
            <a:r>
              <a:rPr lang="de-DE" dirty="0"/>
              <a:t> erhalten.</a:t>
            </a:r>
          </a:p>
          <a:p>
            <a:endParaRPr lang="de-DE" dirty="0"/>
          </a:p>
          <a:p>
            <a:r>
              <a:rPr lang="de-DE" dirty="0"/>
              <a:t>Die Angabe verändert weder die Daten noch deren fachliche Bedeutung. Sie steuert ausschließlich, welche Informationen bei begrenztem Platz bevorzugt sichtbar bleiben.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18</a:t>
            </a:fld>
            <a:endParaRPr lang="de-DE" dirty="0"/>
          </a:p>
        </p:txBody>
      </p:sp>
    </p:spTree>
    <p:extLst>
      <p:ext uri="{BB962C8B-B14F-4D97-AF65-F5344CB8AC3E}">
        <p14:creationId xmlns:p14="http://schemas.microsoft.com/office/powerpoint/2010/main" val="1172643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Element kann mehrere UI-Rollen übernehmen.</a:t>
            </a:r>
          </a:p>
          <a:p>
            <a:endParaRPr lang="de-DE" dirty="0"/>
          </a:p>
          <a:p>
            <a:r>
              <a:rPr lang="de-DE" dirty="0"/>
              <a:t>Die Auftragsnummer soll sowohl als Filterfeld als auch als Tabellenspalte erscheinen. Deshalb erhält </a:t>
            </a:r>
            <a:r>
              <a:rPr lang="de-DE" sz="1200" kern="1200" dirty="0" err="1">
                <a:solidFill>
                  <a:schemeClr val="tx1"/>
                </a:solidFill>
                <a:latin typeface="+mn-lt"/>
                <a:ea typeface="+mn-ea"/>
                <a:cs typeface="+mn-cs"/>
              </a:rPr>
              <a:t>OrderId</a:t>
            </a:r>
            <a:r>
              <a:rPr lang="de-DE" dirty="0"/>
              <a:t> beide Annotationen.</a:t>
            </a:r>
          </a:p>
          <a:p>
            <a:endParaRPr lang="de-DE" dirty="0"/>
          </a:p>
          <a:p>
            <a:r>
              <a:rPr lang="de-DE" dirty="0"/>
              <a:t>Später können wir dasselbe Element zusätzlich mit </a:t>
            </a:r>
            <a:r>
              <a:rPr lang="de-DE" sz="1200" kern="1200" dirty="0">
                <a:solidFill>
                  <a:schemeClr val="tx1"/>
                </a:solidFill>
                <a:latin typeface="+mn-lt"/>
                <a:ea typeface="+mn-ea"/>
                <a:cs typeface="+mn-cs"/>
              </a:rPr>
              <a:t>@UI.identification</a:t>
            </a:r>
            <a:r>
              <a:rPr lang="de-DE" dirty="0"/>
              <a:t> versehen. Dann erscheint es auch im Identifikationsbereich der </a:t>
            </a:r>
            <a:r>
              <a:rPr lang="de-DE" dirty="0" err="1"/>
              <a:t>Object</a:t>
            </a:r>
            <a:r>
              <a:rPr lang="de-DE" dirty="0"/>
              <a:t> Page.</a:t>
            </a:r>
          </a:p>
          <a:p>
            <a:endParaRPr lang="de-DE" dirty="0"/>
          </a:p>
          <a:p>
            <a:r>
              <a:rPr lang="de-DE" dirty="0"/>
              <a:t>Die verschiedenen Annotationen widersprechen sich nicht. Sie beschreiben jeweils die Verwendung des Elements in einem bestimmten UI-Kontext.</a:t>
            </a:r>
          </a:p>
          <a:p>
            <a:endParaRPr lang="de-DE" dirty="0"/>
          </a:p>
          <a:p>
            <a:r>
              <a:rPr lang="de-DE" dirty="0"/>
              <a:t>Auf diese Weise entsteht aus einem gemeinsamen Datenmodell eine Oberfläche mit unterschiedlichen Darstellungsbereichen.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19</a:t>
            </a:fld>
            <a:endParaRPr lang="de-DE" dirty="0"/>
          </a:p>
        </p:txBody>
      </p:sp>
    </p:spTree>
    <p:extLst>
      <p:ext uri="{BB962C8B-B14F-4D97-AF65-F5344CB8AC3E}">
        <p14:creationId xmlns:p14="http://schemas.microsoft.com/office/powerpoint/2010/main" val="887745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Vorbereitung</a:t>
            </a:r>
          </a:p>
          <a:p>
            <a:r>
              <a:rPr lang="de-DE" dirty="0"/>
              <a:t>Folgende Objekte sollten bereits vorhanden und aktiviert sein:</a:t>
            </a:r>
          </a:p>
          <a:p>
            <a:pPr lvl="0"/>
            <a:r>
              <a:rPr lang="de-DE" dirty="0" err="1"/>
              <a:t>Projection</a:t>
            </a:r>
            <a:r>
              <a:rPr lang="de-DE" dirty="0"/>
              <a:t> beziehungsweise </a:t>
            </a:r>
            <a:r>
              <a:rPr lang="de-DE" dirty="0" err="1"/>
              <a:t>Consumption</a:t>
            </a:r>
            <a:r>
              <a:rPr lang="de-DE" dirty="0"/>
              <a:t> View </a:t>
            </a:r>
            <a:r>
              <a:rPr lang="de-DE" sz="1200" kern="1200" dirty="0" err="1">
                <a:solidFill>
                  <a:schemeClr val="tx1"/>
                </a:solidFill>
                <a:latin typeface="+mn-lt"/>
                <a:ea typeface="+mn-ea"/>
                <a:cs typeface="+mn-cs"/>
              </a:rPr>
              <a:t>ZC_CDSOrder</a:t>
            </a:r>
            <a:r>
              <a:rPr lang="de-DE" dirty="0"/>
              <a:t> </a:t>
            </a:r>
          </a:p>
          <a:p>
            <a:pPr lvl="0"/>
            <a:r>
              <a:rPr lang="de-DE" dirty="0"/>
              <a:t>Service Definition mit </a:t>
            </a:r>
            <a:r>
              <a:rPr lang="de-DE" sz="1200" kern="1200" dirty="0" err="1">
                <a:solidFill>
                  <a:schemeClr val="tx1"/>
                </a:solidFill>
                <a:latin typeface="+mn-lt"/>
                <a:ea typeface="+mn-ea"/>
                <a:cs typeface="+mn-cs"/>
              </a:rPr>
              <a:t>ZC_CDSOrder</a:t>
            </a:r>
            <a:r>
              <a:rPr lang="de-DE" dirty="0"/>
              <a:t> </a:t>
            </a:r>
          </a:p>
          <a:p>
            <a:pPr lvl="0"/>
            <a:r>
              <a:rPr lang="de-DE" dirty="0"/>
              <a:t>aktives OData-V4-Service-Binding </a:t>
            </a:r>
          </a:p>
          <a:p>
            <a:pPr lvl="0"/>
            <a:r>
              <a:rPr lang="de-DE" dirty="0"/>
              <a:t>startfähige Fiori-Elements-Vorschau </a:t>
            </a:r>
          </a:p>
          <a:p>
            <a:r>
              <a:rPr lang="de-DE" dirty="0"/>
              <a:t>Die konkrete </a:t>
            </a:r>
            <a:r>
              <a:rPr lang="de-DE" dirty="0" err="1"/>
              <a:t>Projection</a:t>
            </a:r>
            <a:r>
              <a:rPr lang="de-DE" dirty="0"/>
              <a:t> View muss die für die Liste benötigten Elemente exponieren, beispielsweise:</a:t>
            </a:r>
          </a:p>
          <a:p>
            <a:pPr rtl="0"/>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br>
              <a:rPr lang="de-DE" dirty="0"/>
            </a:br>
            <a:endParaRPr lang="de-DE" dirty="0"/>
          </a:p>
          <a:p>
            <a:r>
              <a:rPr lang="de-DE" b="1" dirty="0"/>
              <a:t>Schritt 1 – Ausgangszustand zeigen</a:t>
            </a:r>
          </a:p>
          <a:p>
            <a:r>
              <a:rPr lang="de-DE" b="1" dirty="0"/>
              <a:t>Aktion</a:t>
            </a:r>
          </a:p>
          <a:p>
            <a:r>
              <a:rPr lang="de-DE" dirty="0"/>
              <a:t>Fiori-Elements-Vorschau aus dem Service Binding starten.</a:t>
            </a:r>
          </a:p>
          <a:p>
            <a:r>
              <a:rPr lang="de-DE" b="1" dirty="0"/>
              <a:t>Erläuterung</a:t>
            </a:r>
          </a:p>
          <a:p>
            <a:r>
              <a:rPr lang="de-DE" dirty="0"/>
              <a:t>Die Anwendung kennt zwar die Entität und ihre Eigenschaften, besitzt aber noch keine gezielte UI-Beschreibung.</a:t>
            </a:r>
          </a:p>
          <a:p>
            <a:r>
              <a:rPr lang="de-DE" dirty="0"/>
              <a:t>Je nach Generator- und Framework-Version erscheint deshalb entweder eine einfache Standarddarstellung oder noch keine sinnvoll konfigurierte Tabelle.</a:t>
            </a:r>
          </a:p>
          <a:p>
            <a:r>
              <a:rPr lang="de-DE" b="1" dirty="0"/>
              <a:t>Sprechertext</a:t>
            </a:r>
          </a:p>
          <a:p>
            <a:r>
              <a:rPr lang="de-DE" dirty="0"/>
              <a:t>Wir sehen zunächst, was Fiori Elements allein aus den technischen </a:t>
            </a:r>
            <a:r>
              <a:rPr lang="de-DE" dirty="0" err="1"/>
              <a:t>OData</a:t>
            </a:r>
            <a:r>
              <a:rPr lang="de-DE" dirty="0"/>
              <a:t>-Metadaten erzeugen kann.</a:t>
            </a:r>
          </a:p>
          <a:p>
            <a:r>
              <a:rPr lang="de-DE" dirty="0"/>
              <a:t>Die Daten sind erreichbar, aber das Framework weiß noch nicht, welche Felder für unseren Anwendungsfall als Filter oder Tabellenspalten vorgesehen sind. Genau diese Information ergänzen wir nun mit UI-Annotationen.</a:t>
            </a:r>
          </a:p>
          <a:p>
            <a:br>
              <a:rPr lang="de-DE" dirty="0"/>
            </a:br>
            <a:endParaRPr lang="de-DE" dirty="0"/>
          </a:p>
          <a:p>
            <a:r>
              <a:rPr lang="de-DE" b="1" dirty="0"/>
              <a:t>Schritt 2 – </a:t>
            </a:r>
            <a:r>
              <a:rPr lang="de-DE" b="1" dirty="0" err="1"/>
              <a:t>Metadata</a:t>
            </a:r>
            <a:r>
              <a:rPr lang="de-DE" b="1" dirty="0"/>
              <a:t> </a:t>
            </a:r>
            <a:r>
              <a:rPr lang="de-DE" b="1" dirty="0" err="1"/>
              <a:t>Extensions</a:t>
            </a:r>
            <a:r>
              <a:rPr lang="de-DE" b="1" dirty="0"/>
              <a:t> erlauben</a:t>
            </a:r>
          </a:p>
          <a:p>
            <a:r>
              <a:rPr lang="de-DE" b="1" dirty="0"/>
              <a:t>Aktion</a:t>
            </a:r>
          </a:p>
          <a:p>
            <a:r>
              <a:rPr lang="de-DE" dirty="0"/>
              <a:t>In </a:t>
            </a:r>
            <a:r>
              <a:rPr lang="de-DE" sz="1200" kern="1200" dirty="0" err="1">
                <a:solidFill>
                  <a:schemeClr val="tx1"/>
                </a:solidFill>
                <a:latin typeface="+mn-lt"/>
                <a:ea typeface="+mn-ea"/>
                <a:cs typeface="+mn-cs"/>
              </a:rPr>
              <a:t>ZC_CDSOrder</a:t>
            </a:r>
            <a:r>
              <a:rPr lang="de-DE" dirty="0"/>
              <a:t> kontrollieren beziehungsweise ergänzen:</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r>
              <a:rPr lang="de-DE" dirty="0"/>
              <a:t>Beispiel:</a:t>
            </a:r>
          </a:p>
          <a:p>
            <a:pPr rtl="0"/>
            <a:r>
              <a:rPr lang="de-DE" sz="1200" kern="1200" dirty="0">
                <a:solidFill>
                  <a:schemeClr val="tx1"/>
                </a:solidFill>
                <a:latin typeface="+mn-lt"/>
                <a:ea typeface="+mn-ea"/>
                <a:cs typeface="+mn-cs"/>
              </a:rPr>
              <a:t>@EndUserText.label: 'CDS Workshop: Orders'</a:t>
            </a:r>
          </a:p>
          <a:p>
            <a:pPr rtl="0"/>
            <a:r>
              <a:rPr lang="de-DE" sz="1200" kern="1200" dirty="0">
                <a:solidFill>
                  <a:schemeClr val="tx1"/>
                </a:solidFill>
                <a:latin typeface="+mn-lt"/>
                <a:ea typeface="+mn-ea"/>
                <a:cs typeface="+mn-cs"/>
              </a:rPr>
              <a:t>@AccessControl.authorizationCheck: #CHECK</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root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projection</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vorhandene Elemente und Assoziationen</a:t>
            </a:r>
          </a:p>
          <a:p>
            <a:pPr rtl="0"/>
            <a:r>
              <a:rPr lang="de-DE" sz="1200" kern="1200" dirty="0">
                <a:solidFill>
                  <a:schemeClr val="tx1"/>
                </a:solidFill>
                <a:latin typeface="+mn-lt"/>
                <a:ea typeface="+mn-ea"/>
                <a:cs typeface="+mn-cs"/>
              </a:rPr>
              <a:t>}</a:t>
            </a:r>
          </a:p>
          <a:p>
            <a:r>
              <a:rPr lang="de-DE" dirty="0"/>
              <a:t>View aktivieren.</a:t>
            </a:r>
          </a:p>
          <a:p>
            <a:r>
              <a:rPr lang="de-DE" b="1" dirty="0"/>
              <a:t>Sprechertext</a:t>
            </a:r>
          </a:p>
          <a:p>
            <a:r>
              <a:rPr lang="de-DE" dirty="0"/>
              <a:t>Bevor wir eine </a:t>
            </a:r>
            <a:r>
              <a:rPr lang="de-DE" dirty="0" err="1"/>
              <a:t>Metadata</a:t>
            </a:r>
            <a:r>
              <a:rPr lang="de-DE" dirty="0"/>
              <a:t> Extension anlegen können, muss die View externe Metadatenergänzungen ausdrücklich zulassen.</a:t>
            </a:r>
          </a:p>
          <a:p>
            <a:r>
              <a:rPr lang="de-DE" dirty="0"/>
              <a:t>Die Annotation verändert die Datenbereitstellung nicht. Sie erlaubt lediglich, dass ein separates DDLX-Objekt zusätzliche Annotationen für diese Entität definiert.</a:t>
            </a:r>
          </a:p>
          <a:p>
            <a:br>
              <a:rPr lang="de-DE" dirty="0"/>
            </a:br>
            <a:endParaRPr lang="de-DE" dirty="0"/>
          </a:p>
          <a:p>
            <a:r>
              <a:rPr lang="de-DE" b="1" dirty="0"/>
              <a:t>Schritt 3 – </a:t>
            </a:r>
            <a:r>
              <a:rPr lang="de-DE" b="1" dirty="0" err="1"/>
              <a:t>Metadata</a:t>
            </a:r>
            <a:r>
              <a:rPr lang="de-DE" b="1" dirty="0"/>
              <a:t> Extension anlegen</a:t>
            </a:r>
          </a:p>
          <a:p>
            <a:r>
              <a:rPr lang="de-DE" b="1" dirty="0"/>
              <a:t>Aktion</a:t>
            </a:r>
          </a:p>
          <a:p>
            <a:r>
              <a:rPr lang="de-DE" dirty="0"/>
              <a:t>In ADT:</a:t>
            </a:r>
          </a:p>
          <a:p>
            <a:pPr lvl="0"/>
            <a:r>
              <a:rPr lang="de-DE" dirty="0"/>
              <a:t>Paket markieren </a:t>
            </a:r>
          </a:p>
          <a:p>
            <a:pPr lvl="0"/>
            <a:r>
              <a:rPr lang="de-DE" b="1" dirty="0"/>
              <a:t>New → Other ABAP Repository </a:t>
            </a:r>
            <a:r>
              <a:rPr lang="de-DE" b="1" dirty="0" err="1"/>
              <a:t>Object</a:t>
            </a:r>
            <a:r>
              <a:rPr lang="de-DE" dirty="0"/>
              <a:t> </a:t>
            </a:r>
          </a:p>
          <a:p>
            <a:pPr lvl="0"/>
            <a:r>
              <a:rPr lang="de-DE" b="1" dirty="0"/>
              <a:t>Core Data Services → </a:t>
            </a:r>
            <a:r>
              <a:rPr lang="de-DE" b="1" dirty="0" err="1"/>
              <a:t>Metadata</a:t>
            </a:r>
            <a:r>
              <a:rPr lang="de-DE" b="1" dirty="0"/>
              <a:t> Extension</a:t>
            </a:r>
            <a:r>
              <a:rPr lang="de-DE" dirty="0"/>
              <a:t> </a:t>
            </a:r>
          </a:p>
          <a:p>
            <a:pPr lvl="0"/>
            <a:r>
              <a:rPr lang="de-DE" dirty="0"/>
              <a:t>Namen vergeben, beispielsweise: </a:t>
            </a:r>
          </a:p>
          <a:p>
            <a:pPr rtl="0"/>
            <a:r>
              <a:rPr lang="de-DE" sz="1200" kern="1200" dirty="0" err="1">
                <a:solidFill>
                  <a:schemeClr val="tx1"/>
                </a:solidFill>
                <a:latin typeface="+mn-lt"/>
                <a:ea typeface="+mn-ea"/>
                <a:cs typeface="+mn-cs"/>
              </a:rPr>
              <a:t>ZC_CDSOrder_UI</a:t>
            </a:r>
            <a:endParaRPr lang="de-DE" sz="1200" kern="1200" dirty="0">
              <a:solidFill>
                <a:schemeClr val="tx1"/>
              </a:solidFill>
              <a:latin typeface="+mn-lt"/>
              <a:ea typeface="+mn-ea"/>
              <a:cs typeface="+mn-cs"/>
            </a:endParaRPr>
          </a:p>
          <a:p>
            <a:pPr lvl="0"/>
            <a:r>
              <a:rPr lang="de-DE" dirty="0"/>
              <a:t>Zu annotierende Entität auswählen: </a:t>
            </a:r>
          </a:p>
          <a:p>
            <a:pPr rtl="0"/>
            <a:r>
              <a:rPr lang="de-DE" sz="1200" kern="1200" dirty="0" err="1">
                <a:solidFill>
                  <a:schemeClr val="tx1"/>
                </a:solidFill>
                <a:latin typeface="+mn-lt"/>
                <a:ea typeface="+mn-ea"/>
                <a:cs typeface="+mn-cs"/>
              </a:rPr>
              <a:t>ZC_CDSOrder</a:t>
            </a:r>
            <a:endParaRPr lang="de-DE" sz="1200" kern="1200" dirty="0">
              <a:solidFill>
                <a:schemeClr val="tx1"/>
              </a:solidFill>
              <a:latin typeface="+mn-lt"/>
              <a:ea typeface="+mn-ea"/>
              <a:cs typeface="+mn-cs"/>
            </a:endParaRPr>
          </a:p>
          <a:p>
            <a:pPr lvl="0"/>
            <a:r>
              <a:rPr lang="de-DE" dirty="0"/>
              <a:t>Transportauftrag beziehungsweise Package bestätigen </a:t>
            </a:r>
          </a:p>
          <a:p>
            <a:r>
              <a:rPr lang="de-DE" b="1" dirty="0"/>
              <a:t>Ausgangscode</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Die </a:t>
            </a:r>
            <a:r>
              <a:rPr lang="de-DE" dirty="0" err="1"/>
              <a:t>Metadata</a:t>
            </a:r>
            <a:r>
              <a:rPr lang="de-DE" dirty="0"/>
              <a:t> Extension ist ein eigenständiges Repository-Objekt.</a:t>
            </a:r>
          </a:p>
          <a:p>
            <a:r>
              <a:rPr lang="de-DE" dirty="0"/>
              <a:t>Der Name des Objekts ist technisch frei wählbar. Eine Endung wie </a:t>
            </a:r>
            <a:r>
              <a:rPr lang="de-DE" sz="1200" kern="1200" dirty="0">
                <a:solidFill>
                  <a:schemeClr val="tx1"/>
                </a:solidFill>
                <a:latin typeface="+mn-lt"/>
                <a:ea typeface="+mn-ea"/>
                <a:cs typeface="+mn-cs"/>
              </a:rPr>
              <a:t>_UI</a:t>
            </a:r>
            <a:r>
              <a:rPr lang="de-DE" dirty="0"/>
              <a:t> macht aber unmittelbar deutlich, dass dieses Objekt die UI-Metadaten der zugehörigen View enthält.</a:t>
            </a:r>
          </a:p>
          <a:p>
            <a:br>
              <a:rPr lang="de-DE" dirty="0"/>
            </a:br>
            <a:endParaRPr lang="de-DE" dirty="0"/>
          </a:p>
          <a:p>
            <a:r>
              <a:rPr lang="de-DE" b="1" dirty="0"/>
              <a:t>Schritt 4 – Erste Tabellenspalte ergänzen</a:t>
            </a:r>
          </a:p>
          <a:p>
            <a:r>
              <a:rPr lang="de-DE" b="1" dirty="0"/>
              <a:t>Coding</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Aktion</a:t>
            </a:r>
          </a:p>
          <a:p>
            <a:pPr lvl="0"/>
            <a:r>
              <a:rPr lang="de-DE" dirty="0" err="1"/>
              <a:t>Metadata</a:t>
            </a:r>
            <a:r>
              <a:rPr lang="de-DE" dirty="0"/>
              <a:t> Extension aktivieren </a:t>
            </a:r>
          </a:p>
          <a:p>
            <a:pPr lvl="0"/>
            <a:r>
              <a:rPr lang="de-DE" dirty="0"/>
              <a:t>Vorschau aktualisieren </a:t>
            </a:r>
          </a:p>
          <a:p>
            <a:pPr lvl="0"/>
            <a:r>
              <a:rPr lang="de-DE" dirty="0"/>
              <a:t>gegebenenfalls Browser vollständig neu laden </a:t>
            </a:r>
          </a:p>
          <a:p>
            <a:r>
              <a:rPr lang="de-DE" b="1" dirty="0"/>
              <a:t>Erwartetes Ergebnis</a:t>
            </a:r>
          </a:p>
          <a:p>
            <a:r>
              <a:rPr lang="de-DE" dirty="0"/>
              <a:t>Die Auftragsnummer erscheint als erste Spalte.</a:t>
            </a:r>
          </a:p>
          <a:p>
            <a:r>
              <a:rPr lang="de-DE" b="1" dirty="0"/>
              <a:t>Sprechertext</a:t>
            </a:r>
          </a:p>
          <a:p>
            <a:r>
              <a:rPr lang="de-DE" dirty="0"/>
              <a:t>Wir beginnen bewusst mit nur einer Annotation. Dadurch wird unmittelbar sichtbar, dass nicht die Reihenfolge der Elemente in der CDS View, sondern </a:t>
            </a:r>
            <a:r>
              <a:rPr lang="de-DE" sz="1200" kern="1200" dirty="0">
                <a:solidFill>
                  <a:schemeClr val="tx1"/>
                </a:solidFill>
                <a:latin typeface="+mn-lt"/>
                <a:ea typeface="+mn-ea"/>
                <a:cs typeface="+mn-cs"/>
              </a:rPr>
              <a:t>@UI.lineItem</a:t>
            </a:r>
            <a:r>
              <a:rPr lang="de-DE" dirty="0"/>
              <a:t> die Tabelle gestaltet.</a:t>
            </a:r>
          </a:p>
          <a:p>
            <a:br>
              <a:rPr lang="de-DE" dirty="0"/>
            </a:br>
            <a:endParaRPr lang="de-DE" dirty="0"/>
          </a:p>
          <a:p>
            <a:r>
              <a:rPr lang="de-DE" b="1" dirty="0"/>
              <a:t>Schritt 5 – Weitere Spalten ergänzen</a:t>
            </a:r>
          </a:p>
          <a:p>
            <a:r>
              <a:rPr lang="de-DE" b="1" dirty="0"/>
              <a:t>Coding</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#LOW</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Erwartetes Ergebnis</a:t>
            </a:r>
          </a:p>
          <a:p>
            <a:r>
              <a:rPr lang="de-DE" dirty="0"/>
              <a:t>Die Tabelle zeigt die Felder in der angegebenen Reihenfolge:</a:t>
            </a:r>
          </a:p>
          <a:p>
            <a:pPr lvl="0"/>
            <a:r>
              <a:rPr lang="de-DE" dirty="0"/>
              <a:t>Auftrag </a:t>
            </a:r>
          </a:p>
          <a:p>
            <a:pPr lvl="0"/>
            <a:r>
              <a:rPr lang="de-DE" dirty="0"/>
              <a:t>Kunde </a:t>
            </a:r>
          </a:p>
          <a:p>
            <a:pPr lvl="0"/>
            <a:r>
              <a:rPr lang="de-DE" dirty="0"/>
              <a:t>Auftragsdatum </a:t>
            </a:r>
          </a:p>
          <a:p>
            <a:pPr lvl="0"/>
            <a:r>
              <a:rPr lang="de-DE" dirty="0"/>
              <a:t>Wunschdatum </a:t>
            </a:r>
          </a:p>
          <a:p>
            <a:pPr lvl="0"/>
            <a:r>
              <a:rPr lang="de-DE" dirty="0"/>
              <a:t>Status </a:t>
            </a:r>
          </a:p>
          <a:p>
            <a:pPr lvl="0"/>
            <a:r>
              <a:rPr lang="de-DE" dirty="0"/>
              <a:t>Verkaufsorganisation </a:t>
            </a:r>
          </a:p>
          <a:p>
            <a:r>
              <a:rPr lang="de-DE" b="1" dirty="0"/>
              <a:t>Demonstrationshinweis</a:t>
            </a:r>
          </a:p>
          <a:p>
            <a:r>
              <a:rPr lang="de-DE" dirty="0"/>
              <a:t>Kurz einen Positionswert verändern, beispielsweise:</a:t>
            </a:r>
          </a:p>
          <a:p>
            <a:pPr rtl="0"/>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15</a:t>
            </a:r>
          </a:p>
          <a:p>
            <a:r>
              <a:rPr lang="de-DE" dirty="0"/>
              <a:t>Dadurch lässt sich zeigen, dass die Position und nicht die Reihenfolge innerhalb der </a:t>
            </a:r>
            <a:r>
              <a:rPr lang="de-DE" dirty="0" err="1"/>
              <a:t>Metadata</a:t>
            </a:r>
            <a:r>
              <a:rPr lang="de-DE" dirty="0"/>
              <a:t> Extension entscheidend ist.</a:t>
            </a:r>
          </a:p>
          <a:p>
            <a:br>
              <a:rPr lang="de-DE" dirty="0"/>
            </a:br>
            <a:endParaRPr lang="de-DE" dirty="0"/>
          </a:p>
          <a:p>
            <a:r>
              <a:rPr lang="de-DE" b="1" dirty="0"/>
              <a:t>Schritt 6 – Filterfelder ergänzen</a:t>
            </a:r>
          </a:p>
          <a:p>
            <a:r>
              <a:rPr lang="de-DE" b="1" dirty="0"/>
              <a:t>Coding ergänzen</a:t>
            </a:r>
          </a:p>
          <a:p>
            <a:pPr rtl="0"/>
            <a:r>
              <a:rPr lang="de-DE" sz="1200" kern="1200" dirty="0">
                <a:solidFill>
                  <a:schemeClr val="tx1"/>
                </a:solidFill>
                <a:latin typeface="+mn-lt"/>
                <a:ea typeface="+mn-ea"/>
                <a:cs typeface="+mn-cs"/>
              </a:rPr>
              <a:t>@UI.selectionField: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a:t>
            </a:r>
          </a:p>
          <a:p>
            <a:r>
              <a:rPr lang="de-DE" dirty="0"/>
              <a:t>vor </a:t>
            </a:r>
            <a:r>
              <a:rPr lang="de-DE" sz="1200" kern="1200" dirty="0" err="1">
                <a:solidFill>
                  <a:schemeClr val="tx1"/>
                </a:solidFill>
                <a:latin typeface="+mn-lt"/>
                <a:ea typeface="+mn-ea"/>
                <a:cs typeface="+mn-cs"/>
              </a:rPr>
              <a:t>OrderId</a:t>
            </a:r>
            <a:r>
              <a:rPr lang="de-DE" dirty="0"/>
              <a:t>:</a:t>
            </a:r>
          </a:p>
          <a:p>
            <a:pPr rtl="0"/>
            <a:r>
              <a:rPr lang="de-DE" sz="1200" kern="1200" dirty="0">
                <a:solidFill>
                  <a:schemeClr val="tx1"/>
                </a:solidFill>
                <a:latin typeface="+mn-lt"/>
                <a:ea typeface="+mn-ea"/>
                <a:cs typeface="+mn-cs"/>
              </a:rPr>
              <a:t>@UI.selectionField: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r>
              <a:rPr lang="de-DE" dirty="0"/>
              <a:t>Entsprechend für weitere Elemente:</a:t>
            </a:r>
          </a:p>
          <a:p>
            <a:pPr rtl="0"/>
            <a:r>
              <a:rPr lang="de-DE" sz="1200" kern="1200" dirty="0">
                <a:solidFill>
                  <a:schemeClr val="tx1"/>
                </a:solidFill>
                <a:latin typeface="+mn-lt"/>
                <a:ea typeface="+mn-ea"/>
                <a:cs typeface="+mn-cs"/>
              </a:rPr>
              <a:t>@UI.selectionField: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#LOW</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br>
              <a:rPr lang="de-DE" dirty="0"/>
            </a:br>
            <a:endParaRPr lang="de-DE" dirty="0"/>
          </a:p>
          <a:p>
            <a:r>
              <a:rPr lang="de-DE" b="1" dirty="0"/>
              <a:t>Vollständiger Zwischenstand</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#LOW</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br>
              <a:rPr lang="de-DE" dirty="0"/>
            </a:br>
            <a:endParaRPr lang="de-DE" dirty="0"/>
          </a:p>
          <a:p>
            <a:r>
              <a:rPr lang="de-DE" b="1" dirty="0"/>
              <a:t>Schritt 7 – Filter testen</a:t>
            </a:r>
          </a:p>
          <a:p>
            <a:r>
              <a:rPr lang="de-DE" b="1" dirty="0"/>
              <a:t>Aktion</a:t>
            </a:r>
          </a:p>
          <a:p>
            <a:pPr lvl="0"/>
            <a:r>
              <a:rPr lang="de-DE" dirty="0"/>
              <a:t>Anwendung aktualisieren </a:t>
            </a:r>
          </a:p>
          <a:p>
            <a:pPr lvl="0"/>
            <a:r>
              <a:rPr lang="de-DE" dirty="0"/>
              <a:t>Filterleiste öffnen </a:t>
            </a:r>
          </a:p>
          <a:p>
            <a:pPr lvl="0"/>
            <a:r>
              <a:rPr lang="de-DE" dirty="0"/>
              <a:t>beispielsweise nach </a:t>
            </a:r>
            <a:r>
              <a:rPr lang="de-DE" sz="1200" kern="1200" dirty="0" err="1">
                <a:solidFill>
                  <a:schemeClr val="tx1"/>
                </a:solidFill>
                <a:latin typeface="+mn-lt"/>
                <a:ea typeface="+mn-ea"/>
                <a:cs typeface="+mn-cs"/>
              </a:rPr>
              <a:t>OrderStatus</a:t>
            </a:r>
            <a:r>
              <a:rPr lang="de-DE" dirty="0"/>
              <a:t> filtern </a:t>
            </a:r>
          </a:p>
          <a:p>
            <a:pPr lvl="0"/>
            <a:r>
              <a:rPr lang="de-DE" b="1" dirty="0"/>
              <a:t>Start</a:t>
            </a:r>
            <a:r>
              <a:rPr lang="de-DE" dirty="0"/>
              <a:t> beziehungsweise </a:t>
            </a:r>
            <a:r>
              <a:rPr lang="de-DE" b="1" dirty="0"/>
              <a:t>Go</a:t>
            </a:r>
            <a:r>
              <a:rPr lang="de-DE" dirty="0"/>
              <a:t> ausführen </a:t>
            </a:r>
          </a:p>
          <a:p>
            <a:pPr lvl="0"/>
            <a:r>
              <a:rPr lang="de-DE" dirty="0"/>
              <a:t>Filter wieder entfernen </a:t>
            </a:r>
          </a:p>
          <a:p>
            <a:pPr lvl="0"/>
            <a:r>
              <a:rPr lang="de-DE" dirty="0"/>
              <a:t>nach </a:t>
            </a:r>
            <a:r>
              <a:rPr lang="de-DE" sz="1200" kern="1200" dirty="0" err="1">
                <a:solidFill>
                  <a:schemeClr val="tx1"/>
                </a:solidFill>
                <a:latin typeface="+mn-lt"/>
                <a:ea typeface="+mn-ea"/>
                <a:cs typeface="+mn-cs"/>
              </a:rPr>
              <a:t>SalesOrganization</a:t>
            </a:r>
            <a:r>
              <a:rPr lang="de-DE" dirty="0"/>
              <a:t> filtern </a:t>
            </a:r>
          </a:p>
          <a:p>
            <a:r>
              <a:rPr lang="de-DE" b="1" dirty="0"/>
              <a:t>Sprechertext</a:t>
            </a:r>
          </a:p>
          <a:p>
            <a:r>
              <a:rPr lang="de-DE" dirty="0"/>
              <a:t>Die Filterfelder sind nicht nur Eingabeelemente der Oberfläche. Fiori Elements übersetzt die Eingaben in entsprechende </a:t>
            </a:r>
            <a:r>
              <a:rPr lang="de-DE" dirty="0" err="1"/>
              <a:t>OData</a:t>
            </a:r>
            <a:r>
              <a:rPr lang="de-DE" dirty="0"/>
              <a:t>-Filter und übergibt sie an den Service.</a:t>
            </a:r>
          </a:p>
          <a:p>
            <a:r>
              <a:rPr lang="de-DE" dirty="0"/>
              <a:t>Die eigentliche Selektion wird damit im Backend beziehungsweise in der Datenbank ausgeführt. Auch hier greift das Prinzip des Code </a:t>
            </a:r>
            <a:r>
              <a:rPr lang="de-DE" dirty="0" err="1"/>
              <a:t>Pushdown</a:t>
            </a:r>
            <a:r>
              <a:rPr lang="de-DE" dirty="0"/>
              <a:t> aus dem zweiten Kursteil.</a:t>
            </a:r>
          </a:p>
          <a:p>
            <a:br>
              <a:rPr lang="de-DE" dirty="0"/>
            </a:br>
            <a:endParaRPr lang="de-DE" dirty="0"/>
          </a:p>
          <a:p>
            <a:r>
              <a:rPr lang="de-DE" b="1" dirty="0"/>
              <a:t>Schritt 8 – Responsive Darstellung demonstrieren</a:t>
            </a:r>
          </a:p>
          <a:p>
            <a:r>
              <a:rPr lang="de-DE" b="1" dirty="0"/>
              <a:t>Aktion</a:t>
            </a:r>
          </a:p>
          <a:p>
            <a:pPr lvl="0"/>
            <a:r>
              <a:rPr lang="de-DE" dirty="0"/>
              <a:t>Breite des Browserfensters reduzieren </a:t>
            </a:r>
          </a:p>
          <a:p>
            <a:pPr lvl="0"/>
            <a:r>
              <a:rPr lang="de-DE" dirty="0"/>
              <a:t>beobachten, welche Spalten sichtbar bleiben </a:t>
            </a:r>
          </a:p>
          <a:p>
            <a:pPr lvl="0"/>
            <a:r>
              <a:rPr lang="de-DE" dirty="0"/>
              <a:t>gegebenenfalls Tabellenpersonalisierung öffnen </a:t>
            </a:r>
          </a:p>
          <a:p>
            <a:r>
              <a:rPr lang="de-DE" b="1" dirty="0"/>
              <a:t>Sprechertext</a:t>
            </a:r>
          </a:p>
          <a:p>
            <a:r>
              <a:rPr lang="de-DE" dirty="0"/>
              <a:t>Bei verringerter Bildschirmbreite versucht Fiori Elements, die wichtigen Spalten bevorzugt sichtbar zu halten.</a:t>
            </a:r>
          </a:p>
          <a:p>
            <a:r>
              <a:rPr lang="de-DE" dirty="0"/>
              <a:t>Das Ergebnis hängt vom verwendeten </a:t>
            </a:r>
            <a:r>
              <a:rPr lang="de-DE" dirty="0" err="1"/>
              <a:t>Floorplan</a:t>
            </a:r>
            <a:r>
              <a:rPr lang="de-DE" dirty="0"/>
              <a:t>, Tabellentyp und der Fiori-Elements-Version ab. </a:t>
            </a:r>
            <a:r>
              <a:rPr lang="de-DE" sz="1200" kern="1200" dirty="0" err="1">
                <a:solidFill>
                  <a:schemeClr val="tx1"/>
                </a:solidFill>
                <a:latin typeface="+mn-lt"/>
                <a:ea typeface="+mn-ea"/>
                <a:cs typeface="+mn-cs"/>
              </a:rPr>
              <a:t>importance</a:t>
            </a:r>
            <a:r>
              <a:rPr lang="de-DE" dirty="0"/>
              <a:t> liefert dem Framework die dafür benötigte Gewichtung, schreibt aber nicht für jede Bildschirmbreite eine starre Darstellung vor.</a:t>
            </a:r>
          </a:p>
          <a:p>
            <a:br>
              <a:rPr lang="de-DE" dirty="0"/>
            </a:br>
            <a:endParaRPr lang="de-DE" dirty="0"/>
          </a:p>
          <a:p>
            <a:r>
              <a:rPr lang="de-DE" b="1" dirty="0"/>
              <a:t>Ergebnis des Live-</a:t>
            </a:r>
            <a:r>
              <a:rPr lang="de-DE" b="1" dirty="0" err="1"/>
              <a:t>Codings</a:t>
            </a:r>
            <a:endParaRPr lang="de-DE" b="1" dirty="0"/>
          </a:p>
          <a:p>
            <a:r>
              <a:rPr lang="de-DE" dirty="0"/>
              <a:t>Der List Report besitzt nun:</a:t>
            </a:r>
          </a:p>
          <a:p>
            <a:pPr lvl="0"/>
            <a:r>
              <a:rPr lang="de-DE" dirty="0"/>
              <a:t>eine fachlich sinnvolle Filterleiste </a:t>
            </a:r>
          </a:p>
          <a:p>
            <a:pPr lvl="0"/>
            <a:r>
              <a:rPr lang="de-DE" dirty="0"/>
              <a:t>definierte Tabellenspalten </a:t>
            </a:r>
          </a:p>
          <a:p>
            <a:pPr lvl="0"/>
            <a:r>
              <a:rPr lang="de-DE" dirty="0"/>
              <a:t>eine nachvollziehbare Spaltenreihenfolge </a:t>
            </a:r>
          </a:p>
          <a:p>
            <a:pPr lvl="0"/>
            <a:r>
              <a:rPr lang="de-DE" dirty="0"/>
              <a:t>Prioritäten für die responsive Darstellung </a:t>
            </a:r>
          </a:p>
          <a:p>
            <a:pPr lvl="0"/>
            <a:r>
              <a:rPr lang="de-DE" dirty="0"/>
              <a:t>eine klare Trennung zwischen Datenmodell und UI-Metadaten </a:t>
            </a:r>
          </a:p>
          <a:p>
            <a:r>
              <a:rPr lang="de-DE" b="1" dirty="0"/>
              <a:t>Überleitung</a:t>
            </a:r>
          </a:p>
          <a:p>
            <a:r>
              <a:rPr lang="de-DE" b="1" dirty="0"/>
              <a:t>Sprechertext</a:t>
            </a:r>
          </a:p>
          <a:p>
            <a:r>
              <a:rPr lang="de-DE" dirty="0"/>
              <a:t>Unsere Auftragsliste ist damit bereits verwendbar. Sie zeigt aber bislang nur eine flache Menge von Aufträgen.</a:t>
            </a:r>
          </a:p>
          <a:p>
            <a:r>
              <a:rPr lang="de-DE" dirty="0"/>
              <a:t>Wenn der Anwender einen Auftrag auswählt, benötigt er eine strukturierte Detailansicht. Bevor wir diese </a:t>
            </a:r>
            <a:r>
              <a:rPr lang="de-DE" dirty="0" err="1"/>
              <a:t>Object</a:t>
            </a:r>
            <a:r>
              <a:rPr lang="de-DE" dirty="0"/>
              <a:t> Page implementieren, betrachten wir deshalb die Annotationen für den Seitenkopf, den Identifikationsbereich und zusammengehörige Feldgruppen.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20</a:t>
            </a:fld>
            <a:endParaRPr lang="de-DE" dirty="0"/>
          </a:p>
        </p:txBody>
      </p:sp>
    </p:spTree>
    <p:extLst>
      <p:ext uri="{BB962C8B-B14F-4D97-AF65-F5344CB8AC3E}">
        <p14:creationId xmlns:p14="http://schemas.microsoft.com/office/powerpoint/2010/main" val="2586444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 der Auswahl eines Eintrags im List Report navigiert der Anwender zur </a:t>
            </a:r>
            <a:r>
              <a:rPr lang="de-DE" dirty="0" err="1"/>
              <a:t>Object</a:t>
            </a:r>
            <a:r>
              <a:rPr lang="de-DE" dirty="0"/>
              <a:t> Page.</a:t>
            </a:r>
          </a:p>
          <a:p>
            <a:endParaRPr lang="de-DE" dirty="0"/>
          </a:p>
          <a:p>
            <a:r>
              <a:rPr lang="de-DE" dirty="0"/>
              <a:t>Während der List Report viele Aufträge tabellarisch darstellt, konzentriert sich die </a:t>
            </a:r>
            <a:r>
              <a:rPr lang="de-DE" dirty="0" err="1"/>
              <a:t>Object</a:t>
            </a:r>
            <a:r>
              <a:rPr lang="de-DE" dirty="0"/>
              <a:t> Page auf genau einen Auftrag. Sie zeigt dessen wichtigste Eigenschaften und die dazugehörigen abhängigen Daten.</a:t>
            </a:r>
          </a:p>
          <a:p>
            <a:endParaRPr lang="de-DE" dirty="0"/>
          </a:p>
          <a:p>
            <a:r>
              <a:rPr lang="de-DE" dirty="0"/>
              <a:t>Eine </a:t>
            </a:r>
            <a:r>
              <a:rPr lang="de-DE" dirty="0" err="1"/>
              <a:t>Object</a:t>
            </a:r>
            <a:r>
              <a:rPr lang="de-DE" dirty="0"/>
              <a:t> Page besitzt eine hierarchische Struktur. Ganz oben befindet sich der Seitenkopf mit Titel und Beschreibung. Darunter können wichtige Identifikationsmerkmale erscheinen.</a:t>
            </a:r>
          </a:p>
          <a:p>
            <a:endParaRPr lang="de-DE" dirty="0"/>
          </a:p>
          <a:p>
            <a:r>
              <a:rPr lang="de-DE" dirty="0"/>
              <a:t>Der eigentliche Seiteninhalt ist in Abschnitte und gegebenenfalls Unterabschnitte gegliedert. Dort können wir einzelne Felder, Feldgruppen, Tabellen, Diagramme und weitere Darstellungen einbinden.</a:t>
            </a:r>
          </a:p>
          <a:p>
            <a:endParaRPr lang="de-DE" dirty="0"/>
          </a:p>
          <a:p>
            <a:r>
              <a:rPr lang="de-DE" dirty="0"/>
              <a:t>Diese Struktur erzeugen wir mit mehreren zusammenwirkenden UI-Annotationen.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21</a:t>
            </a:fld>
            <a:endParaRPr lang="de-DE" dirty="0"/>
          </a:p>
        </p:txBody>
      </p:sp>
    </p:spTree>
    <p:extLst>
      <p:ext uri="{BB962C8B-B14F-4D97-AF65-F5344CB8AC3E}">
        <p14:creationId xmlns:p14="http://schemas.microsoft.com/office/powerpoint/2010/main" val="4177782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dirty="0">
                <a:solidFill>
                  <a:schemeClr val="tx1"/>
                </a:solidFill>
                <a:latin typeface="+mn-lt"/>
                <a:ea typeface="+mn-ea"/>
                <a:cs typeface="+mn-cs"/>
              </a:rPr>
              <a:t>@UI.headerInfo</a:t>
            </a:r>
            <a:r>
              <a:rPr lang="de-DE" dirty="0"/>
              <a:t> beschreibt die grundlegende Identität des Geschäftsobjekts.</a:t>
            </a:r>
          </a:p>
          <a:p>
            <a:endParaRPr lang="de-DE" dirty="0"/>
          </a:p>
          <a:p>
            <a:r>
              <a:rPr lang="de-DE" sz="1200" kern="1200" dirty="0" err="1">
                <a:solidFill>
                  <a:schemeClr val="tx1"/>
                </a:solidFill>
                <a:latin typeface="+mn-lt"/>
                <a:ea typeface="+mn-ea"/>
                <a:cs typeface="+mn-cs"/>
              </a:rPr>
              <a:t>typeName</a:t>
            </a:r>
            <a:r>
              <a:rPr lang="de-DE" dirty="0"/>
              <a:t> enthält die Bezeichnung eines einzelnen Objekts, in unserem Fall also „Auftrag“. </a:t>
            </a:r>
            <a:r>
              <a:rPr lang="de-DE" sz="1200" kern="1200" dirty="0" err="1">
                <a:solidFill>
                  <a:schemeClr val="tx1"/>
                </a:solidFill>
                <a:latin typeface="+mn-lt"/>
                <a:ea typeface="+mn-ea"/>
                <a:cs typeface="+mn-cs"/>
              </a:rPr>
              <a:t>typeNamePlural</a:t>
            </a:r>
            <a:r>
              <a:rPr lang="de-DE" dirty="0"/>
              <a:t> wird verwendet, wenn mehrere Objekte gemeint sind.</a:t>
            </a:r>
          </a:p>
          <a:p>
            <a:endParaRPr lang="de-DE" dirty="0"/>
          </a:p>
          <a:p>
            <a:r>
              <a:rPr lang="de-DE" dirty="0"/>
              <a:t>Unter </a:t>
            </a:r>
            <a:r>
              <a:rPr lang="de-DE" sz="1200" kern="1200" dirty="0">
                <a:solidFill>
                  <a:schemeClr val="tx1"/>
                </a:solidFill>
                <a:latin typeface="+mn-lt"/>
                <a:ea typeface="+mn-ea"/>
                <a:cs typeface="+mn-cs"/>
              </a:rPr>
              <a:t>title</a:t>
            </a:r>
            <a:r>
              <a:rPr lang="de-DE" dirty="0"/>
              <a:t> legen wir fest, welches Element als Titel der </a:t>
            </a:r>
            <a:r>
              <a:rPr lang="de-DE" dirty="0" err="1"/>
              <a:t>Object</a:t>
            </a:r>
            <a:r>
              <a:rPr lang="de-DE" dirty="0"/>
              <a:t> Page angezeigt wird. Für unseren Auftrag ist das die Auftragsnummer.</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description</a:t>
            </a:r>
            <a:r>
              <a:rPr lang="de-DE" dirty="0"/>
              <a:t> ergänzt eine zweite, beschreibende Information. Dafür eignet sich beispielsweise der Name des Kunden.</a:t>
            </a:r>
          </a:p>
          <a:p>
            <a:endParaRPr lang="de-DE" dirty="0"/>
          </a:p>
          <a:p>
            <a:r>
              <a:rPr lang="de-DE" dirty="0"/>
              <a:t>Die Angaben </a:t>
            </a:r>
            <a:r>
              <a:rPr lang="de-DE" sz="1200" kern="1200" dirty="0" err="1">
                <a:solidFill>
                  <a:schemeClr val="tx1"/>
                </a:solidFill>
                <a:latin typeface="+mn-lt"/>
                <a:ea typeface="+mn-ea"/>
                <a:cs typeface="+mn-cs"/>
              </a:rPr>
              <a:t>OrderId</a:t>
            </a:r>
            <a:r>
              <a:rPr lang="de-DE" dirty="0"/>
              <a:t> und </a:t>
            </a:r>
            <a:r>
              <a:rPr lang="de-DE" sz="1200" kern="1200" dirty="0" err="1">
                <a:solidFill>
                  <a:schemeClr val="tx1"/>
                </a:solidFill>
                <a:latin typeface="+mn-lt"/>
                <a:ea typeface="+mn-ea"/>
                <a:cs typeface="+mn-cs"/>
              </a:rPr>
              <a:t>CustomerName</a:t>
            </a:r>
            <a:r>
              <a:rPr lang="de-DE" dirty="0"/>
              <a:t> sind Zeichenketten, weil sie die Namen von Elementen der annotierten CDS-Entität referenzieren.</a:t>
            </a:r>
          </a:p>
          <a:p>
            <a:endParaRPr lang="de-DE" dirty="0"/>
          </a:p>
          <a:p>
            <a:r>
              <a:rPr lang="de-DE" dirty="0"/>
              <a:t>Titel und Beschreibung sollten bewusst gewählt werden.</a:t>
            </a:r>
          </a:p>
          <a:p>
            <a:endParaRPr lang="de-DE" dirty="0"/>
          </a:p>
          <a:p>
            <a:r>
              <a:rPr lang="de-DE" dirty="0"/>
              <a:t>Der Titel muss das angezeigte Objekt möglichst eindeutig identifizieren. Deshalb verwenden wir die Auftragsnummer und nicht beispielsweise das Auftragsdatum.</a:t>
            </a:r>
          </a:p>
          <a:p>
            <a:endParaRPr lang="de-DE" dirty="0"/>
          </a:p>
          <a:p>
            <a:r>
              <a:rPr lang="de-DE" dirty="0"/>
              <a:t>Die Beschreibung liefert zusätzlichen fachlichen Kontext. Der Kundenname hilft dem Anwender schneller als eine weitere technische ID zu erkennen, welchen Auftrag er gerade betrachtet.</a:t>
            </a:r>
          </a:p>
          <a:p>
            <a:endParaRPr lang="de-DE" dirty="0"/>
          </a:p>
          <a:p>
            <a:r>
              <a:rPr lang="de-DE" dirty="0"/>
              <a:t>Wie genau die Informationen im Header angeordnet werden, hängt von der Fiori-Elements-Version, dem </a:t>
            </a:r>
            <a:r>
              <a:rPr lang="de-DE" dirty="0" err="1"/>
              <a:t>Floorplan</a:t>
            </a:r>
            <a:r>
              <a:rPr lang="de-DE" dirty="0"/>
              <a:t> und der verfügbaren Bildschirmbreite ab. Die Annotation beschreibt die semantische Rolle; die konkrete Darstellung übernimmt das Framework.</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22</a:t>
            </a:fld>
            <a:endParaRPr lang="de-DE" dirty="0"/>
          </a:p>
        </p:txBody>
      </p:sp>
    </p:spTree>
    <p:extLst>
      <p:ext uri="{BB962C8B-B14F-4D97-AF65-F5344CB8AC3E}">
        <p14:creationId xmlns:p14="http://schemas.microsoft.com/office/powerpoint/2010/main" val="28277651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a:solidFill>
                  <a:schemeClr val="tx1"/>
                </a:solidFill>
                <a:latin typeface="+mn-lt"/>
                <a:ea typeface="+mn-ea"/>
                <a:cs typeface="+mn-cs"/>
              </a:rPr>
              <a:t>@UI.identification</a:t>
            </a:r>
            <a:r>
              <a:rPr lang="de-DE" dirty="0"/>
              <a:t> kennzeichnen wir Felder, die das Geschäftsobjekt besonders charakterisieren.</a:t>
            </a:r>
          </a:p>
          <a:p>
            <a:endParaRPr lang="de-DE" dirty="0"/>
          </a:p>
          <a:p>
            <a:r>
              <a:rPr lang="de-DE" dirty="0"/>
              <a:t>Diese Felder können im Identifikationsbereich der </a:t>
            </a:r>
            <a:r>
              <a:rPr lang="de-DE" dirty="0" err="1"/>
              <a:t>Object</a:t>
            </a:r>
            <a:r>
              <a:rPr lang="de-DE" dirty="0"/>
              <a:t> Page dargestellt werden. Auch hier bestimmt </a:t>
            </a:r>
            <a:r>
              <a:rPr lang="de-DE" sz="1200" kern="1200" dirty="0" err="1">
                <a:solidFill>
                  <a:schemeClr val="tx1"/>
                </a:solidFill>
                <a:latin typeface="+mn-lt"/>
                <a:ea typeface="+mn-ea"/>
                <a:cs typeface="+mn-cs"/>
              </a:rPr>
              <a:t>position</a:t>
            </a:r>
            <a:r>
              <a:rPr lang="de-DE" dirty="0"/>
              <a:t> die Reihenfolge.</a:t>
            </a:r>
          </a:p>
          <a:p>
            <a:endParaRPr lang="de-DE" dirty="0"/>
          </a:p>
          <a:p>
            <a:r>
              <a:rPr lang="de-DE" dirty="0"/>
              <a:t>Wir sollten nicht jedes Feld als Identifikationsmerkmal deklarieren. Wenn zehn oder fünfzehn Eigenschaften gleichberechtigt im Kopfbereich erscheinen, geht die beabsichtigte Hervorhebung verloren.</a:t>
            </a:r>
          </a:p>
          <a:p>
            <a:endParaRPr lang="de-DE" dirty="0"/>
          </a:p>
          <a:p>
            <a:r>
              <a:rPr lang="de-DE" dirty="0"/>
              <a:t>Für unseren Auftrag eignen sich die Auftragsnummer, der Kunde und der Status. Abhängig vom fachlichen Szenario kann auch das Auftragsdatum dazugehören.</a:t>
            </a:r>
          </a:p>
          <a:p>
            <a:endParaRPr lang="de-DE" dirty="0"/>
          </a:p>
          <a:p>
            <a:r>
              <a:rPr lang="de-DE" dirty="0"/>
              <a:t>Zusätzliche Detailinformationen strukturieren wir besser in Feldgruppen.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23</a:t>
            </a:fld>
            <a:endParaRPr lang="de-DE" dirty="0"/>
          </a:p>
        </p:txBody>
      </p:sp>
    </p:spTree>
    <p:extLst>
      <p:ext uri="{BB962C8B-B14F-4D97-AF65-F5344CB8AC3E}">
        <p14:creationId xmlns:p14="http://schemas.microsoft.com/office/powerpoint/2010/main" val="3555172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a:solidFill>
                  <a:schemeClr val="tx1"/>
                </a:solidFill>
                <a:latin typeface="+mn-lt"/>
                <a:ea typeface="+mn-ea"/>
                <a:cs typeface="+mn-cs"/>
              </a:rPr>
              <a:t>@UI.fieldGroup</a:t>
            </a:r>
            <a:r>
              <a:rPr lang="de-DE" dirty="0"/>
              <a:t> fassen wir fachlich zusammengehörige Elemente zu einer Gruppe zusammen.</a:t>
            </a:r>
          </a:p>
          <a:p>
            <a:endParaRPr lang="de-DE" dirty="0"/>
          </a:p>
          <a:p>
            <a:r>
              <a:rPr lang="de-DE" dirty="0"/>
              <a:t>In unserem Beispiel gehören das Auftragsdatum, das gewünschte Lieferdatum, der Status und die Verkaufsorganisation zu den allgemeinen Auftragsdaten.</a:t>
            </a:r>
          </a:p>
          <a:p>
            <a:endParaRPr lang="de-DE" dirty="0"/>
          </a:p>
          <a:p>
            <a:r>
              <a:rPr lang="de-DE" dirty="0"/>
              <a:t>Alle Elemente dieser Gruppe erhalten denselben </a:t>
            </a:r>
            <a:r>
              <a:rPr lang="de-DE" dirty="0" err="1"/>
              <a:t>Qualifier</a:t>
            </a:r>
            <a:r>
              <a:rPr lang="de-DE" dirty="0"/>
              <a:t>, hier </a:t>
            </a:r>
            <a:r>
              <a:rPr lang="de-DE" sz="1200" kern="1200" dirty="0">
                <a:solidFill>
                  <a:schemeClr val="tx1"/>
                </a:solidFill>
                <a:latin typeface="+mn-lt"/>
                <a:ea typeface="+mn-ea"/>
                <a:cs typeface="+mn-cs"/>
              </a:rPr>
              <a:t>General</a:t>
            </a:r>
            <a:r>
              <a:rPr lang="de-DE" dirty="0"/>
              <a:t>. Innerhalb der Gruppe legt </a:t>
            </a:r>
            <a:r>
              <a:rPr lang="de-DE" sz="1200" kern="1200" dirty="0" err="1">
                <a:solidFill>
                  <a:schemeClr val="tx1"/>
                </a:solidFill>
                <a:latin typeface="+mn-lt"/>
                <a:ea typeface="+mn-ea"/>
                <a:cs typeface="+mn-cs"/>
              </a:rPr>
              <a:t>position</a:t>
            </a:r>
            <a:r>
              <a:rPr lang="de-DE" dirty="0"/>
              <a:t> wiederum die Reihenfolge fest.</a:t>
            </a:r>
          </a:p>
          <a:p>
            <a:endParaRPr lang="de-DE" dirty="0"/>
          </a:p>
          <a:p>
            <a:r>
              <a:rPr lang="de-DE" dirty="0"/>
              <a:t>Der </a:t>
            </a:r>
            <a:r>
              <a:rPr lang="de-DE" dirty="0" err="1"/>
              <a:t>Qualifier</a:t>
            </a:r>
            <a:r>
              <a:rPr lang="de-DE" dirty="0"/>
              <a:t> ist zunächst nur ein technischer Name. Allein durch die Definition einer Field Group entsteht noch kein sichtbarer Abschnitt auf der </a:t>
            </a:r>
            <a:r>
              <a:rPr lang="de-DE" dirty="0" err="1"/>
              <a:t>Object</a:t>
            </a:r>
            <a:r>
              <a:rPr lang="de-DE" dirty="0"/>
              <a:t> Page.</a:t>
            </a:r>
          </a:p>
          <a:p>
            <a:endParaRPr lang="de-DE" dirty="0"/>
          </a:p>
          <a:p>
            <a:r>
              <a:rPr lang="de-DE" dirty="0"/>
              <a:t>Damit die Gruppe angezeigt wird, benötigen wir später eine </a:t>
            </a:r>
            <a:r>
              <a:rPr lang="de-DE" dirty="0" err="1"/>
              <a:t>Facet</a:t>
            </a:r>
            <a:r>
              <a:rPr lang="de-DE" dirty="0"/>
              <a:t>, die auf diesen </a:t>
            </a:r>
            <a:r>
              <a:rPr lang="de-DE" dirty="0" err="1"/>
              <a:t>Qualifier</a:t>
            </a:r>
            <a:r>
              <a:rPr lang="de-DE" dirty="0"/>
              <a:t> verweist.</a:t>
            </a:r>
          </a:p>
          <a:p>
            <a:endParaRPr lang="de-DE" dirty="0"/>
          </a:p>
          <a:p>
            <a:r>
              <a:rPr lang="de-DE" dirty="0"/>
              <a:t>Das Zusammenspiel von Field Groups und </a:t>
            </a:r>
            <a:r>
              <a:rPr lang="de-DE" dirty="0" err="1"/>
              <a:t>Facets</a:t>
            </a:r>
            <a:r>
              <a:rPr lang="de-DE" dirty="0"/>
              <a:t> basiert auf dem </a:t>
            </a:r>
            <a:r>
              <a:rPr lang="de-DE" dirty="0" err="1"/>
              <a:t>Qualifier</a:t>
            </a:r>
            <a:r>
              <a:rPr lang="de-DE" dirty="0"/>
              <a:t>.</a:t>
            </a:r>
          </a:p>
          <a:p>
            <a:endParaRPr lang="de-DE" dirty="0"/>
          </a:p>
          <a:p>
            <a:r>
              <a:rPr lang="de-DE" dirty="0"/>
              <a:t>Mit </a:t>
            </a:r>
            <a:r>
              <a:rPr lang="de-DE" sz="1200" kern="1200" dirty="0">
                <a:solidFill>
                  <a:schemeClr val="tx1"/>
                </a:solidFill>
                <a:latin typeface="+mn-lt"/>
                <a:ea typeface="+mn-ea"/>
                <a:cs typeface="+mn-cs"/>
              </a:rPr>
              <a:t>@UI.fieldGroup</a:t>
            </a:r>
            <a:r>
              <a:rPr lang="de-DE" dirty="0"/>
              <a:t> definieren wir zunächst den Inhalt einer Gruppe. Jedes zugehörige Element verweist auf den </a:t>
            </a:r>
            <a:r>
              <a:rPr lang="de-DE" dirty="0" err="1"/>
              <a:t>Qualifier</a:t>
            </a:r>
            <a:r>
              <a:rPr lang="de-DE" dirty="0"/>
              <a:t> </a:t>
            </a:r>
            <a:r>
              <a:rPr lang="de-DE" sz="1200" kern="1200" dirty="0">
                <a:solidFill>
                  <a:schemeClr val="tx1"/>
                </a:solidFill>
                <a:latin typeface="+mn-lt"/>
                <a:ea typeface="+mn-ea"/>
                <a:cs typeface="+mn-cs"/>
              </a:rPr>
              <a:t>General</a:t>
            </a:r>
            <a:r>
              <a:rPr lang="de-DE" dirty="0"/>
              <a:t>.</a:t>
            </a:r>
          </a:p>
          <a:p>
            <a:endParaRPr lang="de-DE" dirty="0"/>
          </a:p>
          <a:p>
            <a:r>
              <a:rPr lang="de-DE" dirty="0"/>
              <a:t>An einer anderen Stelle legen wir fest, wo diese Gruppe auf der </a:t>
            </a:r>
            <a:r>
              <a:rPr lang="de-DE" dirty="0" err="1"/>
              <a:t>Object</a:t>
            </a:r>
            <a:r>
              <a:rPr lang="de-DE" dirty="0"/>
              <a:t> Page angezeigt werden soll. Dazu erstellt eine </a:t>
            </a:r>
            <a:r>
              <a:rPr lang="de-DE" dirty="0" err="1"/>
              <a:t>Facet</a:t>
            </a:r>
            <a:r>
              <a:rPr lang="de-DE" dirty="0"/>
              <a:t> eine Field-Group-Referenz und nennt denselben </a:t>
            </a:r>
            <a:r>
              <a:rPr lang="de-DE" sz="1200" kern="1200" dirty="0" err="1">
                <a:solidFill>
                  <a:schemeClr val="tx1"/>
                </a:solidFill>
                <a:latin typeface="+mn-lt"/>
                <a:ea typeface="+mn-ea"/>
                <a:cs typeface="+mn-cs"/>
              </a:rPr>
              <a:t>targetQualifier</a:t>
            </a:r>
            <a:r>
              <a:rPr lang="de-DE" dirty="0"/>
              <a:t>.</a:t>
            </a:r>
          </a:p>
          <a:p>
            <a:endParaRPr lang="de-DE" dirty="0"/>
          </a:p>
          <a:p>
            <a:r>
              <a:rPr lang="de-DE" dirty="0"/>
              <a:t>Der </a:t>
            </a:r>
            <a:r>
              <a:rPr lang="de-DE" dirty="0" err="1"/>
              <a:t>Qualifier</a:t>
            </a:r>
            <a:r>
              <a:rPr lang="de-DE" dirty="0"/>
              <a:t> funktioniert damit ähnlich wie ein symbolischer Name. Er verbindet die Annotationen an den einzelnen Feldern mit dem späteren Darstellungsbereich.</a:t>
            </a:r>
          </a:p>
          <a:p>
            <a:endParaRPr lang="de-DE" dirty="0"/>
          </a:p>
          <a:p>
            <a:r>
              <a:rPr lang="de-DE" dirty="0"/>
              <a:t>Ein Schreibfehler im </a:t>
            </a:r>
            <a:r>
              <a:rPr lang="de-DE" dirty="0" err="1"/>
              <a:t>Qualifier</a:t>
            </a:r>
            <a:r>
              <a:rPr lang="de-DE" dirty="0"/>
              <a:t> führt häufig dazu, dass eine Gruppe nicht erscheint. Die Namen müssen deshalb exakt übereinstimmen.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24</a:t>
            </a:fld>
            <a:endParaRPr lang="de-DE" dirty="0"/>
          </a:p>
        </p:txBody>
      </p:sp>
    </p:spTree>
    <p:extLst>
      <p:ext uri="{BB962C8B-B14F-4D97-AF65-F5344CB8AC3E}">
        <p14:creationId xmlns:p14="http://schemas.microsoft.com/office/powerpoint/2010/main" val="385268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vier Annotationstypen erfüllen unterschiedliche Aufgaben.</a:t>
            </a:r>
          </a:p>
          <a:p>
            <a:endParaRPr lang="de-DE" dirty="0"/>
          </a:p>
          <a:p>
            <a:r>
              <a:rPr lang="de-DE" sz="1200" kern="1200" dirty="0" err="1">
                <a:solidFill>
                  <a:schemeClr val="tx1"/>
                </a:solidFill>
                <a:latin typeface="+mn-lt"/>
                <a:ea typeface="+mn-ea"/>
                <a:cs typeface="+mn-cs"/>
              </a:rPr>
              <a:t>headerInfo</a:t>
            </a:r>
            <a:r>
              <a:rPr lang="de-DE" dirty="0"/>
              <a:t> beschreibt den Seitenkopf und die Identität des Geschäftsobjekts.</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identification</a:t>
            </a:r>
            <a:r>
              <a:rPr lang="de-DE" dirty="0"/>
              <a:t> kennzeichnet einzelne besonders wichtige Eigenschaften.</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fieldGroup</a:t>
            </a:r>
            <a:r>
              <a:rPr lang="de-DE" dirty="0"/>
              <a:t> fasst Detailfelder fachlich zusammen.</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facet</a:t>
            </a:r>
            <a:r>
              <a:rPr lang="de-DE" dirty="0"/>
              <a:t> erzeugt schließlich die sichtbare Gliederung und bindet die vorbereiteten Inhalte in die </a:t>
            </a:r>
            <a:r>
              <a:rPr lang="de-DE" dirty="0" err="1"/>
              <a:t>Object</a:t>
            </a:r>
            <a:r>
              <a:rPr lang="de-DE" dirty="0"/>
              <a:t> Page ein.</a:t>
            </a:r>
          </a:p>
          <a:p>
            <a:endParaRPr lang="de-DE" dirty="0"/>
          </a:p>
          <a:p>
            <a:r>
              <a:rPr lang="de-DE" dirty="0"/>
              <a:t>Die </a:t>
            </a:r>
            <a:r>
              <a:rPr lang="de-DE" dirty="0" err="1"/>
              <a:t>Facets</a:t>
            </a:r>
            <a:r>
              <a:rPr lang="de-DE" dirty="0"/>
              <a:t> betrachten wir im folgenden Live-Coding genauer. Dort setzen wir aus diesen Bausteinen erstmals eine vollständige </a:t>
            </a:r>
            <a:r>
              <a:rPr lang="de-DE" dirty="0" err="1"/>
              <a:t>Object</a:t>
            </a:r>
            <a:r>
              <a:rPr lang="de-DE" dirty="0"/>
              <a:t> Page zusammen.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25</a:t>
            </a:fld>
            <a:endParaRPr lang="de-DE" dirty="0"/>
          </a:p>
        </p:txBody>
      </p:sp>
    </p:spTree>
    <p:extLst>
      <p:ext uri="{BB962C8B-B14F-4D97-AF65-F5344CB8AC3E}">
        <p14:creationId xmlns:p14="http://schemas.microsoft.com/office/powerpoint/2010/main" val="2115886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Ausgangslage</a:t>
            </a:r>
          </a:p>
          <a:p>
            <a:r>
              <a:rPr lang="de-DE" dirty="0"/>
              <a:t>Die </a:t>
            </a:r>
            <a:r>
              <a:rPr lang="de-DE" dirty="0" err="1"/>
              <a:t>Metadata</a:t>
            </a:r>
            <a:r>
              <a:rPr lang="de-DE" dirty="0"/>
              <a:t> Extension aus Live-Coding 1 ist vorhanden:</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@UI.selectionField und @UI.lineItem</a:t>
            </a:r>
          </a:p>
          <a:p>
            <a:pPr rtl="0"/>
            <a:r>
              <a:rPr lang="de-DE" sz="1200" kern="1200" dirty="0">
                <a:solidFill>
                  <a:schemeClr val="tx1"/>
                </a:solidFill>
                <a:latin typeface="+mn-lt"/>
                <a:ea typeface="+mn-ea"/>
                <a:cs typeface="+mn-cs"/>
              </a:rPr>
              <a:t>}</a:t>
            </a:r>
          </a:p>
          <a:p>
            <a:r>
              <a:rPr lang="de-DE" dirty="0"/>
              <a:t>Die Auftragsliste kann aus der Vorschau des Service Bindings gestartet werden.</a:t>
            </a:r>
          </a:p>
          <a:p>
            <a:br>
              <a:rPr lang="de-DE" dirty="0"/>
            </a:br>
            <a:endParaRPr lang="de-DE" dirty="0"/>
          </a:p>
          <a:p>
            <a:r>
              <a:rPr lang="de-DE" b="1" dirty="0"/>
              <a:t>Schritt 1 – Navigation zur </a:t>
            </a:r>
            <a:r>
              <a:rPr lang="de-DE" b="1" dirty="0" err="1"/>
              <a:t>Object</a:t>
            </a:r>
            <a:r>
              <a:rPr lang="de-DE" b="1" dirty="0"/>
              <a:t> Page testen</a:t>
            </a:r>
          </a:p>
          <a:p>
            <a:r>
              <a:rPr lang="de-DE" b="1" dirty="0"/>
              <a:t>Aktion</a:t>
            </a:r>
          </a:p>
          <a:p>
            <a:pPr lvl="0"/>
            <a:r>
              <a:rPr lang="de-DE" dirty="0"/>
              <a:t>Fiori-Elements-Vorschau starten. </a:t>
            </a:r>
          </a:p>
          <a:p>
            <a:pPr lvl="0"/>
            <a:r>
              <a:rPr lang="de-DE" dirty="0"/>
              <a:t>Aufträge mit </a:t>
            </a:r>
            <a:r>
              <a:rPr lang="de-DE" b="1" dirty="0"/>
              <a:t>Start</a:t>
            </a:r>
            <a:r>
              <a:rPr lang="de-DE" dirty="0"/>
              <a:t> beziehungsweise </a:t>
            </a:r>
            <a:r>
              <a:rPr lang="de-DE" b="1" dirty="0"/>
              <a:t>Go</a:t>
            </a:r>
            <a:r>
              <a:rPr lang="de-DE" dirty="0"/>
              <a:t> laden. </a:t>
            </a:r>
          </a:p>
          <a:p>
            <a:pPr lvl="0"/>
            <a:r>
              <a:rPr lang="de-DE" dirty="0"/>
              <a:t>Einen Auftrag auswählen. </a:t>
            </a:r>
          </a:p>
          <a:p>
            <a:pPr lvl="0"/>
            <a:r>
              <a:rPr lang="de-DE" dirty="0"/>
              <a:t>Die bisherige </a:t>
            </a:r>
            <a:r>
              <a:rPr lang="de-DE" dirty="0" err="1"/>
              <a:t>Object</a:t>
            </a:r>
            <a:r>
              <a:rPr lang="de-DE" dirty="0"/>
              <a:t> Page betrachten. </a:t>
            </a:r>
          </a:p>
          <a:p>
            <a:r>
              <a:rPr lang="de-DE" b="1" dirty="0"/>
              <a:t>Erläuterung</a:t>
            </a:r>
          </a:p>
          <a:p>
            <a:r>
              <a:rPr lang="de-DE" dirty="0"/>
              <a:t>Die Navigation funktioniert bereits, weil Fiori Elements den Schlüssel der Entität und die Routing-Informationen kennt. Die Detailseite besitzt aber noch keine sinnvolle Gliederung.</a:t>
            </a:r>
          </a:p>
          <a:p>
            <a:r>
              <a:rPr lang="de-DE" b="1" dirty="0"/>
              <a:t>Sprechertext</a:t>
            </a:r>
          </a:p>
          <a:p>
            <a:r>
              <a:rPr lang="de-DE" dirty="0"/>
              <a:t>Bereits ohne unsere neuen Annotationen können wir einen Auftrag auswählen und zur </a:t>
            </a:r>
            <a:r>
              <a:rPr lang="de-DE" dirty="0" err="1"/>
              <a:t>Object</a:t>
            </a:r>
            <a:r>
              <a:rPr lang="de-DE" dirty="0"/>
              <a:t> Page navigieren.</a:t>
            </a:r>
          </a:p>
          <a:p>
            <a:r>
              <a:rPr lang="de-DE" dirty="0"/>
              <a:t>Die technische Navigation ist damit vorhanden. Die Seite weiß jedoch noch nicht, welche Eigenschaften besonders wichtig sind und wie die Auftragsdaten gegliedert werden sollen.</a:t>
            </a:r>
          </a:p>
          <a:p>
            <a:br>
              <a:rPr lang="de-DE" dirty="0"/>
            </a:br>
            <a:endParaRPr lang="de-DE" dirty="0"/>
          </a:p>
          <a:p>
            <a:r>
              <a:rPr lang="de-DE" b="1" dirty="0"/>
              <a:t>Schritt 2 – Seitenkopf definieren</a:t>
            </a:r>
          </a:p>
          <a:p>
            <a:r>
              <a:rPr lang="de-DE" b="1" dirty="0"/>
              <a:t>Aktion</a:t>
            </a:r>
          </a:p>
          <a:p>
            <a:r>
              <a:rPr lang="de-DE" dirty="0"/>
              <a:t>Vor </a:t>
            </a:r>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ergänzen:</a:t>
            </a:r>
          </a:p>
          <a:p>
            <a:pPr rtl="0"/>
            <a:r>
              <a:rPr lang="de-DE" sz="1200" kern="1200" dirty="0">
                <a:solidFill>
                  <a:schemeClr val="tx1"/>
                </a:solidFill>
                <a:latin typeface="+mn-lt"/>
                <a:ea typeface="+mn-ea"/>
                <a:cs typeface="+mn-cs"/>
              </a:rPr>
              <a:t>@UI.headerInfo: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typeName</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typeNamePlural</a:t>
            </a:r>
            <a:r>
              <a:rPr lang="de-DE" sz="1200" kern="1200" dirty="0">
                <a:solidFill>
                  <a:schemeClr val="tx1"/>
                </a:solidFill>
                <a:latin typeface="+mn-lt"/>
                <a:ea typeface="+mn-ea"/>
                <a:cs typeface="+mn-cs"/>
              </a:rPr>
              <a:t>: 'Aufträge',</a:t>
            </a:r>
          </a:p>
          <a:p>
            <a:pPr rtl="0"/>
            <a:r>
              <a:rPr lang="de-DE" sz="1200" kern="1200" dirty="0">
                <a:solidFill>
                  <a:schemeClr val="tx1"/>
                </a:solidFill>
                <a:latin typeface="+mn-lt"/>
                <a:ea typeface="+mn-ea"/>
                <a:cs typeface="+mn-cs"/>
              </a:rPr>
              <a:t>  title: {</a:t>
            </a:r>
          </a:p>
          <a:p>
            <a:pPr rtl="0"/>
            <a:r>
              <a:rPr lang="de-DE" sz="1200" kern="1200" dirty="0">
                <a:solidFill>
                  <a:schemeClr val="tx1"/>
                </a:solidFill>
                <a:latin typeface="+mn-lt"/>
                <a:ea typeface="+mn-ea"/>
                <a:cs typeface="+mn-cs"/>
              </a:rPr>
              <a:t>    type:  #STANDARD,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description</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type:  #STANDARD,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dirty="0"/>
              <a:t>Der Beginn der </a:t>
            </a:r>
            <a:r>
              <a:rPr lang="de-DE" dirty="0" err="1"/>
              <a:t>Metadata</a:t>
            </a:r>
            <a:r>
              <a:rPr lang="de-DE" dirty="0"/>
              <a:t> Extension lautet damit:</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@UI.headerInfo: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typeName</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typeNamePlural</a:t>
            </a:r>
            <a:r>
              <a:rPr lang="de-DE" sz="1200" kern="1200" dirty="0">
                <a:solidFill>
                  <a:schemeClr val="tx1"/>
                </a:solidFill>
                <a:latin typeface="+mn-lt"/>
                <a:ea typeface="+mn-ea"/>
                <a:cs typeface="+mn-cs"/>
              </a:rPr>
              <a:t>: 'Aufträge',</a:t>
            </a:r>
          </a:p>
          <a:p>
            <a:pPr rtl="0"/>
            <a:r>
              <a:rPr lang="de-DE" sz="1200" kern="1200" dirty="0">
                <a:solidFill>
                  <a:schemeClr val="tx1"/>
                </a:solidFill>
                <a:latin typeface="+mn-lt"/>
                <a:ea typeface="+mn-ea"/>
                <a:cs typeface="+mn-cs"/>
              </a:rPr>
              <a:t>  title: {</a:t>
            </a:r>
          </a:p>
          <a:p>
            <a:pPr rtl="0"/>
            <a:r>
              <a:rPr lang="de-DE" sz="1200" kern="1200" dirty="0">
                <a:solidFill>
                  <a:schemeClr val="tx1"/>
                </a:solidFill>
                <a:latin typeface="+mn-lt"/>
                <a:ea typeface="+mn-ea"/>
                <a:cs typeface="+mn-cs"/>
              </a:rPr>
              <a:t>    type:  #STANDARD,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description</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type:  #STANDARD,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bisherige Elementannotationen</a:t>
            </a:r>
          </a:p>
          <a:p>
            <a:pPr rtl="0"/>
            <a:r>
              <a:rPr lang="de-DE" sz="1200" kern="1200" dirty="0">
                <a:solidFill>
                  <a:schemeClr val="tx1"/>
                </a:solidFill>
                <a:latin typeface="+mn-lt"/>
                <a:ea typeface="+mn-ea"/>
                <a:cs typeface="+mn-cs"/>
              </a:rPr>
              <a:t>}</a:t>
            </a:r>
          </a:p>
          <a:p>
            <a:r>
              <a:rPr lang="de-DE" b="1" dirty="0"/>
              <a:t>Aktion</a:t>
            </a:r>
          </a:p>
          <a:p>
            <a:pPr lvl="0"/>
            <a:r>
              <a:rPr lang="de-DE" dirty="0" err="1"/>
              <a:t>Metadata</a:t>
            </a:r>
            <a:r>
              <a:rPr lang="de-DE" dirty="0"/>
              <a:t> Extension aktivieren </a:t>
            </a:r>
          </a:p>
          <a:p>
            <a:pPr lvl="0"/>
            <a:r>
              <a:rPr lang="de-DE" dirty="0" err="1"/>
              <a:t>Object</a:t>
            </a:r>
            <a:r>
              <a:rPr lang="de-DE" dirty="0"/>
              <a:t> Page aktualisieren </a:t>
            </a:r>
          </a:p>
          <a:p>
            <a:r>
              <a:rPr lang="de-DE" b="1" dirty="0"/>
              <a:t>Erwartetes Ergebnis</a:t>
            </a:r>
          </a:p>
          <a:p>
            <a:r>
              <a:rPr lang="de-DE" dirty="0"/>
              <a:t>Im Seitenkopf erscheinen:</a:t>
            </a:r>
          </a:p>
          <a:p>
            <a:pPr lvl="0"/>
            <a:r>
              <a:rPr lang="de-DE" dirty="0"/>
              <a:t>der Objekttyp „Auftrag“ </a:t>
            </a:r>
          </a:p>
          <a:p>
            <a:pPr lvl="0"/>
            <a:r>
              <a:rPr lang="de-DE" dirty="0"/>
              <a:t>die Auftragsnummer als Titel </a:t>
            </a:r>
          </a:p>
          <a:p>
            <a:pPr lvl="0"/>
            <a:r>
              <a:rPr lang="de-DE" dirty="0"/>
              <a:t>der Kundenname als Beschreibung </a:t>
            </a:r>
          </a:p>
          <a:p>
            <a:r>
              <a:rPr lang="de-DE" b="1" dirty="0"/>
              <a:t>Sprechertext</a:t>
            </a:r>
          </a:p>
          <a:p>
            <a:r>
              <a:rPr lang="de-DE" sz="1200" kern="1200" dirty="0" err="1">
                <a:solidFill>
                  <a:schemeClr val="tx1"/>
                </a:solidFill>
                <a:latin typeface="+mn-lt"/>
                <a:ea typeface="+mn-ea"/>
                <a:cs typeface="+mn-cs"/>
              </a:rPr>
              <a:t>headerInfo</a:t>
            </a:r>
            <a:r>
              <a:rPr lang="de-DE" dirty="0"/>
              <a:t> ist eine Annotation der Entität. Deshalb steht sie außerhalb des Elementblocks.</a:t>
            </a:r>
          </a:p>
          <a:p>
            <a:r>
              <a:rPr lang="de-DE" dirty="0"/>
              <a:t>Mit </a:t>
            </a:r>
            <a:r>
              <a:rPr lang="de-DE" sz="1200" kern="1200" dirty="0" err="1">
                <a:solidFill>
                  <a:schemeClr val="tx1"/>
                </a:solidFill>
                <a:latin typeface="+mn-lt"/>
                <a:ea typeface="+mn-ea"/>
                <a:cs typeface="+mn-cs"/>
              </a:rPr>
              <a:t>value</a:t>
            </a:r>
            <a:r>
              <a:rPr lang="de-DE" dirty="0"/>
              <a:t> referenzieren wir jeweils ein Element unserer View. Fiori Elements liest beim Aufruf eines konkreten Auftrags dessen Werte und setzt sie in den Seitenkopf ein.</a:t>
            </a:r>
          </a:p>
          <a:p>
            <a:r>
              <a:rPr lang="de-DE" dirty="0"/>
              <a:t>Falls der Kundenname in der </a:t>
            </a:r>
            <a:r>
              <a:rPr lang="de-DE" dirty="0" err="1"/>
              <a:t>Projection</a:t>
            </a:r>
            <a:r>
              <a:rPr lang="de-DE" dirty="0"/>
              <a:t> View noch nicht als </a:t>
            </a:r>
            <a:r>
              <a:rPr lang="de-DE" sz="1200" kern="1200" dirty="0" err="1">
                <a:solidFill>
                  <a:schemeClr val="tx1"/>
                </a:solidFill>
                <a:latin typeface="+mn-lt"/>
                <a:ea typeface="+mn-ea"/>
                <a:cs typeface="+mn-cs"/>
              </a:rPr>
              <a:t>CustomerName</a:t>
            </a:r>
            <a:r>
              <a:rPr lang="de-DE" dirty="0"/>
              <a:t> exponiert ist, muss er dort zunächst über die Kundenassoziation bereitgestellt werden.</a:t>
            </a:r>
          </a:p>
          <a:p>
            <a:br>
              <a:rPr lang="de-DE" dirty="0"/>
            </a:br>
            <a:endParaRPr lang="de-DE" dirty="0"/>
          </a:p>
          <a:p>
            <a:r>
              <a:rPr lang="de-DE" b="1" dirty="0"/>
              <a:t>Schritt 3 – Identifikationsmerkmale ergänzen</a:t>
            </a:r>
          </a:p>
          <a:p>
            <a:r>
              <a:rPr lang="de-DE" b="1" dirty="0"/>
              <a:t>Aktion</a:t>
            </a:r>
          </a:p>
          <a:p>
            <a:r>
              <a:rPr lang="de-DE" dirty="0"/>
              <a:t>Die bereits vorhandenen Annotationen an </a:t>
            </a:r>
            <a:r>
              <a:rPr lang="de-DE" sz="1200" kern="1200" dirty="0" err="1">
                <a:solidFill>
                  <a:schemeClr val="tx1"/>
                </a:solidFill>
                <a:latin typeface="+mn-lt"/>
                <a:ea typeface="+mn-ea"/>
                <a:cs typeface="+mn-cs"/>
              </a:rPr>
              <a:t>OrderId</a:t>
            </a:r>
            <a:r>
              <a:rPr lang="de-DE" dirty="0"/>
              <a:t> um </a:t>
            </a:r>
            <a:r>
              <a:rPr lang="de-DE" sz="1200" kern="1200" dirty="0">
                <a:solidFill>
                  <a:schemeClr val="tx1"/>
                </a:solidFill>
                <a:latin typeface="+mn-lt"/>
                <a:ea typeface="+mn-ea"/>
                <a:cs typeface="+mn-cs"/>
              </a:rPr>
              <a:t>@UI.identification</a:t>
            </a:r>
            <a:r>
              <a:rPr lang="de-DE" dirty="0"/>
              <a:t> erweitern:</a:t>
            </a:r>
          </a:p>
          <a:p>
            <a:pPr rtl="0"/>
            <a:r>
              <a:rPr lang="de-DE" sz="1200" kern="1200" dirty="0">
                <a:solidFill>
                  <a:schemeClr val="tx1"/>
                </a:solidFill>
                <a:latin typeface="+mn-lt"/>
                <a:ea typeface="+mn-ea"/>
                <a:cs typeface="+mn-cs"/>
              </a:rPr>
              <a:t>@UI.selectionField: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@UI.identification: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r>
              <a:rPr lang="de-DE" dirty="0"/>
              <a:t>Weitere Identifikationsmerkmale ergänzen:</a:t>
            </a:r>
          </a:p>
          <a:p>
            <a:pPr rtl="0"/>
            <a:r>
              <a:rPr lang="de-DE" sz="1200" kern="1200" dirty="0">
                <a:solidFill>
                  <a:schemeClr val="tx1"/>
                </a:solidFill>
                <a:latin typeface="+mn-lt"/>
                <a:ea typeface="+mn-ea"/>
                <a:cs typeface="+mn-cs"/>
              </a:rPr>
              <a:t>@UI.identification: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@UI.identification: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r>
              <a:rPr lang="de-DE" b="1" dirty="0"/>
              <a:t>Hinweis</a:t>
            </a:r>
          </a:p>
          <a:p>
            <a:r>
              <a:rPr lang="de-DE" dirty="0"/>
              <a:t>Falls </a:t>
            </a:r>
            <a:r>
              <a:rPr lang="de-DE" sz="1200" kern="1200" dirty="0" err="1">
                <a:solidFill>
                  <a:schemeClr val="tx1"/>
                </a:solidFill>
                <a:latin typeface="+mn-lt"/>
                <a:ea typeface="+mn-ea"/>
                <a:cs typeface="+mn-cs"/>
              </a:rPr>
              <a:t>CustomerName</a:t>
            </a:r>
            <a:r>
              <a:rPr lang="de-DE" dirty="0"/>
              <a:t> bereits durch andere UI-Annotationen beschrieben wird, werden die Annotationen gemeinsam unmittelbar vor demselben Element notiert.</a:t>
            </a:r>
          </a:p>
          <a:p>
            <a:br>
              <a:rPr lang="de-DE" dirty="0"/>
            </a:br>
            <a:endParaRPr lang="de-DE" dirty="0"/>
          </a:p>
          <a:p>
            <a:r>
              <a:rPr lang="de-DE" b="1" dirty="0"/>
              <a:t>Schritt 4 – </a:t>
            </a:r>
            <a:r>
              <a:rPr lang="de-DE" b="1" dirty="0" err="1"/>
              <a:t>Identification</a:t>
            </a:r>
            <a:r>
              <a:rPr lang="de-DE" b="1" dirty="0"/>
              <a:t> </a:t>
            </a:r>
            <a:r>
              <a:rPr lang="de-DE" b="1" dirty="0" err="1"/>
              <a:t>Facet</a:t>
            </a:r>
            <a:r>
              <a:rPr lang="de-DE" b="1" dirty="0"/>
              <a:t> anlegen</a:t>
            </a:r>
          </a:p>
          <a:p>
            <a:r>
              <a:rPr lang="de-DE" b="1" dirty="0"/>
              <a:t>Aktion</a:t>
            </a:r>
          </a:p>
          <a:p>
            <a:r>
              <a:rPr lang="de-DE" dirty="0"/>
              <a:t>Vor </a:t>
            </a:r>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ergänzen:</a:t>
            </a:r>
          </a:p>
          <a:p>
            <a:pPr rtl="0"/>
            <a:r>
              <a:rPr lang="de-DE" sz="1200" kern="1200" dirty="0">
                <a:solidFill>
                  <a:schemeClr val="tx1"/>
                </a:solidFill>
                <a:latin typeface="+mn-lt"/>
                <a:ea typeface="+mn-ea"/>
                <a:cs typeface="+mn-cs"/>
              </a:rPr>
              <a:t>@UI.facet: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#IDENTIFICATION_REFERENCE,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b="1" dirty="0"/>
              <a:t>Aktion</a:t>
            </a:r>
          </a:p>
          <a:p>
            <a:pPr lvl="0"/>
            <a:r>
              <a:rPr lang="de-DE" dirty="0"/>
              <a:t>aktivieren </a:t>
            </a:r>
          </a:p>
          <a:p>
            <a:pPr lvl="0"/>
            <a:r>
              <a:rPr lang="de-DE" dirty="0" err="1"/>
              <a:t>Object</a:t>
            </a:r>
            <a:r>
              <a:rPr lang="de-DE" dirty="0"/>
              <a:t> Page aktualisieren </a:t>
            </a:r>
          </a:p>
          <a:p>
            <a:r>
              <a:rPr lang="de-DE" b="1" dirty="0"/>
              <a:t>Erwartetes Ergebnis</a:t>
            </a:r>
          </a:p>
          <a:p>
            <a:r>
              <a:rPr lang="de-DE" dirty="0"/>
              <a:t>Auftragsnummer, Kundenname und Status erscheinen gemeinsam in einem sichtbaren Bereich.</a:t>
            </a:r>
          </a:p>
          <a:p>
            <a:r>
              <a:rPr lang="de-DE" b="1" dirty="0"/>
              <a:t>Sprechertext</a:t>
            </a:r>
          </a:p>
          <a:p>
            <a:r>
              <a:rPr lang="de-DE" sz="1200" kern="1200" dirty="0">
                <a:solidFill>
                  <a:schemeClr val="tx1"/>
                </a:solidFill>
                <a:latin typeface="+mn-lt"/>
                <a:ea typeface="+mn-ea"/>
                <a:cs typeface="+mn-cs"/>
              </a:rPr>
              <a:t>@UI.identification</a:t>
            </a:r>
            <a:r>
              <a:rPr lang="de-DE" dirty="0"/>
              <a:t> bestimmt den Inhalt. Die </a:t>
            </a:r>
            <a:r>
              <a:rPr lang="de-DE" dirty="0" err="1"/>
              <a:t>Identification</a:t>
            </a:r>
            <a:r>
              <a:rPr lang="de-DE" dirty="0"/>
              <a:t> </a:t>
            </a:r>
            <a:r>
              <a:rPr lang="de-DE" dirty="0" err="1"/>
              <a:t>Facet</a:t>
            </a:r>
            <a:r>
              <a:rPr lang="de-DE" dirty="0"/>
              <a:t> sorgt dafür, dass dieser Inhalt in die </a:t>
            </a:r>
            <a:r>
              <a:rPr lang="de-DE" dirty="0" err="1"/>
              <a:t>Object</a:t>
            </a:r>
            <a:r>
              <a:rPr lang="de-DE" dirty="0"/>
              <a:t> Page aufgenommen wird.</a:t>
            </a:r>
          </a:p>
          <a:p>
            <a:r>
              <a:rPr lang="de-DE" dirty="0"/>
              <a:t>Damit sehen wir erstmals das Zusammenspiel zwischen einer Elementannotation und einer Entitätsannotation.</a:t>
            </a:r>
          </a:p>
          <a:p>
            <a:br>
              <a:rPr lang="de-DE" dirty="0"/>
            </a:br>
            <a:endParaRPr lang="de-DE" dirty="0"/>
          </a:p>
          <a:p>
            <a:r>
              <a:rPr lang="de-DE" b="1" dirty="0"/>
              <a:t>Schritt 5 – Allgemeine Auftragsdaten gruppieren</a:t>
            </a:r>
          </a:p>
          <a:p>
            <a:r>
              <a:rPr lang="de-DE" b="1" dirty="0"/>
              <a:t>Aktion</a:t>
            </a:r>
          </a:p>
          <a:p>
            <a:r>
              <a:rPr lang="de-DE" dirty="0"/>
              <a:t>Folgende Field-Group-Annotationen an den Elementen ergänzen:</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r>
              <a:rPr lang="de-DE" b="1" dirty="0"/>
              <a:t>Erläuterung</a:t>
            </a:r>
          </a:p>
          <a:p>
            <a:r>
              <a:rPr lang="de-DE" dirty="0"/>
              <a:t>Die Gruppe ist damit definiert, aber noch nicht auf der </a:t>
            </a:r>
            <a:r>
              <a:rPr lang="de-DE" dirty="0" err="1"/>
              <a:t>Object</a:t>
            </a:r>
            <a:r>
              <a:rPr lang="de-DE" dirty="0"/>
              <a:t> Page eingebunden.</a:t>
            </a:r>
          </a:p>
          <a:p>
            <a:br>
              <a:rPr lang="de-DE" dirty="0"/>
            </a:br>
            <a:endParaRPr lang="de-DE" dirty="0"/>
          </a:p>
          <a:p>
            <a:r>
              <a:rPr lang="de-DE" b="1" dirty="0"/>
              <a:t>Schritt 6 – </a:t>
            </a:r>
            <a:r>
              <a:rPr lang="de-DE" b="1" dirty="0" err="1"/>
              <a:t>Facet</a:t>
            </a:r>
            <a:r>
              <a:rPr lang="de-DE" b="1" dirty="0"/>
              <a:t> für allgemeine Daten ergänzen</a:t>
            </a:r>
          </a:p>
          <a:p>
            <a:r>
              <a:rPr lang="de-DE" b="1" dirty="0"/>
              <a:t>Aktion</a:t>
            </a:r>
          </a:p>
          <a:p>
            <a:r>
              <a:rPr lang="de-DE" dirty="0"/>
              <a:t>Die vorhandene </a:t>
            </a:r>
            <a:r>
              <a:rPr lang="de-DE" sz="1200" kern="1200" dirty="0">
                <a:solidFill>
                  <a:schemeClr val="tx1"/>
                </a:solidFill>
                <a:latin typeface="+mn-lt"/>
                <a:ea typeface="+mn-ea"/>
                <a:cs typeface="+mn-cs"/>
              </a:rPr>
              <a:t>@UI.facet</a:t>
            </a:r>
            <a:r>
              <a:rPr lang="de-DE" dirty="0"/>
              <a:t>-Liste erweitern: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a:t>
            </a:r>
          </a:p>
          <a:p>
            <a:r>
              <a:rPr lang="de-DE" dirty="0"/>
              <a:t>Gesamter Zwischenstand:</a:t>
            </a:r>
          </a:p>
          <a:p>
            <a:pPr rtl="0"/>
            <a:r>
              <a:rPr lang="de-DE" sz="1200" kern="1200" dirty="0">
                <a:solidFill>
                  <a:schemeClr val="tx1"/>
                </a:solidFill>
                <a:latin typeface="+mn-lt"/>
                <a:ea typeface="+mn-ea"/>
                <a:cs typeface="+mn-cs"/>
              </a:rPr>
              <a:t>@UI.facet: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#IDENTIFICATION_REFERENCE,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b="1" dirty="0"/>
              <a:t>Aktion</a:t>
            </a:r>
          </a:p>
          <a:p>
            <a:pPr lvl="0"/>
            <a:r>
              <a:rPr lang="de-DE" dirty="0"/>
              <a:t>aktivieren </a:t>
            </a:r>
          </a:p>
          <a:p>
            <a:pPr lvl="0"/>
            <a:r>
              <a:rPr lang="de-DE" dirty="0"/>
              <a:t>Vorschau aktualisieren </a:t>
            </a:r>
          </a:p>
          <a:p>
            <a:r>
              <a:rPr lang="de-DE" b="1" dirty="0"/>
              <a:t>Erwartetes Ergebnis</a:t>
            </a:r>
          </a:p>
          <a:p>
            <a:r>
              <a:rPr lang="de-DE" dirty="0"/>
              <a:t>Die allgemeinen Auftragsdaten erscheinen in einem eigenen Bereich.</a:t>
            </a:r>
          </a:p>
          <a:p>
            <a:br>
              <a:rPr lang="de-DE" dirty="0"/>
            </a:br>
            <a:endParaRPr lang="de-DE" dirty="0"/>
          </a:p>
          <a:p>
            <a:r>
              <a:rPr lang="de-DE" b="1" dirty="0"/>
              <a:t>Schritt 7 – Kundendaten gruppieren</a:t>
            </a:r>
          </a:p>
          <a:p>
            <a:r>
              <a:rPr lang="de-DE" b="1" dirty="0"/>
              <a:t>Aktion</a:t>
            </a:r>
          </a:p>
          <a:p>
            <a:r>
              <a:rPr lang="de-DE" dirty="0"/>
              <a:t>Die kundenspezifischen Elemente einer zweiten Gruppe zuweisen:</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r>
              <a:rPr lang="de-DE" dirty="0"/>
              <a:t>Falls weitere Kundendaten in der </a:t>
            </a:r>
            <a:r>
              <a:rPr lang="de-DE" dirty="0" err="1"/>
              <a:t>Projection</a:t>
            </a:r>
            <a:r>
              <a:rPr lang="de-DE" dirty="0"/>
              <a:t> View exponiert sind, können sie ebenfalls ergänzt werden, beispielsweise:</a:t>
            </a:r>
          </a:p>
          <a:p>
            <a:pPr rtl="0"/>
            <a:r>
              <a:rPr lang="de-DE" sz="1200" kern="1200" dirty="0">
                <a:solidFill>
                  <a:schemeClr val="tx1"/>
                </a:solidFill>
                <a:latin typeface="+mn-lt"/>
                <a:ea typeface="+mn-ea"/>
                <a:cs typeface="+mn-cs"/>
              </a:rPr>
              <a:t>@UI.fieldGroup: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a:t>
            </a:r>
          </a:p>
          <a:p>
            <a:br>
              <a:rPr lang="de-DE" dirty="0"/>
            </a:br>
            <a:endParaRPr lang="de-DE" dirty="0"/>
          </a:p>
          <a:p>
            <a:r>
              <a:rPr lang="de-DE" b="1" dirty="0"/>
              <a:t>Schritt 8 – </a:t>
            </a:r>
            <a:r>
              <a:rPr lang="de-DE" b="1" dirty="0" err="1"/>
              <a:t>Facet</a:t>
            </a:r>
            <a:r>
              <a:rPr lang="de-DE" b="1" dirty="0"/>
              <a:t> für Kundendaten ergänzen</a:t>
            </a:r>
          </a:p>
          <a:p>
            <a:r>
              <a:rPr lang="de-DE" b="1" dirty="0"/>
              <a:t>Aktion</a:t>
            </a:r>
          </a:p>
          <a:p>
            <a:r>
              <a:rPr lang="de-DE" dirty="0"/>
              <a:t>Eine dritte </a:t>
            </a:r>
            <a:r>
              <a:rPr lang="de-DE" dirty="0" err="1"/>
              <a:t>Facet</a:t>
            </a:r>
            <a:r>
              <a:rPr lang="de-DE" dirty="0"/>
              <a:t> ergänzen: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a:t>
            </a:r>
          </a:p>
          <a:p>
            <a:r>
              <a:rPr lang="de-DE" dirty="0"/>
              <a:t>Die vollständige </a:t>
            </a:r>
            <a:r>
              <a:rPr lang="de-DE" dirty="0" err="1"/>
              <a:t>Facet</a:t>
            </a:r>
            <a:r>
              <a:rPr lang="de-DE" dirty="0"/>
              <a:t>-Definition lautet nun:</a:t>
            </a:r>
          </a:p>
          <a:p>
            <a:pPr rtl="0"/>
            <a:r>
              <a:rPr lang="de-DE" sz="1200" kern="1200" dirty="0">
                <a:solidFill>
                  <a:schemeClr val="tx1"/>
                </a:solidFill>
                <a:latin typeface="+mn-lt"/>
                <a:ea typeface="+mn-ea"/>
                <a:cs typeface="+mn-cs"/>
              </a:rPr>
              <a:t>@UI.facet: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#IDENTIFICATION_REFERENCE,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br>
              <a:rPr lang="de-DE" dirty="0"/>
            </a:br>
            <a:endParaRPr lang="de-DE" dirty="0"/>
          </a:p>
          <a:p>
            <a:r>
              <a:rPr lang="de-DE" b="1" dirty="0"/>
              <a:t>Vollständiger neuer Annotationsteil</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@UI.headerInfo: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typeName</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typeNamePlural</a:t>
            </a:r>
            <a:r>
              <a:rPr lang="de-DE" sz="1200" kern="1200" dirty="0">
                <a:solidFill>
                  <a:schemeClr val="tx1"/>
                </a:solidFill>
                <a:latin typeface="+mn-lt"/>
                <a:ea typeface="+mn-ea"/>
                <a:cs typeface="+mn-cs"/>
              </a:rPr>
              <a:t>: 'Aufträge',</a:t>
            </a:r>
          </a:p>
          <a:p>
            <a:pPr rtl="0"/>
            <a:r>
              <a:rPr lang="de-DE" sz="1200" kern="1200" dirty="0">
                <a:solidFill>
                  <a:schemeClr val="tx1"/>
                </a:solidFill>
                <a:latin typeface="+mn-lt"/>
                <a:ea typeface="+mn-ea"/>
                <a:cs typeface="+mn-cs"/>
              </a:rPr>
              <a:t>  title: {</a:t>
            </a:r>
          </a:p>
          <a:p>
            <a:pPr rtl="0"/>
            <a:r>
              <a:rPr lang="de-DE" sz="1200" kern="1200" dirty="0">
                <a:solidFill>
                  <a:schemeClr val="tx1"/>
                </a:solidFill>
                <a:latin typeface="+mn-lt"/>
                <a:ea typeface="+mn-ea"/>
                <a:cs typeface="+mn-cs"/>
              </a:rPr>
              <a:t>    type:  #STANDARD,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description</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type:  #STANDARD,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@UI.facet: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#IDENTIFICATION_REFERENCE,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@UI.identification: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@UI.identification: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@UI.identification: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@UI.selectionField: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#LOW</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@UI.fieldGroup: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br>
              <a:rPr lang="de-DE" dirty="0"/>
            </a:br>
            <a:endParaRPr lang="de-DE" dirty="0"/>
          </a:p>
          <a:p>
            <a:r>
              <a:rPr lang="de-DE" b="1" dirty="0"/>
              <a:t>Abschluss der Demonstration</a:t>
            </a:r>
          </a:p>
          <a:p>
            <a:r>
              <a:rPr lang="de-DE" b="1" dirty="0"/>
              <a:t>Aktion</a:t>
            </a:r>
          </a:p>
          <a:p>
            <a:pPr lvl="0"/>
            <a:r>
              <a:rPr lang="de-DE" dirty="0"/>
              <a:t>List Report öffnen. </a:t>
            </a:r>
          </a:p>
          <a:p>
            <a:pPr lvl="0"/>
            <a:r>
              <a:rPr lang="de-DE" dirty="0"/>
              <a:t>Einen Auftrag auswählen. </a:t>
            </a:r>
          </a:p>
          <a:p>
            <a:pPr lvl="0"/>
            <a:r>
              <a:rPr lang="de-DE" dirty="0"/>
              <a:t>Seitenkopf erläutern. </a:t>
            </a:r>
          </a:p>
          <a:p>
            <a:pPr lvl="0"/>
            <a:r>
              <a:rPr lang="de-DE" dirty="0"/>
              <a:t>Identifikationsbereich zeigen. </a:t>
            </a:r>
          </a:p>
          <a:p>
            <a:pPr lvl="0"/>
            <a:r>
              <a:rPr lang="de-DE" dirty="0"/>
              <a:t>allgemeine Auftragsdaten zeigen. </a:t>
            </a:r>
          </a:p>
          <a:p>
            <a:pPr lvl="0"/>
            <a:r>
              <a:rPr lang="de-DE" dirty="0"/>
              <a:t>Kundendaten zeigen. </a:t>
            </a:r>
          </a:p>
          <a:p>
            <a:pPr lvl="0"/>
            <a:r>
              <a:rPr lang="de-DE" dirty="0"/>
              <a:t>zu einem anderen Auftrag navigieren. </a:t>
            </a:r>
          </a:p>
          <a:p>
            <a:pPr lvl="0"/>
            <a:r>
              <a:rPr lang="de-DE" dirty="0"/>
              <a:t>prüfen, dass Titel und Beschreibung aktualisiert werden. </a:t>
            </a:r>
          </a:p>
          <a:p>
            <a:r>
              <a:rPr lang="de-DE" b="1" dirty="0"/>
              <a:t>Kernaussage</a:t>
            </a:r>
          </a:p>
          <a:p>
            <a:pPr rtl="0"/>
            <a:r>
              <a:rPr lang="de-DE" sz="1200" kern="1200" dirty="0" err="1">
                <a:solidFill>
                  <a:schemeClr val="tx1"/>
                </a:solidFill>
                <a:latin typeface="+mn-lt"/>
                <a:ea typeface="+mn-ea"/>
                <a:cs typeface="+mn-cs"/>
              </a:rPr>
              <a:t>headerInfo</a:t>
            </a:r>
            <a:r>
              <a:rPr lang="de-DE" sz="1200" kern="1200" dirty="0">
                <a:solidFill>
                  <a:schemeClr val="tx1"/>
                </a:solidFill>
                <a:latin typeface="+mn-lt"/>
                <a:ea typeface="+mn-ea"/>
                <a:cs typeface="+mn-cs"/>
              </a:rPr>
              <a:t>       → Was ist das für ein Objekt?</a:t>
            </a:r>
          </a:p>
          <a:p>
            <a:pPr rtl="0"/>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   → Woran erkenne ich das Objekt?</a:t>
            </a:r>
          </a:p>
          <a:p>
            <a:pPr rtl="0"/>
            <a:r>
              <a:rPr lang="de-DE" sz="1200" kern="1200" dirty="0" err="1">
                <a:solidFill>
                  <a:schemeClr val="tx1"/>
                </a:solidFill>
                <a:latin typeface="+mn-lt"/>
                <a:ea typeface="+mn-ea"/>
                <a:cs typeface="+mn-cs"/>
              </a:rPr>
              <a:t>fieldGroup</a:t>
            </a:r>
            <a:r>
              <a:rPr lang="de-DE" sz="1200" kern="1200" dirty="0">
                <a:solidFill>
                  <a:schemeClr val="tx1"/>
                </a:solidFill>
                <a:latin typeface="+mn-lt"/>
                <a:ea typeface="+mn-ea"/>
                <a:cs typeface="+mn-cs"/>
              </a:rPr>
              <a:t>       → Welche Felder gehören fachlich zusammen?</a:t>
            </a:r>
          </a:p>
          <a:p>
            <a:pPr rtl="0"/>
            <a:r>
              <a:rPr lang="de-DE" sz="1200" kern="1200" dirty="0" err="1">
                <a:solidFill>
                  <a:schemeClr val="tx1"/>
                </a:solidFill>
                <a:latin typeface="+mn-lt"/>
                <a:ea typeface="+mn-ea"/>
                <a:cs typeface="+mn-cs"/>
              </a:rPr>
              <a:t>facet</a:t>
            </a:r>
            <a:r>
              <a:rPr lang="de-DE" sz="1200" kern="1200" dirty="0">
                <a:solidFill>
                  <a:schemeClr val="tx1"/>
                </a:solidFill>
                <a:latin typeface="+mn-lt"/>
                <a:ea typeface="+mn-ea"/>
                <a:cs typeface="+mn-cs"/>
              </a:rPr>
              <a:t>            → Wo erscheinen diese Inhalte auf der Seite?</a:t>
            </a:r>
          </a:p>
          <a:p>
            <a:br>
              <a:rPr lang="de-DE" dirty="0"/>
            </a:br>
            <a:endParaRPr lang="de-DE" dirty="0"/>
          </a:p>
          <a:p>
            <a:r>
              <a:rPr lang="de-DE" b="1" dirty="0"/>
              <a:t>Ergebnis von Live-Coding 2</a:t>
            </a:r>
          </a:p>
          <a:p>
            <a:r>
              <a:rPr lang="de-DE" dirty="0"/>
              <a:t>Die </a:t>
            </a:r>
            <a:r>
              <a:rPr lang="de-DE" dirty="0" err="1"/>
              <a:t>Object</a:t>
            </a:r>
            <a:r>
              <a:rPr lang="de-DE" dirty="0"/>
              <a:t> Page besitzt nun:</a:t>
            </a:r>
          </a:p>
          <a:p>
            <a:pPr lvl="0"/>
            <a:r>
              <a:rPr lang="de-DE" dirty="0"/>
              <a:t>einen dynamischen Titel </a:t>
            </a:r>
          </a:p>
          <a:p>
            <a:pPr lvl="0"/>
            <a:r>
              <a:rPr lang="de-DE" dirty="0"/>
              <a:t>eine beschreibende Kundenangabe </a:t>
            </a:r>
          </a:p>
          <a:p>
            <a:pPr lvl="0"/>
            <a:r>
              <a:rPr lang="de-DE" dirty="0"/>
              <a:t>wichtige Identifikationsmerkmale </a:t>
            </a:r>
          </a:p>
          <a:p>
            <a:pPr lvl="0"/>
            <a:r>
              <a:rPr lang="de-DE" dirty="0"/>
              <a:t>einen Bereich für allgemeine Auftragsdaten </a:t>
            </a:r>
          </a:p>
          <a:p>
            <a:pPr lvl="0"/>
            <a:r>
              <a:rPr lang="de-DE" dirty="0"/>
              <a:t>einen Bereich für Kundendaten </a:t>
            </a:r>
          </a:p>
          <a:p>
            <a:pPr lvl="0"/>
            <a:r>
              <a:rPr lang="de-DE" dirty="0"/>
              <a:t>eine durch </a:t>
            </a:r>
            <a:r>
              <a:rPr lang="de-DE" dirty="0" err="1"/>
              <a:t>Facets</a:t>
            </a:r>
            <a:r>
              <a:rPr lang="de-DE" dirty="0"/>
              <a:t> definierte Seitenstruktur </a:t>
            </a:r>
          </a:p>
          <a:p>
            <a:r>
              <a:rPr lang="de-DE" b="1" dirty="0"/>
              <a:t>Überleitung</a:t>
            </a:r>
          </a:p>
          <a:p>
            <a:r>
              <a:rPr lang="de-DE" dirty="0"/>
              <a:t>Die Kopfdaten des Auftrags sind damit strukturiert. Noch fehlt jedoch ein wesentlicher Bestandteil: die Auftragspositionen.</a:t>
            </a:r>
          </a:p>
          <a:p>
            <a:r>
              <a:rPr lang="de-DE" dirty="0"/>
              <a:t>Sie liegen nicht als einfache Felder der Auftragsentität vor, sondern als abhängige Entitäten hinter einer Assoziation. Im nächsten Abschnitt betrachten wir deshalb, wie Fiori Elements CDS-Assoziationen für Navigation und eingebettete Tabellen verwendet.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26</a:t>
            </a:fld>
            <a:endParaRPr lang="de-DE" dirty="0"/>
          </a:p>
        </p:txBody>
      </p:sp>
    </p:spTree>
    <p:extLst>
      <p:ext uri="{BB962C8B-B14F-4D97-AF65-F5344CB8AC3E}">
        <p14:creationId xmlns:p14="http://schemas.microsoft.com/office/powerpoint/2010/main" val="3324366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Bisher haben wir auf der </a:t>
            </a:r>
            <a:r>
              <a:rPr lang="de-DE" dirty="0" err="1"/>
              <a:t>Object</a:t>
            </a:r>
            <a:r>
              <a:rPr lang="de-DE" dirty="0"/>
              <a:t> Page ausschließlich Eigenschaften der Auftragsentität dargestellt: Auftragsnummer, Kunde, Datum, Status und Verkaufsorganisation.</a:t>
            </a:r>
          </a:p>
          <a:p>
            <a:endParaRPr lang="de-DE" dirty="0"/>
          </a:p>
          <a:p>
            <a:r>
              <a:rPr lang="de-DE" dirty="0"/>
              <a:t>Ein Auftrag besteht fachlich aber nicht nur aus diesen einfachen Feldern. Er besitzt mehrere Auftragspositionen, und jede Position verweist wiederum auf ein Produkt.</a:t>
            </a:r>
          </a:p>
          <a:p>
            <a:endParaRPr lang="de-DE" dirty="0"/>
          </a:p>
          <a:p>
            <a:r>
              <a:rPr lang="de-DE" dirty="0"/>
              <a:t>Diese Beziehungen haben wir bereits in den ersten Teilen des Workshops mit CDS-Assoziationen modelliert.</a:t>
            </a:r>
          </a:p>
          <a:p>
            <a:endParaRPr lang="de-DE" dirty="0"/>
          </a:p>
          <a:p>
            <a:r>
              <a:rPr lang="de-DE" dirty="0"/>
              <a:t>Diese Assoziation wird in der </a:t>
            </a:r>
            <a:r>
              <a:rPr lang="de-DE" dirty="0" err="1"/>
              <a:t>Projection</a:t>
            </a:r>
            <a:r>
              <a:rPr lang="de-DE" dirty="0"/>
              <a:t> View exponiert. Dadurch gehört sie zur öffentlichen Schnittstelle der Auftragsentität.</a:t>
            </a:r>
          </a:p>
          <a:p>
            <a:endParaRPr lang="de-DE" dirty="0"/>
          </a:p>
          <a:p>
            <a:r>
              <a:rPr lang="de-DE" dirty="0"/>
              <a:t>Der </a:t>
            </a:r>
            <a:r>
              <a:rPr lang="de-DE" dirty="0" err="1"/>
              <a:t>OData</a:t>
            </a:r>
            <a:r>
              <a:rPr lang="de-DE" dirty="0"/>
              <a:t>-Service übernimmt die Beziehung als Navigationseigenschaft. Fiori Elements kann sie anschließend verwenden, um ausgehend von einem Auftrag dessen Positionen anzufordern.</a:t>
            </a:r>
          </a:p>
          <a:p>
            <a:endParaRPr lang="de-DE" dirty="0"/>
          </a:p>
          <a:p>
            <a:r>
              <a:rPr lang="de-DE" dirty="0"/>
              <a:t>Die Positionen werden also nicht als zusätzliche Spalten in die Auftragsentität kopiert. Sie bleiben eine eigene Entität und werden über eine Navigation erreicht.</a:t>
            </a:r>
          </a:p>
          <a:p>
            <a:endParaRPr lang="de-DE" dirty="0"/>
          </a:p>
          <a:p>
            <a:r>
              <a:rPr lang="de-DE" dirty="0"/>
              <a:t>Die Kardinalität beschreibt, wie viele Zielobjekte zu einem Ausgangsobjekt gehören können.</a:t>
            </a:r>
          </a:p>
          <a:p>
            <a:endParaRPr lang="de-DE" dirty="0"/>
          </a:p>
          <a:p>
            <a:r>
              <a:rPr lang="de-DE" dirty="0"/>
              <a:t>Ein Auftrag kann keine, eine oder mehrere Positionen besitzen. Deshalb ist </a:t>
            </a:r>
            <a:r>
              <a:rPr lang="de-DE" sz="1200" kern="1200" dirty="0">
                <a:solidFill>
                  <a:schemeClr val="tx1"/>
                </a:solidFill>
                <a:latin typeface="+mn-lt"/>
                <a:ea typeface="+mn-ea"/>
                <a:cs typeface="+mn-cs"/>
              </a:rPr>
              <a:t>[0..*]</a:t>
            </a:r>
            <a:r>
              <a:rPr lang="de-DE" dirty="0"/>
              <a:t> eine passende Kardinalität.</a:t>
            </a:r>
          </a:p>
          <a:p>
            <a:endParaRPr lang="de-DE" dirty="0"/>
          </a:p>
          <a:p>
            <a:r>
              <a:rPr lang="de-DE" dirty="0"/>
              <a:t>Der Kunde eines Auftrags wird dagegen typischerweise durch eine To-</a:t>
            </a:r>
            <a:r>
              <a:rPr lang="de-DE" dirty="0" err="1"/>
              <a:t>one</a:t>
            </a:r>
            <a:r>
              <a:rPr lang="de-DE" dirty="0"/>
              <a:t>-Assoziation mit </a:t>
            </a:r>
            <a:r>
              <a:rPr lang="de-DE" sz="1200" kern="1200" dirty="0">
                <a:solidFill>
                  <a:schemeClr val="tx1"/>
                </a:solidFill>
                <a:latin typeface="+mn-lt"/>
                <a:ea typeface="+mn-ea"/>
                <a:cs typeface="+mn-cs"/>
              </a:rPr>
              <a:t>[0..1]</a:t>
            </a:r>
            <a:r>
              <a:rPr lang="de-DE" dirty="0"/>
              <a:t> beschrieben.</a:t>
            </a:r>
          </a:p>
          <a:p>
            <a:endParaRPr lang="de-DE" dirty="0"/>
          </a:p>
          <a:p>
            <a:r>
              <a:rPr lang="de-DE" dirty="0"/>
              <a:t>Die Kardinalität hilft sowohl den Entwicklungswerkzeugen als auch nachgelagerten Verbrauchern, die Art der Beziehung zu verstehen. Für die Auftragspositionen benötigen wir eine To-</a:t>
            </a:r>
            <a:r>
              <a:rPr lang="de-DE" dirty="0" err="1"/>
              <a:t>many</a:t>
            </a:r>
            <a:r>
              <a:rPr lang="de-DE" dirty="0"/>
              <a:t>-Navigation, weil Fiori Elements daraus eine Tabelle erzeugen soll.</a:t>
            </a:r>
          </a:p>
          <a:p>
            <a:endParaRPr lang="de-DE" dirty="0"/>
          </a:p>
          <a:p>
            <a:r>
              <a:rPr lang="de-DE" dirty="0"/>
              <a:t>Die Kardinalität ersetzt allerdings keine Datenintegrität. Sie beschreibt die erwartete Beziehung; die tatsächlichen Daten müssen weiterhin dazu passen.</a:t>
            </a:r>
          </a:p>
          <a:p>
            <a:endParaRPr lang="de-DE" dirty="0"/>
          </a:p>
          <a:p>
            <a:r>
              <a:rPr lang="de-DE" dirty="0"/>
              <a:t>Eine Assoziation kann im zugrunde liegenden CDS-Modell vorhanden sein, ohne automatisch Bestandteil jeder darauf aufgebauten View zu werden.</a:t>
            </a:r>
          </a:p>
          <a:p>
            <a:endParaRPr lang="de-DE" dirty="0"/>
          </a:p>
          <a:p>
            <a:r>
              <a:rPr lang="de-DE" dirty="0"/>
              <a:t>Sie muss im Elementblock exponiert werden. Erst dadurch können aufbauende Views oder Services diese Beziehung verwenden.</a:t>
            </a:r>
          </a:p>
          <a:p>
            <a:endParaRPr lang="de-DE" dirty="0"/>
          </a:p>
          <a:p>
            <a:r>
              <a:rPr lang="de-DE" dirty="0"/>
              <a:t>Das gilt sowohl für die Interface View als auch für die </a:t>
            </a:r>
            <a:r>
              <a:rPr lang="de-DE" dirty="0" err="1"/>
              <a:t>Projection</a:t>
            </a:r>
            <a:r>
              <a:rPr lang="de-DE" dirty="0"/>
              <a:t> View. Wenn </a:t>
            </a:r>
            <a:r>
              <a:rPr lang="de-DE" sz="1200" kern="1200" dirty="0">
                <a:solidFill>
                  <a:schemeClr val="tx1"/>
                </a:solidFill>
                <a:latin typeface="+mn-lt"/>
                <a:ea typeface="+mn-ea"/>
                <a:cs typeface="+mn-cs"/>
              </a:rPr>
              <a:t>_Items</a:t>
            </a:r>
            <a:r>
              <a:rPr lang="de-DE" dirty="0"/>
              <a:t> auf einer dieser Ebenen fehlt, endet der Navigationspfad dort.</a:t>
            </a:r>
          </a:p>
          <a:p>
            <a:endParaRPr lang="de-DE" dirty="0"/>
          </a:p>
          <a:p>
            <a:r>
              <a:rPr lang="de-DE" dirty="0"/>
              <a:t>Bei einem RAP-Geschäftsobjekt kann die Beziehung zu den Positionen auch als Komposition modelliert und in der </a:t>
            </a:r>
            <a:r>
              <a:rPr lang="de-DE" dirty="0" err="1"/>
              <a:t>Projection</a:t>
            </a:r>
            <a:r>
              <a:rPr lang="de-DE" dirty="0"/>
              <a:t> View auf das entsprechende </a:t>
            </a:r>
            <a:r>
              <a:rPr lang="de-DE" dirty="0" err="1"/>
              <a:t>Projection</a:t>
            </a:r>
            <a:r>
              <a:rPr lang="de-DE" dirty="0"/>
              <a:t> Child umgeleitet sein. Für unsere UI bleibt die zentrale Aussage dieselbe: Die Beziehung muss in der veröffentlichten </a:t>
            </a:r>
            <a:r>
              <a:rPr lang="de-DE" dirty="0" err="1"/>
              <a:t>Projection</a:t>
            </a:r>
            <a:r>
              <a:rPr lang="de-DE" dirty="0"/>
              <a:t> sichtbar sein.</a:t>
            </a:r>
          </a:p>
          <a:p>
            <a:endParaRPr lang="de-DE" dirty="0"/>
          </a:p>
          <a:p>
            <a:r>
              <a:rPr lang="de-DE" dirty="0"/>
              <a:t>Nun verwenden wir die Assoziationen nicht nur für Abfragen oder Pfadausdrücke. Wir machen sie für den </a:t>
            </a:r>
            <a:r>
              <a:rPr lang="de-DE" dirty="0" err="1"/>
              <a:t>OData</a:t>
            </a:r>
            <a:r>
              <a:rPr lang="de-DE" dirty="0"/>
              <a:t>-Service und damit für Fiori Elements verfügbar.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27</a:t>
            </a:fld>
            <a:endParaRPr lang="de-DE" dirty="0"/>
          </a:p>
        </p:txBody>
      </p:sp>
    </p:spTree>
    <p:extLst>
      <p:ext uri="{BB962C8B-B14F-4D97-AF65-F5344CB8AC3E}">
        <p14:creationId xmlns:p14="http://schemas.microsoft.com/office/powerpoint/2010/main" val="27696110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Navigation benötigt ein Ausgangsobjekt und ein Zielobjekt.</a:t>
            </a:r>
          </a:p>
          <a:p>
            <a:endParaRPr lang="de-DE" dirty="0"/>
          </a:p>
          <a:p>
            <a:r>
              <a:rPr lang="de-DE" dirty="0"/>
              <a:t>In unserem Fall startet sie beim Auftrag und führt zu den Auftragspositionen. Deshalb müssen beide Entitäten über den Service erreichbar sein.</a:t>
            </a:r>
          </a:p>
          <a:p>
            <a:endParaRPr lang="de-DE" dirty="0"/>
          </a:p>
          <a:p>
            <a:r>
              <a:rPr lang="de-DE" dirty="0"/>
              <a:t>In der Service Definition veröffentlichen wir die Auftrags- und Positions-</a:t>
            </a:r>
            <a:r>
              <a:rPr lang="de-DE" dirty="0" err="1"/>
              <a:t>Projection</a:t>
            </a:r>
            <a:r>
              <a:rPr lang="de-DE" dirty="0"/>
              <a:t>. Beim Aktivieren des Service Bindings werden daraus zwei Entity Sets sowie eine Navigation zwischen den Entitäten.</a:t>
            </a:r>
          </a:p>
          <a:p>
            <a:endParaRPr lang="de-DE" dirty="0"/>
          </a:p>
          <a:p>
            <a:r>
              <a:rPr lang="de-DE" dirty="0"/>
              <a:t>Die Namen im </a:t>
            </a:r>
            <a:r>
              <a:rPr lang="de-DE" dirty="0" err="1"/>
              <a:t>OData</a:t>
            </a:r>
            <a:r>
              <a:rPr lang="de-DE" dirty="0"/>
              <a:t>-Service können von den internen CDS-Namen abweichen. Für die UI-Annotation verwenden wir aber weiterhin den Namen des CDS-Assoziationselements, in unserem Beispiel </a:t>
            </a:r>
            <a:r>
              <a:rPr lang="de-DE" sz="1200" kern="1200" dirty="0">
                <a:solidFill>
                  <a:schemeClr val="tx1"/>
                </a:solidFill>
                <a:latin typeface="+mn-lt"/>
                <a:ea typeface="+mn-ea"/>
                <a:cs typeface="+mn-cs"/>
              </a:rPr>
              <a:t>_Items</a:t>
            </a:r>
            <a:r>
              <a:rPr lang="de-DE" dirty="0"/>
              <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28</a:t>
            </a:fld>
            <a:endParaRPr lang="de-DE" dirty="0"/>
          </a:p>
        </p:txBody>
      </p:sp>
    </p:spTree>
    <p:extLst>
      <p:ext uri="{BB962C8B-B14F-4D97-AF65-F5344CB8AC3E}">
        <p14:creationId xmlns:p14="http://schemas.microsoft.com/office/powerpoint/2010/main" val="40934360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die eingebettete Positionstabelle benötigen wir Annotationen an zwei Entitäten.</a:t>
            </a:r>
          </a:p>
          <a:p>
            <a:endParaRPr lang="de-DE" dirty="0"/>
          </a:p>
          <a:p>
            <a:r>
              <a:rPr lang="de-DE" dirty="0"/>
              <a:t>An der Auftragsentität definieren wir eine </a:t>
            </a:r>
            <a:r>
              <a:rPr lang="de-DE" dirty="0" err="1"/>
              <a:t>Facet</a:t>
            </a:r>
            <a:r>
              <a:rPr lang="de-DE" dirty="0"/>
              <a:t> vom Typ </a:t>
            </a:r>
            <a:r>
              <a:rPr lang="de-DE" sz="1200" kern="1200" dirty="0">
                <a:solidFill>
                  <a:schemeClr val="tx1"/>
                </a:solidFill>
                <a:latin typeface="+mn-lt"/>
                <a:ea typeface="+mn-ea"/>
                <a:cs typeface="+mn-cs"/>
              </a:rPr>
              <a:t>#LINEITEM_REFERENCE</a:t>
            </a:r>
            <a:r>
              <a:rPr lang="de-DE" dirty="0"/>
              <a:t>. </a:t>
            </a:r>
            <a:r>
              <a:rPr lang="de-DE" sz="1200" kern="1200" dirty="0" err="1">
                <a:solidFill>
                  <a:schemeClr val="tx1"/>
                </a:solidFill>
                <a:latin typeface="+mn-lt"/>
                <a:ea typeface="+mn-ea"/>
                <a:cs typeface="+mn-cs"/>
              </a:rPr>
              <a:t>targetElement</a:t>
            </a:r>
            <a:r>
              <a:rPr lang="de-DE" dirty="0"/>
              <a:t> gibt an, über welche Assoziation die Daten erreicht werden. In unserem Fall ist das </a:t>
            </a:r>
            <a:r>
              <a:rPr lang="de-DE" sz="1200" kern="1200" dirty="0">
                <a:solidFill>
                  <a:schemeClr val="tx1"/>
                </a:solidFill>
                <a:latin typeface="+mn-lt"/>
                <a:ea typeface="+mn-ea"/>
                <a:cs typeface="+mn-cs"/>
              </a:rPr>
              <a:t>_Items</a:t>
            </a:r>
            <a:r>
              <a:rPr lang="de-DE" dirty="0"/>
              <a:t>.</a:t>
            </a:r>
          </a:p>
          <a:p>
            <a:endParaRPr lang="de-DE" dirty="0"/>
          </a:p>
          <a:p>
            <a:r>
              <a:rPr lang="de-DE" dirty="0"/>
              <a:t>Welche Spalten die Tabelle besitzt, wird dagegen an der Zielentität definiert. Die </a:t>
            </a:r>
            <a:r>
              <a:rPr lang="de-DE" dirty="0" err="1"/>
              <a:t>Metadata</a:t>
            </a:r>
            <a:r>
              <a:rPr lang="de-DE" dirty="0"/>
              <a:t> Extension der Auftragsposition bestimmt mit </a:t>
            </a:r>
            <a:r>
              <a:rPr lang="de-DE" sz="1200" kern="1200" dirty="0">
                <a:solidFill>
                  <a:schemeClr val="tx1"/>
                </a:solidFill>
                <a:latin typeface="+mn-lt"/>
                <a:ea typeface="+mn-ea"/>
                <a:cs typeface="+mn-cs"/>
              </a:rPr>
              <a:t>@UI.lineItem</a:t>
            </a:r>
            <a:r>
              <a:rPr lang="de-DE" dirty="0"/>
              <a:t>, welche Felder als Tabellenspalten erscheinen.</a:t>
            </a:r>
          </a:p>
          <a:p>
            <a:endParaRPr lang="de-DE" dirty="0"/>
          </a:p>
          <a:p>
            <a:r>
              <a:rPr lang="de-DE" dirty="0"/>
              <a:t>Die Auftragsentität bestimmt somit, wo und über welchen Navigationspfad die Tabelle angezeigt wird. Die Positionsentität bestimmt den Inhalt der Tabelle.</a:t>
            </a:r>
          </a:p>
          <a:p>
            <a:endParaRPr lang="de-DE" dirty="0"/>
          </a:p>
          <a:p>
            <a:r>
              <a:rPr lang="de-DE" dirty="0"/>
              <a:t>Diese Aufgabenteilung ist wichtig.</a:t>
            </a:r>
          </a:p>
          <a:p>
            <a:endParaRPr lang="de-DE" dirty="0"/>
          </a:p>
          <a:p>
            <a:r>
              <a:rPr lang="de-DE" dirty="0"/>
              <a:t>Die Assoziation liefert den Navigationsweg. Die </a:t>
            </a:r>
            <a:r>
              <a:rPr lang="de-DE" dirty="0" err="1"/>
              <a:t>Facet</a:t>
            </a:r>
            <a:r>
              <a:rPr lang="de-DE" dirty="0"/>
              <a:t> verwendet diesen Weg, um die Zielobjekte in die </a:t>
            </a:r>
            <a:r>
              <a:rPr lang="de-DE" dirty="0" err="1"/>
              <a:t>Object</a:t>
            </a:r>
            <a:r>
              <a:rPr lang="de-DE" dirty="0"/>
              <a:t> Page einzubinden. </a:t>
            </a:r>
          </a:p>
          <a:p>
            <a:endParaRPr lang="de-DE" dirty="0"/>
          </a:p>
          <a:p>
            <a:r>
              <a:rPr lang="de-DE" dirty="0"/>
              <a:t>Die Line-Item-Annotationen der Zielentität bestimmen die sichtbaren Spalten.</a:t>
            </a:r>
          </a:p>
          <a:p>
            <a:endParaRPr lang="de-DE" dirty="0"/>
          </a:p>
          <a:p>
            <a:r>
              <a:rPr lang="de-DE" dirty="0"/>
              <a:t>Fehlt eines dieser Elemente, bleibt die Tabelle leer, erscheint nicht oder besitzt keine sinnvoll definierten Spalten.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29</a:t>
            </a:fld>
            <a:endParaRPr lang="de-DE" dirty="0"/>
          </a:p>
        </p:txBody>
      </p:sp>
    </p:spTree>
    <p:extLst>
      <p:ext uri="{BB962C8B-B14F-4D97-AF65-F5344CB8AC3E}">
        <p14:creationId xmlns:p14="http://schemas.microsoft.com/office/powerpoint/2010/main" val="1680836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Wenn eine eingebettete Tabelle nicht erscheint, liegt die Ursache häufig nicht an der </a:t>
            </a:r>
            <a:r>
              <a:rPr lang="de-DE" dirty="0" err="1"/>
              <a:t>Facet</a:t>
            </a:r>
            <a:r>
              <a:rPr lang="de-DE" dirty="0"/>
              <a:t> allein.</a:t>
            </a:r>
          </a:p>
          <a:p>
            <a:endParaRPr lang="de-DE" dirty="0"/>
          </a:p>
          <a:p>
            <a:r>
              <a:rPr lang="de-DE" dirty="0"/>
              <a:t>Zunächst muss die Assoziation tatsächlich vorhanden und in der </a:t>
            </a:r>
            <a:r>
              <a:rPr lang="de-DE" dirty="0" err="1"/>
              <a:t>Projection</a:t>
            </a:r>
            <a:r>
              <a:rPr lang="de-DE" dirty="0"/>
              <a:t> View exponiert sein. Danach prüfen wir, ob auch die Zielentität im Service veröffentlicht wird.</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targetElement</a:t>
            </a:r>
            <a:r>
              <a:rPr lang="de-DE" dirty="0"/>
              <a:t> muss exakt dem Namen des Assoziationselements entsprechen. Schließlich benötigt die Zielentität eigene Line-Item-Annotationen.</a:t>
            </a:r>
          </a:p>
          <a:p>
            <a:endParaRPr lang="de-DE" dirty="0"/>
          </a:p>
          <a:p>
            <a:r>
              <a:rPr lang="de-DE" dirty="0"/>
              <a:t>Nach strukturellen Änderungen am Service kann es außerdem notwendig sein, das Service Binding erneut zu veröffentlichen und die Browseransicht vollständig zu aktualisieren.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30</a:t>
            </a:fld>
            <a:endParaRPr lang="de-DE" dirty="0"/>
          </a:p>
        </p:txBody>
      </p:sp>
    </p:spTree>
    <p:extLst>
      <p:ext uri="{BB962C8B-B14F-4D97-AF65-F5344CB8AC3E}">
        <p14:creationId xmlns:p14="http://schemas.microsoft.com/office/powerpoint/2010/main" val="1207162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Ausgangslage</a:t>
            </a:r>
          </a:p>
          <a:p>
            <a:r>
              <a:rPr lang="de-DE" dirty="0"/>
              <a:t>Vorhanden sind:</a:t>
            </a:r>
          </a:p>
          <a:p>
            <a:pPr lvl="0"/>
            <a:r>
              <a:rPr lang="de-DE" sz="1200" kern="1200" dirty="0" err="1">
                <a:solidFill>
                  <a:schemeClr val="tx1"/>
                </a:solidFill>
                <a:latin typeface="+mn-lt"/>
                <a:ea typeface="+mn-ea"/>
                <a:cs typeface="+mn-cs"/>
              </a:rPr>
              <a:t>ZC_CDSOrder</a:t>
            </a:r>
            <a:r>
              <a:rPr lang="de-DE" dirty="0"/>
              <a:t> als Auftragsentität </a:t>
            </a:r>
          </a:p>
          <a:p>
            <a:pPr lvl="0"/>
            <a:r>
              <a:rPr lang="de-DE" sz="1200" kern="1200" dirty="0" err="1">
                <a:solidFill>
                  <a:schemeClr val="tx1"/>
                </a:solidFill>
                <a:latin typeface="+mn-lt"/>
                <a:ea typeface="+mn-ea"/>
                <a:cs typeface="+mn-cs"/>
              </a:rPr>
              <a:t>ZC_CDSOrderItem</a:t>
            </a:r>
            <a:r>
              <a:rPr lang="de-DE" dirty="0"/>
              <a:t> als Positionsentität </a:t>
            </a:r>
          </a:p>
          <a:p>
            <a:pPr lvl="0"/>
            <a:r>
              <a:rPr lang="de-DE" dirty="0"/>
              <a:t>die Assoziation </a:t>
            </a:r>
            <a:r>
              <a:rPr lang="de-DE" sz="1200" kern="1200" dirty="0">
                <a:solidFill>
                  <a:schemeClr val="tx1"/>
                </a:solidFill>
                <a:latin typeface="+mn-lt"/>
                <a:ea typeface="+mn-ea"/>
                <a:cs typeface="+mn-cs"/>
              </a:rPr>
              <a:t>_Items</a:t>
            </a:r>
            <a:r>
              <a:rPr lang="de-DE" dirty="0"/>
              <a:t> </a:t>
            </a:r>
          </a:p>
          <a:p>
            <a:pPr lvl="0"/>
            <a:r>
              <a:rPr lang="de-DE" dirty="0"/>
              <a:t>eine Service Definition mit beiden Entitäten </a:t>
            </a:r>
          </a:p>
          <a:p>
            <a:pPr lvl="0"/>
            <a:r>
              <a:rPr lang="de-DE" dirty="0"/>
              <a:t>die </a:t>
            </a:r>
            <a:r>
              <a:rPr lang="de-DE" dirty="0" err="1"/>
              <a:t>Metadata</a:t>
            </a:r>
            <a:r>
              <a:rPr lang="de-DE" dirty="0"/>
              <a:t> Extension </a:t>
            </a:r>
            <a:r>
              <a:rPr lang="de-DE" sz="1200" kern="1200" dirty="0" err="1">
                <a:solidFill>
                  <a:schemeClr val="tx1"/>
                </a:solidFill>
                <a:latin typeface="+mn-lt"/>
                <a:ea typeface="+mn-ea"/>
                <a:cs typeface="+mn-cs"/>
              </a:rPr>
              <a:t>ZC_CDSOrder_UI</a:t>
            </a:r>
            <a:r>
              <a:rPr lang="de-DE" dirty="0"/>
              <a:t> </a:t>
            </a:r>
          </a:p>
          <a:p>
            <a:pPr lvl="0"/>
            <a:r>
              <a:rPr lang="de-DE" dirty="0"/>
              <a:t>die bisher gestaltete </a:t>
            </a:r>
            <a:r>
              <a:rPr lang="de-DE" dirty="0" err="1"/>
              <a:t>Object</a:t>
            </a:r>
            <a:r>
              <a:rPr lang="de-DE" dirty="0"/>
              <a:t> Page </a:t>
            </a:r>
          </a:p>
          <a:p>
            <a:r>
              <a:rPr lang="de-DE" dirty="0"/>
              <a:t>Der Navigationsweg lautet:</a:t>
            </a:r>
          </a:p>
          <a:p>
            <a:pPr rtl="0"/>
            <a:r>
              <a:rPr lang="de-DE" sz="1200" kern="1200" dirty="0" err="1">
                <a:solidFill>
                  <a:schemeClr val="tx1"/>
                </a:solidFill>
                <a:latin typeface="+mn-lt"/>
                <a:ea typeface="+mn-ea"/>
                <a:cs typeface="+mn-cs"/>
              </a:rPr>
              <a:t>ZC_CDSOrder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_Items</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ZC_CDSOrderItem</a:t>
            </a:r>
            <a:endParaRPr lang="de-DE" sz="1200" kern="1200" dirty="0">
              <a:solidFill>
                <a:schemeClr val="tx1"/>
              </a:solidFill>
              <a:latin typeface="+mn-lt"/>
              <a:ea typeface="+mn-ea"/>
              <a:cs typeface="+mn-cs"/>
            </a:endParaRPr>
          </a:p>
          <a:p>
            <a:br>
              <a:rPr lang="de-DE" dirty="0"/>
            </a:br>
            <a:endParaRPr lang="de-DE" dirty="0"/>
          </a:p>
          <a:p>
            <a:r>
              <a:rPr lang="de-DE" b="1" dirty="0"/>
              <a:t>Schritt 1 – Ausgangszustand zeigen</a:t>
            </a:r>
          </a:p>
          <a:p>
            <a:r>
              <a:rPr lang="de-DE" b="1" dirty="0"/>
              <a:t>Aktion</a:t>
            </a:r>
          </a:p>
          <a:p>
            <a:pPr lvl="0"/>
            <a:r>
              <a:rPr lang="de-DE" dirty="0"/>
              <a:t>Fiori-Elements-Vorschau starten. </a:t>
            </a:r>
          </a:p>
          <a:p>
            <a:pPr lvl="0"/>
            <a:r>
              <a:rPr lang="de-DE" dirty="0"/>
              <a:t>Aufträge laden. </a:t>
            </a:r>
          </a:p>
          <a:p>
            <a:pPr lvl="0"/>
            <a:r>
              <a:rPr lang="de-DE" dirty="0"/>
              <a:t>Einen Auftrag auswählen. </a:t>
            </a:r>
          </a:p>
          <a:p>
            <a:pPr lvl="0"/>
            <a:r>
              <a:rPr lang="de-DE" dirty="0"/>
              <a:t>Die vorhandene </a:t>
            </a:r>
            <a:r>
              <a:rPr lang="de-DE" dirty="0" err="1"/>
              <a:t>Object</a:t>
            </a:r>
            <a:r>
              <a:rPr lang="de-DE" dirty="0"/>
              <a:t> Page zeigen. </a:t>
            </a:r>
          </a:p>
          <a:p>
            <a:r>
              <a:rPr lang="de-DE" b="1" dirty="0"/>
              <a:t>Sprechertext</a:t>
            </a:r>
          </a:p>
          <a:p>
            <a:r>
              <a:rPr lang="de-DE" dirty="0"/>
              <a:t>Die </a:t>
            </a:r>
            <a:r>
              <a:rPr lang="de-DE" dirty="0" err="1"/>
              <a:t>Object</a:t>
            </a:r>
            <a:r>
              <a:rPr lang="de-DE" dirty="0"/>
              <a:t> Page zeigt bislang nur Felder der Auftragsentität. Die Positionen sind noch nicht eingebunden.</a:t>
            </a:r>
          </a:p>
          <a:p>
            <a:r>
              <a:rPr lang="de-DE" dirty="0"/>
              <a:t>Sie befinden sich auch nicht direkt in dieser Entität, sondern werden über die To-</a:t>
            </a:r>
            <a:r>
              <a:rPr lang="de-DE" dirty="0" err="1"/>
              <a:t>many</a:t>
            </a:r>
            <a:r>
              <a:rPr lang="de-DE" dirty="0"/>
              <a:t>-Assoziation </a:t>
            </a:r>
            <a:r>
              <a:rPr lang="de-DE" sz="1200" kern="1200" dirty="0">
                <a:solidFill>
                  <a:schemeClr val="tx1"/>
                </a:solidFill>
                <a:latin typeface="+mn-lt"/>
                <a:ea typeface="+mn-ea"/>
                <a:cs typeface="+mn-cs"/>
              </a:rPr>
              <a:t>_Items</a:t>
            </a:r>
            <a:r>
              <a:rPr lang="de-DE" dirty="0"/>
              <a:t> erreicht.</a:t>
            </a:r>
          </a:p>
          <a:p>
            <a:r>
              <a:rPr lang="de-DE" dirty="0"/>
              <a:t>Wir benötigen deshalb zwei Ergänzungen:</a:t>
            </a:r>
          </a:p>
          <a:p>
            <a:pPr lvl="0"/>
            <a:r>
              <a:rPr lang="de-DE" dirty="0"/>
              <a:t>Die Positionsentität muss beschreiben, welche Spalten ihre Tabelle besitzt. </a:t>
            </a:r>
          </a:p>
          <a:p>
            <a:pPr lvl="0"/>
            <a:r>
              <a:rPr lang="de-DE" dirty="0"/>
              <a:t>Die Auftragsentität muss festlegen, wo diese Tabelle auf der </a:t>
            </a:r>
            <a:r>
              <a:rPr lang="de-DE" dirty="0" err="1"/>
              <a:t>Object</a:t>
            </a:r>
            <a:r>
              <a:rPr lang="de-DE" dirty="0"/>
              <a:t> Page erscheint. </a:t>
            </a:r>
          </a:p>
          <a:p>
            <a:br>
              <a:rPr lang="de-DE" dirty="0"/>
            </a:br>
            <a:endParaRPr lang="de-DE" dirty="0"/>
          </a:p>
          <a:p>
            <a:r>
              <a:rPr lang="de-DE" b="1" dirty="0"/>
              <a:t>Schritt 2 – Navigationspfad kontrollieren</a:t>
            </a:r>
          </a:p>
          <a:p>
            <a:r>
              <a:rPr lang="de-DE" b="1" dirty="0"/>
              <a:t>Auftrags-</a:t>
            </a:r>
            <a:r>
              <a:rPr lang="de-DE" b="1" dirty="0" err="1"/>
              <a:t>Projection</a:t>
            </a:r>
            <a:endParaRPr lang="de-DE" b="1" dirty="0"/>
          </a:p>
          <a:p>
            <a:r>
              <a:rPr lang="de-DE" dirty="0"/>
              <a:t>In </a:t>
            </a:r>
            <a:r>
              <a:rPr lang="de-DE" sz="1200" kern="1200" dirty="0" err="1">
                <a:solidFill>
                  <a:schemeClr val="tx1"/>
                </a:solidFill>
                <a:latin typeface="+mn-lt"/>
                <a:ea typeface="+mn-ea"/>
                <a:cs typeface="+mn-cs"/>
              </a:rPr>
              <a:t>ZC_CDSOrder</a:t>
            </a:r>
            <a:r>
              <a:rPr lang="de-DE" dirty="0"/>
              <a:t> prüfen, ob die Beziehung exponiert wird: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root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projection</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a:t>
            </a:r>
          </a:p>
          <a:p>
            <a:r>
              <a:rPr lang="de-DE" dirty="0"/>
              <a:t>Bei einer RAP-Komposition kann die </a:t>
            </a:r>
            <a:r>
              <a:rPr lang="de-DE" dirty="0" err="1"/>
              <a:t>Projection</a:t>
            </a:r>
            <a:r>
              <a:rPr lang="de-DE" dirty="0"/>
              <a:t> beispielsweise enthalten:</a:t>
            </a:r>
          </a:p>
          <a:p>
            <a:pPr rtl="0"/>
            <a:r>
              <a:rPr lang="de-DE" sz="1200" kern="1200" dirty="0">
                <a:solidFill>
                  <a:schemeClr val="tx1"/>
                </a:solidFill>
                <a:latin typeface="+mn-lt"/>
                <a:ea typeface="+mn-ea"/>
                <a:cs typeface="+mn-cs"/>
              </a:rPr>
              <a:t>_Items : </a:t>
            </a:r>
            <a:r>
              <a:rPr lang="de-DE" sz="1200" kern="1200" dirty="0" err="1">
                <a:solidFill>
                  <a:schemeClr val="tx1"/>
                </a:solidFill>
                <a:latin typeface="+mn-lt"/>
                <a:ea typeface="+mn-ea"/>
                <a:cs typeface="+mn-cs"/>
              </a:rPr>
              <a:t>redirected</a:t>
            </a:r>
            <a:r>
              <a:rPr lang="de-DE" sz="1200" kern="1200" dirty="0">
                <a:solidFill>
                  <a:schemeClr val="tx1"/>
                </a:solidFill>
                <a:latin typeface="+mn-lt"/>
                <a:ea typeface="+mn-ea"/>
                <a:cs typeface="+mn-cs"/>
              </a:rPr>
              <a:t> to </a:t>
            </a:r>
            <a:r>
              <a:rPr lang="de-DE" sz="1200" kern="1200" dirty="0" err="1">
                <a:solidFill>
                  <a:schemeClr val="tx1"/>
                </a:solidFill>
                <a:latin typeface="+mn-lt"/>
                <a:ea typeface="+mn-ea"/>
                <a:cs typeface="+mn-cs"/>
              </a:rPr>
              <a:t>composition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child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endParaRPr lang="de-DE" sz="1200" kern="1200" dirty="0">
              <a:solidFill>
                <a:schemeClr val="tx1"/>
              </a:solidFill>
              <a:latin typeface="+mn-lt"/>
              <a:ea typeface="+mn-ea"/>
              <a:cs typeface="+mn-cs"/>
            </a:endParaRPr>
          </a:p>
          <a:p>
            <a:r>
              <a:rPr lang="de-DE" b="1" dirty="0"/>
              <a:t>Service Definition</a:t>
            </a:r>
          </a:p>
          <a:p>
            <a:r>
              <a:rPr lang="de-DE" dirty="0"/>
              <a:t>Prüfen, ob beide Entitäten veröffentlicht werden:</a:t>
            </a:r>
          </a:p>
          <a:p>
            <a:pPr rtl="0"/>
            <a:r>
              <a:rPr lang="de-DE" sz="1200" kern="1200" dirty="0">
                <a:solidFill>
                  <a:schemeClr val="tx1"/>
                </a:solidFill>
                <a:latin typeface="+mn-lt"/>
                <a:ea typeface="+mn-ea"/>
                <a:cs typeface="+mn-cs"/>
              </a:rPr>
              <a:t>@EndUserText.label: 'CDS Workshop: Order Service'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service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ZUI_CDSOrder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expose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Orders;</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expose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OrderItems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Sprechertext</a:t>
            </a:r>
          </a:p>
          <a:p>
            <a:r>
              <a:rPr lang="de-DE" dirty="0"/>
              <a:t>Zunächst kontrollieren wir den vollständigen Navigationspfad.</a:t>
            </a:r>
          </a:p>
          <a:p>
            <a:r>
              <a:rPr lang="de-DE" dirty="0"/>
              <a:t>Die Beziehung muss in der Auftrags-</a:t>
            </a:r>
            <a:r>
              <a:rPr lang="de-DE" dirty="0" err="1"/>
              <a:t>Projection</a:t>
            </a:r>
            <a:r>
              <a:rPr lang="de-DE" dirty="0"/>
              <a:t> exponiert sein. Außerdem muss die Positionsentität über den Service erreichbar sein.</a:t>
            </a:r>
          </a:p>
          <a:p>
            <a:r>
              <a:rPr lang="de-DE" dirty="0"/>
              <a:t>Bei einem RAP-Geschäftsobjekt kann </a:t>
            </a:r>
            <a:r>
              <a:rPr lang="de-DE" sz="1200" kern="1200" dirty="0">
                <a:solidFill>
                  <a:schemeClr val="tx1"/>
                </a:solidFill>
                <a:latin typeface="+mn-lt"/>
                <a:ea typeface="+mn-ea"/>
                <a:cs typeface="+mn-cs"/>
              </a:rPr>
              <a:t>_Items</a:t>
            </a:r>
            <a:r>
              <a:rPr lang="de-DE" dirty="0"/>
              <a:t> als umgeleitete Komposition erscheinen. Bei einem rein lesenden Modell kann es sich um eine normale Assoziation handeln. Für Fiori Elements entsteht in beiden Fällen eine Navigation zur Positionsentität.</a:t>
            </a:r>
          </a:p>
          <a:p>
            <a:br>
              <a:rPr lang="de-DE" dirty="0"/>
            </a:br>
            <a:endParaRPr lang="de-DE" dirty="0"/>
          </a:p>
          <a:p>
            <a:r>
              <a:rPr lang="de-DE" b="1" dirty="0"/>
              <a:t>Schritt 3 – </a:t>
            </a:r>
            <a:r>
              <a:rPr lang="de-DE" b="1" dirty="0" err="1"/>
              <a:t>Metadata</a:t>
            </a:r>
            <a:r>
              <a:rPr lang="de-DE" b="1" dirty="0"/>
              <a:t> </a:t>
            </a:r>
            <a:r>
              <a:rPr lang="de-DE" b="1" dirty="0" err="1"/>
              <a:t>Extensions</a:t>
            </a:r>
            <a:r>
              <a:rPr lang="de-DE" b="1" dirty="0"/>
              <a:t> für Positionen erlauben</a:t>
            </a:r>
          </a:p>
          <a:p>
            <a:r>
              <a:rPr lang="de-DE" b="1" dirty="0"/>
              <a:t>Aktion</a:t>
            </a:r>
          </a:p>
          <a:p>
            <a:r>
              <a:rPr lang="de-DE" dirty="0"/>
              <a:t>In </a:t>
            </a:r>
            <a:r>
              <a:rPr lang="de-DE" sz="1200" kern="1200" dirty="0" err="1">
                <a:solidFill>
                  <a:schemeClr val="tx1"/>
                </a:solidFill>
                <a:latin typeface="+mn-lt"/>
                <a:ea typeface="+mn-ea"/>
                <a:cs typeface="+mn-cs"/>
              </a:rPr>
              <a:t>ZC_CDSOrderItem</a:t>
            </a:r>
            <a:r>
              <a:rPr lang="de-DE" dirty="0"/>
              <a:t> ergänzen beziehungsweise kontrollieren:</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r>
              <a:rPr lang="de-DE" dirty="0"/>
              <a:t>Beispiel:</a:t>
            </a:r>
          </a:p>
          <a:p>
            <a:pPr rtl="0"/>
            <a:r>
              <a:rPr lang="de-DE" sz="1200" kern="1200" dirty="0">
                <a:solidFill>
                  <a:schemeClr val="tx1"/>
                </a:solidFill>
                <a:latin typeface="+mn-lt"/>
                <a:ea typeface="+mn-ea"/>
                <a:cs typeface="+mn-cs"/>
              </a:rPr>
              <a:t>@EndUserText.label: 'CDS Workshop: Order Items'</a:t>
            </a:r>
          </a:p>
          <a:p>
            <a:pPr rtl="0"/>
            <a:r>
              <a:rPr lang="de-DE" sz="1200" kern="1200" dirty="0">
                <a:solidFill>
                  <a:schemeClr val="tx1"/>
                </a:solidFill>
                <a:latin typeface="+mn-lt"/>
                <a:ea typeface="+mn-ea"/>
                <a:cs typeface="+mn-cs"/>
              </a:rPr>
              <a:t>@AccessControl.authorizationCheck: #CHECK</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projection</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ZI_CDSOrderItemValue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UnitOfMeasure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Anschließend aktivieren.</a:t>
            </a:r>
          </a:p>
          <a:p>
            <a:r>
              <a:rPr lang="de-DE" b="1" dirty="0"/>
              <a:t>Sprechertext</a:t>
            </a:r>
          </a:p>
          <a:p>
            <a:r>
              <a:rPr lang="de-DE" dirty="0"/>
              <a:t>Die Auftragspositionen benötigen eigene Line-Item-Annotationen. Deshalb muss auch ihre </a:t>
            </a:r>
            <a:r>
              <a:rPr lang="de-DE" dirty="0" err="1"/>
              <a:t>Projection</a:t>
            </a:r>
            <a:r>
              <a:rPr lang="de-DE" dirty="0"/>
              <a:t> View </a:t>
            </a:r>
            <a:r>
              <a:rPr lang="de-DE" dirty="0" err="1"/>
              <a:t>Metadata</a:t>
            </a:r>
            <a:r>
              <a:rPr lang="de-DE" dirty="0"/>
              <a:t> </a:t>
            </a:r>
            <a:r>
              <a:rPr lang="de-DE" dirty="0" err="1"/>
              <a:t>Extensions</a:t>
            </a:r>
            <a:r>
              <a:rPr lang="de-DE" dirty="0"/>
              <a:t> zulassen.</a:t>
            </a:r>
          </a:p>
          <a:p>
            <a:r>
              <a:rPr lang="de-DE" dirty="0"/>
              <a:t>Die Annotationen für die Positionstabelle schreiben wir nicht in die </a:t>
            </a:r>
            <a:r>
              <a:rPr lang="de-DE" dirty="0" err="1"/>
              <a:t>Metadata</a:t>
            </a:r>
            <a:r>
              <a:rPr lang="de-DE" dirty="0"/>
              <a:t> Extension des Auftrags. Sie gehören zur Positionsentität und damit in ein eigenes DDLX-Objekt.</a:t>
            </a:r>
          </a:p>
          <a:p>
            <a:br>
              <a:rPr lang="de-DE" dirty="0"/>
            </a:br>
            <a:endParaRPr lang="de-DE" dirty="0"/>
          </a:p>
          <a:p>
            <a:r>
              <a:rPr lang="de-DE" b="1" dirty="0"/>
              <a:t>Schritt 4 – </a:t>
            </a:r>
            <a:r>
              <a:rPr lang="de-DE" b="1" dirty="0" err="1"/>
              <a:t>Metadata</a:t>
            </a:r>
            <a:r>
              <a:rPr lang="de-DE" b="1" dirty="0"/>
              <a:t> Extension für Positionen anlegen</a:t>
            </a:r>
          </a:p>
          <a:p>
            <a:r>
              <a:rPr lang="de-DE" b="1" dirty="0"/>
              <a:t>Aktion in ADT</a:t>
            </a:r>
          </a:p>
          <a:p>
            <a:pPr lvl="0"/>
            <a:r>
              <a:rPr lang="de-DE" dirty="0"/>
              <a:t>Package markieren </a:t>
            </a:r>
          </a:p>
          <a:p>
            <a:pPr lvl="0"/>
            <a:r>
              <a:rPr lang="de-DE" b="1" dirty="0"/>
              <a:t>New → Other ABAP Repository </a:t>
            </a:r>
            <a:r>
              <a:rPr lang="de-DE" b="1" dirty="0" err="1"/>
              <a:t>Object</a:t>
            </a:r>
            <a:r>
              <a:rPr lang="de-DE" dirty="0"/>
              <a:t> </a:t>
            </a:r>
          </a:p>
          <a:p>
            <a:pPr lvl="0"/>
            <a:r>
              <a:rPr lang="de-DE" b="1" dirty="0"/>
              <a:t>Core Data Services → </a:t>
            </a:r>
            <a:r>
              <a:rPr lang="de-DE" b="1" dirty="0" err="1"/>
              <a:t>Metadata</a:t>
            </a:r>
            <a:r>
              <a:rPr lang="de-DE" b="1" dirty="0"/>
              <a:t> Extension</a:t>
            </a:r>
            <a:r>
              <a:rPr lang="de-DE" dirty="0"/>
              <a:t> </a:t>
            </a:r>
          </a:p>
          <a:p>
            <a:pPr lvl="0"/>
            <a:r>
              <a:rPr lang="de-DE" dirty="0"/>
              <a:t>Namen vergeben: </a:t>
            </a:r>
          </a:p>
          <a:p>
            <a:pPr rtl="0"/>
            <a:r>
              <a:rPr lang="de-DE" sz="1200" kern="1200" dirty="0" err="1">
                <a:solidFill>
                  <a:schemeClr val="tx1"/>
                </a:solidFill>
                <a:latin typeface="+mn-lt"/>
                <a:ea typeface="+mn-ea"/>
                <a:cs typeface="+mn-cs"/>
              </a:rPr>
              <a:t>ZC_CDSOrderItem_UI</a:t>
            </a:r>
            <a:endParaRPr lang="de-DE" sz="1200" kern="1200" dirty="0">
              <a:solidFill>
                <a:schemeClr val="tx1"/>
              </a:solidFill>
              <a:latin typeface="+mn-lt"/>
              <a:ea typeface="+mn-ea"/>
              <a:cs typeface="+mn-cs"/>
            </a:endParaRPr>
          </a:p>
          <a:p>
            <a:pPr lvl="0"/>
            <a:r>
              <a:rPr lang="de-DE" dirty="0"/>
              <a:t>Entität auswählen: </a:t>
            </a:r>
          </a:p>
          <a:p>
            <a:pPr rtl="0"/>
            <a:r>
              <a:rPr lang="de-DE" sz="1200" kern="1200" dirty="0" err="1">
                <a:solidFill>
                  <a:schemeClr val="tx1"/>
                </a:solidFill>
                <a:latin typeface="+mn-lt"/>
                <a:ea typeface="+mn-ea"/>
                <a:cs typeface="+mn-cs"/>
              </a:rPr>
              <a:t>ZC_CDSOrderItem</a:t>
            </a:r>
            <a:endParaRPr lang="de-DE" sz="1200" kern="1200" dirty="0">
              <a:solidFill>
                <a:schemeClr val="tx1"/>
              </a:solidFill>
              <a:latin typeface="+mn-lt"/>
              <a:ea typeface="+mn-ea"/>
              <a:cs typeface="+mn-cs"/>
            </a:endParaRPr>
          </a:p>
          <a:p>
            <a:r>
              <a:rPr lang="de-DE" b="1" dirty="0"/>
              <a:t>Ausgangscode</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br>
              <a:rPr lang="de-DE" dirty="0"/>
            </a:br>
            <a:endParaRPr lang="de-DE" dirty="0"/>
          </a:p>
          <a:p>
            <a:r>
              <a:rPr lang="de-DE" b="1" dirty="0"/>
              <a:t>Schritt 5 – Erste Spalten definieren</a:t>
            </a:r>
          </a:p>
          <a:p>
            <a:r>
              <a:rPr lang="de-DE" b="1" dirty="0"/>
              <a:t>Coding</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Aktion</a:t>
            </a:r>
          </a:p>
          <a:p>
            <a:r>
              <a:rPr lang="de-DE" dirty="0" err="1"/>
              <a:t>Metadata</a:t>
            </a:r>
            <a:r>
              <a:rPr lang="de-DE" dirty="0"/>
              <a:t> Extension aktivieren.</a:t>
            </a:r>
          </a:p>
          <a:p>
            <a:r>
              <a:rPr lang="de-DE" b="1" dirty="0"/>
              <a:t>Sprechertext</a:t>
            </a:r>
          </a:p>
          <a:p>
            <a:r>
              <a:rPr lang="de-DE" dirty="0"/>
              <a:t>Die Zielentität beschreibt nun die ersten drei Spalten der späteren Tabelle.</a:t>
            </a:r>
          </a:p>
          <a:p>
            <a:r>
              <a:rPr lang="de-DE" dirty="0"/>
              <a:t>Alle drei Felder erhalten zunächst eine hohe </a:t>
            </a:r>
            <a:r>
              <a:rPr lang="de-DE" dirty="0" err="1"/>
              <a:t>Importance</a:t>
            </a:r>
            <a:r>
              <a:rPr lang="de-DE" dirty="0"/>
              <a:t>: Die Positionsnummer identifiziert die Auftragsposition, während Produktnummer und Produktname deren fachlichen Inhalt beschreiben.</a:t>
            </a:r>
          </a:p>
          <a:p>
            <a:r>
              <a:rPr lang="de-DE" dirty="0"/>
              <a:t>Auf der </a:t>
            </a:r>
            <a:r>
              <a:rPr lang="de-DE" dirty="0" err="1"/>
              <a:t>Object</a:t>
            </a:r>
            <a:r>
              <a:rPr lang="de-DE" dirty="0"/>
              <a:t> Page sehen wir davon noch nichts. Die Positionsentität kennt jetzt zwar ihre Tabellenspalten, wurde aber noch nicht in die Seite des Auftrags eingebunden.</a:t>
            </a:r>
          </a:p>
          <a:p>
            <a:br>
              <a:rPr lang="de-DE" dirty="0"/>
            </a:br>
            <a:endParaRPr lang="de-DE" dirty="0"/>
          </a:p>
          <a:p>
            <a:r>
              <a:rPr lang="de-DE" b="1" dirty="0"/>
              <a:t>Schritt 6 – Positions-</a:t>
            </a:r>
            <a:r>
              <a:rPr lang="de-DE" b="1" dirty="0" err="1"/>
              <a:t>Facet</a:t>
            </a:r>
            <a:r>
              <a:rPr lang="de-DE" b="1" dirty="0"/>
              <a:t> ergänzen</a:t>
            </a:r>
          </a:p>
          <a:p>
            <a:r>
              <a:rPr lang="de-DE" b="1" dirty="0"/>
              <a:t>Aktion</a:t>
            </a:r>
          </a:p>
          <a:p>
            <a:r>
              <a:rPr lang="de-DE" dirty="0"/>
              <a:t>In </a:t>
            </a:r>
            <a:r>
              <a:rPr lang="de-DE" sz="1200" kern="1200" dirty="0" err="1">
                <a:solidFill>
                  <a:schemeClr val="tx1"/>
                </a:solidFill>
                <a:latin typeface="+mn-lt"/>
                <a:ea typeface="+mn-ea"/>
                <a:cs typeface="+mn-cs"/>
              </a:rPr>
              <a:t>ZC_CDSOrder_UI</a:t>
            </a:r>
            <a:r>
              <a:rPr lang="de-DE" dirty="0"/>
              <a:t> die vorhandene </a:t>
            </a:r>
            <a:r>
              <a:rPr lang="de-DE" sz="1200" kern="1200" dirty="0">
                <a:solidFill>
                  <a:schemeClr val="tx1"/>
                </a:solidFill>
                <a:latin typeface="+mn-lt"/>
                <a:ea typeface="+mn-ea"/>
                <a:cs typeface="+mn-cs"/>
              </a:rPr>
              <a:t>@UI.facet</a:t>
            </a:r>
            <a:r>
              <a:rPr lang="de-DE" dirty="0"/>
              <a:t>-Liste erweitern: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#LINEITEM_REFERENCE,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'Auftragspositionen',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a:t>
            </a:r>
          </a:p>
          <a:p>
            <a:r>
              <a:rPr lang="de-DE" dirty="0"/>
              <a:t>Die vollständige </a:t>
            </a:r>
            <a:r>
              <a:rPr lang="de-DE" dirty="0" err="1"/>
              <a:t>Facet</a:t>
            </a:r>
            <a:r>
              <a:rPr lang="de-DE" dirty="0"/>
              <a:t>-Liste lautet nun:</a:t>
            </a:r>
          </a:p>
          <a:p>
            <a:pPr rtl="0"/>
            <a:r>
              <a:rPr lang="de-DE" sz="1200" kern="1200" dirty="0">
                <a:solidFill>
                  <a:schemeClr val="tx1"/>
                </a:solidFill>
                <a:latin typeface="+mn-lt"/>
                <a:ea typeface="+mn-ea"/>
                <a:cs typeface="+mn-cs"/>
              </a:rPr>
              <a:t>@UI.facet: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#IDENTIFICATION_REFERENCE,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#LINEITEM_REFERENCE,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'Auftragspositionen',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b="1" dirty="0"/>
              <a:t>Aktion</a:t>
            </a:r>
          </a:p>
          <a:p>
            <a:pPr lvl="0"/>
            <a:r>
              <a:rPr lang="de-DE" dirty="0" err="1"/>
              <a:t>Metadata</a:t>
            </a:r>
            <a:r>
              <a:rPr lang="de-DE" dirty="0"/>
              <a:t> Extension aktivieren. </a:t>
            </a:r>
          </a:p>
          <a:p>
            <a:pPr lvl="0"/>
            <a:r>
              <a:rPr lang="de-DE" dirty="0"/>
              <a:t>Vorschau vollständig aktualisieren. </a:t>
            </a:r>
          </a:p>
          <a:p>
            <a:pPr lvl="0"/>
            <a:r>
              <a:rPr lang="de-DE" dirty="0"/>
              <a:t>Einen Auftrag öffnen. </a:t>
            </a:r>
          </a:p>
          <a:p>
            <a:r>
              <a:rPr lang="de-DE" b="1" dirty="0"/>
              <a:t>Erwartetes Ergebnis</a:t>
            </a:r>
          </a:p>
          <a:p>
            <a:r>
              <a:rPr lang="de-DE" dirty="0"/>
              <a:t>Auf der </a:t>
            </a:r>
            <a:r>
              <a:rPr lang="de-DE" dirty="0" err="1"/>
              <a:t>Object</a:t>
            </a:r>
            <a:r>
              <a:rPr lang="de-DE" dirty="0"/>
              <a:t> Page erscheint ein neuer Abschnitt:</a:t>
            </a:r>
          </a:p>
          <a:p>
            <a:pPr rtl="0"/>
            <a:r>
              <a:rPr lang="de-DE" sz="1200" kern="1200" dirty="0">
                <a:solidFill>
                  <a:schemeClr val="tx1"/>
                </a:solidFill>
                <a:latin typeface="+mn-lt"/>
                <a:ea typeface="+mn-ea"/>
                <a:cs typeface="+mn-cs"/>
              </a:rPr>
              <a:t>Auftragspositionen</a:t>
            </a:r>
          </a:p>
          <a:p>
            <a:r>
              <a:rPr lang="de-DE" dirty="0"/>
              <a:t>Die Tabelle enthält zunächst:</a:t>
            </a:r>
          </a:p>
          <a:p>
            <a:pPr lvl="0"/>
            <a:r>
              <a:rPr lang="de-DE" dirty="0"/>
              <a:t>Positionsnummer </a:t>
            </a:r>
          </a:p>
          <a:p>
            <a:pPr lvl="0"/>
            <a:r>
              <a:rPr lang="de-DE" dirty="0"/>
              <a:t>Produktnummer </a:t>
            </a:r>
          </a:p>
          <a:p>
            <a:pPr lvl="0"/>
            <a:r>
              <a:rPr lang="de-DE" dirty="0"/>
              <a:t>Produktname </a:t>
            </a:r>
          </a:p>
          <a:p>
            <a:r>
              <a:rPr lang="de-DE" b="1" dirty="0"/>
              <a:t>Sprechertext</a:t>
            </a:r>
          </a:p>
          <a:p>
            <a:r>
              <a:rPr lang="de-DE" dirty="0"/>
              <a:t>Die neue </a:t>
            </a:r>
            <a:r>
              <a:rPr lang="de-DE" dirty="0" err="1"/>
              <a:t>Facet</a:t>
            </a:r>
            <a:r>
              <a:rPr lang="de-DE" dirty="0"/>
              <a:t> besitzt den Typ </a:t>
            </a:r>
            <a:r>
              <a:rPr lang="de-DE" sz="1200" kern="1200" dirty="0">
                <a:solidFill>
                  <a:schemeClr val="tx1"/>
                </a:solidFill>
                <a:latin typeface="+mn-lt"/>
                <a:ea typeface="+mn-ea"/>
                <a:cs typeface="+mn-cs"/>
              </a:rPr>
              <a:t>#LINEITEM_REFERENCE</a:t>
            </a:r>
            <a:r>
              <a:rPr lang="de-DE" dirty="0"/>
              <a:t>. Damit erwartet Fiori Elements hinter dem angegebenen Ziel eine Entität mit Line-Item-Annotationen.</a:t>
            </a:r>
          </a:p>
          <a:p>
            <a:r>
              <a:rPr lang="de-DE" sz="1200" kern="1200" dirty="0" err="1">
                <a:solidFill>
                  <a:schemeClr val="tx1"/>
                </a:solidFill>
                <a:latin typeface="+mn-lt"/>
                <a:ea typeface="+mn-ea"/>
                <a:cs typeface="+mn-cs"/>
              </a:rPr>
              <a:t>targetElement</a:t>
            </a:r>
            <a:r>
              <a:rPr lang="de-DE" dirty="0"/>
              <a:t> enthält den Namen der Assoziation. Fiori Elements folgt </a:t>
            </a:r>
            <a:r>
              <a:rPr lang="de-DE" sz="1200" kern="1200" dirty="0">
                <a:solidFill>
                  <a:schemeClr val="tx1"/>
                </a:solidFill>
                <a:latin typeface="+mn-lt"/>
                <a:ea typeface="+mn-ea"/>
                <a:cs typeface="+mn-cs"/>
              </a:rPr>
              <a:t>_Items</a:t>
            </a:r>
            <a:r>
              <a:rPr lang="de-DE" dirty="0"/>
              <a:t> und verwendet anschließend die </a:t>
            </a:r>
            <a:r>
              <a:rPr lang="de-DE" sz="1200" kern="1200" dirty="0">
                <a:solidFill>
                  <a:schemeClr val="tx1"/>
                </a:solidFill>
                <a:latin typeface="+mn-lt"/>
                <a:ea typeface="+mn-ea"/>
                <a:cs typeface="+mn-cs"/>
              </a:rPr>
              <a:t>@UI.lineItem</a:t>
            </a:r>
            <a:r>
              <a:rPr lang="de-DE" dirty="0"/>
              <a:t>-Annotationen der Positionsentität.</a:t>
            </a:r>
          </a:p>
          <a:p>
            <a:br>
              <a:rPr lang="de-DE" dirty="0"/>
            </a:br>
            <a:endParaRPr lang="de-DE" dirty="0"/>
          </a:p>
          <a:p>
            <a:r>
              <a:rPr lang="de-DE" b="1" dirty="0"/>
              <a:t>Schritt 7 – Weitere Positionsspalten ergänzen</a:t>
            </a:r>
          </a:p>
          <a:p>
            <a:r>
              <a:rPr lang="de-DE" b="1" dirty="0"/>
              <a:t>Coding in </a:t>
            </a:r>
            <a:r>
              <a:rPr lang="de-DE" sz="1200" b="1" kern="1200" dirty="0" err="1">
                <a:solidFill>
                  <a:schemeClr val="tx1"/>
                </a:solidFill>
                <a:latin typeface="+mn-lt"/>
                <a:ea typeface="+mn-ea"/>
                <a:cs typeface="+mn-cs"/>
              </a:rPr>
              <a:t>ZC_CDSOrderItem_UI</a:t>
            </a:r>
            <a:endParaRPr lang="de-DE" b="1" dirty="0"/>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UnitOfMeasure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70,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#LOW</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b="1" dirty="0"/>
              <a:t>Vollständige </a:t>
            </a:r>
            <a:r>
              <a:rPr lang="de-DE" b="1" dirty="0" err="1"/>
              <a:t>Metadata</a:t>
            </a:r>
            <a:r>
              <a:rPr lang="de-DE" b="1" dirty="0"/>
              <a:t> Extension</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UnitOfMeasure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70,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#LOW</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br>
              <a:rPr lang="de-DE" dirty="0"/>
            </a:br>
            <a:endParaRPr lang="de-DE" dirty="0"/>
          </a:p>
          <a:p>
            <a:r>
              <a:rPr lang="de-DE" b="1" dirty="0"/>
              <a:t>Schritt 8 – Mengen- und Währungsdarstellung prüfen</a:t>
            </a:r>
          </a:p>
          <a:p>
            <a:r>
              <a:rPr lang="de-DE" b="1" dirty="0"/>
              <a:t>Aktion</a:t>
            </a:r>
          </a:p>
          <a:p>
            <a:r>
              <a:rPr lang="de-DE" dirty="0" err="1"/>
              <a:t>Metadata</a:t>
            </a:r>
            <a:r>
              <a:rPr lang="de-DE" dirty="0"/>
              <a:t> Extension aktivieren und die </a:t>
            </a:r>
            <a:r>
              <a:rPr lang="de-DE" dirty="0" err="1"/>
              <a:t>Object</a:t>
            </a:r>
            <a:r>
              <a:rPr lang="de-DE" dirty="0"/>
              <a:t> Page aktualisieren.</a:t>
            </a:r>
          </a:p>
          <a:p>
            <a:r>
              <a:rPr lang="de-DE" b="1" dirty="0"/>
              <a:t>Erwartetes Ergebnis</a:t>
            </a:r>
          </a:p>
          <a:p>
            <a:r>
              <a:rPr lang="de-DE" dirty="0"/>
              <a:t>Die Tabelle zeigt beispielsweise:</a:t>
            </a:r>
          </a:p>
          <a:p>
            <a:r>
              <a:rPr lang="de-DE" dirty="0"/>
              <a:t>Position</a:t>
            </a:r>
          </a:p>
          <a:p>
            <a:r>
              <a:rPr lang="de-DE" dirty="0"/>
              <a:t>Produkt</a:t>
            </a:r>
          </a:p>
          <a:p>
            <a:r>
              <a:rPr lang="de-DE" dirty="0"/>
              <a:t>Bezeichnung</a:t>
            </a:r>
          </a:p>
          <a:p>
            <a:r>
              <a:rPr lang="de-DE" dirty="0"/>
              <a:t>Menge</a:t>
            </a:r>
          </a:p>
          <a:p>
            <a:r>
              <a:rPr lang="de-DE" dirty="0"/>
              <a:t>Nettobetrag</a:t>
            </a:r>
          </a:p>
          <a:p>
            <a:r>
              <a:rPr lang="de-DE" dirty="0"/>
              <a:t>10P100Notebook Pro2 ST2.998,00 EUR</a:t>
            </a:r>
          </a:p>
          <a:p>
            <a:r>
              <a:rPr lang="de-DE" dirty="0"/>
              <a:t>20P200Monitor3 ST1.047,00 EUR</a:t>
            </a:r>
          </a:p>
          <a:p>
            <a:r>
              <a:rPr lang="de-DE" b="1" dirty="0"/>
              <a:t>Sprechertext</a:t>
            </a:r>
          </a:p>
          <a:p>
            <a:r>
              <a:rPr lang="de-DE" dirty="0"/>
              <a:t>Bei korrekter fachlicher Semantik kann Fiori Elements Wert und Einheit beziehungsweise Betrag und Währung gemeinsam darstellen.</a:t>
            </a:r>
          </a:p>
          <a:p>
            <a:r>
              <a:rPr lang="de-DE" dirty="0"/>
              <a:t>Dafür hatten wir bereits im zweiten Kursteil die entsprechenden Annotationen im Datenmodell angelegt:</a:t>
            </a:r>
          </a:p>
          <a:p>
            <a:pPr rtl="0"/>
            <a:r>
              <a:rPr lang="de-DE" sz="1200" kern="1200" dirty="0">
                <a:solidFill>
                  <a:schemeClr val="tx1"/>
                </a:solidFill>
                <a:latin typeface="+mn-lt"/>
                <a:ea typeface="+mn-ea"/>
                <a:cs typeface="+mn-cs"/>
              </a:rPr>
              <a:t>@Semantics.quantity.unitOfMeasure: '</a:t>
            </a:r>
            <a:r>
              <a:rPr lang="de-DE" sz="1200" kern="1200" dirty="0" err="1">
                <a:solidFill>
                  <a:schemeClr val="tx1"/>
                </a:solidFill>
                <a:latin typeface="+mn-lt"/>
                <a:ea typeface="+mn-ea"/>
                <a:cs typeface="+mn-cs"/>
              </a:rPr>
              <a:t>UnitOfMeasure</a:t>
            </a:r>
            <a:r>
              <a:rPr lang="de-DE" sz="1200" kern="1200" dirty="0">
                <a:solidFill>
                  <a:schemeClr val="tx1"/>
                </a:solidFill>
                <a:latin typeface="+mn-lt"/>
                <a:ea typeface="+mn-ea"/>
                <a:cs typeface="+mn-cs"/>
              </a:rPr>
              <a:t>'</a:t>
            </a:r>
          </a:p>
          <a:p>
            <a:r>
              <a:rPr lang="de-DE" dirty="0"/>
              <a:t>und:</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dirty="0"/>
              <a:t>Diese Annotationen gehören weiterhin in das fachliche Datenmodell. Die </a:t>
            </a:r>
            <a:r>
              <a:rPr lang="de-DE" dirty="0" err="1"/>
              <a:t>Metadata</a:t>
            </a:r>
            <a:r>
              <a:rPr lang="de-DE" dirty="0"/>
              <a:t> Extension entscheidet lediglich, dass die Felder in der Tabelle erscheinen.</a:t>
            </a:r>
          </a:p>
          <a:p>
            <a:r>
              <a:rPr lang="de-DE" dirty="0"/>
              <a:t>Je nach Fiori-Elements-Version werden Einheit und Währung automatisch gemeinsam mit dem Wert angezeigt. Separate Spalten können dadurch entfallen oder redundant wirken.</a:t>
            </a:r>
          </a:p>
          <a:p>
            <a:br>
              <a:rPr lang="de-DE" dirty="0"/>
            </a:br>
            <a:endParaRPr lang="de-DE" dirty="0"/>
          </a:p>
          <a:p>
            <a:r>
              <a:rPr lang="de-DE" b="1" dirty="0"/>
              <a:t>Schritt 9 – Redundante Spalten entfernen</a:t>
            </a:r>
          </a:p>
          <a:p>
            <a:r>
              <a:rPr lang="de-DE" b="1" dirty="0"/>
              <a:t>Aktion</a:t>
            </a:r>
          </a:p>
          <a:p>
            <a:r>
              <a:rPr lang="de-DE" dirty="0"/>
              <a:t>Falls Einheit und Währung bereits zusammen mit Menge und Betrag dargestellt werden, die separaten Line-Item-Annotationen entfernen:</a:t>
            </a:r>
          </a:p>
          <a:p>
            <a:pPr rtl="0"/>
            <a:r>
              <a:rPr lang="de-DE" sz="1200" kern="1200" dirty="0">
                <a:solidFill>
                  <a:schemeClr val="tx1"/>
                </a:solidFill>
                <a:latin typeface="+mn-lt"/>
                <a:ea typeface="+mn-ea"/>
                <a:cs typeface="+mn-cs"/>
              </a:rPr>
              <a:t>// nicht mehr als separate Tabellenspalte erforderlich</a:t>
            </a:r>
          </a:p>
          <a:p>
            <a:pPr rtl="0"/>
            <a:r>
              <a:rPr lang="de-DE" sz="1200" kern="1200" dirty="0" err="1">
                <a:solidFill>
                  <a:schemeClr val="tx1"/>
                </a:solidFill>
                <a:latin typeface="+mn-lt"/>
                <a:ea typeface="+mn-ea"/>
                <a:cs typeface="+mn-cs"/>
              </a:rPr>
              <a:t>UnitOfMeasure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dirty="0"/>
              <a:t>Die kompaktere Variante lautet:</a:t>
            </a:r>
          </a:p>
          <a:p>
            <a:pPr rtl="0"/>
            <a:r>
              <a:rPr lang="de-DE" sz="1200" kern="1200" dirty="0">
                <a:solidFill>
                  <a:schemeClr val="tx1"/>
                </a:solidFill>
                <a:latin typeface="+mn-lt"/>
                <a:ea typeface="+mn-ea"/>
                <a:cs typeface="+mn-cs"/>
              </a:rPr>
              <a:t>@Metadata.layer: #CORE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ZC_CDSOrderItem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#MEDIUM</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importance</a:t>
            </a:r>
            <a:r>
              <a:rPr lang="de-DE" sz="1200" kern="1200" dirty="0">
                <a:solidFill>
                  <a:schemeClr val="tx1"/>
                </a:solidFill>
                <a:latin typeface="+mn-lt"/>
                <a:ea typeface="+mn-ea"/>
                <a:cs typeface="+mn-cs"/>
              </a:rPr>
              <a:t>: #HIGH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Sprechertext</a:t>
            </a:r>
          </a:p>
          <a:p>
            <a:r>
              <a:rPr lang="de-DE" dirty="0"/>
              <a:t>Die Oberfläche zeigt uns, ob unsere Metadaten zu einer sinnvollen Darstellung führen.</a:t>
            </a:r>
          </a:p>
          <a:p>
            <a:r>
              <a:rPr lang="de-DE" dirty="0"/>
              <a:t>Wenn die Mengeneinheit bereits neben der Menge und die Währung bereits neben dem Betrag erscheint, benötigen wir keine zusätzlichen Spalten dafür.</a:t>
            </a:r>
          </a:p>
          <a:p>
            <a:r>
              <a:rPr lang="de-DE" dirty="0" err="1"/>
              <a:t>Metadata-driven</a:t>
            </a:r>
            <a:r>
              <a:rPr lang="de-DE" dirty="0"/>
              <a:t> Development bedeutet nicht, möglichst viele Annotationen zu verwenden. Entscheidend ist eine fachlich klare und kompakte Darstellung.</a:t>
            </a:r>
          </a:p>
          <a:p>
            <a:br>
              <a:rPr lang="de-DE" dirty="0"/>
            </a:br>
            <a:endParaRPr lang="de-DE" dirty="0"/>
          </a:p>
          <a:p>
            <a:r>
              <a:rPr lang="de-DE" b="1" dirty="0"/>
              <a:t>Schritt 10 – Navigation und Datenabhängigkeit testen</a:t>
            </a:r>
          </a:p>
          <a:p>
            <a:r>
              <a:rPr lang="de-DE" b="1" dirty="0"/>
              <a:t>Aktion</a:t>
            </a:r>
          </a:p>
          <a:p>
            <a:pPr lvl="0"/>
            <a:r>
              <a:rPr lang="de-DE" dirty="0"/>
              <a:t>Auftrag A öffnen. </a:t>
            </a:r>
          </a:p>
          <a:p>
            <a:pPr lvl="0"/>
            <a:r>
              <a:rPr lang="de-DE" dirty="0"/>
              <a:t>Zahl und Inhalt der Positionen betrachten. </a:t>
            </a:r>
          </a:p>
          <a:p>
            <a:pPr lvl="0"/>
            <a:r>
              <a:rPr lang="de-DE" dirty="0"/>
              <a:t>Zum List Report zurückkehren. </a:t>
            </a:r>
          </a:p>
          <a:p>
            <a:pPr lvl="0"/>
            <a:r>
              <a:rPr lang="de-DE" dirty="0"/>
              <a:t>Auftrag B öffnen. </a:t>
            </a:r>
          </a:p>
          <a:p>
            <a:pPr lvl="0"/>
            <a:r>
              <a:rPr lang="de-DE" dirty="0"/>
              <a:t>dessen Positionen vergleichen. </a:t>
            </a:r>
          </a:p>
          <a:p>
            <a:r>
              <a:rPr lang="de-DE" b="1" dirty="0"/>
              <a:t>Sprechertext</a:t>
            </a:r>
          </a:p>
          <a:p>
            <a:r>
              <a:rPr lang="de-DE" dirty="0"/>
              <a:t>Beim Wechsel des Auftrags lädt Fiori Elements jeweils nur die Positionen, die über </a:t>
            </a:r>
            <a:r>
              <a:rPr lang="de-DE" sz="1200" kern="1200" dirty="0">
                <a:solidFill>
                  <a:schemeClr val="tx1"/>
                </a:solidFill>
                <a:latin typeface="+mn-lt"/>
                <a:ea typeface="+mn-ea"/>
                <a:cs typeface="+mn-cs"/>
              </a:rPr>
              <a:t>_Items</a:t>
            </a:r>
            <a:r>
              <a:rPr lang="de-DE" dirty="0"/>
              <a:t> mit dem ausgewählten Auftrag verbunden sind.</a:t>
            </a:r>
          </a:p>
          <a:p>
            <a:r>
              <a:rPr lang="de-DE" dirty="0"/>
              <a:t>Die Filterbedingung dafür müssen wir nicht im UI programmieren. Sie ergibt sich aus der ON-Bedingung der CDS-Assoziation und wird über die </a:t>
            </a:r>
            <a:r>
              <a:rPr lang="de-DE" dirty="0" err="1"/>
              <a:t>OData</a:t>
            </a:r>
            <a:r>
              <a:rPr lang="de-DE" dirty="0"/>
              <a:t>-Navigation transportiert.</a:t>
            </a:r>
          </a:p>
          <a:p>
            <a:br>
              <a:rPr lang="de-DE" dirty="0"/>
            </a:br>
            <a:endParaRPr lang="de-DE" dirty="0"/>
          </a:p>
          <a:p>
            <a:r>
              <a:rPr lang="de-DE" b="1" dirty="0"/>
              <a:t>Optional: </a:t>
            </a:r>
            <a:r>
              <a:rPr lang="de-DE" b="1" dirty="0" err="1"/>
              <a:t>OData</a:t>
            </a:r>
            <a:r>
              <a:rPr lang="de-DE" b="1" dirty="0"/>
              <a:t>-Aufruf im Browser zeigen</a:t>
            </a:r>
          </a:p>
          <a:p>
            <a:r>
              <a:rPr lang="de-DE" dirty="0"/>
              <a:t>Falls die Vorschau beziehungsweise die Entwicklerwerkzeuge den Request sichtbar machen, kann der erzeugte Navigationsaufruf erläutert werden:</a:t>
            </a:r>
          </a:p>
          <a:p>
            <a:pPr rtl="0"/>
            <a:r>
              <a:rPr lang="de-DE" sz="1200" kern="1200" dirty="0">
                <a:solidFill>
                  <a:schemeClr val="tx1"/>
                </a:solidFill>
                <a:latin typeface="+mn-lt"/>
                <a:ea typeface="+mn-ea"/>
                <a:cs typeface="+mn-cs"/>
              </a:rPr>
              <a:t>Orders(...)/_Items</a:t>
            </a:r>
          </a:p>
          <a:p>
            <a:r>
              <a:rPr lang="de-DE" b="1" dirty="0"/>
              <a:t>Sprechertext</a:t>
            </a:r>
          </a:p>
          <a:p>
            <a:r>
              <a:rPr lang="de-DE" dirty="0"/>
              <a:t>Der Aufruf beginnt bei einem konkreten Auftrag und folgt dessen Navigation </a:t>
            </a:r>
            <a:r>
              <a:rPr lang="de-DE" sz="1200" kern="1200" dirty="0">
                <a:solidFill>
                  <a:schemeClr val="tx1"/>
                </a:solidFill>
                <a:latin typeface="+mn-lt"/>
                <a:ea typeface="+mn-ea"/>
                <a:cs typeface="+mn-cs"/>
              </a:rPr>
              <a:t>_Items</a:t>
            </a:r>
            <a:r>
              <a:rPr lang="de-DE" dirty="0"/>
              <a:t>.</a:t>
            </a:r>
          </a:p>
          <a:p>
            <a:r>
              <a:rPr lang="de-DE" dirty="0"/>
              <a:t>Die Benutzeroberfläche muss weder die Fremdschlüsselbeziehung noch eine eigene Filterlogik kennen. Diese Informationen stammen aus dem CDS- und </a:t>
            </a:r>
            <a:r>
              <a:rPr lang="de-DE" dirty="0" err="1"/>
              <a:t>OData</a:t>
            </a:r>
            <a:r>
              <a:rPr lang="de-DE" dirty="0"/>
              <a:t>-Modell.</a:t>
            </a:r>
          </a:p>
          <a:p>
            <a:br>
              <a:rPr lang="de-DE" dirty="0"/>
            </a:br>
            <a:endParaRPr lang="de-DE" dirty="0"/>
          </a:p>
          <a:p>
            <a:r>
              <a:rPr lang="de-DE" b="1" dirty="0"/>
              <a:t>Typische Fehler während der Demo</a:t>
            </a:r>
          </a:p>
          <a:p>
            <a:r>
              <a:rPr lang="de-DE" b="1" dirty="0"/>
              <a:t>Tabelle erscheint nicht</a:t>
            </a:r>
          </a:p>
          <a:p>
            <a:r>
              <a:rPr lang="de-DE" dirty="0"/>
              <a:t>Prüfen:</a:t>
            </a:r>
          </a:p>
          <a:p>
            <a:pPr rtl="0"/>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lvl="0"/>
            <a:r>
              <a:rPr lang="de-DE" dirty="0"/>
              <a:t>Ist der Name exakt richtig geschrieben? </a:t>
            </a:r>
          </a:p>
          <a:p>
            <a:pPr lvl="0"/>
            <a:r>
              <a:rPr lang="de-DE" dirty="0"/>
              <a:t>Ist </a:t>
            </a:r>
            <a:r>
              <a:rPr lang="de-DE" sz="1200" kern="1200" dirty="0">
                <a:solidFill>
                  <a:schemeClr val="tx1"/>
                </a:solidFill>
                <a:latin typeface="+mn-lt"/>
                <a:ea typeface="+mn-ea"/>
                <a:cs typeface="+mn-cs"/>
              </a:rPr>
              <a:t>_Items</a:t>
            </a:r>
            <a:r>
              <a:rPr lang="de-DE" dirty="0"/>
              <a:t> in </a:t>
            </a:r>
            <a:r>
              <a:rPr lang="de-DE" sz="1200" kern="1200" dirty="0" err="1">
                <a:solidFill>
                  <a:schemeClr val="tx1"/>
                </a:solidFill>
                <a:latin typeface="+mn-lt"/>
                <a:ea typeface="+mn-ea"/>
                <a:cs typeface="+mn-cs"/>
              </a:rPr>
              <a:t>ZC_CDSOrder</a:t>
            </a:r>
            <a:r>
              <a:rPr lang="de-DE" dirty="0"/>
              <a:t> exponiert? </a:t>
            </a:r>
          </a:p>
          <a:p>
            <a:pPr lvl="0"/>
            <a:r>
              <a:rPr lang="de-DE" dirty="0"/>
              <a:t>Ist </a:t>
            </a:r>
            <a:r>
              <a:rPr lang="de-DE" sz="1200" kern="1200" dirty="0" err="1">
                <a:solidFill>
                  <a:schemeClr val="tx1"/>
                </a:solidFill>
                <a:latin typeface="+mn-lt"/>
                <a:ea typeface="+mn-ea"/>
                <a:cs typeface="+mn-cs"/>
              </a:rPr>
              <a:t>ZC_CDSOrderItem</a:t>
            </a:r>
            <a:r>
              <a:rPr lang="de-DE" dirty="0"/>
              <a:t> im Service enthalten? </a:t>
            </a:r>
          </a:p>
          <a:p>
            <a:pPr lvl="0"/>
            <a:r>
              <a:rPr lang="de-DE" dirty="0"/>
              <a:t>Ist die </a:t>
            </a:r>
            <a:r>
              <a:rPr lang="de-DE" dirty="0" err="1"/>
              <a:t>Facet</a:t>
            </a:r>
            <a:r>
              <a:rPr lang="de-DE" dirty="0"/>
              <a:t> aktiviert? </a:t>
            </a:r>
          </a:p>
          <a:p>
            <a:r>
              <a:rPr lang="de-DE" b="1" dirty="0"/>
              <a:t>Tabelle erscheint ohne Spalten</a:t>
            </a:r>
          </a:p>
          <a:p>
            <a:r>
              <a:rPr lang="de-DE" dirty="0"/>
              <a:t>Prüfen:</a:t>
            </a:r>
          </a:p>
          <a:p>
            <a:pPr lvl="0"/>
            <a:r>
              <a:rPr lang="de-DE" dirty="0"/>
              <a:t>Besitzt </a:t>
            </a:r>
            <a:r>
              <a:rPr lang="de-DE" sz="1200" kern="1200" dirty="0" err="1">
                <a:solidFill>
                  <a:schemeClr val="tx1"/>
                </a:solidFill>
                <a:latin typeface="+mn-lt"/>
                <a:ea typeface="+mn-ea"/>
                <a:cs typeface="+mn-cs"/>
              </a:rPr>
              <a:t>ZC_CDSOrderItem</a:t>
            </a:r>
            <a:r>
              <a:rPr lang="de-DE" dirty="0"/>
              <a:t> </a:t>
            </a:r>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r>
              <a:rPr lang="de-DE" dirty="0"/>
              <a:t>? </a:t>
            </a:r>
          </a:p>
          <a:p>
            <a:pPr lvl="0"/>
            <a:r>
              <a:rPr lang="de-DE" dirty="0"/>
              <a:t>Ist </a:t>
            </a:r>
            <a:r>
              <a:rPr lang="de-DE" sz="1200" kern="1200" dirty="0" err="1">
                <a:solidFill>
                  <a:schemeClr val="tx1"/>
                </a:solidFill>
                <a:latin typeface="+mn-lt"/>
                <a:ea typeface="+mn-ea"/>
                <a:cs typeface="+mn-cs"/>
              </a:rPr>
              <a:t>ZC_CDSOrderItem_UI</a:t>
            </a:r>
            <a:r>
              <a:rPr lang="de-DE" dirty="0"/>
              <a:t> aktiviert? </a:t>
            </a:r>
          </a:p>
          <a:p>
            <a:pPr lvl="0"/>
            <a:r>
              <a:rPr lang="de-DE" dirty="0"/>
              <a:t>Enthält sie </a:t>
            </a:r>
            <a:r>
              <a:rPr lang="de-DE" sz="1200" kern="1200" dirty="0">
                <a:solidFill>
                  <a:schemeClr val="tx1"/>
                </a:solidFill>
                <a:latin typeface="+mn-lt"/>
                <a:ea typeface="+mn-ea"/>
                <a:cs typeface="+mn-cs"/>
              </a:rPr>
              <a:t>@UI.lineItem</a:t>
            </a:r>
            <a:r>
              <a:rPr lang="de-DE" dirty="0"/>
              <a:t>? </a:t>
            </a:r>
          </a:p>
          <a:p>
            <a:pPr lvl="0"/>
            <a:r>
              <a:rPr lang="de-DE" dirty="0"/>
              <a:t>Annotiert sie die richtige Entität? </a:t>
            </a:r>
          </a:p>
          <a:p>
            <a:r>
              <a:rPr lang="de-DE" b="1" dirty="0"/>
              <a:t>Falsche oder alle Positionen erscheinen</a:t>
            </a:r>
          </a:p>
          <a:p>
            <a:r>
              <a:rPr lang="de-DE" dirty="0"/>
              <a:t>Prüfen:</a:t>
            </a:r>
          </a:p>
          <a:p>
            <a:pPr lvl="0"/>
            <a:r>
              <a:rPr lang="de-DE" dirty="0"/>
              <a:t>Stimmt die ON-Bedingung von </a:t>
            </a:r>
            <a:r>
              <a:rPr lang="de-DE" sz="1200" kern="1200" dirty="0">
                <a:solidFill>
                  <a:schemeClr val="tx1"/>
                </a:solidFill>
                <a:latin typeface="+mn-lt"/>
                <a:ea typeface="+mn-ea"/>
                <a:cs typeface="+mn-cs"/>
              </a:rPr>
              <a:t>_Items</a:t>
            </a:r>
            <a:r>
              <a:rPr lang="de-DE" dirty="0"/>
              <a:t>? </a:t>
            </a:r>
          </a:p>
          <a:p>
            <a:pPr lvl="0"/>
            <a:r>
              <a:rPr lang="de-DE" dirty="0"/>
              <a:t>Verknüpft sie Auftrag und Position über </a:t>
            </a:r>
            <a:r>
              <a:rPr lang="de-DE" sz="1200" kern="1200" dirty="0" err="1">
                <a:solidFill>
                  <a:schemeClr val="tx1"/>
                </a:solidFill>
                <a:latin typeface="+mn-lt"/>
                <a:ea typeface="+mn-ea"/>
                <a:cs typeface="+mn-cs"/>
              </a:rPr>
              <a:t>OrderId</a:t>
            </a:r>
            <a:r>
              <a:rPr lang="de-DE" dirty="0"/>
              <a:t>? </a:t>
            </a:r>
          </a:p>
          <a:p>
            <a:pPr lvl="0"/>
            <a:r>
              <a:rPr lang="de-DE" dirty="0"/>
              <a:t>Ist die Kardinalität </a:t>
            </a:r>
            <a:r>
              <a:rPr lang="de-DE" sz="1200" kern="1200" dirty="0">
                <a:solidFill>
                  <a:schemeClr val="tx1"/>
                </a:solidFill>
                <a:latin typeface="+mn-lt"/>
                <a:ea typeface="+mn-ea"/>
                <a:cs typeface="+mn-cs"/>
              </a:rPr>
              <a:t>[0..*]</a:t>
            </a:r>
            <a:r>
              <a:rPr lang="de-DE" dirty="0"/>
              <a:t> korrekt? </a:t>
            </a:r>
          </a:p>
          <a:p>
            <a:r>
              <a:rPr lang="de-DE" b="1" dirty="0"/>
              <a:t>Änderungen werden nicht sichtbar</a:t>
            </a:r>
          </a:p>
          <a:p>
            <a:pPr lvl="0"/>
            <a:r>
              <a:rPr lang="de-DE" dirty="0" err="1"/>
              <a:t>Metadata</a:t>
            </a:r>
            <a:r>
              <a:rPr lang="de-DE" dirty="0"/>
              <a:t> Extension aktivieren </a:t>
            </a:r>
          </a:p>
          <a:p>
            <a:pPr lvl="0"/>
            <a:r>
              <a:rPr lang="de-DE" dirty="0"/>
              <a:t>Service Binding erneut veröffentlichen </a:t>
            </a:r>
          </a:p>
          <a:p>
            <a:pPr lvl="0"/>
            <a:r>
              <a:rPr lang="de-DE" dirty="0"/>
              <a:t>Browser vollständig neu laden </a:t>
            </a:r>
          </a:p>
          <a:p>
            <a:pPr lvl="0"/>
            <a:r>
              <a:rPr lang="de-DE" dirty="0"/>
              <a:t>gegebenenfalls Metadaten-Cache aktualisieren </a:t>
            </a:r>
          </a:p>
          <a:p>
            <a:br>
              <a:rPr lang="de-DE" dirty="0"/>
            </a:br>
            <a:endParaRPr lang="de-DE" dirty="0"/>
          </a:p>
          <a:p>
            <a:r>
              <a:rPr lang="de-DE" b="1" dirty="0"/>
              <a:t>Ergebnis von Live-Coding 3</a:t>
            </a:r>
          </a:p>
          <a:p>
            <a:r>
              <a:rPr lang="de-DE" dirty="0"/>
              <a:t>Die </a:t>
            </a:r>
            <a:r>
              <a:rPr lang="de-DE" dirty="0" err="1"/>
              <a:t>Object</a:t>
            </a:r>
            <a:r>
              <a:rPr lang="de-DE" dirty="0"/>
              <a:t> Page zeigt nun den vollständigen Auftrag:</a:t>
            </a:r>
          </a:p>
          <a:p>
            <a:pPr rtl="0"/>
            <a:r>
              <a:rPr lang="de-DE" sz="1200" kern="1200" dirty="0">
                <a:solidFill>
                  <a:schemeClr val="tx1"/>
                </a:solidFill>
                <a:latin typeface="+mn-lt"/>
                <a:ea typeface="+mn-ea"/>
                <a:cs typeface="+mn-cs"/>
              </a:rPr>
              <a:t>Auftrag 4711</a:t>
            </a:r>
          </a:p>
          <a:p>
            <a:pPr rtl="0"/>
            <a:r>
              <a:rPr lang="de-DE" sz="1200" kern="1200" dirty="0">
                <a:solidFill>
                  <a:schemeClr val="tx1"/>
                </a:solidFill>
                <a:latin typeface="+mn-lt"/>
                <a:ea typeface="+mn-ea"/>
                <a:cs typeface="+mn-cs"/>
              </a:rPr>
              <a:t>Muster GmbH</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Auftragspositionen</a:t>
            </a:r>
          </a:p>
          <a:p>
            <a:pPr rtl="0"/>
            <a:r>
              <a:rPr lang="de-DE" sz="1200" kern="1200" dirty="0">
                <a:solidFill>
                  <a:schemeClr val="tx1"/>
                </a:solidFill>
                <a:latin typeface="+mn-lt"/>
                <a:ea typeface="+mn-ea"/>
                <a:cs typeface="+mn-cs"/>
              </a:rPr>
              <a:t>   ├─ Position 10</a:t>
            </a:r>
          </a:p>
          <a:p>
            <a:pPr rtl="0"/>
            <a:r>
              <a:rPr lang="de-DE" sz="1200" kern="1200" dirty="0">
                <a:solidFill>
                  <a:schemeClr val="tx1"/>
                </a:solidFill>
                <a:latin typeface="+mn-lt"/>
                <a:ea typeface="+mn-ea"/>
                <a:cs typeface="+mn-cs"/>
              </a:rPr>
              <a:t>   ├─ Position 20</a:t>
            </a:r>
          </a:p>
          <a:p>
            <a:pPr rtl="0"/>
            <a:r>
              <a:rPr lang="de-DE" sz="1200" kern="1200" dirty="0">
                <a:solidFill>
                  <a:schemeClr val="tx1"/>
                </a:solidFill>
                <a:latin typeface="+mn-lt"/>
                <a:ea typeface="+mn-ea"/>
                <a:cs typeface="+mn-cs"/>
              </a:rPr>
              <a:t>   └─ Position 30</a:t>
            </a:r>
          </a:p>
          <a:p>
            <a:r>
              <a:rPr lang="de-DE" dirty="0"/>
              <a:t>Dabei übernimmt jede Ebene eine klar abgegrenzte Aufgabe:</a:t>
            </a:r>
          </a:p>
          <a:p>
            <a:r>
              <a:rPr lang="de-DE" dirty="0"/>
              <a:t>Ebene</a:t>
            </a:r>
          </a:p>
          <a:p>
            <a:r>
              <a:rPr lang="de-DE" dirty="0"/>
              <a:t>Aufgabe</a:t>
            </a:r>
          </a:p>
          <a:p>
            <a:r>
              <a:rPr lang="de-DE" dirty="0"/>
              <a:t>CDS-Assoziation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Items</a:t>
            </a:r>
            <a:r>
              <a:rPr lang="de-DE" dirty="0" err="1"/>
              <a:t>Beziehung</a:t>
            </a:r>
            <a:r>
              <a:rPr lang="de-DE" dirty="0"/>
              <a:t> zwischen Auftrag und Positionen</a:t>
            </a:r>
          </a:p>
          <a:p>
            <a:r>
              <a:rPr lang="de-DE" dirty="0" err="1"/>
              <a:t>OData-NavigationZugriff</a:t>
            </a:r>
            <a:r>
              <a:rPr lang="de-DE" dirty="0"/>
              <a:t> auf die Positionen</a:t>
            </a:r>
          </a:p>
          <a:p>
            <a:r>
              <a:rPr lang="de-DE" dirty="0" err="1"/>
              <a:t>Facet</a:t>
            </a:r>
            <a:r>
              <a:rPr lang="de-DE" dirty="0"/>
              <a:t> des </a:t>
            </a:r>
            <a:r>
              <a:rPr lang="de-DE" dirty="0" err="1"/>
              <a:t>AuftragsEinbindung</a:t>
            </a:r>
            <a:r>
              <a:rPr lang="de-DE" dirty="0"/>
              <a:t> der Tabelle</a:t>
            </a:r>
          </a:p>
          <a:p>
            <a:r>
              <a:rPr lang="de-DE" dirty="0"/>
              <a:t>Line Items der </a:t>
            </a:r>
            <a:r>
              <a:rPr lang="de-DE" dirty="0" err="1"/>
              <a:t>PositionDefinition</a:t>
            </a:r>
            <a:r>
              <a:rPr lang="de-DE" dirty="0"/>
              <a:t> der Tabellenspalten</a:t>
            </a:r>
          </a:p>
          <a:p>
            <a:r>
              <a:rPr lang="de-DE" dirty="0"/>
              <a:t>Semantische </a:t>
            </a:r>
            <a:r>
              <a:rPr lang="de-DE" dirty="0" err="1"/>
              <a:t>AnnotationenDarstellung</a:t>
            </a:r>
            <a:r>
              <a:rPr lang="de-DE" dirty="0"/>
              <a:t> von Menge, Einheit, Betrag und Währung</a:t>
            </a:r>
          </a:p>
          <a:p>
            <a:r>
              <a:rPr lang="de-DE" b="1" dirty="0"/>
              <a:t>Abschluss und Pause</a:t>
            </a:r>
          </a:p>
          <a:p>
            <a:r>
              <a:rPr lang="de-DE" b="1" dirty="0"/>
              <a:t>Sprechertext</a:t>
            </a:r>
          </a:p>
          <a:p>
            <a:r>
              <a:rPr lang="de-DE" dirty="0"/>
              <a:t>Damit ist der erste große Block abgeschlossen.</a:t>
            </a:r>
          </a:p>
          <a:p>
            <a:r>
              <a:rPr lang="de-DE" dirty="0"/>
              <a:t>Wir haben aus unserem CDS-Datenmodell einen List Report und eine </a:t>
            </a:r>
            <a:r>
              <a:rPr lang="de-DE" dirty="0" err="1"/>
              <a:t>Object</a:t>
            </a:r>
            <a:r>
              <a:rPr lang="de-DE" dirty="0"/>
              <a:t> Page aufgebaut. Die Anwendung zeigt sowohl die Kopfdaten als auch die über eine Assoziation verbundenen Auftragspositionen.</a:t>
            </a:r>
          </a:p>
          <a:p>
            <a:r>
              <a:rPr lang="de-DE" dirty="0"/>
              <a:t>Nach der Pause erweitern wir die Oberfläche um visuelle Elemente. Wir definieren eine Kennzahl, leiten daraus einen kritischen Zustand ab und ergänzen ein Diagramm.</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31</a:t>
            </a:fld>
            <a:endParaRPr lang="de-DE" dirty="0"/>
          </a:p>
        </p:txBody>
      </p:sp>
    </p:spTree>
    <p:extLst>
      <p:ext uri="{BB962C8B-B14F-4D97-AF65-F5344CB8AC3E}">
        <p14:creationId xmlns:p14="http://schemas.microsoft.com/office/powerpoint/2010/main" val="1067216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Bisher haben wir die Auftragsdaten als Felder und Tabellen dargestellt. Nun ergänzen wir drei stärker visuelle Elemente.</a:t>
            </a:r>
          </a:p>
          <a:p>
            <a:endParaRPr lang="de-DE" dirty="0"/>
          </a:p>
          <a:p>
            <a:r>
              <a:rPr lang="de-DE" dirty="0"/>
              <a:t>Ein Data Point hebt eine einzelne Kennzahl hervor. In unserem Beispiel ist das der gesamte Nettowert eines Auftrags.</a:t>
            </a:r>
          </a:p>
          <a:p>
            <a:endParaRPr lang="de-DE" dirty="0"/>
          </a:p>
          <a:p>
            <a:r>
              <a:rPr lang="de-DE" dirty="0"/>
              <a:t>Die </a:t>
            </a:r>
            <a:r>
              <a:rPr lang="de-DE" dirty="0" err="1"/>
              <a:t>Criticality</a:t>
            </a:r>
            <a:r>
              <a:rPr lang="de-DE" dirty="0"/>
              <a:t> bewertet diese Kennzahl. Abhängig vom Auftragswert wird sie beispielsweise neutral, kritisch oder positiv dargestellt.</a:t>
            </a:r>
          </a:p>
          <a:p>
            <a:endParaRPr lang="de-DE" dirty="0"/>
          </a:p>
          <a:p>
            <a:r>
              <a:rPr lang="de-DE" dirty="0"/>
              <a:t>Ein Diagramm beantwortet schließlich eine andere Frage: Wie verteilt sich der Auftragswert auf die einzelnen Produkte?</a:t>
            </a:r>
          </a:p>
          <a:p>
            <a:endParaRPr lang="de-DE" dirty="0"/>
          </a:p>
          <a:p>
            <a:r>
              <a:rPr lang="de-DE" dirty="0"/>
              <a:t>Data Point und Chart verwenden dieselben fachlichen Daten, stellen aber unterschiedliche Aspekte heraus.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32</a:t>
            </a:fld>
            <a:endParaRPr lang="de-DE" dirty="0"/>
          </a:p>
        </p:txBody>
      </p:sp>
    </p:spTree>
    <p:extLst>
      <p:ext uri="{BB962C8B-B14F-4D97-AF65-F5344CB8AC3E}">
        <p14:creationId xmlns:p14="http://schemas.microsoft.com/office/powerpoint/2010/main" val="2011626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a:solidFill>
                  <a:schemeClr val="tx1"/>
                </a:solidFill>
                <a:latin typeface="+mn-lt"/>
                <a:ea typeface="+mn-ea"/>
                <a:cs typeface="+mn-cs"/>
              </a:rPr>
              <a:t>@UI.dataPoint</a:t>
            </a:r>
            <a:r>
              <a:rPr lang="de-DE" dirty="0"/>
              <a:t> kennzeichnen wir ein Element als besonders wichtige Kennzahl.</a:t>
            </a:r>
          </a:p>
          <a:p>
            <a:endParaRPr lang="de-DE" dirty="0"/>
          </a:p>
          <a:p>
            <a:r>
              <a:rPr lang="de-DE" dirty="0"/>
              <a:t>Der </a:t>
            </a:r>
            <a:r>
              <a:rPr lang="de-DE" dirty="0" err="1"/>
              <a:t>Qualifier</a:t>
            </a:r>
            <a:r>
              <a:rPr lang="de-DE" dirty="0"/>
              <a:t> </a:t>
            </a:r>
            <a:r>
              <a:rPr lang="de-DE" sz="1200" kern="1200" dirty="0" err="1">
                <a:solidFill>
                  <a:schemeClr val="tx1"/>
                </a:solidFill>
                <a:latin typeface="+mn-lt"/>
                <a:ea typeface="+mn-ea"/>
                <a:cs typeface="+mn-cs"/>
              </a:rPr>
              <a:t>OrderValue</a:t>
            </a:r>
            <a:r>
              <a:rPr lang="de-DE" dirty="0"/>
              <a:t> gibt dem Data Point einen eindeutigen Namen. Über diesen Namen können wir ihn später in einer </a:t>
            </a:r>
            <a:r>
              <a:rPr lang="de-DE" dirty="0" err="1"/>
              <a:t>Facet</a:t>
            </a:r>
            <a:r>
              <a:rPr lang="de-DE" dirty="0"/>
              <a:t> referenzieren.</a:t>
            </a:r>
          </a:p>
          <a:p>
            <a:endParaRPr lang="de-DE" dirty="0"/>
          </a:p>
          <a:p>
            <a:r>
              <a:rPr lang="de-DE" dirty="0"/>
              <a:t>Der Titel beschreibt die fachliche Bedeutung des Werts. In unserem Fall handelt es sich um den gesamten Nettowert des Auftrags.</a:t>
            </a:r>
          </a:p>
          <a:p>
            <a:endParaRPr lang="de-DE" dirty="0"/>
          </a:p>
          <a:p>
            <a:r>
              <a:rPr lang="de-DE" dirty="0"/>
              <a:t>Die Währung muss nicht innerhalb des Data Points nochmals angegeben werden, wenn </a:t>
            </a:r>
            <a:r>
              <a:rPr lang="de-DE" sz="1200" kern="1200" dirty="0" err="1">
                <a:solidFill>
                  <a:schemeClr val="tx1"/>
                </a:solidFill>
                <a:latin typeface="+mn-lt"/>
                <a:ea typeface="+mn-ea"/>
                <a:cs typeface="+mn-cs"/>
              </a:rPr>
              <a:t>TotalNetAmount</a:t>
            </a:r>
            <a:r>
              <a:rPr lang="de-DE" dirty="0"/>
              <a:t> bereits über </a:t>
            </a:r>
            <a:r>
              <a:rPr lang="de-DE" sz="1200" kern="1200" dirty="0">
                <a:solidFill>
                  <a:schemeClr val="tx1"/>
                </a:solidFill>
                <a:latin typeface="+mn-lt"/>
                <a:ea typeface="+mn-ea"/>
                <a:cs typeface="+mn-cs"/>
              </a:rPr>
              <a:t>@Semantics.amount.currencyCode</a:t>
            </a:r>
            <a:r>
              <a:rPr lang="de-DE" dirty="0"/>
              <a:t> mit dem Währungscode verbunden ist.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33</a:t>
            </a:fld>
            <a:endParaRPr lang="de-DE" dirty="0"/>
          </a:p>
        </p:txBody>
      </p:sp>
    </p:spTree>
    <p:extLst>
      <p:ext uri="{BB962C8B-B14F-4D97-AF65-F5344CB8AC3E}">
        <p14:creationId xmlns:p14="http://schemas.microsoft.com/office/powerpoint/2010/main" val="4207515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unserer Fiori-Elements-Anwendung erscheint der Data Point bereits durch die Annotation </a:t>
            </a:r>
            <a:r>
              <a:rPr lang="de-DE" sz="1200" kern="1200" dirty="0">
                <a:solidFill>
                  <a:schemeClr val="tx1"/>
                </a:solidFill>
                <a:latin typeface="+mn-lt"/>
                <a:ea typeface="+mn-ea"/>
                <a:cs typeface="+mn-cs"/>
              </a:rPr>
              <a:t>@UI.dataPoint</a:t>
            </a:r>
            <a:r>
              <a:rPr lang="de-DE" dirty="0"/>
              <a:t> im Kopfbereich der </a:t>
            </a:r>
            <a:r>
              <a:rPr lang="de-DE" dirty="0" err="1"/>
              <a:t>Object</a:t>
            </a:r>
            <a:r>
              <a:rPr lang="de-DE" dirty="0"/>
              <a:t> Page.</a:t>
            </a:r>
          </a:p>
          <a:p>
            <a:endParaRPr lang="de-DE" dirty="0"/>
          </a:p>
          <a:p>
            <a:r>
              <a:rPr lang="de-DE" dirty="0"/>
              <a:t>Wir müssen ihn deshalb nicht zusätzlich durch eine </a:t>
            </a:r>
            <a:r>
              <a:rPr lang="de-DE" dirty="0" err="1"/>
              <a:t>Facet</a:t>
            </a:r>
            <a:r>
              <a:rPr lang="de-DE" dirty="0"/>
              <a:t> in den Inhaltsbereich einbinden.</a:t>
            </a:r>
          </a:p>
          <a:p>
            <a:endParaRPr lang="de-DE" dirty="0"/>
          </a:p>
          <a:p>
            <a:r>
              <a:rPr lang="de-DE" dirty="0"/>
              <a:t>Der Data Point verwendet </a:t>
            </a:r>
            <a:r>
              <a:rPr lang="de-DE" sz="1200" kern="1200" dirty="0" err="1">
                <a:solidFill>
                  <a:schemeClr val="tx1"/>
                </a:solidFill>
                <a:latin typeface="+mn-lt"/>
                <a:ea typeface="+mn-ea"/>
                <a:cs typeface="+mn-cs"/>
              </a:rPr>
              <a:t>OrderValue</a:t>
            </a:r>
            <a:r>
              <a:rPr lang="de-DE" dirty="0"/>
              <a:t> als Kennzahl. Die zugehörige Währung ergibt sich aus der vorhandenen Betragssemantik. </a:t>
            </a:r>
          </a:p>
          <a:p>
            <a:endParaRPr lang="de-DE" dirty="0"/>
          </a:p>
          <a:p>
            <a:r>
              <a:rPr lang="de-DE" dirty="0"/>
              <a:t>Über </a:t>
            </a:r>
            <a:r>
              <a:rPr lang="de-DE" sz="1200" kern="1200" dirty="0" err="1">
                <a:solidFill>
                  <a:schemeClr val="tx1"/>
                </a:solidFill>
                <a:latin typeface="+mn-lt"/>
                <a:ea typeface="+mn-ea"/>
                <a:cs typeface="+mn-cs"/>
              </a:rPr>
              <a:t>criticality</a:t>
            </a:r>
            <a:r>
              <a:rPr lang="de-DE" dirty="0"/>
              <a:t> verweist er zusätzlich auf das Element </a:t>
            </a:r>
            <a:r>
              <a:rPr lang="de-DE" sz="1200" kern="1200" dirty="0" err="1">
                <a:solidFill>
                  <a:schemeClr val="tx1"/>
                </a:solidFill>
                <a:latin typeface="+mn-lt"/>
                <a:ea typeface="+mn-ea"/>
                <a:cs typeface="+mn-cs"/>
              </a:rPr>
              <a:t>OrderValueCriticality</a:t>
            </a:r>
            <a:r>
              <a:rPr lang="de-DE" dirty="0"/>
              <a:t>.</a:t>
            </a:r>
          </a:p>
          <a:p>
            <a:endParaRPr lang="de-DE" dirty="0"/>
          </a:p>
          <a:p>
            <a:r>
              <a:rPr lang="de-DE" dirty="0"/>
              <a:t>Damit entsteht allein aus der Elementannotation eine hervorgehobene und semantisch bewertete Kennzahl im Seitenkopf.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34</a:t>
            </a:fld>
            <a:endParaRPr lang="de-DE" dirty="0"/>
          </a:p>
        </p:txBody>
      </p:sp>
    </p:spTree>
    <p:extLst>
      <p:ext uri="{BB962C8B-B14F-4D97-AF65-F5344CB8AC3E}">
        <p14:creationId xmlns:p14="http://schemas.microsoft.com/office/powerpoint/2010/main" val="26426142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Betrag allein sagt noch nicht, ob er als gut, schlecht oder kritisch einzustufen ist.</a:t>
            </a:r>
          </a:p>
          <a:p>
            <a:endParaRPr lang="de-DE" dirty="0"/>
          </a:p>
          <a:p>
            <a:r>
              <a:rPr lang="de-DE" dirty="0"/>
              <a:t>Die </a:t>
            </a:r>
            <a:r>
              <a:rPr lang="de-DE" dirty="0" err="1"/>
              <a:t>Criticality</a:t>
            </a:r>
            <a:r>
              <a:rPr lang="de-DE" dirty="0"/>
              <a:t> ergänzt diese fachliche Bewertung. Dabei verwenden wir keine konkreten Farben, sondern semantische Zustände.</a:t>
            </a:r>
          </a:p>
          <a:p>
            <a:endParaRPr lang="de-DE" dirty="0"/>
          </a:p>
          <a:p>
            <a:r>
              <a:rPr lang="de-DE" dirty="0"/>
              <a:t>Der Wert 1 steht für negativ, 2 für kritisch und 3 für positiv. Das Framework entscheidet, wie der jeweilige Zustand im verwendeten </a:t>
            </a:r>
            <a:r>
              <a:rPr lang="de-DE" dirty="0" err="1"/>
              <a:t>Theme</a:t>
            </a:r>
            <a:r>
              <a:rPr lang="de-DE" dirty="0"/>
              <a:t> und Steuerelement dargestellt wird.</a:t>
            </a:r>
          </a:p>
          <a:p>
            <a:endParaRPr lang="de-DE" dirty="0"/>
          </a:p>
          <a:p>
            <a:r>
              <a:rPr lang="de-DE" dirty="0"/>
              <a:t>Dadurch bleibt die Anwendung barriereärmer und unabhängig von einer fest programmierten Farbgebung.</a:t>
            </a:r>
          </a:p>
          <a:p>
            <a:endParaRPr lang="de-DE" dirty="0"/>
          </a:p>
          <a:p>
            <a:r>
              <a:rPr lang="de-DE" dirty="0"/>
              <a:t>In unserem Beispiel liefert das Element </a:t>
            </a:r>
            <a:r>
              <a:rPr lang="de-DE" sz="1200" kern="1200" dirty="0" err="1">
                <a:solidFill>
                  <a:schemeClr val="tx1"/>
                </a:solidFill>
                <a:latin typeface="+mn-lt"/>
                <a:ea typeface="+mn-ea"/>
                <a:cs typeface="+mn-cs"/>
              </a:rPr>
              <a:t>OrderValueCriticality</a:t>
            </a:r>
            <a:r>
              <a:rPr lang="de-DE" dirty="0"/>
              <a:t> die Bewertung des Auftragswerts.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35</a:t>
            </a:fld>
            <a:endParaRPr lang="de-DE" dirty="0"/>
          </a:p>
        </p:txBody>
      </p:sp>
    </p:spTree>
    <p:extLst>
      <p:ext uri="{BB962C8B-B14F-4D97-AF65-F5344CB8AC3E}">
        <p14:creationId xmlns:p14="http://schemas.microsoft.com/office/powerpoint/2010/main" val="33353254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fachliche Bewertung muss irgendwo bestimmt werden. Für das Workshopbeispiel verwenden wir einen einfachen </a:t>
            </a:r>
            <a:r>
              <a:rPr lang="de-DE" sz="1200" kern="1200" dirty="0">
                <a:solidFill>
                  <a:schemeClr val="tx1"/>
                </a:solidFill>
                <a:latin typeface="+mn-lt"/>
                <a:ea typeface="+mn-ea"/>
                <a:cs typeface="+mn-cs"/>
              </a:rPr>
              <a:t>CASE</a:t>
            </a:r>
            <a:r>
              <a:rPr lang="de-DE" dirty="0"/>
              <a:t>-Ausdruck.</a:t>
            </a:r>
          </a:p>
          <a:p>
            <a:endParaRPr lang="de-DE" dirty="0"/>
          </a:p>
          <a:p>
            <a:r>
              <a:rPr lang="de-DE" dirty="0"/>
              <a:t>Aufträge ab 5.000 Euro bewerten wir positiv. Werte zwischen 2.000 und 5.000 Euro gelten als kritisch, kleinere Aufträge als negativ.</a:t>
            </a:r>
          </a:p>
          <a:p>
            <a:endParaRPr lang="de-DE" dirty="0"/>
          </a:p>
          <a:p>
            <a:r>
              <a:rPr lang="de-DE" dirty="0"/>
              <a:t>Diese Grenzen dienen ausschließlich der Demonstration. In einer realen Anwendung müssten sie aus dem fachlichen Kontext stammen und könnten beispielsweise von Auftragsart, Vertriebsorganisation oder Kundengruppe abhängen.</a:t>
            </a:r>
          </a:p>
          <a:p>
            <a:endParaRPr lang="de-DE" dirty="0"/>
          </a:p>
          <a:p>
            <a:r>
              <a:rPr lang="de-DE" dirty="0"/>
              <a:t>Der entscheidende Architekturgedanke lautet: Das Datenmodell liefert den semantischen Zustand. Die UI interpretiert diesen Zustand und stellt ihn passend dar.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36</a:t>
            </a:fld>
            <a:endParaRPr lang="de-DE" dirty="0"/>
          </a:p>
        </p:txBody>
      </p:sp>
    </p:spTree>
    <p:extLst>
      <p:ext uri="{BB962C8B-B14F-4D97-AF65-F5344CB8AC3E}">
        <p14:creationId xmlns:p14="http://schemas.microsoft.com/office/powerpoint/2010/main" val="27702937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Diagramm benötigt mindestens eine Dimension und eine Kennzahl.</a:t>
            </a:r>
          </a:p>
          <a:p>
            <a:endParaRPr lang="de-DE" dirty="0"/>
          </a:p>
          <a:p>
            <a:r>
              <a:rPr lang="de-DE" dirty="0"/>
              <a:t>Die Dimension legt fest, nach welchem Merkmal die Werte gegliedert werden. Wir verwenden den Produktnamen.</a:t>
            </a:r>
          </a:p>
          <a:p>
            <a:endParaRPr lang="de-DE" dirty="0"/>
          </a:p>
          <a:p>
            <a:r>
              <a:rPr lang="de-DE" dirty="0"/>
              <a:t>Die Kennzahl ist der zu aggregierende numerische Wert. Dafür verwenden wir den Nettobetrag der Auftragsposition.</a:t>
            </a:r>
          </a:p>
          <a:p>
            <a:endParaRPr lang="de-DE" dirty="0"/>
          </a:p>
          <a:p>
            <a:r>
              <a:rPr lang="de-DE" dirty="0"/>
              <a:t>Als Diagrammtyp wählen wir ein Säulendiagramm. Damit lassen sich die Werte der einzelnen Produkte gut miteinander vergleichen.</a:t>
            </a:r>
          </a:p>
          <a:p>
            <a:r>
              <a:rPr lang="de-DE" dirty="0"/>
              <a:t>Die Annotation beschreibt die fachliche Struktur des Diagramms. Die eigentliche Grafik erzeugt Fiori Elements.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37</a:t>
            </a:fld>
            <a:endParaRPr lang="de-DE" dirty="0"/>
          </a:p>
        </p:txBody>
      </p:sp>
    </p:spTree>
    <p:extLst>
      <p:ext uri="{BB962C8B-B14F-4D97-AF65-F5344CB8AC3E}">
        <p14:creationId xmlns:p14="http://schemas.microsoft.com/office/powerpoint/2010/main" val="32229048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Diagramm basiert nicht auf einfachen Feldern der Auftragsentität, sondern auf den verbundenen Auftragspositionen.</a:t>
            </a:r>
          </a:p>
          <a:p>
            <a:endParaRPr lang="de-DE" dirty="0"/>
          </a:p>
          <a:p>
            <a:r>
              <a:rPr lang="de-DE" dirty="0"/>
              <a:t>Deshalb verwendet die Chart </a:t>
            </a:r>
            <a:r>
              <a:rPr lang="de-DE" dirty="0" err="1"/>
              <a:t>Facet</a:t>
            </a:r>
            <a:r>
              <a:rPr lang="de-DE" dirty="0"/>
              <a:t> wieder die Assoziation </a:t>
            </a:r>
            <a:r>
              <a:rPr lang="de-DE" sz="1200" kern="1200" dirty="0">
                <a:solidFill>
                  <a:schemeClr val="tx1"/>
                </a:solidFill>
                <a:latin typeface="+mn-lt"/>
                <a:ea typeface="+mn-ea"/>
                <a:cs typeface="+mn-cs"/>
              </a:rPr>
              <a:t>_Items</a:t>
            </a:r>
            <a:r>
              <a:rPr lang="de-DE" dirty="0"/>
              <a:t>. </a:t>
            </a:r>
            <a:r>
              <a:rPr lang="de-DE" sz="1200" kern="1200" dirty="0" err="1">
                <a:solidFill>
                  <a:schemeClr val="tx1"/>
                </a:solidFill>
                <a:latin typeface="+mn-lt"/>
                <a:ea typeface="+mn-ea"/>
                <a:cs typeface="+mn-cs"/>
              </a:rPr>
              <a:t>targetElement</a:t>
            </a:r>
            <a:r>
              <a:rPr lang="de-DE" dirty="0"/>
              <a:t> bestimmt den Navigationsweg zur Positionsentität.</a:t>
            </a:r>
          </a:p>
          <a:p>
            <a:endParaRPr lang="de-DE" dirty="0"/>
          </a:p>
          <a:p>
            <a:r>
              <a:rPr lang="de-DE" dirty="0"/>
              <a:t>Dort sucht Fiori Elements nach dem Chart mit dem </a:t>
            </a:r>
            <a:r>
              <a:rPr lang="de-DE" dirty="0" err="1"/>
              <a:t>Qualifier</a:t>
            </a:r>
            <a:r>
              <a:rPr lang="de-DE" dirty="0"/>
              <a:t> </a:t>
            </a:r>
            <a:r>
              <a:rPr lang="de-DE" sz="1200" kern="1200" dirty="0" err="1">
                <a:solidFill>
                  <a:schemeClr val="tx1"/>
                </a:solidFill>
                <a:latin typeface="+mn-lt"/>
                <a:ea typeface="+mn-ea"/>
                <a:cs typeface="+mn-cs"/>
              </a:rPr>
              <a:t>AmountByProduct</a:t>
            </a:r>
            <a:r>
              <a:rPr lang="de-DE" dirty="0"/>
              <a:t>.</a:t>
            </a:r>
          </a:p>
          <a:p>
            <a:endParaRPr lang="de-DE" dirty="0"/>
          </a:p>
          <a:p>
            <a:r>
              <a:rPr lang="de-DE" dirty="0"/>
              <a:t>Das entspricht dem Vorgehen bei der Positionstabelle: Der Auftrag legt fest, wo die Visualisierung erscheint. Die Positionsentität beschreibt deren Inhalt.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38</a:t>
            </a:fld>
            <a:endParaRPr lang="de-DE" dirty="0"/>
          </a:p>
        </p:txBody>
      </p:sp>
    </p:spTree>
    <p:extLst>
      <p:ext uri="{BB962C8B-B14F-4D97-AF65-F5344CB8AC3E}">
        <p14:creationId xmlns:p14="http://schemas.microsoft.com/office/powerpoint/2010/main" val="475192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Schritt 1 – Werte im Datenmodell zeigen</a:t>
            </a:r>
          </a:p>
          <a:p>
            <a:r>
              <a:rPr lang="de-DE" dirty="0"/>
              <a:t>Die Auftrags-</a:t>
            </a:r>
            <a:r>
              <a:rPr lang="de-DE" dirty="0" err="1"/>
              <a:t>Projection</a:t>
            </a:r>
            <a:r>
              <a:rPr lang="de-DE" dirty="0"/>
              <a:t> stellt folgende Elemente bereit:</a:t>
            </a:r>
          </a:p>
          <a:p>
            <a:pPr rtl="0"/>
            <a:r>
              <a:rPr lang="de-DE" sz="1200" kern="1200" dirty="0" err="1">
                <a:solidFill>
                  <a:schemeClr val="tx1"/>
                </a:solidFill>
                <a:latin typeface="+mn-lt"/>
                <a:ea typeface="+mn-ea"/>
                <a:cs typeface="+mn-cs"/>
              </a:rPr>
              <a:t>TotalNetAmount</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OrderCriticality</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sz="1200" kern="1200" dirty="0" err="1">
                <a:solidFill>
                  <a:schemeClr val="tx1"/>
                </a:solidFill>
                <a:latin typeface="+mn-lt"/>
                <a:ea typeface="+mn-ea"/>
                <a:cs typeface="+mn-cs"/>
              </a:rPr>
              <a:t>OrderValue</a:t>
            </a:r>
            <a:r>
              <a:rPr lang="de-DE" dirty="0"/>
              <a:t> besitzt die Betragssemantik:</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OrderValue</a:t>
            </a:r>
            <a:endParaRPr lang="de-DE" sz="1200" kern="1200" dirty="0">
              <a:solidFill>
                <a:schemeClr val="tx1"/>
              </a:solidFill>
              <a:latin typeface="+mn-lt"/>
              <a:ea typeface="+mn-ea"/>
              <a:cs typeface="+mn-cs"/>
            </a:endParaRPr>
          </a:p>
          <a:p>
            <a:r>
              <a:rPr lang="de-DE" dirty="0"/>
              <a:t>Die beispielhafte Bewertung lautet:</a:t>
            </a:r>
          </a:p>
          <a:p>
            <a:pPr rtl="0"/>
            <a:r>
              <a:rPr lang="de-DE" sz="1200" kern="1200" dirty="0" err="1">
                <a:solidFill>
                  <a:schemeClr val="tx1"/>
                </a:solidFill>
                <a:latin typeface="+mn-lt"/>
                <a:ea typeface="+mn-ea"/>
                <a:cs typeface="+mn-cs"/>
              </a:rPr>
              <a:t>case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OrderValue</a:t>
            </a:r>
            <a:r>
              <a:rPr lang="de-DE" sz="1200" kern="1200" dirty="0">
                <a:solidFill>
                  <a:schemeClr val="tx1"/>
                </a:solidFill>
                <a:latin typeface="+mn-lt"/>
                <a:ea typeface="+mn-ea"/>
                <a:cs typeface="+mn-cs"/>
              </a:rPr>
              <a:t> &gt;= 5000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3</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OrderValue</a:t>
            </a:r>
            <a:r>
              <a:rPr lang="de-DE" sz="1200" kern="1200" dirty="0">
                <a:solidFill>
                  <a:schemeClr val="tx1"/>
                </a:solidFill>
                <a:latin typeface="+mn-lt"/>
                <a:ea typeface="+mn-ea"/>
                <a:cs typeface="+mn-cs"/>
              </a:rPr>
              <a:t> &gt;= 2000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2</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end as </a:t>
            </a:r>
            <a:r>
              <a:rPr lang="de-DE" sz="1200" kern="1200" dirty="0" err="1">
                <a:solidFill>
                  <a:schemeClr val="tx1"/>
                </a:solidFill>
                <a:latin typeface="+mn-lt"/>
                <a:ea typeface="+mn-ea"/>
                <a:cs typeface="+mn-cs"/>
              </a:rPr>
              <a:t>OrderValueCriticality</a:t>
            </a:r>
            <a:endParaRPr lang="de-DE" sz="1200" kern="1200" dirty="0">
              <a:solidFill>
                <a:schemeClr val="tx1"/>
              </a:solidFill>
              <a:latin typeface="+mn-lt"/>
              <a:ea typeface="+mn-ea"/>
              <a:cs typeface="+mn-cs"/>
            </a:endParaRPr>
          </a:p>
          <a:p>
            <a:endParaRPr lang="de-DE" b="1" dirty="0"/>
          </a:p>
          <a:p>
            <a:r>
              <a:rPr lang="de-DE" b="1" dirty="0"/>
              <a:t>Sprechertext</a:t>
            </a:r>
          </a:p>
          <a:p>
            <a:r>
              <a:rPr lang="de-DE" dirty="0"/>
              <a:t>Das Datenmodell liefert sowohl die Kennzahl als auch ihre fachliche Bewertung.</a:t>
            </a:r>
          </a:p>
          <a:p>
            <a:r>
              <a:rPr lang="de-DE" dirty="0"/>
              <a:t>Die UI muss weder den Auftragswert berechnen noch selbst entscheiden, ob dieser Wert positiv, kritisch oder negativ ist.</a:t>
            </a:r>
          </a:p>
          <a:p>
            <a:br>
              <a:rPr lang="de-DE" dirty="0"/>
            </a:br>
            <a:endParaRPr lang="de-DE" dirty="0"/>
          </a:p>
          <a:p>
            <a:r>
              <a:rPr lang="de-DE" b="1" dirty="0"/>
              <a:t>Schritt 2 – Data Point ergänzen</a:t>
            </a:r>
          </a:p>
          <a:p>
            <a:r>
              <a:rPr lang="de-DE" dirty="0"/>
              <a:t>In </a:t>
            </a:r>
            <a:r>
              <a:rPr lang="de-DE" sz="1200" kern="1200" dirty="0" err="1">
                <a:solidFill>
                  <a:schemeClr val="tx1"/>
                </a:solidFill>
                <a:latin typeface="+mn-lt"/>
                <a:ea typeface="+mn-ea"/>
                <a:cs typeface="+mn-cs"/>
              </a:rPr>
              <a:t>ZC_CDSOrder_UI</a:t>
            </a:r>
            <a:r>
              <a:rPr lang="de-DE" dirty="0"/>
              <a:t> am Element </a:t>
            </a:r>
            <a:r>
              <a:rPr lang="de-DE" sz="1200" kern="1200" dirty="0" err="1">
                <a:solidFill>
                  <a:schemeClr val="tx1"/>
                </a:solidFill>
                <a:latin typeface="+mn-lt"/>
                <a:ea typeface="+mn-ea"/>
                <a:cs typeface="+mn-cs"/>
              </a:rPr>
              <a:t>TotalNetAmount</a:t>
            </a:r>
            <a:r>
              <a:rPr lang="de-DE" dirty="0"/>
              <a:t>:</a:t>
            </a:r>
          </a:p>
          <a:p>
            <a:pPr rtl="0"/>
            <a:r>
              <a:rPr lang="de-DE" sz="1200" kern="1200" dirty="0">
                <a:solidFill>
                  <a:schemeClr val="tx1"/>
                </a:solidFill>
                <a:latin typeface="+mn-lt"/>
                <a:ea typeface="+mn-ea"/>
                <a:cs typeface="+mn-cs"/>
              </a:rPr>
              <a:t>@UI.dataPoint: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OrderValue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title:       'Auftragswert',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criticality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OrderValueCriticality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OrderValue</a:t>
            </a:r>
            <a:r>
              <a:rPr lang="de-DE" sz="1200" kern="1200" dirty="0">
                <a:solidFill>
                  <a:schemeClr val="tx1"/>
                </a:solidFill>
                <a:latin typeface="+mn-lt"/>
                <a:ea typeface="+mn-ea"/>
                <a:cs typeface="+mn-cs"/>
              </a:rPr>
              <a:t>;</a:t>
            </a:r>
          </a:p>
          <a:p>
            <a:r>
              <a:rPr lang="de-DE" b="1" dirty="0"/>
              <a:t>Aktion</a:t>
            </a:r>
          </a:p>
          <a:p>
            <a:pPr lvl="0"/>
            <a:r>
              <a:rPr lang="de-DE" dirty="0" err="1"/>
              <a:t>Metadata</a:t>
            </a:r>
            <a:r>
              <a:rPr lang="de-DE" dirty="0"/>
              <a:t> Extension aktivieren. </a:t>
            </a:r>
          </a:p>
          <a:p>
            <a:pPr lvl="0"/>
            <a:r>
              <a:rPr lang="de-DE" dirty="0" err="1"/>
              <a:t>Object</a:t>
            </a:r>
            <a:r>
              <a:rPr lang="de-DE" dirty="0"/>
              <a:t> Page vollständig aktualisieren. </a:t>
            </a:r>
          </a:p>
          <a:p>
            <a:pPr lvl="0"/>
            <a:r>
              <a:rPr lang="de-DE" dirty="0"/>
              <a:t>Kopfbereich betrachten. </a:t>
            </a:r>
          </a:p>
          <a:p>
            <a:r>
              <a:rPr lang="de-DE" b="1" dirty="0"/>
              <a:t>Erwartetes Ergebnis</a:t>
            </a:r>
          </a:p>
          <a:p>
            <a:r>
              <a:rPr lang="de-DE" dirty="0"/>
              <a:t>Der Auftragswert erscheint unmittelbar im Kopfbereich:</a:t>
            </a:r>
          </a:p>
          <a:p>
            <a:pPr rtl="0"/>
            <a:r>
              <a:rPr lang="de-DE" sz="1200" kern="1200" dirty="0">
                <a:solidFill>
                  <a:schemeClr val="tx1"/>
                </a:solidFill>
                <a:latin typeface="+mn-lt"/>
                <a:ea typeface="+mn-ea"/>
                <a:cs typeface="+mn-cs"/>
              </a:rPr>
              <a:t>Auftragswert</a:t>
            </a:r>
          </a:p>
          <a:p>
            <a:pPr rtl="0"/>
            <a:r>
              <a:rPr lang="de-DE" sz="1200" kern="1200" dirty="0">
                <a:solidFill>
                  <a:schemeClr val="tx1"/>
                </a:solidFill>
                <a:latin typeface="+mn-lt"/>
                <a:ea typeface="+mn-ea"/>
                <a:cs typeface="+mn-cs"/>
              </a:rPr>
              <a:t>6.270,10 EUR</a:t>
            </a:r>
          </a:p>
          <a:p>
            <a:r>
              <a:rPr lang="de-DE" dirty="0"/>
              <a:t>Die Darstellung berücksichtigt den Wert von </a:t>
            </a:r>
            <a:r>
              <a:rPr lang="de-DE" sz="1200" kern="1200" dirty="0" err="1">
                <a:solidFill>
                  <a:schemeClr val="tx1"/>
                </a:solidFill>
                <a:latin typeface="+mn-lt"/>
                <a:ea typeface="+mn-ea"/>
                <a:cs typeface="+mn-cs"/>
              </a:rPr>
              <a:t>OrderValueCriticality</a:t>
            </a:r>
            <a:r>
              <a:rPr lang="de-DE" dirty="0"/>
              <a:t>.</a:t>
            </a:r>
          </a:p>
          <a:p>
            <a:r>
              <a:rPr lang="de-DE" b="1" dirty="0"/>
              <a:t>Sprechertext</a:t>
            </a:r>
          </a:p>
          <a:p>
            <a:r>
              <a:rPr lang="de-DE" dirty="0"/>
              <a:t>Wir ergänzen nur den Data Point und keine weitere </a:t>
            </a:r>
            <a:r>
              <a:rPr lang="de-DE" dirty="0" err="1"/>
              <a:t>Facet</a:t>
            </a:r>
            <a:r>
              <a:rPr lang="de-DE" dirty="0"/>
              <a:t>.</a:t>
            </a:r>
          </a:p>
          <a:p>
            <a:r>
              <a:rPr lang="de-DE" dirty="0"/>
              <a:t>Nach der Aktivierung zeigt Fiori Elements die Kennzahl im Kopfbereich der </a:t>
            </a:r>
            <a:r>
              <a:rPr lang="de-DE" dirty="0" err="1"/>
              <a:t>Object</a:t>
            </a:r>
            <a:r>
              <a:rPr lang="de-DE" dirty="0"/>
              <a:t> Page an. Die Währung wird aufgrund der semantischen Verknüpfung gemeinsam mit dem Betrag dargestellt.</a:t>
            </a:r>
          </a:p>
          <a:p>
            <a:br>
              <a:rPr lang="de-DE" dirty="0"/>
            </a:br>
            <a:endParaRPr lang="de-DE" dirty="0"/>
          </a:p>
          <a:p>
            <a:r>
              <a:rPr lang="de-DE" b="1" dirty="0"/>
              <a:t>Schritt 3 – </a:t>
            </a:r>
            <a:r>
              <a:rPr lang="de-DE" b="1" dirty="0" err="1"/>
              <a:t>Criticality</a:t>
            </a:r>
            <a:r>
              <a:rPr lang="de-DE" b="1" dirty="0"/>
              <a:t> testen</a:t>
            </a:r>
          </a:p>
          <a:p>
            <a:r>
              <a:rPr lang="de-DE" b="1" dirty="0"/>
              <a:t>Aktion</a:t>
            </a:r>
          </a:p>
          <a:p>
            <a:r>
              <a:rPr lang="de-DE" dirty="0"/>
              <a:t>Aufträge mit unterschiedlichen Gesamtwerten öffnen:</a:t>
            </a:r>
          </a:p>
          <a:p>
            <a:pPr lvl="0"/>
            <a:r>
              <a:rPr lang="de-DE" dirty="0"/>
              <a:t>unter 2.000 EUR </a:t>
            </a:r>
          </a:p>
          <a:p>
            <a:pPr lvl="0"/>
            <a:r>
              <a:rPr lang="de-DE" dirty="0"/>
              <a:t>zwischen 2.000 und 5.000 EUR </a:t>
            </a:r>
          </a:p>
          <a:p>
            <a:pPr lvl="0"/>
            <a:r>
              <a:rPr lang="de-DE" dirty="0"/>
              <a:t>ab 5.000 EUR </a:t>
            </a:r>
          </a:p>
          <a:p>
            <a:r>
              <a:rPr lang="de-DE" b="1" dirty="0"/>
              <a:t>Erwartetes Ergebnis</a:t>
            </a:r>
          </a:p>
          <a:p>
            <a:r>
              <a:rPr lang="de-DE" dirty="0"/>
              <a:t>Der Data Point wechselt zwischen den semantischen Zuständen:</a:t>
            </a:r>
          </a:p>
          <a:p>
            <a:r>
              <a:rPr lang="de-DE" sz="1200" kern="1200" dirty="0" err="1">
                <a:solidFill>
                  <a:schemeClr val="tx1"/>
                </a:solidFill>
                <a:latin typeface="+mn-lt"/>
                <a:ea typeface="+mn-ea"/>
                <a:cs typeface="+mn-cs"/>
              </a:rPr>
              <a:t>OrderValueCriticality</a:t>
            </a:r>
            <a:r>
              <a:rPr lang="de-DE" sz="1200" kern="1200" dirty="0">
                <a:solidFill>
                  <a:schemeClr val="tx1"/>
                </a:solidFill>
                <a:latin typeface="+mn-lt"/>
                <a:ea typeface="+mn-ea"/>
                <a:cs typeface="+mn-cs"/>
              </a:rPr>
              <a:t> | </a:t>
            </a:r>
            <a:r>
              <a:rPr lang="de-DE" dirty="0"/>
              <a:t>Bewertung</a:t>
            </a:r>
          </a:p>
          <a:p>
            <a:r>
              <a:rPr lang="de-DE" sz="1200" kern="1200" dirty="0">
                <a:solidFill>
                  <a:schemeClr val="tx1"/>
                </a:solidFill>
                <a:latin typeface="+mn-lt"/>
                <a:ea typeface="+mn-ea"/>
                <a:cs typeface="+mn-cs"/>
              </a:rPr>
              <a:t>1                                 | </a:t>
            </a:r>
            <a:r>
              <a:rPr lang="de-DE" dirty="0"/>
              <a:t>negativ</a:t>
            </a:r>
          </a:p>
          <a:p>
            <a:r>
              <a:rPr lang="de-DE" sz="1200" kern="1200" dirty="0">
                <a:solidFill>
                  <a:schemeClr val="tx1"/>
                </a:solidFill>
                <a:latin typeface="+mn-lt"/>
                <a:ea typeface="+mn-ea"/>
                <a:cs typeface="+mn-cs"/>
              </a:rPr>
              <a:t>2                                | </a:t>
            </a:r>
            <a:r>
              <a:rPr lang="de-DE" dirty="0"/>
              <a:t>kritisch</a:t>
            </a:r>
          </a:p>
          <a:p>
            <a:r>
              <a:rPr lang="de-DE" sz="1200" kern="1200" dirty="0">
                <a:solidFill>
                  <a:schemeClr val="tx1"/>
                </a:solidFill>
                <a:latin typeface="+mn-lt"/>
                <a:ea typeface="+mn-ea"/>
                <a:cs typeface="+mn-cs"/>
              </a:rPr>
              <a:t>3                                | </a:t>
            </a:r>
            <a:r>
              <a:rPr lang="de-DE" dirty="0"/>
              <a:t>positiv</a:t>
            </a:r>
          </a:p>
          <a:p>
            <a:r>
              <a:rPr lang="de-DE" b="1" dirty="0"/>
              <a:t>Sprechertext</a:t>
            </a:r>
          </a:p>
          <a:p>
            <a:r>
              <a:rPr lang="de-DE" dirty="0"/>
              <a:t>Die Annotation bleibt für alle Aufträge identisch. Lediglich der Wert von </a:t>
            </a:r>
            <a:r>
              <a:rPr lang="de-DE" sz="1200" kern="1200" dirty="0" err="1">
                <a:solidFill>
                  <a:schemeClr val="tx1"/>
                </a:solidFill>
                <a:latin typeface="+mn-lt"/>
                <a:ea typeface="+mn-ea"/>
                <a:cs typeface="+mn-cs"/>
              </a:rPr>
              <a:t>OrderValueCriticality</a:t>
            </a:r>
            <a:r>
              <a:rPr lang="de-DE" dirty="0"/>
              <a:t> ändert sich.</a:t>
            </a:r>
          </a:p>
          <a:p>
            <a:r>
              <a:rPr lang="de-DE" dirty="0"/>
              <a:t>Dadurch erhält jeder Auftrag eine datenabhängige Darstellung, ohne dass wir UI-Logik in JavaScript implementieren.</a:t>
            </a:r>
          </a:p>
          <a:p>
            <a:br>
              <a:rPr lang="de-DE" dirty="0"/>
            </a:br>
            <a:endParaRPr lang="de-DE" dirty="0"/>
          </a:p>
          <a:p>
            <a:r>
              <a:rPr lang="de-DE" b="1" dirty="0"/>
              <a:t>Schritt 4 – Chart definieren</a:t>
            </a:r>
          </a:p>
          <a:p>
            <a:r>
              <a:rPr lang="de-DE" dirty="0"/>
              <a:t>In </a:t>
            </a:r>
            <a:r>
              <a:rPr lang="de-DE" sz="1200" kern="1200" dirty="0" err="1">
                <a:solidFill>
                  <a:schemeClr val="tx1"/>
                </a:solidFill>
                <a:latin typeface="+mn-lt"/>
                <a:ea typeface="+mn-ea"/>
                <a:cs typeface="+mn-cs"/>
              </a:rPr>
              <a:t>ZC_CDSOrderItem_UI</a:t>
            </a:r>
            <a:r>
              <a:rPr lang="de-DE" dirty="0"/>
              <a:t> vor </a:t>
            </a:r>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a:t>
            </a:r>
          </a:p>
          <a:p>
            <a:pPr rtl="0"/>
            <a:r>
              <a:rPr lang="de-DE" sz="1200" kern="1200" dirty="0">
                <a:solidFill>
                  <a:schemeClr val="tx1"/>
                </a:solidFill>
                <a:latin typeface="+mn-lt"/>
                <a:ea typeface="+mn-ea"/>
                <a:cs typeface="+mn-cs"/>
              </a:rPr>
              <a:t>@UI.chart: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qualifier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AmountByProduct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title:       'Auftragswert nach Produkt',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description</a:t>
            </a:r>
            <a:r>
              <a:rPr lang="de-DE" sz="1200" kern="1200" dirty="0">
                <a:solidFill>
                  <a:schemeClr val="tx1"/>
                </a:solidFill>
                <a:latin typeface="+mn-lt"/>
                <a:ea typeface="+mn-ea"/>
                <a:cs typeface="+mn-cs"/>
              </a:rPr>
              <a:t>: 'Nettobetrag der Auftragspositionen',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chartType</a:t>
            </a:r>
            <a:r>
              <a:rPr lang="de-DE" sz="1200" kern="1200" dirty="0">
                <a:solidFill>
                  <a:schemeClr val="tx1"/>
                </a:solidFill>
                <a:latin typeface="+mn-lt"/>
                <a:ea typeface="+mn-ea"/>
                <a:cs typeface="+mn-cs"/>
              </a:rPr>
              <a:t>:   #COLUMN,</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dimensions</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measures</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dimensionAttributes</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dimension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role</a:t>
            </a:r>
            <a:r>
              <a:rPr lang="de-DE" sz="1200" kern="1200" dirty="0">
                <a:solidFill>
                  <a:schemeClr val="tx1"/>
                </a:solidFill>
                <a:latin typeface="+mn-lt"/>
                <a:ea typeface="+mn-ea"/>
                <a:cs typeface="+mn-cs"/>
              </a:rPr>
              <a:t>:      #CATEGORY</a:t>
            </a:r>
          </a:p>
          <a:p>
            <a:pPr rtl="0"/>
            <a:r>
              <a:rPr lang="de-DE" sz="1200" kern="1200" dirty="0">
                <a:solidFill>
                  <a:schemeClr val="tx1"/>
                </a:solidFill>
                <a:latin typeface="+mn-lt"/>
                <a:ea typeface="+mn-ea"/>
                <a:cs typeface="+mn-cs"/>
              </a:rPr>
              <a:t>  }],</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measureAttributes</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measure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role</a:t>
            </a:r>
            <a:r>
              <a:rPr lang="de-DE" sz="1200" kern="1200" dirty="0">
                <a:solidFill>
                  <a:schemeClr val="tx1"/>
                </a:solidFill>
                <a:latin typeface="+mn-lt"/>
                <a:ea typeface="+mn-ea"/>
                <a:cs typeface="+mn-cs"/>
              </a:rPr>
              <a:t>:    #AXIS_1</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dirty="0"/>
              <a:t>Damit beschreibt die Positionsentität:</a:t>
            </a:r>
          </a:p>
          <a:p>
            <a:pPr lvl="0"/>
            <a:r>
              <a:rPr lang="de-DE" sz="1200" kern="1200" dirty="0" err="1">
                <a:solidFill>
                  <a:schemeClr val="tx1"/>
                </a:solidFill>
                <a:latin typeface="+mn-lt"/>
                <a:ea typeface="+mn-ea"/>
                <a:cs typeface="+mn-cs"/>
              </a:rPr>
              <a:t>ProductName</a:t>
            </a:r>
            <a:r>
              <a:rPr lang="de-DE" dirty="0"/>
              <a:t> als Dimension </a:t>
            </a:r>
          </a:p>
          <a:p>
            <a:pPr lvl="0"/>
            <a:r>
              <a:rPr lang="de-DE" sz="1200" kern="1200" dirty="0" err="1">
                <a:solidFill>
                  <a:schemeClr val="tx1"/>
                </a:solidFill>
                <a:latin typeface="+mn-lt"/>
                <a:ea typeface="+mn-ea"/>
                <a:cs typeface="+mn-cs"/>
              </a:rPr>
              <a:t>NetAmount</a:t>
            </a:r>
            <a:r>
              <a:rPr lang="de-DE" dirty="0"/>
              <a:t> als Kennzahl </a:t>
            </a:r>
          </a:p>
          <a:p>
            <a:pPr lvl="0"/>
            <a:r>
              <a:rPr lang="de-DE" dirty="0"/>
              <a:t>ein Säulendiagramm als Darstellung </a:t>
            </a:r>
          </a:p>
          <a:p>
            <a:br>
              <a:rPr lang="de-DE" dirty="0"/>
            </a:br>
            <a:endParaRPr lang="de-DE" dirty="0"/>
          </a:p>
          <a:p>
            <a:r>
              <a:rPr lang="de-DE" b="1" dirty="0"/>
              <a:t>Schritt 5 – Chart-</a:t>
            </a:r>
            <a:r>
              <a:rPr lang="de-DE" b="1" dirty="0" err="1"/>
              <a:t>Facet</a:t>
            </a:r>
            <a:r>
              <a:rPr lang="de-DE" b="1" dirty="0"/>
              <a:t> ergänzen</a:t>
            </a:r>
          </a:p>
          <a:p>
            <a:r>
              <a:rPr lang="de-DE" dirty="0"/>
              <a:t>In </a:t>
            </a:r>
            <a:r>
              <a:rPr lang="de-DE" sz="1200" kern="1200" dirty="0" err="1">
                <a:solidFill>
                  <a:schemeClr val="tx1"/>
                </a:solidFill>
                <a:latin typeface="+mn-lt"/>
                <a:ea typeface="+mn-ea"/>
                <a:cs typeface="+mn-cs"/>
              </a:rPr>
              <a:t>ZC_CDSOrder_UI</a:t>
            </a:r>
            <a:r>
              <a:rPr lang="de-DE" dirty="0"/>
              <a:t>:</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ProductChart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#CHART_REFERENCE,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AmountByProduct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'Auftragswert nach Produkt',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a:t>
            </a:r>
          </a:p>
          <a:p>
            <a:r>
              <a:rPr lang="de-DE" dirty="0"/>
              <a:t>Die Positionstabelle bleibt auf Position 40:</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#LINEITEM_REFERENCE,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'Auftragspositionen',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a:t>
            </a:r>
          </a:p>
          <a:p>
            <a:br>
              <a:rPr lang="de-DE" dirty="0"/>
            </a:br>
            <a:endParaRPr lang="de-DE" dirty="0"/>
          </a:p>
          <a:p>
            <a:r>
              <a:rPr lang="de-DE" b="1" dirty="0"/>
              <a:t>Vollständige </a:t>
            </a:r>
            <a:r>
              <a:rPr lang="de-DE" b="1" dirty="0" err="1"/>
              <a:t>Facet</a:t>
            </a:r>
            <a:r>
              <a:rPr lang="de-DE" b="1" dirty="0"/>
              <a:t>-Liste</a:t>
            </a:r>
          </a:p>
          <a:p>
            <a:pPr rtl="0"/>
            <a:r>
              <a:rPr lang="de-DE" sz="1200" kern="1200" dirty="0">
                <a:solidFill>
                  <a:schemeClr val="tx1"/>
                </a:solidFill>
                <a:latin typeface="+mn-lt"/>
                <a:ea typeface="+mn-ea"/>
                <a:cs typeface="+mn-cs"/>
              </a:rPr>
              <a:t>@UI.facet: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Identification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#IDENTIFICATION_REFERENCE,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10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'General',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20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#FIELDGROUP_REFERENCE,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'Customer',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30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#LINEITEM_REFERENCE,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'Auftragspositionen',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40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ProductChart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purpose</a:t>
            </a:r>
            <a:r>
              <a:rPr lang="de-DE" sz="1200" kern="1200" dirty="0">
                <a:solidFill>
                  <a:schemeClr val="tx1"/>
                </a:solidFill>
                <a:latin typeface="+mn-lt"/>
                <a:ea typeface="+mn-ea"/>
                <a:cs typeface="+mn-cs"/>
              </a:rPr>
              <a:t>:         #STANDARD,</a:t>
            </a:r>
          </a:p>
          <a:p>
            <a:pPr rtl="0"/>
            <a:r>
              <a:rPr lang="de-DE" sz="1200" kern="1200" dirty="0">
                <a:solidFill>
                  <a:schemeClr val="tx1"/>
                </a:solidFill>
                <a:latin typeface="+mn-lt"/>
                <a:ea typeface="+mn-ea"/>
                <a:cs typeface="+mn-cs"/>
              </a:rPr>
              <a:t>    type:            #CHART_REFERENCE,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targetElement</a:t>
            </a:r>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targetQualifier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AmountByProduct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label</a:t>
            </a:r>
            <a:r>
              <a:rPr lang="de-DE" sz="1200" kern="1200" dirty="0">
                <a:solidFill>
                  <a:schemeClr val="tx1"/>
                </a:solidFill>
                <a:latin typeface="+mn-lt"/>
                <a:ea typeface="+mn-ea"/>
                <a:cs typeface="+mn-cs"/>
              </a:rPr>
              <a:t>:           'Auftragswert nach Produkt',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50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endParaRPr lang="de-DE" b="1" dirty="0"/>
          </a:p>
          <a:p>
            <a:r>
              <a:rPr lang="de-DE" b="1" dirty="0"/>
              <a:t>Ergebnis</a:t>
            </a:r>
          </a:p>
          <a:p>
            <a:pPr rtl="0"/>
            <a:r>
              <a:rPr lang="de-DE" sz="1200" kern="1200" dirty="0" err="1">
                <a:solidFill>
                  <a:schemeClr val="tx1"/>
                </a:solidFill>
                <a:latin typeface="+mn-lt"/>
                <a:ea typeface="+mn-ea"/>
                <a:cs typeface="+mn-cs"/>
              </a:rPr>
              <a:t>Object</a:t>
            </a:r>
            <a:r>
              <a:rPr lang="de-DE" sz="1200" kern="1200" dirty="0">
                <a:solidFill>
                  <a:schemeClr val="tx1"/>
                </a:solidFill>
                <a:latin typeface="+mn-lt"/>
                <a:ea typeface="+mn-ea"/>
                <a:cs typeface="+mn-cs"/>
              </a:rPr>
              <a:t> Page</a:t>
            </a:r>
          </a:p>
          <a:p>
            <a:pPr rtl="0"/>
            <a:r>
              <a:rPr lang="de-DE" sz="1200" kern="1200" dirty="0">
                <a:solidFill>
                  <a:schemeClr val="tx1"/>
                </a:solidFill>
                <a:latin typeface="+mn-lt"/>
                <a:ea typeface="+mn-ea"/>
                <a:cs typeface="+mn-cs"/>
              </a:rPr>
              <a:t>├─ Kopfbereich</a:t>
            </a:r>
          </a:p>
          <a:p>
            <a:pPr rtl="0"/>
            <a:r>
              <a:rPr lang="de-DE" sz="1200" kern="1200" dirty="0">
                <a:solidFill>
                  <a:schemeClr val="tx1"/>
                </a:solidFill>
                <a:latin typeface="+mn-lt"/>
                <a:ea typeface="+mn-ea"/>
                <a:cs typeface="+mn-cs"/>
              </a:rPr>
              <a:t>│  └─ Auftragswert mit </a:t>
            </a:r>
            <a:r>
              <a:rPr lang="de-DE" sz="1200" kern="1200" dirty="0" err="1">
                <a:solidFill>
                  <a:schemeClr val="tx1"/>
                </a:solidFill>
                <a:latin typeface="+mn-lt"/>
                <a:ea typeface="+mn-ea"/>
                <a:cs typeface="+mn-cs"/>
              </a:rPr>
              <a:t>Criticality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Auftrag</a:t>
            </a:r>
          </a:p>
          <a:p>
            <a:pPr rtl="0"/>
            <a:r>
              <a:rPr lang="de-DE" sz="1200" kern="1200" dirty="0">
                <a:solidFill>
                  <a:schemeClr val="tx1"/>
                </a:solidFill>
                <a:latin typeface="+mn-lt"/>
                <a:ea typeface="+mn-ea"/>
                <a:cs typeface="+mn-cs"/>
              </a:rPr>
              <a:t>├─ Allgemeine Daten</a:t>
            </a:r>
          </a:p>
          <a:p>
            <a:pPr rtl="0"/>
            <a:r>
              <a:rPr lang="de-DE" sz="1200" kern="1200" dirty="0">
                <a:solidFill>
                  <a:schemeClr val="tx1"/>
                </a:solidFill>
                <a:latin typeface="+mn-lt"/>
                <a:ea typeface="+mn-ea"/>
                <a:cs typeface="+mn-cs"/>
              </a:rPr>
              <a:t>├─ Kundendaten</a:t>
            </a:r>
          </a:p>
          <a:p>
            <a:pPr rtl="0"/>
            <a:r>
              <a:rPr lang="de-DE" sz="1200" kern="1200" dirty="0">
                <a:solidFill>
                  <a:schemeClr val="tx1"/>
                </a:solidFill>
                <a:latin typeface="+mn-lt"/>
                <a:ea typeface="+mn-ea"/>
                <a:cs typeface="+mn-cs"/>
              </a:rPr>
              <a:t>├─ Auftragspositionen</a:t>
            </a:r>
          </a:p>
          <a:p>
            <a:pPr rtl="0"/>
            <a:r>
              <a:rPr lang="de-DE" sz="1200" kern="1200" dirty="0">
                <a:solidFill>
                  <a:schemeClr val="tx1"/>
                </a:solidFill>
                <a:latin typeface="+mn-lt"/>
                <a:ea typeface="+mn-ea"/>
                <a:cs typeface="+mn-cs"/>
              </a:rPr>
              <a:t>└─ Auftragswert nach Produkt</a:t>
            </a:r>
          </a:p>
          <a:p>
            <a:endParaRPr lang="de-DE" dirty="0"/>
          </a:p>
          <a:p>
            <a:r>
              <a:rPr lang="de-DE" dirty="0"/>
              <a:t>Für den Foliensatz sollten wir daher festhalten:</a:t>
            </a:r>
          </a:p>
          <a:p>
            <a:r>
              <a:rPr lang="de-DE" sz="1200" kern="1200" dirty="0">
                <a:solidFill>
                  <a:schemeClr val="tx1"/>
                </a:solidFill>
                <a:latin typeface="+mn-lt"/>
                <a:ea typeface="+mn-ea"/>
                <a:cs typeface="+mn-cs"/>
              </a:rPr>
              <a:t>@UI.dataPoint</a:t>
            </a:r>
            <a:r>
              <a:rPr lang="de-DE" dirty="0"/>
              <a:t> erzeugt in unserer Fiori-Elements-Anwendung bereits die Kennzahl im Kopfbereich. Eine zusätzliche </a:t>
            </a:r>
            <a:r>
              <a:rPr lang="de-DE" sz="1200" kern="1200" dirty="0">
                <a:solidFill>
                  <a:schemeClr val="tx1"/>
                </a:solidFill>
                <a:latin typeface="+mn-lt"/>
                <a:ea typeface="+mn-ea"/>
                <a:cs typeface="+mn-cs"/>
              </a:rPr>
              <a:t>#DATAPOINT_REFERENCE</a:t>
            </a:r>
            <a:r>
              <a:rPr lang="de-DE" dirty="0"/>
              <a:t> im Inhaltsbereich ist weder erforderlich noch in der getesteten Darstellung wirksam.</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39</a:t>
            </a:fld>
            <a:endParaRPr lang="de-DE" dirty="0"/>
          </a:p>
        </p:txBody>
      </p:sp>
    </p:spTree>
    <p:extLst>
      <p:ext uri="{BB962C8B-B14F-4D97-AF65-F5344CB8AC3E}">
        <p14:creationId xmlns:p14="http://schemas.microsoft.com/office/powerpoint/2010/main" val="27599622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der Fiori-Elements-Anwendung haben wir bisher einzelne Aufträge betrachtet.</a:t>
            </a:r>
          </a:p>
          <a:p>
            <a:endParaRPr lang="de-DE" dirty="0"/>
          </a:p>
          <a:p>
            <a:r>
              <a:rPr lang="de-DE" dirty="0"/>
              <a:t>Der List Report zeigt zwar mehrere Aufträge, aber seine Aufgabe besteht weiterhin darin, konkrete Geschäftsobjekte zu suchen und zu öffnen. Auch das Diagramm auf der </a:t>
            </a:r>
            <a:r>
              <a:rPr lang="de-DE" dirty="0" err="1"/>
              <a:t>Object</a:t>
            </a:r>
            <a:r>
              <a:rPr lang="de-DE" dirty="0"/>
              <a:t> Page bezieht sich immer nur auf den aktuell ausgewählten Auftrag.</a:t>
            </a:r>
          </a:p>
          <a:p>
            <a:endParaRPr lang="de-DE" dirty="0"/>
          </a:p>
          <a:p>
            <a:r>
              <a:rPr lang="de-DE" dirty="0"/>
              <a:t>Eine analytische Query verfolgt einen anderen Ansatz. Sie betrachtet die Daten vieler Aufträge gemeinsam und aggregiert die Kennzahlen nach frei wählbaren Merkmalen.</a:t>
            </a:r>
          </a:p>
          <a:p>
            <a:endParaRPr lang="de-DE" dirty="0"/>
          </a:p>
          <a:p>
            <a:r>
              <a:rPr lang="de-DE" dirty="0"/>
              <a:t>Der Anwender kann beispielsweise zunächst den Umsatz nach Verkaufsorganisation anzeigen und anschließend zusätzlich nach Produkt oder Datum aufschlüsseln.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40</a:t>
            </a:fld>
            <a:endParaRPr lang="de-DE" dirty="0"/>
          </a:p>
        </p:txBody>
      </p:sp>
    </p:spTree>
    <p:extLst>
      <p:ext uri="{BB962C8B-B14F-4D97-AF65-F5344CB8AC3E}">
        <p14:creationId xmlns:p14="http://schemas.microsoft.com/office/powerpoint/2010/main" val="38447563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Analytische Modelle unterscheiden zwischen Merkmalen und Kennzahlen.</a:t>
            </a:r>
          </a:p>
          <a:p>
            <a:endParaRPr lang="de-DE" dirty="0"/>
          </a:p>
          <a:p>
            <a:r>
              <a:rPr lang="de-DE" dirty="0"/>
              <a:t>Merkmale beschreiben, wie Daten gegliedert werden können. Dazu gehören beispielsweise Produkt, Kunde, Verkaufsorganisation und Datum.</a:t>
            </a:r>
          </a:p>
          <a:p>
            <a:endParaRPr lang="de-DE" dirty="0"/>
          </a:p>
          <a:p>
            <a:r>
              <a:rPr lang="de-DE" dirty="0"/>
              <a:t>Kennzahlen sind numerische Werte, die ausgewertet und in der Regel aggregiert werden. In unserem Beispiel verwenden wir den Nettobetrag.</a:t>
            </a:r>
          </a:p>
          <a:p>
            <a:endParaRPr lang="de-DE" dirty="0"/>
          </a:p>
          <a:p>
            <a:r>
              <a:rPr lang="de-DE" dirty="0"/>
              <a:t>Die grundlegende analytische Fragestellung kombiniert beides: Wir möchten eine Kennzahl nach einem oder mehreren Merkmalen betrachten.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41</a:t>
            </a:fld>
            <a:endParaRPr lang="de-DE" dirty="0"/>
          </a:p>
        </p:txBody>
      </p:sp>
    </p:spTree>
    <p:extLst>
      <p:ext uri="{BB962C8B-B14F-4D97-AF65-F5344CB8AC3E}">
        <p14:creationId xmlns:p14="http://schemas.microsoft.com/office/powerpoint/2010/main" val="10241462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analytisches Modell besteht aus drei Ebenen.</a:t>
            </a:r>
          </a:p>
          <a:p>
            <a:endParaRPr lang="de-DE" dirty="0"/>
          </a:p>
          <a:p>
            <a:r>
              <a:rPr lang="de-DE" dirty="0"/>
              <a:t>Die Produktdimension beschreibt die Produkte. Sie stellt den fachlichen Produktschlüssel, den Produktnamen und weitere Attribute bereit.</a:t>
            </a:r>
          </a:p>
          <a:p>
            <a:endParaRPr lang="de-DE" dirty="0"/>
          </a:p>
          <a:p>
            <a:r>
              <a:rPr lang="de-DE" dirty="0"/>
              <a:t>Der Cube enthält die Fakten. Eine Zeile des Cubes entspricht zunächst einer Auftragsposition. Diese Zeile besitzt Merkmale wie Produkt und Verkaufsorganisation sowie die Kennzahl Nettobetrag.</a:t>
            </a:r>
          </a:p>
          <a:p>
            <a:endParaRPr lang="de-DE" dirty="0"/>
          </a:p>
          <a:p>
            <a:r>
              <a:rPr lang="de-DE" dirty="0"/>
              <a:t>Die Query legt schließlich fest, welche Merkmale und Kennzahlen in der anfänglichen Auswertung erscheinen und welche Elemente für weitere Analysen zur Verfügung stehen.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42</a:t>
            </a:fld>
            <a:endParaRPr lang="de-DE" dirty="0"/>
          </a:p>
        </p:txBody>
      </p:sp>
    </p:spTree>
    <p:extLst>
      <p:ext uri="{BB962C8B-B14F-4D97-AF65-F5344CB8AC3E}">
        <p14:creationId xmlns:p14="http://schemas.microsoft.com/office/powerpoint/2010/main" val="19062202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Dimension stellt Stammdaten für die analytische Auswertung bereit.</a:t>
            </a:r>
          </a:p>
          <a:p>
            <a:endParaRPr lang="de-DE" dirty="0"/>
          </a:p>
          <a:p>
            <a:r>
              <a:rPr lang="de-DE" dirty="0"/>
              <a:t>Unsere Produktdimension wird mit </a:t>
            </a:r>
            <a:r>
              <a:rPr lang="de-DE" sz="1200" kern="1200" dirty="0">
                <a:solidFill>
                  <a:schemeClr val="tx1"/>
                </a:solidFill>
                <a:latin typeface="+mn-lt"/>
                <a:ea typeface="+mn-ea"/>
                <a:cs typeface="+mn-cs"/>
              </a:rPr>
              <a:t>@Analytics.dataCategory: #DIMENSION</a:t>
            </a:r>
            <a:r>
              <a:rPr lang="de-DE" dirty="0"/>
              <a:t> gekennzeichnet.</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ProductId</a:t>
            </a:r>
            <a:r>
              <a:rPr lang="de-DE" dirty="0"/>
              <a:t> ist der repräsentative Schlüssel. Er identifiziert den fachlichen Dimensionswert, während </a:t>
            </a:r>
            <a:r>
              <a:rPr lang="de-DE" sz="1200" kern="1200" dirty="0" err="1">
                <a:solidFill>
                  <a:schemeClr val="tx1"/>
                </a:solidFill>
                <a:latin typeface="+mn-lt"/>
                <a:ea typeface="+mn-ea"/>
                <a:cs typeface="+mn-cs"/>
              </a:rPr>
              <a:t>ProductName</a:t>
            </a:r>
            <a:r>
              <a:rPr lang="de-DE" dirty="0"/>
              <a:t> den lesbaren Text liefert.</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CategoryId</a:t>
            </a:r>
            <a:r>
              <a:rPr lang="de-DE" dirty="0"/>
              <a:t> ist zunächst ein normales Attribut der Produktdimension. Im nächsten Abschnitt bauen wir darauf eine Produkthierarchie auf.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43</a:t>
            </a:fld>
            <a:endParaRPr lang="de-DE" dirty="0"/>
          </a:p>
        </p:txBody>
      </p:sp>
    </p:spTree>
    <p:extLst>
      <p:ext uri="{BB962C8B-B14F-4D97-AF65-F5344CB8AC3E}">
        <p14:creationId xmlns:p14="http://schemas.microsoft.com/office/powerpoint/2010/main" val="16556508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Cube enthält die Fakten unseres analytischen Modells.</a:t>
            </a:r>
          </a:p>
          <a:p>
            <a:endParaRPr lang="de-DE" dirty="0"/>
          </a:p>
          <a:p>
            <a:r>
              <a:rPr lang="de-DE" dirty="0"/>
              <a:t>Seine Granularität wird durch die Schlüssel bestimmt. In unserem Fall entspricht jede Zeile einer Auftragsposition, identifiziert durch Auftragsnummer und Positionsnummer.</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NetAmount</a:t>
            </a:r>
            <a:r>
              <a:rPr lang="de-DE" dirty="0"/>
              <a:t> ist eine Kennzahl. Mit </a:t>
            </a:r>
            <a:r>
              <a:rPr lang="de-DE" sz="1200" kern="1200" dirty="0">
                <a:solidFill>
                  <a:schemeClr val="tx1"/>
                </a:solidFill>
                <a:latin typeface="+mn-lt"/>
                <a:ea typeface="+mn-ea"/>
                <a:cs typeface="+mn-cs"/>
              </a:rPr>
              <a:t>@Aggregation.default: #SUM</a:t>
            </a:r>
            <a:r>
              <a:rPr lang="de-DE" dirty="0"/>
              <a:t> legen wir fest, dass die Werte standardmäßig summiert werden.</a:t>
            </a:r>
          </a:p>
          <a:p>
            <a:endParaRPr lang="de-DE" dirty="0"/>
          </a:p>
          <a:p>
            <a:r>
              <a:rPr lang="de-DE" dirty="0"/>
              <a:t>Die Query entscheidet später dynamisch, über welche Merkmale diese Summe gebildet wird.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44</a:t>
            </a:fld>
            <a:endParaRPr lang="de-DE" dirty="0"/>
          </a:p>
        </p:txBody>
      </p:sp>
    </p:spTree>
    <p:extLst>
      <p:ext uri="{BB962C8B-B14F-4D97-AF65-F5344CB8AC3E}">
        <p14:creationId xmlns:p14="http://schemas.microsoft.com/office/powerpoint/2010/main" val="4398139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analytische Query wird als transiente View Entity mit dem Provider </a:t>
            </a:r>
            <a:r>
              <a:rPr lang="de-DE" dirty="0" err="1"/>
              <a:t>Contract</a:t>
            </a:r>
            <a:r>
              <a:rPr lang="de-DE" dirty="0"/>
              <a:t> </a:t>
            </a:r>
            <a:r>
              <a:rPr lang="de-DE" sz="1200" kern="1200" dirty="0" err="1">
                <a:solidFill>
                  <a:schemeClr val="tx1"/>
                </a:solidFill>
                <a:latin typeface="+mn-lt"/>
                <a:ea typeface="+mn-ea"/>
                <a:cs typeface="+mn-cs"/>
              </a:rPr>
              <a:t>analytical_query</a:t>
            </a:r>
            <a:r>
              <a:rPr lang="de-DE" dirty="0"/>
              <a:t> definiert.</a:t>
            </a:r>
          </a:p>
          <a:p>
            <a:endParaRPr lang="de-DE" dirty="0"/>
          </a:p>
          <a:p>
            <a:r>
              <a:rPr lang="de-DE" dirty="0"/>
              <a:t>Transient bedeutet, dass sie nicht wie eine gewöhnliche CDS View Entity als persistente SQL-Sicht beziehungsweise allgemeine SQL-Datenquelle gedacht ist. Sie wird von der Analytical Engine ausgewertet.</a:t>
            </a:r>
          </a:p>
          <a:p>
            <a:endParaRPr lang="de-DE" dirty="0"/>
          </a:p>
          <a:p>
            <a:r>
              <a:rPr lang="de-DE" dirty="0"/>
              <a:t>Mit </a:t>
            </a:r>
            <a:r>
              <a:rPr lang="de-DE" sz="1200" kern="1200" dirty="0">
                <a:solidFill>
                  <a:schemeClr val="tx1"/>
                </a:solidFill>
                <a:latin typeface="+mn-lt"/>
                <a:ea typeface="+mn-ea"/>
                <a:cs typeface="+mn-cs"/>
              </a:rPr>
              <a:t>@AnalyticsDetails.query.axis</a:t>
            </a:r>
            <a:r>
              <a:rPr lang="de-DE" dirty="0"/>
              <a:t> ordnen wir ihre Elemente verschiedenen Bereichen der initialen Darstellung zu.</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ProductName</a:t>
            </a:r>
            <a:r>
              <a:rPr lang="de-DE" dirty="0"/>
              <a:t> erscheint in den Zeilen, </a:t>
            </a:r>
            <a:r>
              <a:rPr lang="de-DE" sz="1200" kern="1200" dirty="0" err="1">
                <a:solidFill>
                  <a:schemeClr val="tx1"/>
                </a:solidFill>
                <a:latin typeface="+mn-lt"/>
                <a:ea typeface="+mn-ea"/>
                <a:cs typeface="+mn-cs"/>
              </a:rPr>
              <a:t>NetAmount</a:t>
            </a:r>
            <a:r>
              <a:rPr lang="de-DE" dirty="0"/>
              <a:t> in den Spalten. Die Verkaufsorganisation stellen wir zunächst als freies Merkmal bereit.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45</a:t>
            </a:fld>
            <a:endParaRPr lang="de-DE" dirty="0"/>
          </a:p>
        </p:txBody>
      </p:sp>
    </p:spTree>
    <p:extLst>
      <p:ext uri="{BB962C8B-B14F-4D97-AF65-F5344CB8AC3E}">
        <p14:creationId xmlns:p14="http://schemas.microsoft.com/office/powerpoint/2010/main" val="4113995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Achsenzuordnung legt die anfängliche Darstellung fest.</a:t>
            </a:r>
          </a:p>
          <a:p>
            <a:endParaRPr lang="de-DE" dirty="0"/>
          </a:p>
          <a:p>
            <a:r>
              <a:rPr lang="de-DE" dirty="0"/>
              <a:t>Elemente auf </a:t>
            </a:r>
            <a:r>
              <a:rPr lang="de-DE" sz="1200" kern="1200" dirty="0">
                <a:solidFill>
                  <a:schemeClr val="tx1"/>
                </a:solidFill>
                <a:latin typeface="+mn-lt"/>
                <a:ea typeface="+mn-ea"/>
                <a:cs typeface="+mn-cs"/>
              </a:rPr>
              <a:t>#ROWS</a:t>
            </a:r>
            <a:r>
              <a:rPr lang="de-DE" dirty="0"/>
              <a:t> bilden den initialen Drilldown. Werden Verkaufsorganisation und Produkt dort eingeordnet, gruppiert die Analytical Engine die Werte zunächst nach diesen beiden Merkmalen.</a:t>
            </a:r>
          </a:p>
          <a:p>
            <a:endParaRPr lang="de-DE" dirty="0"/>
          </a:p>
          <a:p>
            <a:r>
              <a:rPr lang="de-DE" dirty="0"/>
              <a:t>Auf </a:t>
            </a:r>
            <a:r>
              <a:rPr lang="de-DE" sz="1200" kern="1200" dirty="0">
                <a:solidFill>
                  <a:schemeClr val="tx1"/>
                </a:solidFill>
                <a:latin typeface="+mn-lt"/>
                <a:ea typeface="+mn-ea"/>
                <a:cs typeface="+mn-cs"/>
              </a:rPr>
              <a:t>#COLUMNS</a:t>
            </a:r>
            <a:r>
              <a:rPr lang="de-DE" dirty="0"/>
              <a:t> befindet sich in unserem Beispiel der Nettobetrag.</a:t>
            </a:r>
          </a:p>
          <a:p>
            <a:endParaRPr lang="de-DE" dirty="0"/>
          </a:p>
          <a:p>
            <a:r>
              <a:rPr lang="de-DE" dirty="0"/>
              <a:t>Mit </a:t>
            </a:r>
            <a:r>
              <a:rPr lang="de-DE" sz="1200" kern="1200" dirty="0">
                <a:solidFill>
                  <a:schemeClr val="tx1"/>
                </a:solidFill>
                <a:latin typeface="+mn-lt"/>
                <a:ea typeface="+mn-ea"/>
                <a:cs typeface="+mn-cs"/>
              </a:rPr>
              <a:t>#FREE</a:t>
            </a:r>
            <a:r>
              <a:rPr lang="de-DE" dirty="0"/>
              <a:t> stellen wir Merkmale bereit, die der Anwender später in die Analyse aufnehmen kann. Dadurch ist die Query flexibler als eine fest gruppierte SQL-Aggregation.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46</a:t>
            </a:fld>
            <a:endParaRPr lang="de-DE" dirty="0"/>
          </a:p>
        </p:txBody>
      </p:sp>
    </p:spTree>
    <p:extLst>
      <p:ext uri="{BB962C8B-B14F-4D97-AF65-F5344CB8AC3E}">
        <p14:creationId xmlns:p14="http://schemas.microsoft.com/office/powerpoint/2010/main" val="22700418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Schritt 1 – Produktdimension anlegen</a:t>
            </a:r>
          </a:p>
          <a:p>
            <a:r>
              <a:rPr lang="de-DE" b="1" dirty="0"/>
              <a:t>Neues Data Definition </a:t>
            </a:r>
            <a:r>
              <a:rPr lang="de-DE" b="1" dirty="0" err="1"/>
              <a:t>Object</a:t>
            </a:r>
            <a:endParaRPr lang="de-DE" b="1" dirty="0"/>
          </a:p>
          <a:p>
            <a:pPr rtl="0"/>
            <a:r>
              <a:rPr lang="de-DE" sz="1200" kern="1200" dirty="0" err="1">
                <a:solidFill>
                  <a:schemeClr val="tx1"/>
                </a:solidFill>
                <a:latin typeface="+mn-lt"/>
                <a:ea typeface="+mn-ea"/>
                <a:cs typeface="+mn-cs"/>
              </a:rPr>
              <a:t>ZI_CDSProductDim</a:t>
            </a:r>
            <a:endParaRPr lang="de-DE" sz="1200" kern="1200" dirty="0">
              <a:solidFill>
                <a:schemeClr val="tx1"/>
              </a:solidFill>
              <a:latin typeface="+mn-lt"/>
              <a:ea typeface="+mn-ea"/>
              <a:cs typeface="+mn-cs"/>
            </a:endParaRPr>
          </a:p>
          <a:p>
            <a:r>
              <a:rPr lang="de-DE" b="1" dirty="0"/>
              <a:t>Coding</a:t>
            </a:r>
          </a:p>
          <a:p>
            <a:pPr rtl="0"/>
            <a:r>
              <a:rPr lang="de-DE" sz="1200" kern="1200" dirty="0">
                <a:solidFill>
                  <a:schemeClr val="tx1"/>
                </a:solidFill>
                <a:latin typeface="+mn-lt"/>
                <a:ea typeface="+mn-ea"/>
                <a:cs typeface="+mn-cs"/>
              </a:rPr>
              <a:t>@EndUserText.label: 'CDS Workshop: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Dimension'</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@Analytics.dataCategory: #DIMENSION</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@ObjectModel: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representativeKey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supportedCapabilities</a:t>
            </a:r>
            <a:r>
              <a:rPr lang="de-DE" sz="1200" kern="1200" dirty="0">
                <a:solidFill>
                  <a:schemeClr val="tx1"/>
                </a:solidFill>
                <a:latin typeface="+mn-lt"/>
                <a:ea typeface="+mn-ea"/>
                <a:cs typeface="+mn-cs"/>
              </a:rPr>
              <a:t>: [ #ANALYTICAL_DIMENSION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modelingPattern</a:t>
            </a:r>
            <a:r>
              <a:rPr lang="de-DE" sz="1200" kern="1200" dirty="0">
                <a:solidFill>
                  <a:schemeClr val="tx1"/>
                </a:solidFill>
                <a:latin typeface="+mn-lt"/>
                <a:ea typeface="+mn-ea"/>
                <a:cs typeface="+mn-cs"/>
              </a:rPr>
              <a:t>: #ANALYTICAL_DIMENSION</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ZI_CDSProductDim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@ObjectModel.text.element: [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@Semantics.text: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CategoryId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Aktion</a:t>
            </a:r>
          </a:p>
          <a:p>
            <a:pPr lvl="0"/>
            <a:r>
              <a:rPr lang="de-DE" dirty="0"/>
              <a:t>View aktivieren </a:t>
            </a:r>
          </a:p>
          <a:p>
            <a:pPr lvl="0"/>
            <a:r>
              <a:rPr lang="de-DE" dirty="0"/>
              <a:t>Data Preview öffnen </a:t>
            </a:r>
          </a:p>
          <a:p>
            <a:pPr lvl="0"/>
            <a:r>
              <a:rPr lang="de-DE" dirty="0"/>
              <a:t>Produktschlüssel und Texte zeigen </a:t>
            </a:r>
          </a:p>
          <a:p>
            <a:r>
              <a:rPr lang="de-DE" b="1" dirty="0"/>
              <a:t>Sprechertext</a:t>
            </a:r>
          </a:p>
          <a:p>
            <a:r>
              <a:rPr lang="de-DE" dirty="0"/>
              <a:t>Die Produktdimension basiert unmittelbar auf der Produkttabelle.</a:t>
            </a:r>
          </a:p>
          <a:p>
            <a:r>
              <a:rPr lang="de-DE" sz="1200" kern="1200" dirty="0" err="1">
                <a:solidFill>
                  <a:schemeClr val="tx1"/>
                </a:solidFill>
                <a:latin typeface="+mn-lt"/>
                <a:ea typeface="+mn-ea"/>
                <a:cs typeface="+mn-cs"/>
              </a:rPr>
              <a:t>ProductId</a:t>
            </a:r>
            <a:r>
              <a:rPr lang="de-DE" dirty="0"/>
              <a:t> ist der repräsentative Schlüssel. Über </a:t>
            </a:r>
            <a:r>
              <a:rPr lang="de-DE" sz="1200" kern="1200" dirty="0">
                <a:solidFill>
                  <a:schemeClr val="tx1"/>
                </a:solidFill>
                <a:latin typeface="+mn-lt"/>
                <a:ea typeface="+mn-ea"/>
                <a:cs typeface="+mn-cs"/>
              </a:rPr>
              <a:t>@ObjectModel.text.element</a:t>
            </a:r>
            <a:r>
              <a:rPr lang="de-DE" dirty="0"/>
              <a:t> verbinden wir ihn mit dem Produktnamen. Umgekehrt kennzeichnet </a:t>
            </a:r>
            <a:r>
              <a:rPr lang="de-DE" sz="1200" kern="1200" dirty="0">
                <a:solidFill>
                  <a:schemeClr val="tx1"/>
                </a:solidFill>
                <a:latin typeface="+mn-lt"/>
                <a:ea typeface="+mn-ea"/>
                <a:cs typeface="+mn-cs"/>
              </a:rPr>
              <a:t>@Semantics.text: </a:t>
            </a:r>
            <a:r>
              <a:rPr lang="de-DE" sz="1200" kern="1200" dirty="0" err="1">
                <a:solidFill>
                  <a:schemeClr val="tx1"/>
                </a:solidFill>
                <a:latin typeface="+mn-lt"/>
                <a:ea typeface="+mn-ea"/>
                <a:cs typeface="+mn-cs"/>
              </a:rPr>
              <a:t>true</a:t>
            </a:r>
            <a:r>
              <a:rPr lang="de-DE" dirty="0"/>
              <a:t> das Textelement.</a:t>
            </a:r>
          </a:p>
          <a:p>
            <a:r>
              <a:rPr lang="de-DE" dirty="0"/>
              <a:t>Die beiden zusätzlichen </a:t>
            </a:r>
            <a:r>
              <a:rPr lang="de-DE" sz="1200" kern="1200" dirty="0" err="1">
                <a:solidFill>
                  <a:schemeClr val="tx1"/>
                </a:solidFill>
                <a:latin typeface="+mn-lt"/>
                <a:ea typeface="+mn-ea"/>
                <a:cs typeface="+mn-cs"/>
              </a:rPr>
              <a:t>ObjectModel</a:t>
            </a:r>
            <a:r>
              <a:rPr lang="de-DE" dirty="0"/>
              <a:t>-Eigenschaften bereiten die Dimension bereits auf ihre spätere Verwendung mit einer analytischen Hierarchie vor.</a:t>
            </a:r>
          </a:p>
          <a:p>
            <a:br>
              <a:rPr lang="de-DE" dirty="0"/>
            </a:br>
            <a:endParaRPr lang="de-DE" dirty="0"/>
          </a:p>
          <a:p>
            <a:r>
              <a:rPr lang="de-DE" b="1" dirty="0"/>
              <a:t>Schritt 2 – Cube anlegen</a:t>
            </a:r>
          </a:p>
          <a:p>
            <a:r>
              <a:rPr lang="de-DE" b="1" dirty="0"/>
              <a:t>Neues Data Definition </a:t>
            </a:r>
            <a:r>
              <a:rPr lang="de-DE" b="1" dirty="0" err="1"/>
              <a:t>Object</a:t>
            </a:r>
            <a:endParaRPr lang="de-DE" b="1" dirty="0"/>
          </a:p>
          <a:p>
            <a:pPr rtl="0"/>
            <a:r>
              <a:rPr lang="de-DE" sz="1200" kern="1200" dirty="0" err="1">
                <a:solidFill>
                  <a:schemeClr val="tx1"/>
                </a:solidFill>
                <a:latin typeface="+mn-lt"/>
                <a:ea typeface="+mn-ea"/>
                <a:cs typeface="+mn-cs"/>
              </a:rPr>
              <a:t>ZI_CDSOrderCube</a:t>
            </a:r>
            <a:endParaRPr lang="de-DE" sz="1200" kern="1200" dirty="0">
              <a:solidFill>
                <a:schemeClr val="tx1"/>
              </a:solidFill>
              <a:latin typeface="+mn-lt"/>
              <a:ea typeface="+mn-ea"/>
              <a:cs typeface="+mn-cs"/>
            </a:endParaRPr>
          </a:p>
          <a:p>
            <a:r>
              <a:rPr lang="de-DE" b="1" dirty="0"/>
              <a:t>Coding</a:t>
            </a:r>
          </a:p>
          <a:p>
            <a:pPr rtl="0"/>
            <a:r>
              <a:rPr lang="de-DE" sz="1200" kern="1200" dirty="0">
                <a:solidFill>
                  <a:schemeClr val="tx1"/>
                </a:solidFill>
                <a:latin typeface="+mn-lt"/>
                <a:ea typeface="+mn-ea"/>
                <a:cs typeface="+mn-cs"/>
              </a:rPr>
              <a:t>@EndUserText.label: 'CDS Workshop: Order Analysis Cube'</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@Analytics.dataCategory: #CUBE</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ZI_CDSOrderCube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ZI_CDSOrderItemValue</a:t>
            </a:r>
            <a:r>
              <a:rPr lang="de-DE" sz="1200" kern="1200" dirty="0">
                <a:solidFill>
                  <a:schemeClr val="tx1"/>
                </a:solidFill>
                <a:latin typeface="+mn-lt"/>
                <a:ea typeface="+mn-ea"/>
                <a:cs typeface="+mn-cs"/>
              </a:rPr>
              <a:t> as I</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inner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join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as O</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I.OrderId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O.OrderId</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ZI_CDSProductDim</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Product.ProductId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I.OrderId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I.ItemNumber</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O.OrderDate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O.SalesOrganization</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@ObjectModel.foreignKey.association: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I.ProductId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I.ProductName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@Aggregation.default: #SUM</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I.NetAmount</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I.CurrencyCode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Der Cube verbindet die wertorientierten Auftragspositionen mit den Kopfdaten des Auftrags.</a:t>
            </a:r>
          </a:p>
          <a:p>
            <a:r>
              <a:rPr lang="de-DE" dirty="0"/>
              <a:t>Aus der Position übernehmen wir Produkt und Nettobetrag. Der Auftrag liefert das Auftragsdatum und die Verkaufsorganisation.</a:t>
            </a:r>
          </a:p>
          <a:p>
            <a:r>
              <a:rPr lang="de-DE" dirty="0"/>
              <a:t>Die beiden Schlüssel zeigen die Granularität des Cubes: Eine Zeile entspricht einer Auftragsposition.</a:t>
            </a:r>
          </a:p>
          <a:p>
            <a:br>
              <a:rPr lang="de-DE" dirty="0"/>
            </a:br>
            <a:endParaRPr lang="de-DE" dirty="0"/>
          </a:p>
          <a:p>
            <a:r>
              <a:rPr lang="de-DE" b="1" dirty="0"/>
              <a:t>Schritt 3 – Dimension mit dem Cube verbinden</a:t>
            </a:r>
          </a:p>
          <a:p>
            <a:r>
              <a:rPr lang="de-DE" b="1" dirty="0"/>
              <a:t>Hervorzuhebendes Coding</a:t>
            </a: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ZI_CDSProductDim</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Product.ProductId</a:t>
            </a:r>
            <a:endParaRPr lang="de-DE" sz="1200" kern="1200" dirty="0">
              <a:solidFill>
                <a:schemeClr val="tx1"/>
              </a:solidFill>
              <a:latin typeface="+mn-lt"/>
              <a:ea typeface="+mn-ea"/>
              <a:cs typeface="+mn-cs"/>
            </a:endParaRPr>
          </a:p>
          <a:p>
            <a:r>
              <a:rPr lang="de-DE" dirty="0"/>
              <a:t>Am Element:</a:t>
            </a:r>
          </a:p>
          <a:p>
            <a:pPr rtl="0"/>
            <a:r>
              <a:rPr lang="de-DE" sz="1200" kern="1200" dirty="0">
                <a:solidFill>
                  <a:schemeClr val="tx1"/>
                </a:solidFill>
                <a:latin typeface="+mn-lt"/>
                <a:ea typeface="+mn-ea"/>
                <a:cs typeface="+mn-cs"/>
              </a:rPr>
              <a:t>@ObjectModel.foreignKey.association: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I.ProductId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r>
              <a:rPr lang="de-DE" dirty="0"/>
              <a:t>Im Elementblock:</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r>
              <a:rPr lang="de-DE" b="1" dirty="0"/>
              <a:t>Sprechertext</a:t>
            </a:r>
          </a:p>
          <a:p>
            <a:r>
              <a:rPr lang="de-DE" dirty="0"/>
              <a:t>Drei Bestandteile wirken zusammen.</a:t>
            </a:r>
          </a:p>
          <a:p>
            <a:r>
              <a:rPr lang="de-DE" dirty="0"/>
              <a:t>Die Assoziation beschreibt die Beziehung zur Produktdimension. Die Fremdschlüsselannotation kennzeichnet </a:t>
            </a:r>
            <a:r>
              <a:rPr lang="de-DE" sz="1200" kern="1200" dirty="0" err="1">
                <a:solidFill>
                  <a:schemeClr val="tx1"/>
                </a:solidFill>
                <a:latin typeface="+mn-lt"/>
                <a:ea typeface="+mn-ea"/>
                <a:cs typeface="+mn-cs"/>
              </a:rPr>
              <a:t>ProductId</a:t>
            </a:r>
            <a:r>
              <a:rPr lang="de-DE" dirty="0"/>
              <a:t> als das zugehörige Merkmal. Schließlich wird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exponiert.</a:t>
            </a:r>
          </a:p>
          <a:p>
            <a:r>
              <a:rPr lang="de-DE" dirty="0"/>
              <a:t>Dadurch erkennt das analytische Modell die Verbindung zwischen dem Fakt im Cube und den Stammdaten der Dimension.</a:t>
            </a:r>
          </a:p>
          <a:p>
            <a:br>
              <a:rPr lang="de-DE" dirty="0"/>
            </a:br>
            <a:endParaRPr lang="de-DE" dirty="0"/>
          </a:p>
          <a:p>
            <a:r>
              <a:rPr lang="de-DE" b="1" dirty="0"/>
              <a:t>Schritt 4 – Kennzahl definieren</a:t>
            </a:r>
          </a:p>
          <a:p>
            <a:r>
              <a:rPr lang="de-DE" b="1" dirty="0"/>
              <a:t>Coding hervorheben</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@Aggregation.default: #SUM</a:t>
            </a:r>
          </a:p>
          <a:p>
            <a:pPr rtl="0"/>
            <a:r>
              <a:rPr lang="de-DE" sz="1200" kern="1200" dirty="0" err="1">
                <a:solidFill>
                  <a:schemeClr val="tx1"/>
                </a:solidFill>
                <a:latin typeface="+mn-lt"/>
                <a:ea typeface="+mn-ea"/>
                <a:cs typeface="+mn-cs"/>
              </a:rPr>
              <a:t>I.NetAmount</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r>
              <a:rPr lang="de-DE" b="1" dirty="0"/>
              <a:t>Sprechertext</a:t>
            </a:r>
          </a:p>
          <a:p>
            <a:r>
              <a:rPr lang="de-DE" sz="1200" kern="1200" dirty="0" err="1">
                <a:solidFill>
                  <a:schemeClr val="tx1"/>
                </a:solidFill>
                <a:latin typeface="+mn-lt"/>
                <a:ea typeface="+mn-ea"/>
                <a:cs typeface="+mn-cs"/>
              </a:rPr>
              <a:t>NetAmount</a:t>
            </a:r>
            <a:r>
              <a:rPr lang="de-DE" dirty="0"/>
              <a:t> übernimmt zwei verschiedene Rollen.</a:t>
            </a:r>
          </a:p>
          <a:p>
            <a:r>
              <a:rPr lang="de-DE" dirty="0"/>
              <a:t>Die </a:t>
            </a:r>
            <a:r>
              <a:rPr lang="de-DE" dirty="0" err="1"/>
              <a:t>Semantics</a:t>
            </a:r>
            <a:r>
              <a:rPr lang="de-DE" dirty="0"/>
              <a:t>-Annotation verbindet den Betrag mit seinem Währungscode.</a:t>
            </a:r>
          </a:p>
          <a:p>
            <a:r>
              <a:rPr lang="de-DE" sz="1200" kern="1200" dirty="0">
                <a:solidFill>
                  <a:schemeClr val="tx1"/>
                </a:solidFill>
                <a:latin typeface="+mn-lt"/>
                <a:ea typeface="+mn-ea"/>
                <a:cs typeface="+mn-cs"/>
              </a:rPr>
              <a:t>@Aggregation.default: #SUM</a:t>
            </a:r>
            <a:r>
              <a:rPr lang="de-DE" dirty="0"/>
              <a:t> kennzeichnet das Element als additive Kennzahl. Die Analytical Engine darf die Nettobeträge also über die ausgewählten Merkmale summieren.</a:t>
            </a:r>
          </a:p>
          <a:p>
            <a:r>
              <a:rPr lang="de-DE" dirty="0"/>
              <a:t>Der Währungscode selbst wird nicht summiert, sondern dient als Einheit der Kennzahl.</a:t>
            </a:r>
          </a:p>
          <a:p>
            <a:br>
              <a:rPr lang="de-DE" dirty="0"/>
            </a:br>
            <a:endParaRPr lang="de-DE" dirty="0"/>
          </a:p>
          <a:p>
            <a:r>
              <a:rPr lang="de-DE" b="1" dirty="0"/>
              <a:t>Schritt 5 – Cube testen</a:t>
            </a:r>
          </a:p>
          <a:p>
            <a:r>
              <a:rPr lang="de-DE" b="1" dirty="0"/>
              <a:t>Aktion</a:t>
            </a:r>
          </a:p>
          <a:p>
            <a:pPr lvl="0"/>
            <a:r>
              <a:rPr lang="de-DE" dirty="0"/>
              <a:t>Cube aktivieren. </a:t>
            </a:r>
          </a:p>
          <a:p>
            <a:pPr lvl="0"/>
            <a:r>
              <a:rPr lang="de-DE" dirty="0"/>
              <a:t>Data Preview öffnen. </a:t>
            </a:r>
          </a:p>
          <a:p>
            <a:pPr lvl="0"/>
            <a:r>
              <a:rPr lang="de-DE" dirty="0"/>
              <a:t>einzelne Auftragspositionen zeigen. </a:t>
            </a:r>
          </a:p>
          <a:p>
            <a:pPr lvl="0"/>
            <a:r>
              <a:rPr lang="de-DE" dirty="0"/>
              <a:t>Schlüssel und Granularität erläutern. </a:t>
            </a:r>
          </a:p>
          <a:p>
            <a:r>
              <a:rPr lang="de-DE" b="1" dirty="0"/>
              <a:t>Erwartetes Ergebnis</a:t>
            </a:r>
          </a:p>
          <a:p>
            <a:r>
              <a:rPr lang="de-DE" dirty="0"/>
              <a:t>Die Data Preview enthält noch </a:t>
            </a:r>
            <a:r>
              <a:rPr lang="de-DE" dirty="0" err="1"/>
              <a:t>unaggregierte</a:t>
            </a:r>
            <a:r>
              <a:rPr lang="de-DE" dirty="0"/>
              <a:t> Fakten:</a:t>
            </a:r>
          </a:p>
          <a:p>
            <a:r>
              <a:rPr lang="de-DE" dirty="0" err="1"/>
              <a:t>OrderId</a:t>
            </a:r>
            <a:endParaRPr lang="de-DE" dirty="0"/>
          </a:p>
          <a:p>
            <a:r>
              <a:rPr lang="de-DE" dirty="0" err="1"/>
              <a:t>ItemNumber</a:t>
            </a:r>
            <a:endParaRPr lang="de-DE" dirty="0"/>
          </a:p>
          <a:p>
            <a:r>
              <a:rPr lang="de-DE" dirty="0" err="1"/>
              <a:t>ProductId</a:t>
            </a:r>
            <a:endParaRPr lang="de-DE" dirty="0"/>
          </a:p>
          <a:p>
            <a:r>
              <a:rPr lang="de-DE" dirty="0" err="1"/>
              <a:t>SalesOrganization</a:t>
            </a:r>
            <a:endParaRPr lang="de-DE" dirty="0"/>
          </a:p>
          <a:p>
            <a:r>
              <a:rPr lang="de-DE" dirty="0" err="1"/>
              <a:t>NetAmount</a:t>
            </a:r>
            <a:endParaRPr lang="de-DE" dirty="0"/>
          </a:p>
          <a:p>
            <a:r>
              <a:rPr lang="de-DE" dirty="0"/>
              <a:t>…10P10010002.373,10</a:t>
            </a:r>
          </a:p>
          <a:p>
            <a:r>
              <a:rPr lang="de-DE" dirty="0"/>
              <a:t>…20P20010002.290,00</a:t>
            </a:r>
          </a:p>
          <a:p>
            <a:r>
              <a:rPr lang="de-DE" b="1" dirty="0"/>
              <a:t>Sprechertext</a:t>
            </a:r>
          </a:p>
          <a:p>
            <a:r>
              <a:rPr lang="de-DE" dirty="0"/>
              <a:t>Die normale Data Preview zeigt zunächst die Granularität des Cubes. Wir sehen einzelne Auftragspositionen.</a:t>
            </a:r>
          </a:p>
          <a:p>
            <a:r>
              <a:rPr lang="de-DE" dirty="0"/>
              <a:t>Die Aggregation entsteht erst durch den analytischen Verbraucher beziehungsweise die analytische Query. Der Cube selbst speichert keine vorab berechneten Summenzeilen.</a:t>
            </a:r>
          </a:p>
          <a:p>
            <a:br>
              <a:rPr lang="de-DE" dirty="0"/>
            </a:br>
            <a:endParaRPr lang="de-DE" dirty="0"/>
          </a:p>
          <a:p>
            <a:r>
              <a:rPr lang="de-DE" b="1" dirty="0"/>
              <a:t>Schritt 6 – Analytische Query anlegen</a:t>
            </a:r>
          </a:p>
          <a:p>
            <a:r>
              <a:rPr lang="de-DE" b="1" dirty="0"/>
              <a:t>Neues Data Definition </a:t>
            </a:r>
            <a:r>
              <a:rPr lang="de-DE" b="1" dirty="0" err="1"/>
              <a:t>Object</a:t>
            </a:r>
            <a:endParaRPr lang="de-DE" b="1" dirty="0"/>
          </a:p>
          <a:p>
            <a:pPr rtl="0"/>
            <a:r>
              <a:rPr lang="de-DE" sz="1200" kern="1200" dirty="0" err="1">
                <a:solidFill>
                  <a:schemeClr val="tx1"/>
                </a:solidFill>
                <a:latin typeface="+mn-lt"/>
                <a:ea typeface="+mn-ea"/>
                <a:cs typeface="+mn-cs"/>
              </a:rPr>
              <a:t>ZQ_CDSOrderAnalysis</a:t>
            </a:r>
            <a:endParaRPr lang="de-DE" sz="1200" kern="1200" dirty="0">
              <a:solidFill>
                <a:schemeClr val="tx1"/>
              </a:solidFill>
              <a:latin typeface="+mn-lt"/>
              <a:ea typeface="+mn-ea"/>
              <a:cs typeface="+mn-cs"/>
            </a:endParaRPr>
          </a:p>
          <a:p>
            <a:r>
              <a:rPr lang="de-DE" b="1" dirty="0"/>
              <a:t>Coding</a:t>
            </a:r>
          </a:p>
          <a:p>
            <a:pPr rtl="0"/>
            <a:r>
              <a:rPr lang="de-DE" sz="1200" kern="1200" dirty="0">
                <a:solidFill>
                  <a:schemeClr val="tx1"/>
                </a:solidFill>
                <a:latin typeface="+mn-lt"/>
                <a:ea typeface="+mn-ea"/>
                <a:cs typeface="+mn-cs"/>
              </a:rPr>
              <a:t>@EndUserText.label: 'CDS Workshop: Order Analysis'</a:t>
            </a:r>
          </a:p>
          <a:p>
            <a:pPr rtl="0"/>
            <a:r>
              <a:rPr lang="de-DE" sz="1200" kern="1200" dirty="0">
                <a:solidFill>
                  <a:schemeClr val="tx1"/>
                </a:solidFill>
                <a:latin typeface="+mn-lt"/>
                <a:ea typeface="+mn-ea"/>
                <a:cs typeface="+mn-cs"/>
              </a:rPr>
              <a:t>@AccessControl.authorizationCheck: #NOT_ALLOWED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transient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ZQ_CDSOrderAnalysis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provider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contract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analytical_query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projection</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ZI_CDSOrderCube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@AnalyticsDetails.query.axis: #ROWS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#ROWS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#FREE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#FREE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#COLUMNS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Die Query projiziert auf den Cube, führt aber nicht einfach eine feste SQL-Selektion aus.</a:t>
            </a:r>
          </a:p>
          <a:p>
            <a:r>
              <a:rPr lang="de-DE" dirty="0"/>
              <a:t>Der Provider </a:t>
            </a:r>
            <a:r>
              <a:rPr lang="de-DE" dirty="0" err="1"/>
              <a:t>Contract</a:t>
            </a:r>
            <a:r>
              <a:rPr lang="de-DE" dirty="0"/>
              <a:t> </a:t>
            </a:r>
            <a:r>
              <a:rPr lang="de-DE" sz="1200" kern="1200" dirty="0" err="1">
                <a:solidFill>
                  <a:schemeClr val="tx1"/>
                </a:solidFill>
                <a:latin typeface="+mn-lt"/>
                <a:ea typeface="+mn-ea"/>
                <a:cs typeface="+mn-cs"/>
              </a:rPr>
              <a:t>analytical_query</a:t>
            </a:r>
            <a:r>
              <a:rPr lang="de-DE" dirty="0"/>
              <a:t> sorgt dafür, dass die View durch die Analytical Engine interpretiert wird.</a:t>
            </a:r>
          </a:p>
          <a:p>
            <a:r>
              <a:rPr lang="de-DE" dirty="0"/>
              <a:t>Wir legen Verkaufsorganisation und Produktname auf die Zeilenachse. Der Nettobetrag erscheint auf der Spaltenachse. Produktnummer und Auftragsdatum bleiben als freie Merkmale verfügbar.</a:t>
            </a:r>
          </a:p>
          <a:p>
            <a:br>
              <a:rPr lang="de-DE" dirty="0"/>
            </a:br>
            <a:endParaRPr lang="de-DE" dirty="0"/>
          </a:p>
          <a:p>
            <a:r>
              <a:rPr lang="de-DE" b="1" dirty="0"/>
              <a:t>Schritt 7 – Query aktivieren und starten</a:t>
            </a:r>
          </a:p>
          <a:p>
            <a:r>
              <a:rPr lang="de-DE" b="1" dirty="0"/>
              <a:t>Aktion</a:t>
            </a:r>
          </a:p>
          <a:p>
            <a:pPr lvl="0"/>
            <a:r>
              <a:rPr lang="de-DE" dirty="0"/>
              <a:t>Query aktivieren. </a:t>
            </a:r>
          </a:p>
          <a:p>
            <a:pPr lvl="0"/>
            <a:r>
              <a:rPr lang="de-DE" dirty="0"/>
              <a:t>Mit </a:t>
            </a:r>
            <a:r>
              <a:rPr lang="de-DE" b="1" dirty="0"/>
              <a:t>F8</a:t>
            </a:r>
            <a:r>
              <a:rPr lang="de-DE" dirty="0"/>
              <a:t> beziehungsweise </a:t>
            </a:r>
            <a:r>
              <a:rPr lang="de-DE" b="1" dirty="0"/>
              <a:t>Open Data Preview</a:t>
            </a:r>
            <a:r>
              <a:rPr lang="de-DE" dirty="0"/>
              <a:t> starten. </a:t>
            </a:r>
          </a:p>
          <a:p>
            <a:pPr lvl="0"/>
            <a:r>
              <a:rPr lang="de-DE" dirty="0"/>
              <a:t>Analytical Query Preview öffnen. </a:t>
            </a:r>
          </a:p>
          <a:p>
            <a:pPr lvl="0"/>
            <a:r>
              <a:rPr lang="de-DE" dirty="0"/>
              <a:t>initiales Ergebnis erläutern. </a:t>
            </a:r>
          </a:p>
          <a:p>
            <a:r>
              <a:rPr lang="de-DE" b="1" dirty="0"/>
              <a:t>Erwartetes Ergebnis</a:t>
            </a:r>
          </a:p>
          <a:p>
            <a:pPr rtl="0"/>
            <a:r>
              <a:rPr lang="de-DE" sz="1200" kern="1200" dirty="0">
                <a:solidFill>
                  <a:schemeClr val="tx1"/>
                </a:solidFill>
                <a:latin typeface="+mn-lt"/>
                <a:ea typeface="+mn-ea"/>
                <a:cs typeface="+mn-cs"/>
              </a:rPr>
              <a:t>Sales </a:t>
            </a:r>
            <a:r>
              <a:rPr lang="de-DE" sz="1200" kern="1200" dirty="0" err="1">
                <a:solidFill>
                  <a:schemeClr val="tx1"/>
                </a:solidFill>
                <a:latin typeface="+mn-lt"/>
                <a:ea typeface="+mn-ea"/>
                <a:cs typeface="+mn-cs"/>
              </a:rPr>
              <a:t>Organization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Name                   Net </a:t>
            </a:r>
            <a:r>
              <a:rPr lang="de-DE" sz="1200" kern="1200" dirty="0" err="1">
                <a:solidFill>
                  <a:schemeClr val="tx1"/>
                </a:solidFill>
                <a:latin typeface="+mn-lt"/>
                <a:ea typeface="+mn-ea"/>
                <a:cs typeface="+mn-cs"/>
              </a:rPr>
              <a: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1000                 27 Zoll Monitor                 3.043,25 EUR</a:t>
            </a:r>
          </a:p>
          <a:p>
            <a:pPr rtl="0"/>
            <a:r>
              <a:rPr lang="de-DE" sz="1200" kern="1200" dirty="0">
                <a:solidFill>
                  <a:schemeClr val="tx1"/>
                </a:solidFill>
                <a:latin typeface="+mn-lt"/>
                <a:ea typeface="+mn-ea"/>
                <a:cs typeface="+mn-cs"/>
              </a:rPr>
              <a:t>                     Business Notebook 14            2.373,10 EUR</a:t>
            </a:r>
          </a:p>
          <a:p>
            <a:pPr rtl="0"/>
            <a:r>
              <a:rPr lang="de-DE" sz="1200" kern="1200" dirty="0">
                <a:solidFill>
                  <a:schemeClr val="tx1"/>
                </a:solidFill>
                <a:latin typeface="+mn-lt"/>
                <a:ea typeface="+mn-ea"/>
                <a:cs typeface="+mn-cs"/>
              </a:rPr>
              <a:t>                     Developer Workstation           9.445,50 EUR</a:t>
            </a:r>
          </a:p>
          <a:p>
            <a:pPr rtl="0"/>
            <a:r>
              <a:rPr lang="de-DE" sz="1200" kern="1200" dirty="0">
                <a:solidFill>
                  <a:schemeClr val="tx1"/>
                </a:solidFill>
                <a:latin typeface="+mn-lt"/>
                <a:ea typeface="+mn-ea"/>
                <a:cs typeface="+mn-cs"/>
              </a:rPr>
              <a:t>                     Development Tools Pro            5.029,50 EUR</a:t>
            </a:r>
          </a:p>
          <a:p>
            <a:pPr rtl="0"/>
            <a:r>
              <a:rPr lang="de-DE" sz="1200" kern="1200" dirty="0">
                <a:solidFill>
                  <a:schemeClr val="tx1"/>
                </a:solidFill>
                <a:latin typeface="+mn-lt"/>
                <a:ea typeface="+mn-ea"/>
                <a:cs typeface="+mn-cs"/>
              </a:rPr>
              <a:t>                     Office Suite Jahreslizenz        2.641,00 EUR</a:t>
            </a:r>
          </a:p>
          <a:p>
            <a:pPr rtl="0"/>
            <a:r>
              <a:rPr lang="de-DE" sz="1200" kern="1200" dirty="0">
                <a:solidFill>
                  <a:schemeClr val="tx1"/>
                </a:solidFill>
                <a:latin typeface="+mn-lt"/>
                <a:ea typeface="+mn-ea"/>
                <a:cs typeface="+mn-cs"/>
              </a:rPr>
              <a:t>                     USB-C Dockingstation             2.290,00 EUR</a:t>
            </a:r>
          </a:p>
          <a:p>
            <a:pPr rtl="0"/>
            <a:r>
              <a:rPr lang="de-DE" sz="1200" kern="1200" dirty="0">
                <a:solidFill>
                  <a:schemeClr val="tx1"/>
                </a:solidFill>
                <a:latin typeface="+mn-lt"/>
                <a:ea typeface="+mn-ea"/>
                <a:cs typeface="+mn-cs"/>
              </a:rPr>
              <a:t>2000                 27 Zoll Monitor                 1.396,00 EUR</a:t>
            </a:r>
          </a:p>
          <a:p>
            <a:pPr rtl="0"/>
            <a:r>
              <a:rPr lang="de-DE" sz="1200" kern="1200" dirty="0">
                <a:solidFill>
                  <a:schemeClr val="tx1"/>
                </a:solidFill>
                <a:latin typeface="+mn-lt"/>
                <a:ea typeface="+mn-ea"/>
                <a:cs typeface="+mn-cs"/>
              </a:rPr>
              <a:t>                     Business Notebook 14            3.897,00 EUR</a:t>
            </a:r>
          </a:p>
          <a:p>
            <a:pPr rtl="0"/>
            <a:r>
              <a:rPr lang="de-DE" sz="1200" kern="1200" dirty="0">
                <a:solidFill>
                  <a:schemeClr val="tx1"/>
                </a:solidFill>
                <a:latin typeface="+mn-lt"/>
                <a:ea typeface="+mn-ea"/>
                <a:cs typeface="+mn-cs"/>
              </a:rPr>
              <a:t>                     Ergonomische Tastatur              327,00 EUR</a:t>
            </a:r>
          </a:p>
          <a:p>
            <a:pPr rtl="0"/>
            <a:r>
              <a:rPr lang="de-DE" sz="1200" kern="1200" dirty="0">
                <a:solidFill>
                  <a:schemeClr val="tx1"/>
                </a:solidFill>
                <a:latin typeface="+mn-lt"/>
                <a:ea typeface="+mn-ea"/>
                <a:cs typeface="+mn-cs"/>
              </a:rPr>
              <a:t>                     Office Suite Jahreslizenz          596,00 EUR</a:t>
            </a:r>
          </a:p>
          <a:p>
            <a:r>
              <a:rPr lang="de-DE" b="1" dirty="0"/>
              <a:t>Sprechertext</a:t>
            </a:r>
          </a:p>
          <a:p>
            <a:r>
              <a:rPr lang="de-DE" dirty="0"/>
              <a:t>Nun sehen wir keine einzelnen Auftragspositionen mehr. Die Analytical Engine gruppiert die Daten nach Verkaufsorganisation und Produktname.</a:t>
            </a:r>
          </a:p>
          <a:p>
            <a:r>
              <a:rPr lang="de-DE" dirty="0"/>
              <a:t>Wenn mehrere Positionen dieselbe Kombination von Merkmalen besitzen, werden ihre Nettobeträge automatisch summiert.</a:t>
            </a:r>
          </a:p>
          <a:p>
            <a:br>
              <a:rPr lang="de-DE" dirty="0"/>
            </a:br>
            <a:endParaRPr lang="de-DE" dirty="0"/>
          </a:p>
          <a:p>
            <a:r>
              <a:rPr lang="de-DE" b="1" dirty="0"/>
              <a:t>Schritt 8 – Analytische Flexibilität demonstrieren</a:t>
            </a:r>
          </a:p>
          <a:p>
            <a:r>
              <a:rPr lang="de-DE" b="1" dirty="0"/>
              <a:t>Aktion</a:t>
            </a:r>
          </a:p>
          <a:p>
            <a:r>
              <a:rPr lang="de-DE" dirty="0"/>
              <a:t>In der Query Preview:</a:t>
            </a:r>
          </a:p>
          <a:p>
            <a:pPr lvl="0"/>
            <a:r>
              <a:rPr lang="de-DE" sz="1200" kern="1200" dirty="0" err="1">
                <a:solidFill>
                  <a:schemeClr val="tx1"/>
                </a:solidFill>
                <a:latin typeface="+mn-lt"/>
                <a:ea typeface="+mn-ea"/>
                <a:cs typeface="+mn-cs"/>
              </a:rPr>
              <a:t>SalesOrganization</a:t>
            </a:r>
            <a:r>
              <a:rPr lang="de-DE" dirty="0"/>
              <a:t> aus dem Drilldown entfernen. </a:t>
            </a:r>
          </a:p>
          <a:p>
            <a:pPr lvl="0"/>
            <a:r>
              <a:rPr lang="de-DE" dirty="0"/>
              <a:t>nur nach </a:t>
            </a:r>
            <a:r>
              <a:rPr lang="de-DE" sz="1200" kern="1200" dirty="0" err="1">
                <a:solidFill>
                  <a:schemeClr val="tx1"/>
                </a:solidFill>
                <a:latin typeface="+mn-lt"/>
                <a:ea typeface="+mn-ea"/>
                <a:cs typeface="+mn-cs"/>
              </a:rPr>
              <a:t>ProductName</a:t>
            </a:r>
            <a:r>
              <a:rPr lang="de-DE" dirty="0"/>
              <a:t> auswerten. </a:t>
            </a:r>
          </a:p>
          <a:p>
            <a:pPr lvl="0"/>
            <a:r>
              <a:rPr lang="de-DE" sz="1200" kern="1200" dirty="0" err="1">
                <a:solidFill>
                  <a:schemeClr val="tx1"/>
                </a:solidFill>
                <a:latin typeface="+mn-lt"/>
                <a:ea typeface="+mn-ea"/>
                <a:cs typeface="+mn-cs"/>
              </a:rPr>
              <a:t>OrderDate</a:t>
            </a:r>
            <a:r>
              <a:rPr lang="de-DE" dirty="0"/>
              <a:t> aus dem freien Bereich ergänzen. </a:t>
            </a:r>
          </a:p>
          <a:p>
            <a:pPr lvl="0"/>
            <a:r>
              <a:rPr lang="de-DE" dirty="0"/>
              <a:t>Reihenfolge der Merkmale ändern. </a:t>
            </a:r>
          </a:p>
          <a:p>
            <a:pPr lvl="0"/>
            <a:r>
              <a:rPr lang="de-DE" dirty="0"/>
              <a:t>zwischen Tabellen- und Diagrammansicht wechseln. </a:t>
            </a:r>
          </a:p>
          <a:p>
            <a:r>
              <a:rPr lang="de-DE" b="1" dirty="0"/>
              <a:t>Sprechertext</a:t>
            </a:r>
          </a:p>
          <a:p>
            <a:r>
              <a:rPr lang="de-DE" dirty="0"/>
              <a:t>Die Query definiert lediglich den Startzustand der Analyse.</a:t>
            </a:r>
          </a:p>
          <a:p>
            <a:r>
              <a:rPr lang="de-DE" dirty="0"/>
              <a:t>Der Anwender kann Merkmale entfernen, hinzufügen oder umordnen. Die Analytical Engine berechnet die Aggregation für den jeweils aktuellen Drilldown neu.</a:t>
            </a:r>
          </a:p>
          <a:p>
            <a:r>
              <a:rPr lang="de-DE" dirty="0"/>
              <a:t>Genau das unterscheidet die analytische Query von einer gewöhnlichen CDS View mit einem fest codierten </a:t>
            </a:r>
            <a:r>
              <a:rPr lang="de-DE" sz="1200" kern="1200" dirty="0">
                <a:solidFill>
                  <a:schemeClr val="tx1"/>
                </a:solidFill>
                <a:latin typeface="+mn-lt"/>
                <a:ea typeface="+mn-ea"/>
                <a:cs typeface="+mn-cs"/>
              </a:rPr>
              <a:t>GROUP BY</a:t>
            </a:r>
            <a:r>
              <a:rPr lang="de-DE" dirty="0"/>
              <a:t>.</a:t>
            </a:r>
          </a:p>
          <a:p>
            <a:br>
              <a:rPr lang="de-DE" dirty="0"/>
            </a:br>
            <a:endParaRPr lang="de-DE" dirty="0"/>
          </a:p>
          <a:p>
            <a:r>
              <a:rPr lang="de-DE" b="1" dirty="0"/>
              <a:t>Schritt 9 – Diagrammansicht zeigen</a:t>
            </a:r>
          </a:p>
          <a:p>
            <a:r>
              <a:rPr lang="de-DE" b="1" dirty="0"/>
              <a:t>Aktion</a:t>
            </a:r>
          </a:p>
          <a:p>
            <a:r>
              <a:rPr lang="de-DE" dirty="0"/>
              <a:t>Die grafische Darstellung der Query öffnen.</a:t>
            </a:r>
          </a:p>
          <a:p>
            <a:r>
              <a:rPr lang="de-DE" b="1" dirty="0"/>
              <a:t>Erwartetes Ergebnis</a:t>
            </a:r>
          </a:p>
          <a:p>
            <a:r>
              <a:rPr lang="de-DE" dirty="0"/>
              <a:t>Die Query Preview erzeugt aus den aktuellen Achsen ein Diagramm, beispielsweise:</a:t>
            </a:r>
          </a:p>
          <a:p>
            <a:pPr lvl="0"/>
            <a:r>
              <a:rPr lang="de-DE" dirty="0"/>
              <a:t>Verkaufsorganisation und Produkt auf der Kategorienachse </a:t>
            </a:r>
          </a:p>
          <a:p>
            <a:pPr lvl="0"/>
            <a:r>
              <a:rPr lang="de-DE" dirty="0"/>
              <a:t>Nettobetrag als Säulenhöhe </a:t>
            </a:r>
          </a:p>
          <a:p>
            <a:r>
              <a:rPr lang="de-DE" b="1" dirty="0"/>
              <a:t>Sprechertext</a:t>
            </a:r>
          </a:p>
          <a:p>
            <a:r>
              <a:rPr lang="de-DE" dirty="0"/>
              <a:t>Für die analytische Darstellung benötigen wir hier keine </a:t>
            </a:r>
            <a:r>
              <a:rPr lang="de-DE" sz="1200" kern="1200" dirty="0">
                <a:solidFill>
                  <a:schemeClr val="tx1"/>
                </a:solidFill>
                <a:latin typeface="+mn-lt"/>
                <a:ea typeface="+mn-ea"/>
                <a:cs typeface="+mn-cs"/>
              </a:rPr>
              <a:t>@UI.chart</a:t>
            </a:r>
            <a:r>
              <a:rPr lang="de-DE" dirty="0"/>
              <a:t>-Annotation wie auf der </a:t>
            </a:r>
            <a:r>
              <a:rPr lang="de-DE" dirty="0" err="1"/>
              <a:t>Object</a:t>
            </a:r>
            <a:r>
              <a:rPr lang="de-DE" dirty="0"/>
              <a:t> Page.</a:t>
            </a:r>
          </a:p>
          <a:p>
            <a:r>
              <a:rPr lang="de-DE" dirty="0"/>
              <a:t>Die analytische Umgebung kennt bereits die Merkmale, Kennzahlen und Achsenzuordnungen. Daraus kann sie dynamisch eine passende Tabellen- oder Diagrammansicht erzeugen.</a:t>
            </a:r>
          </a:p>
          <a:p>
            <a:br>
              <a:rPr lang="de-DE" dirty="0"/>
            </a:br>
            <a:endParaRPr lang="de-DE" dirty="0"/>
          </a:p>
          <a:p>
            <a:r>
              <a:rPr lang="de-DE" b="1" dirty="0"/>
              <a:t>Warum kein festes </a:t>
            </a:r>
            <a:r>
              <a:rPr lang="de-DE" sz="1200" b="1" kern="1200" dirty="0">
                <a:solidFill>
                  <a:schemeClr val="tx1"/>
                </a:solidFill>
                <a:latin typeface="+mn-lt"/>
                <a:ea typeface="+mn-ea"/>
                <a:cs typeface="+mn-cs"/>
              </a:rPr>
              <a:t>GROUP BY</a:t>
            </a:r>
            <a:r>
              <a:rPr lang="de-DE" b="1" dirty="0"/>
              <a:t>?</a:t>
            </a:r>
          </a:p>
          <a:p>
            <a:r>
              <a:rPr lang="de-DE" b="1" dirty="0"/>
              <a:t>Vergleich</a:t>
            </a:r>
          </a:p>
          <a:p>
            <a:r>
              <a:rPr lang="de-DE" b="1" dirty="0"/>
              <a:t>Aggregierte CDS View</a:t>
            </a:r>
          </a:p>
          <a:p>
            <a:pPr rtl="0"/>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NetAmount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 </a:t>
            </a:r>
            <a:r>
              <a:rPr lang="de-DE" sz="1200" kern="1200" dirty="0" err="1">
                <a:solidFill>
                  <a:schemeClr val="tx1"/>
                </a:solidFill>
                <a:latin typeface="+mn-lt"/>
                <a:ea typeface="+mn-ea"/>
                <a:cs typeface="+mn-cs"/>
              </a:rPr>
              <a:t>ProductId</a:t>
            </a:r>
            <a:endParaRPr lang="de-DE" sz="1200" kern="1200" dirty="0">
              <a:solidFill>
                <a:schemeClr val="tx1"/>
              </a:solidFill>
              <a:latin typeface="+mn-lt"/>
              <a:ea typeface="+mn-ea"/>
              <a:cs typeface="+mn-cs"/>
            </a:endParaRPr>
          </a:p>
          <a:p>
            <a:r>
              <a:rPr lang="de-DE" dirty="0"/>
              <a:t>Ergebnis:</a:t>
            </a:r>
          </a:p>
          <a:p>
            <a:pPr rtl="0"/>
            <a:r>
              <a:rPr lang="de-DE" sz="1200" kern="1200" dirty="0">
                <a:solidFill>
                  <a:schemeClr val="tx1"/>
                </a:solidFill>
                <a:latin typeface="+mn-lt"/>
                <a:ea typeface="+mn-ea"/>
                <a:cs typeface="+mn-cs"/>
              </a:rPr>
              <a:t>Nettobetrag fest nach </a:t>
            </a:r>
            <a:r>
              <a:rPr lang="de-DE" sz="1200" kern="1200" dirty="0" err="1">
                <a:solidFill>
                  <a:schemeClr val="tx1"/>
                </a:solidFill>
                <a:latin typeface="+mn-lt"/>
                <a:ea typeface="+mn-ea"/>
                <a:cs typeface="+mn-cs"/>
              </a:rPr>
              <a:t>ProductId</a:t>
            </a:r>
            <a:endParaRPr lang="de-DE" sz="1200" kern="1200" dirty="0">
              <a:solidFill>
                <a:schemeClr val="tx1"/>
              </a:solidFill>
              <a:latin typeface="+mn-lt"/>
              <a:ea typeface="+mn-ea"/>
              <a:cs typeface="+mn-cs"/>
            </a:endParaRPr>
          </a:p>
          <a:p>
            <a:r>
              <a:rPr lang="de-DE" b="1" dirty="0"/>
              <a:t>Analytische Query</a:t>
            </a:r>
          </a:p>
          <a:p>
            <a:pPr rtl="0"/>
            <a:r>
              <a:rPr lang="de-DE" sz="1200" kern="1200" dirty="0">
                <a:solidFill>
                  <a:schemeClr val="tx1"/>
                </a:solidFill>
                <a:latin typeface="+mn-lt"/>
                <a:ea typeface="+mn-ea"/>
                <a:cs typeface="+mn-cs"/>
              </a:rPr>
              <a:t>Nettobetrag nach:</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Produkt</a:t>
            </a:r>
          </a:p>
          <a:p>
            <a:pPr rtl="0"/>
            <a:r>
              <a:rPr lang="de-DE" sz="1200" kern="1200" dirty="0">
                <a:solidFill>
                  <a:schemeClr val="tx1"/>
                </a:solidFill>
                <a:latin typeface="+mn-lt"/>
                <a:ea typeface="+mn-ea"/>
                <a:cs typeface="+mn-cs"/>
              </a:rPr>
              <a:t>- Verkaufsorganisation</a:t>
            </a:r>
          </a:p>
          <a:p>
            <a:pPr rtl="0"/>
            <a:r>
              <a:rPr lang="de-DE" sz="1200" kern="1200" dirty="0">
                <a:solidFill>
                  <a:schemeClr val="tx1"/>
                </a:solidFill>
                <a:latin typeface="+mn-lt"/>
                <a:ea typeface="+mn-ea"/>
                <a:cs typeface="+mn-cs"/>
              </a:rPr>
              <a:t>- Datum</a:t>
            </a:r>
          </a:p>
          <a:p>
            <a:pPr rtl="0"/>
            <a:r>
              <a:rPr lang="de-DE" sz="1200" kern="1200" dirty="0">
                <a:solidFill>
                  <a:schemeClr val="tx1"/>
                </a:solidFill>
                <a:latin typeface="+mn-lt"/>
                <a:ea typeface="+mn-ea"/>
                <a:cs typeface="+mn-cs"/>
              </a:rPr>
              <a:t>- beliebigen Kombinationen</a:t>
            </a:r>
          </a:p>
          <a:p>
            <a:r>
              <a:rPr lang="de-DE" b="1" dirty="0"/>
              <a:t>Sprechertext</a:t>
            </a:r>
          </a:p>
          <a:p>
            <a:r>
              <a:rPr lang="de-DE" dirty="0"/>
              <a:t>Eine aggregierte CDS View aus Teil 2 besitzt eine festgelegte Granularität. Wenn sie nach Produkt gruppiert, kann der Verbraucher diese Gruppierung nicht einfach in eine Auswertung nach Verkaufsorganisation umwandeln.</a:t>
            </a:r>
          </a:p>
          <a:p>
            <a:r>
              <a:rPr lang="de-DE" dirty="0"/>
              <a:t>Der analytische Cube stellt dagegen die Fakten auf einer ausreichend detaillierten Ebene bereit. Die Query und die Analytical Engine bestimmen die Aggregation dynamisch.</a:t>
            </a:r>
          </a:p>
          <a:p>
            <a:br>
              <a:rPr lang="de-DE" dirty="0"/>
            </a:br>
            <a:endParaRPr lang="de-DE" dirty="0"/>
          </a:p>
          <a:p>
            <a:r>
              <a:rPr lang="de-DE" b="1" dirty="0"/>
              <a:t>Typische Fehler während der Demo</a:t>
            </a:r>
          </a:p>
          <a:p>
            <a:r>
              <a:rPr lang="de-DE" sz="1200" b="1" kern="1200" dirty="0" err="1">
                <a:solidFill>
                  <a:schemeClr val="tx1"/>
                </a:solidFill>
                <a:latin typeface="+mn-lt"/>
                <a:ea typeface="+mn-ea"/>
                <a:cs typeface="+mn-cs"/>
              </a:rPr>
              <a:t>NetAmount</a:t>
            </a:r>
            <a:r>
              <a:rPr lang="de-DE" b="1" dirty="0"/>
              <a:t> wird nicht aggregiert</a:t>
            </a:r>
          </a:p>
          <a:p>
            <a:r>
              <a:rPr lang="de-DE" dirty="0"/>
              <a:t>Prüfen:</a:t>
            </a:r>
          </a:p>
          <a:p>
            <a:pPr rtl="0"/>
            <a:r>
              <a:rPr lang="de-DE" sz="1200" kern="1200" dirty="0">
                <a:solidFill>
                  <a:schemeClr val="tx1"/>
                </a:solidFill>
                <a:latin typeface="+mn-lt"/>
                <a:ea typeface="+mn-ea"/>
                <a:cs typeface="+mn-cs"/>
              </a:rPr>
              <a:t>@Aggregation.default: #SUM</a:t>
            </a:r>
          </a:p>
          <a:p>
            <a:r>
              <a:rPr lang="de-DE" b="1" dirty="0"/>
              <a:t>Produkt wird nicht als Dimension erkannt</a:t>
            </a:r>
          </a:p>
          <a:p>
            <a:r>
              <a:rPr lang="de-DE" dirty="0"/>
              <a:t>Prüfen:</a:t>
            </a: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ZI_CDSProductDim</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@ObjectModel.foreignKey.association: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ProductId</a:t>
            </a:r>
            <a:endParaRPr lang="de-DE" sz="1200" kern="1200" dirty="0">
              <a:solidFill>
                <a:schemeClr val="tx1"/>
              </a:solidFill>
              <a:latin typeface="+mn-lt"/>
              <a:ea typeface="+mn-ea"/>
              <a:cs typeface="+mn-cs"/>
            </a:endParaRPr>
          </a:p>
          <a:p>
            <a:r>
              <a:rPr lang="de-DE" dirty="0"/>
              <a:t>und die exponierte Assoziation:</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r>
              <a:rPr lang="de-DE" b="1" dirty="0"/>
              <a:t>Betrag erscheint ohne Währung</a:t>
            </a:r>
          </a:p>
          <a:p>
            <a:r>
              <a:rPr lang="de-DE" dirty="0"/>
              <a:t>Prüfen:</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NetAmount</a:t>
            </a:r>
            <a:endParaRPr lang="de-DE" sz="1200" kern="1200" dirty="0">
              <a:solidFill>
                <a:schemeClr val="tx1"/>
              </a:solidFill>
              <a:latin typeface="+mn-lt"/>
              <a:ea typeface="+mn-ea"/>
              <a:cs typeface="+mn-cs"/>
            </a:endParaRPr>
          </a:p>
          <a:p>
            <a:r>
              <a:rPr lang="de-DE" dirty="0"/>
              <a:t>und:</a:t>
            </a:r>
          </a:p>
          <a:p>
            <a:pPr rtl="0"/>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r>
              <a:rPr lang="de-DE" b="1" dirty="0"/>
              <a:t>Query lässt sich nicht als analytische Query starten</a:t>
            </a:r>
          </a:p>
          <a:p>
            <a:r>
              <a:rPr lang="de-DE" dirty="0"/>
              <a:t>Prüfen:</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transient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endParaRPr lang="de-DE" sz="1200" kern="1200" dirty="0">
              <a:solidFill>
                <a:schemeClr val="tx1"/>
              </a:solidFill>
              <a:latin typeface="+mn-lt"/>
              <a:ea typeface="+mn-ea"/>
              <a:cs typeface="+mn-cs"/>
            </a:endParaRPr>
          </a:p>
          <a:p>
            <a:r>
              <a:rPr lang="de-DE" dirty="0"/>
              <a:t>und:</a:t>
            </a:r>
          </a:p>
          <a:p>
            <a:pPr rtl="0"/>
            <a:r>
              <a:rPr lang="de-DE" sz="1200" kern="1200" dirty="0" err="1">
                <a:solidFill>
                  <a:schemeClr val="tx1"/>
                </a:solidFill>
                <a:latin typeface="+mn-lt"/>
                <a:ea typeface="+mn-ea"/>
                <a:cs typeface="+mn-cs"/>
              </a:rPr>
              <a:t>provider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contract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analytical_query</a:t>
            </a:r>
            <a:endParaRPr lang="de-DE" sz="1200" kern="1200" dirty="0">
              <a:solidFill>
                <a:schemeClr val="tx1"/>
              </a:solidFill>
              <a:latin typeface="+mn-lt"/>
              <a:ea typeface="+mn-ea"/>
              <a:cs typeface="+mn-cs"/>
            </a:endParaRPr>
          </a:p>
          <a:p>
            <a:r>
              <a:rPr lang="de-DE" b="1" dirty="0"/>
              <a:t>Doppelte oder unerwartet hohe Werte</a:t>
            </a:r>
          </a:p>
          <a:p>
            <a:r>
              <a:rPr lang="de-DE" dirty="0"/>
              <a:t>Prüfen:</a:t>
            </a:r>
          </a:p>
          <a:p>
            <a:pPr lvl="0"/>
            <a:r>
              <a:rPr lang="de-DE" dirty="0"/>
              <a:t>Granularität des Cubes </a:t>
            </a:r>
          </a:p>
          <a:p>
            <a:pPr lvl="0"/>
            <a:r>
              <a:rPr lang="de-DE" dirty="0"/>
              <a:t>Schlüssel </a:t>
            </a:r>
            <a:r>
              <a:rPr lang="de-DE" sz="1200" kern="1200" dirty="0" err="1">
                <a:solidFill>
                  <a:schemeClr val="tx1"/>
                </a:solidFill>
                <a:latin typeface="+mn-lt"/>
                <a:ea typeface="+mn-ea"/>
                <a:cs typeface="+mn-cs"/>
              </a:rPr>
              <a:t>OrderId</a:t>
            </a:r>
            <a:r>
              <a:rPr lang="de-DE" dirty="0"/>
              <a:t> und </a:t>
            </a:r>
            <a:r>
              <a:rPr lang="de-DE" sz="1200" kern="1200" dirty="0" err="1">
                <a:solidFill>
                  <a:schemeClr val="tx1"/>
                </a:solidFill>
                <a:latin typeface="+mn-lt"/>
                <a:ea typeface="+mn-ea"/>
                <a:cs typeface="+mn-cs"/>
              </a:rPr>
              <a:t>ItemNumber</a:t>
            </a:r>
            <a:r>
              <a:rPr lang="de-DE" dirty="0"/>
              <a:t> </a:t>
            </a:r>
          </a:p>
          <a:p>
            <a:pPr lvl="0"/>
            <a:r>
              <a:rPr lang="de-DE" dirty="0"/>
              <a:t>Kardinalität der Dimensionsassoziation </a:t>
            </a:r>
          </a:p>
          <a:p>
            <a:pPr lvl="0"/>
            <a:r>
              <a:rPr lang="de-DE" dirty="0"/>
              <a:t>mögliche Vervielfachung durch einen </a:t>
            </a:r>
            <a:r>
              <a:rPr lang="de-DE" dirty="0" err="1"/>
              <a:t>Join</a:t>
            </a:r>
            <a:r>
              <a:rPr lang="de-DE" dirty="0"/>
              <a:t> </a:t>
            </a:r>
          </a:p>
          <a:p>
            <a:br>
              <a:rPr lang="de-DE" dirty="0"/>
            </a:br>
            <a:endParaRPr lang="de-DE" dirty="0"/>
          </a:p>
          <a:p>
            <a:r>
              <a:rPr lang="de-DE" b="1" dirty="0"/>
              <a:t>Ergebnis von Live-Coding 5</a:t>
            </a:r>
          </a:p>
          <a:p>
            <a:r>
              <a:rPr lang="de-DE" dirty="0"/>
              <a:t>Das analytische Grundmodell ist vollständig:</a:t>
            </a:r>
          </a:p>
          <a:p>
            <a:r>
              <a:rPr lang="de-DE" dirty="0"/>
              <a:t>Die Query ermöglicht:</a:t>
            </a:r>
          </a:p>
          <a:p>
            <a:pPr lvl="0"/>
            <a:r>
              <a:rPr lang="de-DE" dirty="0"/>
              <a:t>automatische Summierung des Nettobetrags </a:t>
            </a:r>
          </a:p>
          <a:p>
            <a:pPr lvl="0"/>
            <a:r>
              <a:rPr lang="de-DE" dirty="0"/>
              <a:t>Auswertung nach Verkaufsorganisation und Produkt </a:t>
            </a:r>
          </a:p>
          <a:p>
            <a:pPr lvl="0"/>
            <a:r>
              <a:rPr lang="de-DE" dirty="0"/>
              <a:t>Aufnahme weiterer Merkmale in den Drilldown </a:t>
            </a:r>
          </a:p>
          <a:p>
            <a:pPr lvl="0"/>
            <a:r>
              <a:rPr lang="de-DE" dirty="0"/>
              <a:t>dynamische Tabellen- und Diagrammdarstellung </a:t>
            </a:r>
          </a:p>
          <a:p>
            <a:r>
              <a:rPr lang="de-DE" b="1" dirty="0"/>
              <a:t>Überleitung zur Produkthierarchie</a:t>
            </a:r>
          </a:p>
          <a:p>
            <a:r>
              <a:rPr lang="de-DE" b="1" dirty="0"/>
              <a:t>Sprechertext</a:t>
            </a:r>
          </a:p>
          <a:p>
            <a:r>
              <a:rPr lang="de-DE" dirty="0"/>
              <a:t>Unsere Query kann den Umsatz bereits nach einzelnen Produkten auswerten. Die Produkte erscheinen dabei jedoch als flache Liste.</a:t>
            </a:r>
          </a:p>
          <a:p>
            <a:endParaRPr lang="de-DE" dirty="0"/>
          </a:p>
          <a:p>
            <a:r>
              <a:rPr lang="de-DE" dirty="0"/>
              <a:t>Fachlich gehören die Produkte zu Kategorien und Unterkategorien. Ein Business Notebook und eine Workstation gehören beispielsweise zur Kategorie Computer, diese wiederum zu Hardware und schließlich zur gemeinsamen Wurzel Produkte.</a:t>
            </a:r>
          </a:p>
          <a:p>
            <a:endParaRPr lang="de-DE" dirty="0"/>
          </a:p>
          <a:p>
            <a:r>
              <a:rPr lang="de-DE" dirty="0"/>
              <a:t>Im letzten Abschnitt ergänzen wir deshalb eine Produkthierarchie. Kategorien bilden darin die Strukturknoten, während die konkreten Produkte als Blätter erscheinen. Die Analytical Engine wird anschließend die Nettobeträge automatisch über alle Hierarchieebenen aggregieren.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47</a:t>
            </a:fld>
            <a:endParaRPr lang="de-DE" dirty="0"/>
          </a:p>
        </p:txBody>
      </p:sp>
    </p:spTree>
    <p:extLst>
      <p:ext uri="{BB962C8B-B14F-4D97-AF65-F5344CB8AC3E}">
        <p14:creationId xmlns:p14="http://schemas.microsoft.com/office/powerpoint/2010/main" val="14171812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analytische Query zeigt die Produkte bislang als flache Liste.</a:t>
            </a:r>
          </a:p>
          <a:p>
            <a:endParaRPr lang="de-DE" dirty="0"/>
          </a:p>
          <a:p>
            <a:r>
              <a:rPr lang="de-DE" dirty="0"/>
              <a:t>Fachlich bilden die Produkte jedoch eine Hierarchie. Das Business Notebook und die Developer Workstation gehören zur Kategorie Computer. Diese gehört zu Hardware und Hardware wiederum zur gemeinsamen Wurzel Produkte.</a:t>
            </a:r>
          </a:p>
          <a:p>
            <a:endParaRPr lang="de-DE" dirty="0"/>
          </a:p>
          <a:p>
            <a:r>
              <a:rPr lang="de-DE" dirty="0"/>
              <a:t>Dabei sind nicht alle Hierarchieknoten gleichartig. Kategorien bilden die Struktur, während konkrete Produkte die Blätter darstellen.</a:t>
            </a:r>
          </a:p>
          <a:p>
            <a:endParaRPr lang="de-DE" dirty="0"/>
          </a:p>
          <a:p>
            <a:r>
              <a:rPr lang="de-DE" dirty="0"/>
              <a:t>Genau diese gemischte Hierarchie modellieren wir im letzten Live-Coding.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48</a:t>
            </a:fld>
            <a:endParaRPr lang="de-DE" dirty="0"/>
          </a:p>
        </p:txBody>
      </p:sp>
    </p:spTree>
    <p:extLst>
      <p:ext uri="{BB962C8B-B14F-4D97-AF65-F5344CB8AC3E}">
        <p14:creationId xmlns:p14="http://schemas.microsoft.com/office/powerpoint/2010/main" val="5813001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Hierarchie enthält zwei fachliche Knotentypen.</a:t>
            </a:r>
          </a:p>
          <a:p>
            <a:endParaRPr lang="de-DE" dirty="0"/>
          </a:p>
          <a:p>
            <a:r>
              <a:rPr lang="de-DE" dirty="0"/>
              <a:t>Bei einem Kategorie-Knoten ist </a:t>
            </a:r>
            <a:r>
              <a:rPr lang="de-DE" sz="1200" kern="1200" dirty="0" err="1">
                <a:solidFill>
                  <a:schemeClr val="tx1"/>
                </a:solidFill>
                <a:latin typeface="+mn-lt"/>
                <a:ea typeface="+mn-ea"/>
                <a:cs typeface="+mn-cs"/>
              </a:rPr>
              <a:t>CategoryId</a:t>
            </a:r>
            <a:r>
              <a:rPr lang="de-DE" dirty="0"/>
              <a:t> der fachliche Schlüssel. Bei einem Produktknoten ist es </a:t>
            </a:r>
            <a:r>
              <a:rPr lang="de-DE" sz="1200" kern="1200" dirty="0" err="1">
                <a:solidFill>
                  <a:schemeClr val="tx1"/>
                </a:solidFill>
                <a:latin typeface="+mn-lt"/>
                <a:ea typeface="+mn-ea"/>
                <a:cs typeface="+mn-cs"/>
              </a:rPr>
              <a:t>ProductId</a:t>
            </a:r>
            <a:r>
              <a:rPr lang="de-DE" dirty="0"/>
              <a:t>.</a:t>
            </a:r>
          </a:p>
          <a:p>
            <a:endParaRPr lang="de-DE" dirty="0"/>
          </a:p>
          <a:p>
            <a:r>
              <a:rPr lang="de-DE" dirty="0"/>
              <a:t>Zusätzlich benötigt jeder Knoten einen technischen Schlüssel </a:t>
            </a:r>
            <a:r>
              <a:rPr lang="de-DE" sz="1200" kern="1200" dirty="0" err="1">
                <a:solidFill>
                  <a:schemeClr val="tx1"/>
                </a:solidFill>
                <a:latin typeface="+mn-lt"/>
                <a:ea typeface="+mn-ea"/>
                <a:cs typeface="+mn-cs"/>
              </a:rPr>
              <a:t>NodeId</a:t>
            </a:r>
            <a:r>
              <a:rPr lang="de-DE" dirty="0"/>
              <a:t>. Über </a:t>
            </a:r>
            <a:r>
              <a:rPr lang="de-DE" sz="1200" kern="1200" dirty="0" err="1">
                <a:solidFill>
                  <a:schemeClr val="tx1"/>
                </a:solidFill>
                <a:latin typeface="+mn-lt"/>
                <a:ea typeface="+mn-ea"/>
                <a:cs typeface="+mn-cs"/>
              </a:rPr>
              <a:t>NodeId</a:t>
            </a:r>
            <a:r>
              <a:rPr lang="de-DE" dirty="0"/>
              <a:t> und </a:t>
            </a:r>
            <a:r>
              <a:rPr lang="de-DE" sz="1200" kern="1200" dirty="0" err="1">
                <a:solidFill>
                  <a:schemeClr val="tx1"/>
                </a:solidFill>
                <a:latin typeface="+mn-lt"/>
                <a:ea typeface="+mn-ea"/>
                <a:cs typeface="+mn-cs"/>
              </a:rPr>
              <a:t>ParentNodeId</a:t>
            </a:r>
            <a:r>
              <a:rPr lang="de-DE" dirty="0"/>
              <a:t> wird die Baumstruktur aufgebaut.</a:t>
            </a:r>
          </a:p>
          <a:p>
            <a:endParaRPr lang="de-DE" dirty="0"/>
          </a:p>
          <a:p>
            <a:r>
              <a:rPr lang="de-DE" dirty="0"/>
              <a:t>Obwohl </a:t>
            </a:r>
            <a:r>
              <a:rPr lang="de-DE" sz="1200" kern="1200" dirty="0" err="1">
                <a:solidFill>
                  <a:schemeClr val="tx1"/>
                </a:solidFill>
                <a:latin typeface="+mn-lt"/>
                <a:ea typeface="+mn-ea"/>
                <a:cs typeface="+mn-cs"/>
              </a:rPr>
              <a:t>NodeId</a:t>
            </a:r>
            <a:r>
              <a:rPr lang="de-DE" dirty="0"/>
              <a:t>, </a:t>
            </a:r>
            <a:r>
              <a:rPr lang="de-DE" sz="1200" kern="1200" dirty="0" err="1">
                <a:solidFill>
                  <a:schemeClr val="tx1"/>
                </a:solidFill>
                <a:latin typeface="+mn-lt"/>
                <a:ea typeface="+mn-ea"/>
                <a:cs typeface="+mn-cs"/>
              </a:rPr>
              <a:t>CategoryId</a:t>
            </a:r>
            <a:r>
              <a:rPr lang="de-DE" dirty="0"/>
              <a:t> und </a:t>
            </a:r>
            <a:r>
              <a:rPr lang="de-DE" sz="1200" kern="1200" dirty="0" err="1">
                <a:solidFill>
                  <a:schemeClr val="tx1"/>
                </a:solidFill>
                <a:latin typeface="+mn-lt"/>
                <a:ea typeface="+mn-ea"/>
                <a:cs typeface="+mn-cs"/>
              </a:rPr>
              <a:t>ProductId</a:t>
            </a:r>
            <a:r>
              <a:rPr lang="de-DE" dirty="0"/>
              <a:t> in unserem einfachen Datenbestand teilweise denselben Inhalt besitzen, erfüllen sie unterschiedliche analytische Rollen und dürfen nicht miteinander verwechselt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49</a:t>
            </a:fld>
            <a:endParaRPr lang="de-DE" dirty="0"/>
          </a:p>
        </p:txBody>
      </p:sp>
    </p:spTree>
    <p:extLst>
      <p:ext uri="{BB962C8B-B14F-4D97-AF65-F5344CB8AC3E}">
        <p14:creationId xmlns:p14="http://schemas.microsoft.com/office/powerpoint/2010/main" val="13829244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vollständige Modell besteht aus mehreren CDS-Objekten.</a:t>
            </a:r>
          </a:p>
          <a:p>
            <a:endParaRPr lang="de-DE" dirty="0"/>
          </a:p>
          <a:p>
            <a:r>
              <a:rPr lang="de-DE" dirty="0"/>
              <a:t>Die Basis View Entity </a:t>
            </a:r>
            <a:r>
              <a:rPr lang="de-DE" dirty="0" err="1"/>
              <a:t>ZI_CDSPRodHierBase</a:t>
            </a:r>
            <a:r>
              <a:rPr lang="de-DE" dirty="0"/>
              <a:t> führt Kategorien und Produkte in einer einheitlichen Knotenstruktur zusammen.</a:t>
            </a:r>
          </a:p>
          <a:p>
            <a:endParaRPr lang="de-DE" dirty="0"/>
          </a:p>
          <a:p>
            <a:r>
              <a:rPr lang="de-DE" dirty="0"/>
              <a:t>Die Node-View ergänzt die Self-</a:t>
            </a:r>
            <a:r>
              <a:rPr lang="de-DE" dirty="0" err="1"/>
              <a:t>Association</a:t>
            </a:r>
            <a:r>
              <a:rPr lang="de-DE" dirty="0"/>
              <a:t> zum Elternknoten und die Assoziationen zu den fachlichen Kategorie- und Produktdimensionen.</a:t>
            </a:r>
          </a:p>
          <a:p>
            <a:endParaRPr lang="de-DE" dirty="0"/>
          </a:p>
          <a:p>
            <a:r>
              <a:rPr lang="de-DE" dirty="0"/>
              <a:t>Darauf basiert die eigentliche Parent-Child-Hierarchie.</a:t>
            </a:r>
          </a:p>
          <a:p>
            <a:endParaRPr lang="de-DE" dirty="0"/>
          </a:p>
          <a:p>
            <a:r>
              <a:rPr lang="de-DE" dirty="0"/>
              <a:t>Die Produktdimension veröffentlicht diese Hierarchie. </a:t>
            </a:r>
          </a:p>
          <a:p>
            <a:endParaRPr lang="de-DE" dirty="0"/>
          </a:p>
          <a:p>
            <a:r>
              <a:rPr lang="de-DE" dirty="0"/>
              <a:t>Der Cube ist bereits mit der Produktdimension verbunden, und die analytische Query kann die Hierarchie schließlich am Merkmal </a:t>
            </a:r>
            <a:r>
              <a:rPr lang="de-DE" sz="1200" kern="1200" dirty="0" err="1">
                <a:solidFill>
                  <a:schemeClr val="tx1"/>
                </a:solidFill>
                <a:latin typeface="+mn-lt"/>
                <a:ea typeface="+mn-ea"/>
                <a:cs typeface="+mn-cs"/>
              </a:rPr>
              <a:t>ProductId</a:t>
            </a:r>
            <a:r>
              <a:rPr lang="de-DE" dirty="0"/>
              <a:t> einschalten.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50</a:t>
            </a:fld>
            <a:endParaRPr lang="de-DE" dirty="0"/>
          </a:p>
        </p:txBody>
      </p:sp>
    </p:spTree>
    <p:extLst>
      <p:ext uri="{BB962C8B-B14F-4D97-AF65-F5344CB8AC3E}">
        <p14:creationId xmlns:p14="http://schemas.microsoft.com/office/powerpoint/2010/main" val="21362665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CDS-Hierarchie verwendet das Parent-Child-Modell.</a:t>
            </a:r>
          </a:p>
          <a:p>
            <a:endParaRPr lang="de-DE" dirty="0"/>
          </a:p>
          <a:p>
            <a:r>
              <a:rPr lang="de-DE" dirty="0"/>
              <a:t>Die Node-View liefert die Knoten. Die Assoziation </a:t>
            </a:r>
            <a:r>
              <a:rPr lang="de-DE" sz="1200" kern="1200" dirty="0">
                <a:solidFill>
                  <a:schemeClr val="tx1"/>
                </a:solidFill>
                <a:latin typeface="+mn-lt"/>
                <a:ea typeface="+mn-ea"/>
                <a:cs typeface="+mn-cs"/>
              </a:rPr>
              <a:t>_Parent</a:t>
            </a:r>
            <a:r>
              <a:rPr lang="de-DE" dirty="0"/>
              <a:t> verbindet jeden Knoten mit seinem Elternknoten.</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start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ParentNodeId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is</a:t>
            </a:r>
            <a:r>
              <a:rPr lang="de-DE" sz="1200" kern="1200" dirty="0">
                <a:solidFill>
                  <a:schemeClr val="tx1"/>
                </a:solidFill>
                <a:latin typeface="+mn-lt"/>
                <a:ea typeface="+mn-ea"/>
                <a:cs typeface="+mn-cs"/>
              </a:rPr>
              <a:t> initial</a:t>
            </a:r>
            <a:r>
              <a:rPr lang="de-DE" dirty="0"/>
              <a:t> bestimmt die Wurzel der Hierarchie.</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nodetype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NodeType</a:t>
            </a:r>
            <a:r>
              <a:rPr lang="de-DE" dirty="0"/>
              <a:t> ist für unser gemischtes Modell besonders wichtig. Der Inhalt von </a:t>
            </a:r>
            <a:r>
              <a:rPr lang="de-DE" sz="1200" kern="1200" dirty="0" err="1">
                <a:solidFill>
                  <a:schemeClr val="tx1"/>
                </a:solidFill>
                <a:latin typeface="+mn-lt"/>
                <a:ea typeface="+mn-ea"/>
                <a:cs typeface="+mn-cs"/>
              </a:rPr>
              <a:t>NodeType</a:t>
            </a:r>
            <a:r>
              <a:rPr lang="de-DE" dirty="0"/>
              <a:t> legt fest, welches Element den fachlichen Schlüssel des jeweiligen Knotens enthält.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51</a:t>
            </a:fld>
            <a:endParaRPr lang="de-DE" dirty="0"/>
          </a:p>
        </p:txBody>
      </p:sp>
    </p:spTree>
    <p:extLst>
      <p:ext uri="{BB962C8B-B14F-4D97-AF65-F5344CB8AC3E}">
        <p14:creationId xmlns:p14="http://schemas.microsoft.com/office/powerpoint/2010/main" val="38994915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Diese Trennung ist für die funktionierende Modellierung entscheidend.</a:t>
            </a:r>
          </a:p>
          <a:p>
            <a:endParaRPr lang="de-DE" dirty="0"/>
          </a:p>
          <a:p>
            <a:r>
              <a:rPr lang="de-DE" sz="1200" kern="1200" dirty="0" err="1">
                <a:solidFill>
                  <a:schemeClr val="tx1"/>
                </a:solidFill>
                <a:latin typeface="+mn-lt"/>
                <a:ea typeface="+mn-ea"/>
                <a:cs typeface="+mn-cs"/>
              </a:rPr>
              <a:t>NodeId</a:t>
            </a:r>
            <a:r>
              <a:rPr lang="de-DE" dirty="0"/>
              <a:t> identifiziert einen Knoten innerhalb des Baums. </a:t>
            </a:r>
            <a:r>
              <a:rPr lang="de-DE" sz="1200" kern="1200" dirty="0" err="1">
                <a:solidFill>
                  <a:schemeClr val="tx1"/>
                </a:solidFill>
                <a:latin typeface="+mn-lt"/>
                <a:ea typeface="+mn-ea"/>
                <a:cs typeface="+mn-cs"/>
              </a:rPr>
              <a:t>ParentNodeId</a:t>
            </a:r>
            <a:r>
              <a:rPr lang="de-DE" dirty="0"/>
              <a:t> verweist auf dessen übergeordneten Knoten.</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CategoryId</a:t>
            </a:r>
            <a:r>
              <a:rPr lang="de-DE" dirty="0"/>
              <a:t> und </a:t>
            </a:r>
            <a:r>
              <a:rPr lang="de-DE" sz="1200" kern="1200" dirty="0" err="1">
                <a:solidFill>
                  <a:schemeClr val="tx1"/>
                </a:solidFill>
                <a:latin typeface="+mn-lt"/>
                <a:ea typeface="+mn-ea"/>
                <a:cs typeface="+mn-cs"/>
              </a:rPr>
              <a:t>ProductId</a:t>
            </a:r>
            <a:r>
              <a:rPr lang="de-DE" dirty="0"/>
              <a:t> ordnen den Knoten dagegen einer fachlichen Dimension zu.</a:t>
            </a:r>
          </a:p>
          <a:p>
            <a:endParaRPr lang="de-DE" dirty="0"/>
          </a:p>
          <a:p>
            <a:r>
              <a:rPr lang="de-DE" dirty="0"/>
              <a:t>Der Kategorie-Knoten </a:t>
            </a:r>
            <a:r>
              <a:rPr lang="de-DE" sz="1200" kern="1200" dirty="0">
                <a:solidFill>
                  <a:schemeClr val="tx1"/>
                </a:solidFill>
                <a:latin typeface="+mn-lt"/>
                <a:ea typeface="+mn-ea"/>
                <a:cs typeface="+mn-cs"/>
              </a:rPr>
              <a:t>COMPUTER</a:t>
            </a:r>
            <a:r>
              <a:rPr lang="de-DE" dirty="0"/>
              <a:t> verwendet </a:t>
            </a:r>
            <a:r>
              <a:rPr lang="de-DE" sz="1200" kern="1200" dirty="0" err="1">
                <a:solidFill>
                  <a:schemeClr val="tx1"/>
                </a:solidFill>
                <a:latin typeface="+mn-lt"/>
                <a:ea typeface="+mn-ea"/>
                <a:cs typeface="+mn-cs"/>
              </a:rPr>
              <a:t>CategoryId</a:t>
            </a:r>
            <a:r>
              <a:rPr lang="de-DE" dirty="0"/>
              <a:t>. Das Produktblatt </a:t>
            </a:r>
            <a:r>
              <a:rPr lang="de-DE" sz="1200" kern="1200" dirty="0">
                <a:solidFill>
                  <a:schemeClr val="tx1"/>
                </a:solidFill>
                <a:latin typeface="+mn-lt"/>
                <a:ea typeface="+mn-ea"/>
                <a:cs typeface="+mn-cs"/>
              </a:rPr>
              <a:t>P100</a:t>
            </a:r>
            <a:r>
              <a:rPr lang="de-DE" dirty="0"/>
              <a:t> verwendet </a:t>
            </a:r>
            <a:r>
              <a:rPr lang="de-DE" sz="1200" kern="1200" dirty="0" err="1">
                <a:solidFill>
                  <a:schemeClr val="tx1"/>
                </a:solidFill>
                <a:latin typeface="+mn-lt"/>
                <a:ea typeface="+mn-ea"/>
                <a:cs typeface="+mn-cs"/>
              </a:rPr>
              <a:t>ProductId</a:t>
            </a:r>
            <a:r>
              <a:rPr lang="de-DE" dirty="0"/>
              <a:t>.</a:t>
            </a:r>
          </a:p>
          <a:p>
            <a:endParaRPr lang="de-DE" dirty="0"/>
          </a:p>
          <a:p>
            <a:r>
              <a:rPr lang="de-DE" dirty="0"/>
              <a:t>Die Produktdimension wird später über </a:t>
            </a:r>
            <a:r>
              <a:rPr lang="de-DE" sz="1200" kern="1200" dirty="0" err="1">
                <a:solidFill>
                  <a:schemeClr val="tx1"/>
                </a:solidFill>
                <a:latin typeface="+mn-lt"/>
                <a:ea typeface="+mn-ea"/>
                <a:cs typeface="+mn-cs"/>
              </a:rPr>
              <a:t>ProductId</a:t>
            </a:r>
            <a:r>
              <a:rPr lang="de-DE" dirty="0"/>
              <a:t> mit der Hierarchie verbunden – nicht über </a:t>
            </a:r>
            <a:r>
              <a:rPr lang="de-DE" sz="1200" kern="1200" dirty="0" err="1">
                <a:solidFill>
                  <a:schemeClr val="tx1"/>
                </a:solidFill>
                <a:latin typeface="+mn-lt"/>
                <a:ea typeface="+mn-ea"/>
                <a:cs typeface="+mn-cs"/>
              </a:rPr>
              <a:t>NodeId</a:t>
            </a:r>
            <a:r>
              <a:rPr lang="de-DE" dirty="0"/>
              <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52</a:t>
            </a:fld>
            <a:endParaRPr lang="de-DE" dirty="0"/>
          </a:p>
        </p:txBody>
      </p:sp>
    </p:spTree>
    <p:extLst>
      <p:ext uri="{BB962C8B-B14F-4D97-AF65-F5344CB8AC3E}">
        <p14:creationId xmlns:p14="http://schemas.microsoft.com/office/powerpoint/2010/main" val="40619332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Query exponiert zunächst den verschachtelten Assoziationspfad von der Produktdimension zur Hierarchie.</a:t>
            </a:r>
          </a:p>
          <a:p>
            <a:endParaRPr lang="de-DE" dirty="0"/>
          </a:p>
          <a:p>
            <a:r>
              <a:rPr lang="de-DE" dirty="0"/>
              <a:t>Am Merkmal </a:t>
            </a:r>
            <a:r>
              <a:rPr lang="de-DE" sz="1200" kern="1200" dirty="0" err="1">
                <a:solidFill>
                  <a:schemeClr val="tx1"/>
                </a:solidFill>
                <a:latin typeface="+mn-lt"/>
                <a:ea typeface="+mn-ea"/>
                <a:cs typeface="+mn-cs"/>
              </a:rPr>
              <a:t>ProductId</a:t>
            </a:r>
            <a:r>
              <a:rPr lang="de-DE" dirty="0"/>
              <a:t> schalten wir die Hierarchiedarstellung ein. </a:t>
            </a:r>
            <a:r>
              <a:rPr lang="de-DE" sz="1200" kern="1200" dirty="0" err="1">
                <a:solidFill>
                  <a:schemeClr val="tx1"/>
                </a:solidFill>
                <a:latin typeface="+mn-lt"/>
                <a:ea typeface="+mn-ea"/>
                <a:cs typeface="+mn-cs"/>
              </a:rPr>
              <a:t>hierarchyAssociation</a:t>
            </a:r>
            <a:r>
              <a:rPr lang="de-DE" dirty="0"/>
              <a:t> nennt die zuvor exponierte Assoziation.</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hierarchyInitialLevel</a:t>
            </a:r>
            <a:r>
              <a:rPr lang="de-DE" dirty="0"/>
              <a:t> legt fest, bis zu welcher Ebene die Hierarchie beim Start aufgeklappt wird.</a:t>
            </a:r>
          </a:p>
          <a:p>
            <a:endParaRPr lang="de-DE" dirty="0"/>
          </a:p>
          <a:p>
            <a:r>
              <a:rPr lang="de-DE" dirty="0"/>
              <a:t>Die Analytical Engine aggregiert den Nettobetrag automatisch über Produkte, Unterkategorien, Hauptkategorien und die gemeinsame Wurzel.</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53</a:t>
            </a:fld>
            <a:endParaRPr lang="de-DE" dirty="0"/>
          </a:p>
        </p:txBody>
      </p:sp>
    </p:spTree>
    <p:extLst>
      <p:ext uri="{BB962C8B-B14F-4D97-AF65-F5344CB8AC3E}">
        <p14:creationId xmlns:p14="http://schemas.microsoft.com/office/powerpoint/2010/main" val="20792695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Ergebnis erscheinen Kategorien und Produkte gemeinsam in einem Baum.</a:t>
            </a:r>
          </a:p>
          <a:p>
            <a:endParaRPr lang="de-DE" dirty="0"/>
          </a:p>
          <a:p>
            <a:r>
              <a:rPr lang="de-DE" dirty="0"/>
              <a:t>Kategorien bilden die aggregierten Strukturknoten. Produkte erscheinen als Blätter mit ihren jeweiligen Nettobeträgen.</a:t>
            </a:r>
          </a:p>
          <a:p>
            <a:endParaRPr lang="de-DE" dirty="0"/>
          </a:p>
          <a:p>
            <a:r>
              <a:rPr lang="de-DE" dirty="0"/>
              <a:t>Die Werte werden auf jeder Ebene automatisch summiert. So ergibt sich beispielsweise der Wert für Hardware aus den untergeordneten Kategorien Computer und Zubehör.</a:t>
            </a:r>
          </a:p>
          <a:p>
            <a:endParaRPr lang="de-DE" dirty="0"/>
          </a:p>
          <a:p>
            <a:r>
              <a:rPr lang="de-DE" dirty="0"/>
              <a:t>Damit beantwortet die Query sowohl Detailfragen zu einzelnen Produkten als auch zusammengefasste Fragen zu Produktgruppen.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54</a:t>
            </a:fld>
            <a:endParaRPr lang="de-DE" dirty="0"/>
          </a:p>
        </p:txBody>
      </p:sp>
    </p:spTree>
    <p:extLst>
      <p:ext uri="{BB962C8B-B14F-4D97-AF65-F5344CB8AC3E}">
        <p14:creationId xmlns:p14="http://schemas.microsoft.com/office/powerpoint/2010/main" val="34612376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Demoorganisation</a:t>
            </a:r>
          </a:p>
          <a:p>
            <a:r>
              <a:rPr lang="de-DE" dirty="0"/>
              <a:t>Wegen der gegenseitigen Abhängigkeiten sollten folgende Objekte vorbereitet, aber noch nicht vollständig aktiviert sein:</a:t>
            </a:r>
          </a:p>
          <a:p>
            <a:pPr lvl="0"/>
            <a:r>
              <a:rPr lang="de-DE" sz="1200" kern="1200" dirty="0" err="1">
                <a:solidFill>
                  <a:schemeClr val="tx1"/>
                </a:solidFill>
                <a:latin typeface="+mn-lt"/>
                <a:ea typeface="+mn-ea"/>
                <a:cs typeface="+mn-cs"/>
              </a:rPr>
              <a:t>ZI_CDSProdHierBase</a:t>
            </a:r>
            <a:r>
              <a:rPr lang="de-DE" dirty="0"/>
              <a:t> </a:t>
            </a:r>
          </a:p>
          <a:p>
            <a:pPr lvl="0"/>
            <a:r>
              <a:rPr lang="de-DE" sz="1200" kern="1200" dirty="0" err="1">
                <a:solidFill>
                  <a:schemeClr val="tx1"/>
                </a:solidFill>
                <a:latin typeface="+mn-lt"/>
                <a:ea typeface="+mn-ea"/>
                <a:cs typeface="+mn-cs"/>
              </a:rPr>
              <a:t>ZI_CDSProdHierNode</a:t>
            </a:r>
            <a:r>
              <a:rPr lang="de-DE" dirty="0"/>
              <a:t> </a:t>
            </a:r>
          </a:p>
          <a:p>
            <a:pPr lvl="0"/>
            <a:r>
              <a:rPr lang="de-DE" sz="1200" kern="1200" dirty="0">
                <a:solidFill>
                  <a:schemeClr val="tx1"/>
                </a:solidFill>
                <a:latin typeface="+mn-lt"/>
                <a:ea typeface="+mn-ea"/>
                <a:cs typeface="+mn-cs"/>
              </a:rPr>
              <a:t>ZI_CDSProductHierarchy</a:t>
            </a:r>
            <a:r>
              <a:rPr lang="de-DE" dirty="0"/>
              <a:t> </a:t>
            </a:r>
          </a:p>
          <a:p>
            <a:pPr lvl="0"/>
            <a:r>
              <a:rPr lang="de-DE" dirty="0"/>
              <a:t>Erweiterung von </a:t>
            </a:r>
            <a:r>
              <a:rPr lang="de-DE" sz="1200" kern="1200" dirty="0" err="1">
                <a:solidFill>
                  <a:schemeClr val="tx1"/>
                </a:solidFill>
                <a:latin typeface="+mn-lt"/>
                <a:ea typeface="+mn-ea"/>
                <a:cs typeface="+mn-cs"/>
              </a:rPr>
              <a:t>ZI_CDSProductDim</a:t>
            </a:r>
            <a:r>
              <a:rPr lang="de-DE" dirty="0"/>
              <a:t> </a:t>
            </a:r>
          </a:p>
          <a:p>
            <a:pPr lvl="0"/>
            <a:r>
              <a:rPr lang="de-DE" dirty="0"/>
              <a:t>Erweiterung von </a:t>
            </a:r>
            <a:r>
              <a:rPr lang="de-DE" sz="1200" kern="1200" dirty="0" err="1">
                <a:solidFill>
                  <a:schemeClr val="tx1"/>
                </a:solidFill>
                <a:latin typeface="+mn-lt"/>
                <a:ea typeface="+mn-ea"/>
                <a:cs typeface="+mn-cs"/>
              </a:rPr>
              <a:t>ZQ_CDSOrderAnalysis</a:t>
            </a:r>
            <a:r>
              <a:rPr lang="de-DE" dirty="0"/>
              <a:t> </a:t>
            </a:r>
          </a:p>
          <a:p>
            <a:r>
              <a:rPr lang="de-DE" dirty="0"/>
              <a:t>Live ergänzt beziehungsweise erläutert werden:</a:t>
            </a:r>
          </a:p>
          <a:p>
            <a:pPr lvl="0"/>
            <a:r>
              <a:rPr lang="de-DE" dirty="0"/>
              <a:t>die beiden Zweige der Union </a:t>
            </a:r>
          </a:p>
          <a:p>
            <a:pPr lvl="0"/>
            <a:r>
              <a:rPr lang="de-DE" sz="1200" kern="1200" dirty="0" err="1">
                <a:solidFill>
                  <a:schemeClr val="tx1"/>
                </a:solidFill>
                <a:latin typeface="+mn-lt"/>
                <a:ea typeface="+mn-ea"/>
                <a:cs typeface="+mn-cs"/>
              </a:rPr>
              <a:t>NodeType</a:t>
            </a:r>
            <a:r>
              <a:rPr lang="de-DE" dirty="0"/>
              <a:t> </a:t>
            </a:r>
          </a:p>
          <a:p>
            <a:pPr lvl="0"/>
            <a:r>
              <a:rPr lang="de-DE" dirty="0"/>
              <a:t>die Fremdschlüsselassoziationen </a:t>
            </a:r>
          </a:p>
          <a:p>
            <a:pPr lvl="0"/>
            <a:r>
              <a:rPr lang="de-DE" dirty="0"/>
              <a:t>die Parent-Child-Definition </a:t>
            </a:r>
          </a:p>
          <a:p>
            <a:pPr lvl="0"/>
            <a:r>
              <a:rPr lang="de-DE" dirty="0"/>
              <a:t>die Hierarchieassoziation der Produktdimension </a:t>
            </a:r>
          </a:p>
          <a:p>
            <a:pPr lvl="0"/>
            <a:r>
              <a:rPr lang="de-DE" sz="1200" kern="1200" dirty="0" err="1">
                <a:solidFill>
                  <a:schemeClr val="tx1"/>
                </a:solidFill>
                <a:latin typeface="+mn-lt"/>
                <a:ea typeface="+mn-ea"/>
                <a:cs typeface="+mn-cs"/>
              </a:rPr>
              <a:t>displayHierarchy</a:t>
            </a:r>
            <a:r>
              <a:rPr lang="de-DE" dirty="0"/>
              <a:t> in der Query </a:t>
            </a:r>
          </a:p>
          <a:p>
            <a:br>
              <a:rPr lang="de-DE" dirty="0"/>
            </a:br>
            <a:endParaRPr lang="de-DE" dirty="0"/>
          </a:p>
          <a:p>
            <a:r>
              <a:rPr lang="de-DE" b="1" dirty="0"/>
              <a:t>Schritt 1 – Kategorien und Produkte vereinigen</a:t>
            </a:r>
          </a:p>
          <a:p>
            <a:r>
              <a:rPr lang="de-DE" b="1" dirty="0"/>
              <a:t>Objekt</a:t>
            </a:r>
          </a:p>
          <a:p>
            <a:pPr rtl="0"/>
            <a:r>
              <a:rPr lang="de-DE" sz="1200" kern="1200" dirty="0" err="1">
                <a:solidFill>
                  <a:schemeClr val="tx1"/>
                </a:solidFill>
                <a:latin typeface="+mn-lt"/>
                <a:ea typeface="+mn-ea"/>
                <a:cs typeface="+mn-cs"/>
              </a:rPr>
              <a:t>ZI_CDSProdHierBase</a:t>
            </a:r>
            <a:endParaRPr lang="de-DE" sz="1200" kern="1200" dirty="0">
              <a:solidFill>
                <a:schemeClr val="tx1"/>
              </a:solidFill>
              <a:latin typeface="+mn-lt"/>
              <a:ea typeface="+mn-ea"/>
              <a:cs typeface="+mn-cs"/>
            </a:endParaRPr>
          </a:p>
          <a:p>
            <a:r>
              <a:rPr lang="de-DE" b="1" dirty="0"/>
              <a:t>Coding</a:t>
            </a:r>
          </a:p>
          <a:p>
            <a:pPr rtl="0"/>
            <a:r>
              <a:rPr lang="de-DE" sz="1200" kern="1200" dirty="0">
                <a:solidFill>
                  <a:schemeClr val="tx1"/>
                </a:solidFill>
                <a:latin typeface="+mn-lt"/>
                <a:ea typeface="+mn-ea"/>
                <a:cs typeface="+mn-cs"/>
              </a:rPr>
              <a:t>@AbapCatalog.viewEnhancementCategory: [#NONE]</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@EndUserText.label: 'CDS Workshop: Base for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Hier.'</a:t>
            </a:r>
          </a:p>
          <a:p>
            <a:pPr rtl="0"/>
            <a:r>
              <a:rPr lang="de-DE" sz="1200" kern="1200" dirty="0">
                <a:solidFill>
                  <a:schemeClr val="tx1"/>
                </a:solidFill>
                <a:latin typeface="+mn-lt"/>
                <a:ea typeface="+mn-ea"/>
                <a:cs typeface="+mn-cs"/>
              </a:rPr>
              <a:t>@Metadata.ignorePropagatedAnnotations: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ZI_CDSProdHierBase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parent_category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ParentNodeId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 </a:t>
            </a:r>
            <a:r>
              <a:rPr lang="de-DE" sz="1200" kern="1200" dirty="0" err="1">
                <a:solidFill>
                  <a:schemeClr val="tx1"/>
                </a:solidFill>
                <a:latin typeface="+mn-lt"/>
                <a:ea typeface="+mn-ea"/>
                <a:cs typeface="+mn-cs"/>
              </a:rPr>
              <a:t>category_name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(80) ) as </a:t>
            </a:r>
            <a:r>
              <a:rPr lang="de-DE" sz="1200" kern="1200" dirty="0" err="1">
                <a:solidFill>
                  <a:schemeClr val="tx1"/>
                </a:solidFill>
                <a:latin typeface="+mn-lt"/>
                <a:ea typeface="+mn-ea"/>
                <a:cs typeface="+mn-cs"/>
              </a:rPr>
              <a:t>NodeName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 'CATEGORYID'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  as </a:t>
            </a:r>
            <a:r>
              <a:rPr lang="de-DE" sz="1200" kern="1200" dirty="0" err="1">
                <a:solidFill>
                  <a:schemeClr val="tx1"/>
                </a:solidFill>
                <a:latin typeface="+mn-lt"/>
                <a:ea typeface="+mn-ea"/>
                <a:cs typeface="+mn-cs"/>
              </a:rPr>
              <a:t>NodeType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 </a:t>
            </a:r>
            <a:r>
              <a:rPr lang="de-DE" sz="1200" kern="1200" dirty="0" err="1">
                <a:solidFill>
                  <a:schemeClr val="tx1"/>
                </a:solidFill>
                <a:latin typeface="+mn-lt"/>
                <a:ea typeface="+mn-ea"/>
                <a:cs typeface="+mn-cs"/>
              </a:rPr>
              <a:t>category_name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(80) ) as </a:t>
            </a:r>
            <a:r>
              <a:rPr lang="de-DE" sz="1200" kern="1200" dirty="0" err="1">
                <a:solidFill>
                  <a:schemeClr val="tx1"/>
                </a:solidFill>
                <a:latin typeface="+mn-lt"/>
                <a:ea typeface="+mn-ea"/>
                <a:cs typeface="+mn-cs"/>
              </a:rPr>
              <a:t>CategoryName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 ''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 ''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(80) )            as </a:t>
            </a:r>
            <a:r>
              <a:rPr lang="de-DE" sz="1200" kern="1200" dirty="0" err="1">
                <a:solidFill>
                  <a:schemeClr val="tx1"/>
                </a:solidFill>
                <a:latin typeface="+mn-lt"/>
                <a:ea typeface="+mn-ea"/>
                <a:cs typeface="+mn-cs"/>
              </a:rPr>
              <a:t>ProductName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union</a:t>
            </a:r>
            <a:r>
              <a:rPr lang="de-DE" sz="1200" kern="1200" dirty="0">
                <a:solidFill>
                  <a:schemeClr val="tx1"/>
                </a:solidFill>
                <a:latin typeface="+mn-lt"/>
                <a:ea typeface="+mn-ea"/>
                <a:cs typeface="+mn-cs"/>
              </a:rPr>
              <a:t> all</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ParentNodeId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 </a:t>
            </a:r>
            <a:r>
              <a:rPr lang="de-DE" sz="1200" kern="1200" dirty="0" err="1">
                <a:solidFill>
                  <a:schemeClr val="tx1"/>
                </a:solidFill>
                <a:latin typeface="+mn-lt"/>
                <a:ea typeface="+mn-ea"/>
                <a:cs typeface="+mn-cs"/>
              </a:rPr>
              <a:t>product_name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(80) ) as </a:t>
            </a:r>
            <a:r>
              <a:rPr lang="de-DE" sz="1200" kern="1200" dirty="0" err="1">
                <a:solidFill>
                  <a:schemeClr val="tx1"/>
                </a:solidFill>
                <a:latin typeface="+mn-lt"/>
                <a:ea typeface="+mn-ea"/>
                <a:cs typeface="+mn-cs"/>
              </a:rPr>
              <a:t>NodeName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 'PRODUCTID'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  as </a:t>
            </a:r>
            <a:r>
              <a:rPr lang="de-DE" sz="1200" kern="1200" dirty="0" err="1">
                <a:solidFill>
                  <a:schemeClr val="tx1"/>
                </a:solidFill>
                <a:latin typeface="+mn-lt"/>
                <a:ea typeface="+mn-ea"/>
                <a:cs typeface="+mn-cs"/>
              </a:rPr>
              <a:t>NodeType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 ''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           as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 ''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(80) )           as </a:t>
            </a:r>
            <a:r>
              <a:rPr lang="de-DE" sz="1200" kern="1200" dirty="0" err="1">
                <a:solidFill>
                  <a:schemeClr val="tx1"/>
                </a:solidFill>
                <a:latin typeface="+mn-lt"/>
                <a:ea typeface="+mn-ea"/>
                <a:cs typeface="+mn-cs"/>
              </a:rPr>
              <a:t>CategoryName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 </a:t>
            </a:r>
            <a:r>
              <a:rPr lang="de-DE" sz="1200" kern="1200" dirty="0" err="1">
                <a:solidFill>
                  <a:schemeClr val="tx1"/>
                </a:solidFill>
                <a:latin typeface="+mn-lt"/>
                <a:ea typeface="+mn-ea"/>
                <a:cs typeface="+mn-cs"/>
              </a:rPr>
              <a:t>product_name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(80) ) as </a:t>
            </a:r>
            <a:r>
              <a:rPr lang="de-DE" sz="1200" kern="1200" dirty="0" err="1">
                <a:solidFill>
                  <a:schemeClr val="tx1"/>
                </a:solidFill>
                <a:latin typeface="+mn-lt"/>
                <a:ea typeface="+mn-ea"/>
                <a:cs typeface="+mn-cs"/>
              </a:rPr>
              <a:t>ProductName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Der erste Zweig liefert die Kategorien. </a:t>
            </a:r>
            <a:r>
              <a:rPr lang="de-DE" sz="1200" kern="1200" dirty="0" err="1">
                <a:solidFill>
                  <a:schemeClr val="tx1"/>
                </a:solidFill>
                <a:latin typeface="+mn-lt"/>
                <a:ea typeface="+mn-ea"/>
                <a:cs typeface="+mn-cs"/>
              </a:rPr>
              <a:t>NodeId</a:t>
            </a:r>
            <a:r>
              <a:rPr lang="de-DE" dirty="0"/>
              <a:t> ist die Kategorie-ID und </a:t>
            </a:r>
            <a:r>
              <a:rPr lang="de-DE" sz="1200" kern="1200" dirty="0" err="1">
                <a:solidFill>
                  <a:schemeClr val="tx1"/>
                </a:solidFill>
                <a:latin typeface="+mn-lt"/>
                <a:ea typeface="+mn-ea"/>
                <a:cs typeface="+mn-cs"/>
              </a:rPr>
              <a:t>ParentNodeId</a:t>
            </a:r>
            <a:r>
              <a:rPr lang="de-DE" dirty="0"/>
              <a:t> die übergeordnete Kategorie.</a:t>
            </a:r>
          </a:p>
          <a:p>
            <a:r>
              <a:rPr lang="de-DE" dirty="0"/>
              <a:t>Der zweite Zweig liefert die Produkte. Dort ist die Produkt-ID der Knoten und die zugehörige Kategorie der Elternknoten.</a:t>
            </a:r>
          </a:p>
          <a:p>
            <a:r>
              <a:rPr lang="de-DE" dirty="0"/>
              <a:t>Da eine Union in beiden Zweigen dieselbe Struktur benötigt, ergänzen wir jeweils initiale Werte für die nicht verwendeten fachlichen Schlüssel.</a:t>
            </a:r>
          </a:p>
          <a:p>
            <a:br>
              <a:rPr lang="de-DE" dirty="0"/>
            </a:br>
            <a:endParaRPr lang="de-DE" dirty="0"/>
          </a:p>
          <a:p>
            <a:r>
              <a:rPr lang="de-DE" b="1" dirty="0"/>
              <a:t>Schritt 2 – Bedeutung von </a:t>
            </a:r>
            <a:r>
              <a:rPr lang="de-DE" sz="1200" b="1" kern="1200" dirty="0" err="1">
                <a:solidFill>
                  <a:schemeClr val="tx1"/>
                </a:solidFill>
                <a:latin typeface="+mn-lt"/>
                <a:ea typeface="+mn-ea"/>
                <a:cs typeface="+mn-cs"/>
              </a:rPr>
              <a:t>NodeType</a:t>
            </a:r>
            <a:r>
              <a:rPr lang="de-DE" b="1" dirty="0"/>
              <a:t> zeigen</a:t>
            </a:r>
          </a:p>
          <a:p>
            <a:r>
              <a:rPr lang="de-DE" b="1" dirty="0" err="1"/>
              <a:t>Kategoriezeilen</a:t>
            </a:r>
            <a:endParaRPr lang="de-DE" b="1" dirty="0"/>
          </a:p>
          <a:p>
            <a:pPr rtl="0"/>
            <a:r>
              <a:rPr lang="de-DE" sz="1200" kern="1200" dirty="0">
                <a:solidFill>
                  <a:schemeClr val="tx1"/>
                </a:solidFill>
                <a:latin typeface="+mn-lt"/>
                <a:ea typeface="+mn-ea"/>
                <a:cs typeface="+mn-cs"/>
              </a:rPr>
              <a:t>cast( 'CATEGORYID'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 as </a:t>
            </a:r>
            <a:r>
              <a:rPr lang="de-DE" sz="1200" kern="1200" dirty="0" err="1">
                <a:solidFill>
                  <a:schemeClr val="tx1"/>
                </a:solidFill>
                <a:latin typeface="+mn-lt"/>
                <a:ea typeface="+mn-ea"/>
                <a:cs typeface="+mn-cs"/>
              </a:rPr>
              <a:t>NodeType</a:t>
            </a:r>
            <a:endParaRPr lang="de-DE" sz="1200" kern="1200" dirty="0">
              <a:solidFill>
                <a:schemeClr val="tx1"/>
              </a:solidFill>
              <a:latin typeface="+mn-lt"/>
              <a:ea typeface="+mn-ea"/>
              <a:cs typeface="+mn-cs"/>
            </a:endParaRPr>
          </a:p>
          <a:p>
            <a:r>
              <a:rPr lang="de-DE" dirty="0"/>
              <a:t>Dazugehöriges Element:</a:t>
            </a:r>
          </a:p>
          <a:p>
            <a:pPr rtl="0"/>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CategoryId</a:t>
            </a:r>
            <a:endParaRPr lang="de-DE" sz="1200" kern="1200" dirty="0">
              <a:solidFill>
                <a:schemeClr val="tx1"/>
              </a:solidFill>
              <a:latin typeface="+mn-lt"/>
              <a:ea typeface="+mn-ea"/>
              <a:cs typeface="+mn-cs"/>
            </a:endParaRPr>
          </a:p>
          <a:p>
            <a:r>
              <a:rPr lang="de-DE" b="1" dirty="0"/>
              <a:t>Produktzeilen</a:t>
            </a:r>
          </a:p>
          <a:p>
            <a:pPr rtl="0"/>
            <a:r>
              <a:rPr lang="de-DE" sz="1200" kern="1200" dirty="0">
                <a:solidFill>
                  <a:schemeClr val="tx1"/>
                </a:solidFill>
                <a:latin typeface="+mn-lt"/>
                <a:ea typeface="+mn-ea"/>
                <a:cs typeface="+mn-cs"/>
              </a:rPr>
              <a:t>cast( 'PRODUCTID'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 as </a:t>
            </a:r>
            <a:r>
              <a:rPr lang="de-DE" sz="1200" kern="1200" dirty="0" err="1">
                <a:solidFill>
                  <a:schemeClr val="tx1"/>
                </a:solidFill>
                <a:latin typeface="+mn-lt"/>
                <a:ea typeface="+mn-ea"/>
                <a:cs typeface="+mn-cs"/>
              </a:rPr>
              <a:t>NodeType</a:t>
            </a:r>
            <a:endParaRPr lang="de-DE" sz="1200" kern="1200" dirty="0">
              <a:solidFill>
                <a:schemeClr val="tx1"/>
              </a:solidFill>
              <a:latin typeface="+mn-lt"/>
              <a:ea typeface="+mn-ea"/>
              <a:cs typeface="+mn-cs"/>
            </a:endParaRPr>
          </a:p>
          <a:p>
            <a:r>
              <a:rPr lang="de-DE" dirty="0"/>
              <a:t>Dazugehöriges Element:</a:t>
            </a:r>
          </a:p>
          <a:p>
            <a:pPr rtl="0"/>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endParaRPr lang="de-DE" sz="1200" kern="1200" dirty="0">
              <a:solidFill>
                <a:schemeClr val="tx1"/>
              </a:solidFill>
              <a:latin typeface="+mn-lt"/>
              <a:ea typeface="+mn-ea"/>
              <a:cs typeface="+mn-cs"/>
            </a:endParaRPr>
          </a:p>
          <a:p>
            <a:r>
              <a:rPr lang="de-DE" b="1" dirty="0"/>
              <a:t>Sprechertext</a:t>
            </a:r>
          </a:p>
          <a:p>
            <a:r>
              <a:rPr lang="de-DE" sz="1200" kern="1200" dirty="0" err="1">
                <a:solidFill>
                  <a:schemeClr val="tx1"/>
                </a:solidFill>
                <a:latin typeface="+mn-lt"/>
                <a:ea typeface="+mn-ea"/>
                <a:cs typeface="+mn-cs"/>
              </a:rPr>
              <a:t>NodeType</a:t>
            </a:r>
            <a:r>
              <a:rPr lang="de-DE" dirty="0"/>
              <a:t> enthält nicht nur eine frei gewählte Beschreibung wie </a:t>
            </a:r>
            <a:r>
              <a:rPr lang="de-DE" sz="1200" kern="1200" dirty="0">
                <a:solidFill>
                  <a:schemeClr val="tx1"/>
                </a:solidFill>
                <a:latin typeface="+mn-lt"/>
                <a:ea typeface="+mn-ea"/>
                <a:cs typeface="+mn-cs"/>
              </a:rPr>
              <a:t>CATEGORY</a:t>
            </a:r>
            <a:r>
              <a:rPr lang="de-DE" dirty="0"/>
              <a:t> oder </a:t>
            </a:r>
            <a:r>
              <a:rPr lang="de-DE" sz="1200" kern="1200" dirty="0">
                <a:solidFill>
                  <a:schemeClr val="tx1"/>
                </a:solidFill>
                <a:latin typeface="+mn-lt"/>
                <a:ea typeface="+mn-ea"/>
                <a:cs typeface="+mn-cs"/>
              </a:rPr>
              <a:t>PRODUCT</a:t>
            </a:r>
            <a:r>
              <a:rPr lang="de-DE" dirty="0"/>
              <a:t>.</a:t>
            </a:r>
          </a:p>
          <a:p>
            <a:r>
              <a:rPr lang="de-DE" dirty="0"/>
              <a:t>Der Wert muss auf dasjenige Element verweisen, das den fachlichen Dimensionsschlüssel enthält. Deshalb verwenden wir </a:t>
            </a:r>
            <a:r>
              <a:rPr lang="de-DE" sz="1200" kern="1200" dirty="0">
                <a:solidFill>
                  <a:schemeClr val="tx1"/>
                </a:solidFill>
                <a:latin typeface="+mn-lt"/>
                <a:ea typeface="+mn-ea"/>
                <a:cs typeface="+mn-cs"/>
              </a:rPr>
              <a:t>CATEGORYID</a:t>
            </a:r>
            <a:r>
              <a:rPr lang="de-DE" dirty="0"/>
              <a:t> und </a:t>
            </a:r>
            <a:r>
              <a:rPr lang="de-DE" sz="1200" kern="1200" dirty="0">
                <a:solidFill>
                  <a:schemeClr val="tx1"/>
                </a:solidFill>
                <a:latin typeface="+mn-lt"/>
                <a:ea typeface="+mn-ea"/>
                <a:cs typeface="+mn-cs"/>
              </a:rPr>
              <a:t>PRODUCTID</a:t>
            </a:r>
            <a:r>
              <a:rPr lang="de-DE" dirty="0"/>
              <a:t>.</a:t>
            </a:r>
          </a:p>
          <a:p>
            <a:r>
              <a:rPr lang="de-DE" dirty="0"/>
              <a:t>Für jedes dieser Elemente benötigt die nachfolgende Node-View eine passende Fremdschlüsselassoziation.</a:t>
            </a:r>
          </a:p>
          <a:p>
            <a:br>
              <a:rPr lang="de-DE" dirty="0"/>
            </a:br>
            <a:r>
              <a:rPr lang="de-DE" b="1" dirty="0"/>
              <a:t>Schritt 3 – Kategorie als Knotendimension</a:t>
            </a:r>
          </a:p>
          <a:p>
            <a:r>
              <a:rPr lang="de-DE" sz="1200" kern="1200" dirty="0" err="1">
                <a:solidFill>
                  <a:schemeClr val="tx1"/>
                </a:solidFill>
                <a:latin typeface="+mn-lt"/>
                <a:ea typeface="+mn-ea"/>
                <a:cs typeface="+mn-cs"/>
              </a:rPr>
              <a:t>ZI_CDSCategory</a:t>
            </a:r>
            <a:r>
              <a:rPr lang="de-DE" dirty="0"/>
              <a:t> bleibt als analytische Dimension für Kategorie-Strukturknoten erhalten:</a:t>
            </a:r>
          </a:p>
          <a:p>
            <a:pPr rtl="0"/>
            <a:r>
              <a:rPr lang="de-DE" sz="1200" kern="1200" dirty="0">
                <a:solidFill>
                  <a:schemeClr val="tx1"/>
                </a:solidFill>
                <a:latin typeface="+mn-lt"/>
                <a:ea typeface="+mn-ea"/>
                <a:cs typeface="+mn-cs"/>
              </a:rPr>
              <a:t>@EndUserText.label: 'CDS Workshop: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Categories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@Analytics.dataCategory: #DIMENSION</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@ObjectModel: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representativeKey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supportedCapabilities</a:t>
            </a:r>
            <a:r>
              <a:rPr lang="de-DE" sz="1200" kern="1200" dirty="0">
                <a:solidFill>
                  <a:schemeClr val="tx1"/>
                </a:solidFill>
                <a:latin typeface="+mn-lt"/>
                <a:ea typeface="+mn-ea"/>
                <a:cs typeface="+mn-cs"/>
              </a:rPr>
              <a:t>: [ #ANALYTICAL_DIMENSION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modelingPattern</a:t>
            </a:r>
            <a:r>
              <a:rPr lang="de-DE" sz="1200" kern="1200" dirty="0">
                <a:solidFill>
                  <a:schemeClr val="tx1"/>
                </a:solidFill>
                <a:latin typeface="+mn-lt"/>
                <a:ea typeface="+mn-ea"/>
                <a:cs typeface="+mn-cs"/>
              </a:rPr>
              <a:t>: #ANALYTICAL_DIMENSION</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@ObjectModel.text.element: [ '</a:t>
            </a:r>
            <a:r>
              <a:rPr lang="de-DE" sz="1200" kern="1200" dirty="0" err="1">
                <a:solidFill>
                  <a:schemeClr val="tx1"/>
                </a:solidFill>
                <a:latin typeface="+mn-lt"/>
                <a:ea typeface="+mn-ea"/>
                <a:cs typeface="+mn-cs"/>
              </a:rPr>
              <a:t>CategoryName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parent_category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ParentCategoryId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@Semantics.text: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CategoryName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Die Kategorie ist keine eigenständige Dimension des Cubes mehr. Der Cube ist ausschließlich mit der Produktdimension verbunden.</a:t>
            </a:r>
          </a:p>
          <a:p>
            <a:r>
              <a:rPr lang="de-DE" dirty="0"/>
              <a:t>Innerhalb der Produkthierarchie benötigen wir </a:t>
            </a:r>
            <a:r>
              <a:rPr lang="de-DE" sz="1200" kern="1200" dirty="0" err="1">
                <a:solidFill>
                  <a:schemeClr val="tx1"/>
                </a:solidFill>
                <a:latin typeface="+mn-lt"/>
                <a:ea typeface="+mn-ea"/>
                <a:cs typeface="+mn-cs"/>
              </a:rPr>
              <a:t>ZI_CDSCategory</a:t>
            </a:r>
            <a:r>
              <a:rPr lang="de-DE" dirty="0"/>
              <a:t> aber weiterhin als fachliche Dimension für die Kategorie-Strukturknoten.</a:t>
            </a:r>
          </a:p>
          <a:p>
            <a:endParaRPr lang="de-DE" dirty="0"/>
          </a:p>
          <a:p>
            <a:endParaRPr lang="de-DE" dirty="0"/>
          </a:p>
          <a:p>
            <a:r>
              <a:rPr lang="de-DE" b="1" dirty="0"/>
              <a:t>Schritt 4 – Node-View anlegen</a:t>
            </a:r>
          </a:p>
          <a:p>
            <a:r>
              <a:rPr lang="de-DE" b="1" dirty="0"/>
              <a:t>Objekt</a:t>
            </a:r>
          </a:p>
          <a:p>
            <a:pPr rtl="0"/>
            <a:r>
              <a:rPr lang="de-DE" sz="1200" kern="1200" dirty="0" err="1">
                <a:solidFill>
                  <a:schemeClr val="tx1"/>
                </a:solidFill>
                <a:latin typeface="+mn-lt"/>
                <a:ea typeface="+mn-ea"/>
                <a:cs typeface="+mn-cs"/>
              </a:rPr>
              <a:t>ZI_CDSProdHierNode</a:t>
            </a:r>
            <a:endParaRPr lang="de-DE" sz="1200" kern="1200" dirty="0">
              <a:solidFill>
                <a:schemeClr val="tx1"/>
              </a:solidFill>
              <a:latin typeface="+mn-lt"/>
              <a:ea typeface="+mn-ea"/>
              <a:cs typeface="+mn-cs"/>
            </a:endParaRPr>
          </a:p>
          <a:p>
            <a:r>
              <a:rPr lang="de-DE" b="1" dirty="0"/>
              <a:t>Coding</a:t>
            </a:r>
          </a:p>
          <a:p>
            <a:pPr rtl="0"/>
            <a:r>
              <a:rPr lang="de-DE" sz="1200" kern="1200" dirty="0">
                <a:solidFill>
                  <a:schemeClr val="tx1"/>
                </a:solidFill>
                <a:latin typeface="+mn-lt"/>
                <a:ea typeface="+mn-ea"/>
                <a:cs typeface="+mn-cs"/>
              </a:rPr>
              <a:t>@EndUserText.label: 'CDS Workshop: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 Nodes'</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@ObjectModel.representativeKey: '</a:t>
            </a:r>
            <a:r>
              <a:rPr lang="de-DE" sz="1200" kern="1200" dirty="0" err="1">
                <a:solidFill>
                  <a:schemeClr val="tx1"/>
                </a:solidFill>
                <a:latin typeface="+mn-lt"/>
                <a:ea typeface="+mn-ea"/>
                <a:cs typeface="+mn-cs"/>
              </a:rPr>
              <a: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ZI_CDSProdHierNode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ZI_CDSProdHierBase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ZI_CDSProdHierNode</a:t>
            </a:r>
            <a:r>
              <a:rPr lang="de-DE" sz="1200" kern="1200" dirty="0">
                <a:solidFill>
                  <a:schemeClr val="tx1"/>
                </a:solidFill>
                <a:latin typeface="+mn-lt"/>
                <a:ea typeface="+mn-ea"/>
                <a:cs typeface="+mn-cs"/>
              </a:rPr>
              <a:t> as _Parent</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projection.ParentNodeId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Parent.NodeId</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ZI_CDSCategory</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projection.CategoryId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Category.CategoryId</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ZI_CDSProductDim</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Product.ProductId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ParentNodeId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@ObjectModel.foreignKey.association: '_</a:t>
            </a:r>
            <a:r>
              <a:rPr lang="de-DE" sz="1200" kern="1200" dirty="0" err="1">
                <a:solidFill>
                  <a:schemeClr val="tx1"/>
                </a:solidFill>
                <a:latin typeface="+mn-lt"/>
                <a:ea typeface="+mn-ea"/>
                <a:cs typeface="+mn-cs"/>
              </a:rPr>
              <a:t>Category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@ObjectModel.foreignKey.association: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_Parent,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Category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Die Node-View ergänzt drei Assoziationen.</a:t>
            </a:r>
          </a:p>
          <a:p>
            <a:r>
              <a:rPr lang="de-DE" sz="1200" kern="1200" dirty="0">
                <a:solidFill>
                  <a:schemeClr val="tx1"/>
                </a:solidFill>
                <a:latin typeface="+mn-lt"/>
                <a:ea typeface="+mn-ea"/>
                <a:cs typeface="+mn-cs"/>
              </a:rPr>
              <a:t>_Parent</a:t>
            </a:r>
            <a:r>
              <a:rPr lang="de-DE" dirty="0"/>
              <a:t> verbindet einen Knoten mit seinem Elternknoten.</a:t>
            </a:r>
          </a:p>
          <a:p>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Category</a:t>
            </a:r>
            <a:r>
              <a:rPr lang="de-DE" dirty="0"/>
              <a:t> ordnet Kategorie-Knoten ihrer fachlichen Kategorie-Dimension zu.</a:t>
            </a:r>
          </a:p>
          <a:p>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ordnet Produktblätter der Produktdimension zu.</a:t>
            </a:r>
          </a:p>
          <a:p>
            <a:r>
              <a:rPr lang="de-DE" dirty="0"/>
              <a:t>Die Fremdschlüsselannotationen an </a:t>
            </a:r>
            <a:r>
              <a:rPr lang="de-DE" sz="1200" kern="1200" dirty="0" err="1">
                <a:solidFill>
                  <a:schemeClr val="tx1"/>
                </a:solidFill>
                <a:latin typeface="+mn-lt"/>
                <a:ea typeface="+mn-ea"/>
                <a:cs typeface="+mn-cs"/>
              </a:rPr>
              <a:t>CategoryId</a:t>
            </a:r>
            <a:r>
              <a:rPr lang="de-DE" dirty="0"/>
              <a:t> und </a:t>
            </a:r>
            <a:r>
              <a:rPr lang="de-DE" sz="1200" kern="1200" dirty="0" err="1">
                <a:solidFill>
                  <a:schemeClr val="tx1"/>
                </a:solidFill>
                <a:latin typeface="+mn-lt"/>
                <a:ea typeface="+mn-ea"/>
                <a:cs typeface="+mn-cs"/>
              </a:rPr>
              <a:t>ProductId</a:t>
            </a:r>
            <a:r>
              <a:rPr lang="de-DE" dirty="0"/>
              <a:t> sind erforderlich, damit die Analytical Engine beide Knotentypen korrekt interpretieren kann.</a:t>
            </a:r>
          </a:p>
          <a:p>
            <a:br>
              <a:rPr lang="de-DE" dirty="0"/>
            </a:br>
            <a:endParaRPr lang="de-DE" dirty="0"/>
          </a:p>
          <a:p>
            <a:r>
              <a:rPr lang="de-DE" b="1" dirty="0"/>
              <a:t>Schritt 5 – Parent-Child-Hierarchie definieren</a:t>
            </a:r>
          </a:p>
          <a:p>
            <a:r>
              <a:rPr lang="de-DE" b="1" dirty="0"/>
              <a:t>Objekt</a:t>
            </a:r>
          </a:p>
          <a:p>
            <a:pPr rtl="0"/>
            <a:r>
              <a:rPr lang="de-DE" sz="1200" kern="1200" dirty="0">
                <a:solidFill>
                  <a:schemeClr val="tx1"/>
                </a:solidFill>
                <a:latin typeface="+mn-lt"/>
                <a:ea typeface="+mn-ea"/>
                <a:cs typeface="+mn-cs"/>
              </a:rPr>
              <a:t>ZI_CDSProductHierarchy</a:t>
            </a:r>
          </a:p>
          <a:p>
            <a:r>
              <a:rPr lang="de-DE" b="1" dirty="0"/>
              <a:t>Coding</a:t>
            </a:r>
          </a:p>
          <a:p>
            <a:pPr rtl="0"/>
            <a:r>
              <a:rPr lang="de-DE" sz="1200" kern="1200" dirty="0">
                <a:solidFill>
                  <a:schemeClr val="tx1"/>
                </a:solidFill>
                <a:latin typeface="+mn-lt"/>
                <a:ea typeface="+mn-ea"/>
                <a:cs typeface="+mn-cs"/>
              </a:rPr>
              <a:t>@EndUserText.label: 'CDS Workshop: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@AccessControl.authorizationCheck: #NOT_REQUIRED</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@ObjectModel: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supportedCapabilities</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#ANALYTICAL_PARENT_CHILD_HIERARCHY_NODE</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modelingPattern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#ANALYTICAL_PARENT_CHILD_HIERARCHY_NODE</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 ZI_CDSProductHierarchy</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parent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child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source </a:t>
            </a:r>
            <a:r>
              <a:rPr lang="de-DE" sz="1200" kern="1200" dirty="0" err="1">
                <a:solidFill>
                  <a:schemeClr val="tx1"/>
                </a:solidFill>
                <a:latin typeface="+mn-lt"/>
                <a:ea typeface="+mn-ea"/>
                <a:cs typeface="+mn-cs"/>
              </a:rPr>
              <a:t>ZI_CDSProdHierNode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child</a:t>
            </a:r>
            <a:r>
              <a:rPr lang="de-DE" sz="1200" kern="1200" dirty="0">
                <a:solidFill>
                  <a:schemeClr val="tx1"/>
                </a:solidFill>
                <a:latin typeface="+mn-lt"/>
                <a:ea typeface="+mn-ea"/>
                <a:cs typeface="+mn-cs"/>
              </a:rPr>
              <a:t> to </a:t>
            </a:r>
            <a:r>
              <a:rPr lang="de-DE" sz="1200" kern="1200" dirty="0" err="1">
                <a:solidFill>
                  <a:schemeClr val="tx1"/>
                </a:solidFill>
                <a:latin typeface="+mn-lt"/>
                <a:ea typeface="+mn-ea"/>
                <a:cs typeface="+mn-cs"/>
              </a:rPr>
              <a:t>parent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_Parent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start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ParentNodeId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is</a:t>
            </a:r>
            <a:r>
              <a:rPr lang="de-DE" sz="1200" kern="1200" dirty="0">
                <a:solidFill>
                  <a:schemeClr val="tx1"/>
                </a:solidFill>
                <a:latin typeface="+mn-lt"/>
                <a:ea typeface="+mn-ea"/>
                <a:cs typeface="+mn-cs"/>
              </a:rPr>
              <a:t> initial</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siblings</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 by </a:t>
            </a:r>
            <a:r>
              <a:rPr lang="de-DE" sz="1200" kern="1200" dirty="0" err="1">
                <a:solidFill>
                  <a:schemeClr val="tx1"/>
                </a:solidFill>
                <a:latin typeface="+mn-lt"/>
                <a:ea typeface="+mn-ea"/>
                <a:cs typeface="+mn-cs"/>
              </a:rPr>
              <a:t>NodeName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ascending</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nodetype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NodeType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multiple </a:t>
            </a:r>
            <a:r>
              <a:rPr lang="de-DE" sz="1200" kern="1200" dirty="0" err="1">
                <a:solidFill>
                  <a:schemeClr val="tx1"/>
                </a:solidFill>
                <a:latin typeface="+mn-lt"/>
                <a:ea typeface="+mn-ea"/>
                <a:cs typeface="+mn-cs"/>
              </a:rPr>
              <a:t>parents</a:t>
            </a:r>
            <a:r>
              <a:rPr lang="de-DE" sz="1200" kern="1200" dirty="0">
                <a:solidFill>
                  <a:schemeClr val="tx1"/>
                </a:solidFill>
                <a:latin typeface="+mn-lt"/>
                <a:ea typeface="+mn-ea"/>
                <a:cs typeface="+mn-cs"/>
              </a:rPr>
              <a:t> not </a:t>
            </a:r>
            <a:r>
              <a:rPr lang="de-DE" sz="1200" kern="1200" dirty="0" err="1">
                <a:solidFill>
                  <a:schemeClr val="tx1"/>
                </a:solidFill>
                <a:latin typeface="+mn-lt"/>
                <a:ea typeface="+mn-ea"/>
                <a:cs typeface="+mn-cs"/>
              </a:rPr>
              <a:t>allowed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ParentNodeId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_Parent,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Category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node.hierarchy_level</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HierarchyLevel</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node.hierarchy_rank</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HierarchyRank</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node.hierarchy_parent_rank</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HierarchyParentRank</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node.hierarchy_is_orphan</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HierarchyIsOrphan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node.hierarchy_is_cycle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HierarchyIsCycle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Die Hierarchie verwendet die Node-View als Quelle und </a:t>
            </a:r>
            <a:r>
              <a:rPr lang="de-DE" sz="1200" kern="1200" dirty="0">
                <a:solidFill>
                  <a:schemeClr val="tx1"/>
                </a:solidFill>
                <a:latin typeface="+mn-lt"/>
                <a:ea typeface="+mn-ea"/>
                <a:cs typeface="+mn-cs"/>
              </a:rPr>
              <a:t>_Parent</a:t>
            </a:r>
            <a:r>
              <a:rPr lang="de-DE" dirty="0"/>
              <a:t> als Parent-Child-Beziehung.</a:t>
            </a:r>
          </a:p>
          <a:p>
            <a:r>
              <a:rPr lang="de-DE" dirty="0"/>
              <a:t>Nur der Wurzelknoten besitzt einen initialen </a:t>
            </a:r>
            <a:r>
              <a:rPr lang="de-DE" sz="1200" kern="1200" dirty="0" err="1">
                <a:solidFill>
                  <a:schemeClr val="tx1"/>
                </a:solidFill>
                <a:latin typeface="+mn-lt"/>
                <a:ea typeface="+mn-ea"/>
                <a:cs typeface="+mn-cs"/>
              </a:rPr>
              <a:t>ParentNodeId</a:t>
            </a:r>
            <a:r>
              <a:rPr lang="de-DE" dirty="0"/>
              <a:t>.</a:t>
            </a:r>
          </a:p>
          <a:p>
            <a:r>
              <a:rPr lang="de-DE" dirty="0"/>
              <a:t>Die zusätzlichen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node</a:t>
            </a:r>
            <a:r>
              <a:rPr lang="de-DE" dirty="0"/>
              <a:t>-Elemente liefern technische Informationen über die berechnete Hierarchie: Ebene, Rang, Elternrang sowie Hinweise auf verwaiste Knoten oder Zyklen.</a:t>
            </a:r>
          </a:p>
          <a:p>
            <a:br>
              <a:rPr lang="de-DE" dirty="0"/>
            </a:br>
            <a:endParaRPr lang="de-DE" dirty="0"/>
          </a:p>
          <a:p>
            <a:r>
              <a:rPr lang="de-DE" b="1" dirty="0"/>
              <a:t>Schritt 6 – Produktdimension mit der Hierarchie verbinden</a:t>
            </a:r>
          </a:p>
          <a:p>
            <a:r>
              <a:rPr lang="de-DE" sz="1200" kern="1200" dirty="0" err="1">
                <a:solidFill>
                  <a:schemeClr val="tx1"/>
                </a:solidFill>
                <a:latin typeface="+mn-lt"/>
                <a:ea typeface="+mn-ea"/>
                <a:cs typeface="+mn-cs"/>
              </a:rPr>
              <a:t>ZI_CDSProductDim</a:t>
            </a:r>
            <a:r>
              <a:rPr lang="de-DE" dirty="0"/>
              <a:t> ergänzen:</a:t>
            </a: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ZI_CDSCategory</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projection.CategoryId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Category.CategoryId</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 to ZI_CDSProductHierarchy as _</a:t>
            </a:r>
            <a:r>
              <a:rPr lang="de-DE" sz="1200" kern="1200" dirty="0" err="1">
                <a:solidFill>
                  <a:schemeClr val="tx1"/>
                </a:solidFill>
                <a:latin typeface="+mn-lt"/>
                <a:ea typeface="+mn-ea"/>
                <a:cs typeface="+mn-cs"/>
              </a:rPr>
              <a:t>Hierarchy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Hierarchy.ProductId</a:t>
            </a:r>
            <a:endParaRPr lang="de-DE" sz="1200" kern="1200" dirty="0">
              <a:solidFill>
                <a:schemeClr val="tx1"/>
              </a:solidFill>
              <a:latin typeface="+mn-lt"/>
              <a:ea typeface="+mn-ea"/>
              <a:cs typeface="+mn-cs"/>
            </a:endParaRPr>
          </a:p>
          <a:p>
            <a:r>
              <a:rPr lang="de-DE" dirty="0"/>
              <a:t>Vollständige Fassung:</a:t>
            </a:r>
          </a:p>
          <a:p>
            <a:pPr rtl="0"/>
            <a:r>
              <a:rPr lang="de-DE" sz="1200" kern="1200" dirty="0">
                <a:solidFill>
                  <a:schemeClr val="tx1"/>
                </a:solidFill>
                <a:latin typeface="+mn-lt"/>
                <a:ea typeface="+mn-ea"/>
                <a:cs typeface="+mn-cs"/>
              </a:rPr>
              <a:t>@EndUserText.label: 'CDS Workshop: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Dimension'</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@Analytics.dataCategory: #DIMENSION</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@ObjectModel: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representativeKey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supportedCapabilities</a:t>
            </a:r>
            <a:r>
              <a:rPr lang="de-DE" sz="1200" kern="1200" dirty="0">
                <a:solidFill>
                  <a:schemeClr val="tx1"/>
                </a:solidFill>
                <a:latin typeface="+mn-lt"/>
                <a:ea typeface="+mn-ea"/>
                <a:cs typeface="+mn-cs"/>
              </a:rPr>
              <a:t>: [ #ANALYTICAL_DIMENSION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modelingPattern</a:t>
            </a:r>
            <a:r>
              <a:rPr lang="de-DE" sz="1200" kern="1200" dirty="0">
                <a:solidFill>
                  <a:schemeClr val="tx1"/>
                </a:solidFill>
                <a:latin typeface="+mn-lt"/>
                <a:ea typeface="+mn-ea"/>
                <a:cs typeface="+mn-cs"/>
              </a:rPr>
              <a:t>: #ANALYTICAL_DIMENSION</a:t>
            </a:r>
          </a:p>
          <a:p>
            <a:pPr rtl="0"/>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ZI_CDSProductDim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zcds_product</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ZI_CDSCategory</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projection.CategoryId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Category.CategoryId</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 to ZI_CDSProductHierarchy as _</a:t>
            </a:r>
            <a:r>
              <a:rPr lang="de-DE" sz="1200" kern="1200" dirty="0" err="1">
                <a:solidFill>
                  <a:schemeClr val="tx1"/>
                </a:solidFill>
                <a:latin typeface="+mn-lt"/>
                <a:ea typeface="+mn-ea"/>
                <a:cs typeface="+mn-cs"/>
              </a:rPr>
              <a:t>Hierarchy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Hierarchy.ProductId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@ObjectModel.text.element: [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@Semantics.text: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@ObjectModel.foreignKey.association: '_</a:t>
            </a:r>
            <a:r>
              <a:rPr lang="de-DE" sz="1200" kern="1200" dirty="0" err="1">
                <a:solidFill>
                  <a:schemeClr val="tx1"/>
                </a:solidFill>
                <a:latin typeface="+mn-lt"/>
                <a:ea typeface="+mn-ea"/>
                <a:cs typeface="+mn-cs"/>
              </a:rPr>
              <a:t>Category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Category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@ObjectModel.association.toHierarchy: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Hierarchy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Besonders hervorheben</a:t>
            </a:r>
          </a:p>
          <a:p>
            <a:pPr rtl="0"/>
            <a:r>
              <a:rPr lang="de-DE" sz="1200" kern="1200" dirty="0">
                <a:solidFill>
                  <a:schemeClr val="tx1"/>
                </a:solidFill>
                <a:latin typeface="+mn-lt"/>
                <a:ea typeface="+mn-ea"/>
                <a:cs typeface="+mn-cs"/>
              </a:rPr>
              <a:t>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Hierarchy.ProductId</a:t>
            </a:r>
            <a:endParaRPr lang="de-DE" sz="1200" kern="1200" dirty="0">
              <a:solidFill>
                <a:schemeClr val="tx1"/>
              </a:solidFill>
              <a:latin typeface="+mn-lt"/>
              <a:ea typeface="+mn-ea"/>
              <a:cs typeface="+mn-cs"/>
            </a:endParaRPr>
          </a:p>
          <a:p>
            <a:r>
              <a:rPr lang="de-DE" b="1" dirty="0"/>
              <a:t>Sprechertext</a:t>
            </a:r>
          </a:p>
          <a:p>
            <a:r>
              <a:rPr lang="de-DE" dirty="0"/>
              <a:t>Die Produktdimension wird über den fachlichen Dimensionswert </a:t>
            </a:r>
            <a:r>
              <a:rPr lang="de-DE" sz="1200" kern="1200" dirty="0" err="1">
                <a:solidFill>
                  <a:schemeClr val="tx1"/>
                </a:solidFill>
                <a:latin typeface="+mn-lt"/>
                <a:ea typeface="+mn-ea"/>
                <a:cs typeface="+mn-cs"/>
              </a:rPr>
              <a:t>ProductId</a:t>
            </a:r>
            <a:r>
              <a:rPr lang="de-DE" dirty="0"/>
              <a:t> mit der Hierarchie verbunden.</a:t>
            </a:r>
          </a:p>
          <a:p>
            <a:r>
              <a:rPr lang="de-DE" dirty="0"/>
              <a:t>Die Verbindung erfolgt nicht über </a:t>
            </a:r>
            <a:r>
              <a:rPr lang="de-DE" sz="1200" kern="1200" dirty="0" err="1">
                <a:solidFill>
                  <a:schemeClr val="tx1"/>
                </a:solidFill>
                <a:latin typeface="+mn-lt"/>
                <a:ea typeface="+mn-ea"/>
                <a:cs typeface="+mn-cs"/>
              </a:rPr>
              <a:t>NodeId</a:t>
            </a:r>
            <a:r>
              <a:rPr lang="de-DE" dirty="0"/>
              <a:t>. </a:t>
            </a:r>
            <a:r>
              <a:rPr lang="de-DE" sz="1200" kern="1200" dirty="0" err="1">
                <a:solidFill>
                  <a:schemeClr val="tx1"/>
                </a:solidFill>
                <a:latin typeface="+mn-lt"/>
                <a:ea typeface="+mn-ea"/>
                <a:cs typeface="+mn-cs"/>
              </a:rPr>
              <a:t>NodeId</a:t>
            </a:r>
            <a:r>
              <a:rPr lang="de-DE" dirty="0"/>
              <a:t> dient ausschließlich zur technischen Identifikation der Knoten und für die Parent-Child-Beziehung.</a:t>
            </a:r>
          </a:p>
          <a:p>
            <a:r>
              <a:rPr lang="de-DE" sz="1200" kern="1200" dirty="0">
                <a:solidFill>
                  <a:schemeClr val="tx1"/>
                </a:solidFill>
                <a:latin typeface="+mn-lt"/>
                <a:ea typeface="+mn-ea"/>
                <a:cs typeface="+mn-cs"/>
              </a:rPr>
              <a:t>@ObjectModel.association.toHierarchy: </a:t>
            </a:r>
            <a:r>
              <a:rPr lang="de-DE" sz="1200" kern="1200" dirty="0" err="1">
                <a:solidFill>
                  <a:schemeClr val="tx1"/>
                </a:solidFill>
                <a:latin typeface="+mn-lt"/>
                <a:ea typeface="+mn-ea"/>
                <a:cs typeface="+mn-cs"/>
              </a:rPr>
              <a:t>true</a:t>
            </a:r>
            <a:r>
              <a:rPr lang="de-DE" dirty="0"/>
              <a:t> kennzeichnet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Hierarchy</a:t>
            </a:r>
            <a:r>
              <a:rPr lang="de-DE" dirty="0"/>
              <a:t> als Hierarchieassoziation der Dimension.</a:t>
            </a:r>
          </a:p>
          <a:p>
            <a:br>
              <a:rPr lang="de-DE" dirty="0"/>
            </a:br>
            <a:endParaRPr lang="de-DE" dirty="0"/>
          </a:p>
          <a:p>
            <a:r>
              <a:rPr lang="de-DE" b="1" dirty="0"/>
              <a:t>Schritt 7 – Zusammengehörige Objekte aktivieren</a:t>
            </a:r>
          </a:p>
          <a:p>
            <a:r>
              <a:rPr lang="de-DE" dirty="0"/>
              <a:t>Wegen der zyklischen Abhängigkeit gemeinsam markieren und aktivieren:</a:t>
            </a:r>
          </a:p>
          <a:p>
            <a:pPr lvl="0"/>
            <a:r>
              <a:rPr lang="de-DE" sz="1200" kern="1200" dirty="0" err="1">
                <a:solidFill>
                  <a:schemeClr val="tx1"/>
                </a:solidFill>
                <a:latin typeface="+mn-lt"/>
                <a:ea typeface="+mn-ea"/>
                <a:cs typeface="+mn-cs"/>
              </a:rPr>
              <a:t>ZI_CDSProductDim</a:t>
            </a:r>
            <a:r>
              <a:rPr lang="de-DE" dirty="0"/>
              <a:t> </a:t>
            </a:r>
          </a:p>
          <a:p>
            <a:pPr lvl="0"/>
            <a:r>
              <a:rPr lang="de-DE" sz="1200" kern="1200" dirty="0" err="1">
                <a:solidFill>
                  <a:schemeClr val="tx1"/>
                </a:solidFill>
                <a:latin typeface="+mn-lt"/>
                <a:ea typeface="+mn-ea"/>
                <a:cs typeface="+mn-cs"/>
              </a:rPr>
              <a:t>ZI_CDSProdHierNode</a:t>
            </a:r>
            <a:r>
              <a:rPr lang="de-DE" dirty="0"/>
              <a:t> </a:t>
            </a:r>
          </a:p>
          <a:p>
            <a:pPr lvl="0"/>
            <a:r>
              <a:rPr lang="de-DE" sz="1200" kern="1200" dirty="0">
                <a:solidFill>
                  <a:schemeClr val="tx1"/>
                </a:solidFill>
                <a:latin typeface="+mn-lt"/>
                <a:ea typeface="+mn-ea"/>
                <a:cs typeface="+mn-cs"/>
              </a:rPr>
              <a:t>ZI_CDSProductHierarchy</a:t>
            </a:r>
            <a:r>
              <a:rPr lang="de-DE" dirty="0"/>
              <a:t> </a:t>
            </a:r>
          </a:p>
          <a:p>
            <a:r>
              <a:rPr lang="de-DE" dirty="0"/>
              <a:t>Danach erneut aktivieren:</a:t>
            </a:r>
          </a:p>
          <a:p>
            <a:pPr lvl="0"/>
            <a:r>
              <a:rPr lang="de-DE" sz="1200" kern="1200" dirty="0" err="1">
                <a:solidFill>
                  <a:schemeClr val="tx1"/>
                </a:solidFill>
                <a:latin typeface="+mn-lt"/>
                <a:ea typeface="+mn-ea"/>
                <a:cs typeface="+mn-cs"/>
              </a:rPr>
              <a:t>ZI_CDSOrderCube</a:t>
            </a:r>
            <a:r>
              <a:rPr lang="de-DE" dirty="0"/>
              <a:t> </a:t>
            </a:r>
          </a:p>
          <a:p>
            <a:pPr lvl="0"/>
            <a:r>
              <a:rPr lang="de-DE" sz="1200" kern="1200" dirty="0" err="1">
                <a:solidFill>
                  <a:schemeClr val="tx1"/>
                </a:solidFill>
                <a:latin typeface="+mn-lt"/>
                <a:ea typeface="+mn-ea"/>
                <a:cs typeface="+mn-cs"/>
              </a:rPr>
              <a:t>ZQ_CDSOrderAnalysis</a:t>
            </a:r>
            <a:r>
              <a:rPr lang="de-DE" dirty="0"/>
              <a:t> </a:t>
            </a:r>
          </a:p>
          <a:p>
            <a:r>
              <a:rPr lang="de-DE" b="1" dirty="0"/>
              <a:t>Sprechertext</a:t>
            </a:r>
          </a:p>
          <a:p>
            <a:r>
              <a:rPr lang="de-DE" dirty="0"/>
              <a:t>Zwischen Produktdimension, Node-View und Hierarchie besteht eine zyklische Abhängigkeit.</a:t>
            </a:r>
          </a:p>
          <a:p>
            <a:r>
              <a:rPr lang="de-DE" dirty="0"/>
              <a:t>Die Dimension veröffentlicht die Hierarchie. Die Hierarchie basiert auf der Node-View, und die Node-View verweist wiederum auf die Produktdimension.</a:t>
            </a:r>
          </a:p>
          <a:p>
            <a:r>
              <a:rPr lang="de-DE" dirty="0"/>
              <a:t>Deshalb aktivieren wir diese Objekte gemeinsam.</a:t>
            </a:r>
          </a:p>
          <a:p>
            <a:br>
              <a:rPr lang="de-DE" dirty="0"/>
            </a:br>
            <a:endParaRPr lang="de-DE" dirty="0"/>
          </a:p>
          <a:p>
            <a:r>
              <a:rPr lang="de-DE" b="1" dirty="0"/>
              <a:t>Schritt 8 – Relation Explorer zeigen</a:t>
            </a:r>
          </a:p>
          <a:p>
            <a:r>
              <a:rPr lang="de-DE" b="1" dirty="0"/>
              <a:t>Aktion</a:t>
            </a:r>
          </a:p>
          <a:p>
            <a:pPr lvl="0"/>
            <a:r>
              <a:rPr lang="de-DE" sz="1200" kern="1200" dirty="0" err="1">
                <a:solidFill>
                  <a:schemeClr val="tx1"/>
                </a:solidFill>
                <a:latin typeface="+mn-lt"/>
                <a:ea typeface="+mn-ea"/>
                <a:cs typeface="+mn-cs"/>
              </a:rPr>
              <a:t>ZI_CDSOrderCube</a:t>
            </a:r>
            <a:r>
              <a:rPr lang="de-DE" dirty="0"/>
              <a:t> öffnen. </a:t>
            </a:r>
          </a:p>
          <a:p>
            <a:pPr lvl="0"/>
            <a:r>
              <a:rPr lang="de-DE" b="1" dirty="0"/>
              <a:t>Open With → Relation Explorer</a:t>
            </a:r>
            <a:r>
              <a:rPr lang="de-DE" dirty="0"/>
              <a:t>. </a:t>
            </a:r>
          </a:p>
          <a:p>
            <a:pPr lv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aufklappen. </a:t>
            </a:r>
          </a:p>
          <a:p>
            <a:pPr lv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Hierarchy</a:t>
            </a:r>
            <a:r>
              <a:rPr lang="de-DE" dirty="0"/>
              <a:t> anzeigen. </a:t>
            </a:r>
          </a:p>
          <a:p>
            <a:r>
              <a:rPr lang="de-DE" b="1" dirty="0"/>
              <a:t>Erwartetes Modell</a:t>
            </a:r>
          </a:p>
          <a:p>
            <a:pPr rtl="0"/>
            <a:r>
              <a:rPr lang="de-DE" sz="1200" kern="1200" dirty="0" err="1">
                <a:solidFill>
                  <a:schemeClr val="tx1"/>
                </a:solidFill>
                <a:latin typeface="+mn-lt"/>
                <a:ea typeface="+mn-ea"/>
                <a:cs typeface="+mn-cs"/>
              </a:rPr>
              <a:t>ZI_CDSOrderCube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ZI_CDSProductDim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 → ZI_CDSProductHierarchy</a:t>
            </a:r>
          </a:p>
          <a:p>
            <a:r>
              <a:rPr lang="de-DE" b="1" dirty="0"/>
              <a:t>Sprechertext</a:t>
            </a:r>
          </a:p>
          <a:p>
            <a:r>
              <a:rPr lang="de-DE" dirty="0"/>
              <a:t>Der Relation Explorer zeigt den Navigationspfad besonders anschaulich.</a:t>
            </a:r>
          </a:p>
          <a:p>
            <a:r>
              <a:rPr lang="de-DE" dirty="0"/>
              <a:t>Der Cube ist nicht direkt mit der Hierarchie verbunden. Er verweist auf die Produktdimension, und die Produktdimension veröffentlicht die Hierarchie.</a:t>
            </a:r>
          </a:p>
          <a:p>
            <a:r>
              <a:rPr lang="de-DE" dirty="0"/>
              <a:t>Das entspricht dem klassischen analytischen Modell: Ein Fakt verweist auf einen Dimensionswert, und die Dimension stellt dessen Hierarchie bereit.</a:t>
            </a:r>
          </a:p>
          <a:p>
            <a:br>
              <a:rPr lang="de-DE" dirty="0"/>
            </a:br>
            <a:endParaRPr lang="de-DE" dirty="0"/>
          </a:p>
          <a:p>
            <a:r>
              <a:rPr lang="de-DE" b="1" dirty="0"/>
              <a:t>Schritt 9 – Query um die Hierarchie erweitern</a:t>
            </a:r>
          </a:p>
          <a:p>
            <a:r>
              <a:rPr lang="de-DE" sz="1200" kern="1200" dirty="0" err="1">
                <a:solidFill>
                  <a:schemeClr val="tx1"/>
                </a:solidFill>
                <a:latin typeface="+mn-lt"/>
                <a:ea typeface="+mn-ea"/>
                <a:cs typeface="+mn-cs"/>
              </a:rPr>
              <a:t>ZQ_CDSOrderAnalysis</a:t>
            </a:r>
            <a:r>
              <a:rPr lang="de-DE" dirty="0"/>
              <a:t> anpassen:</a:t>
            </a:r>
          </a:p>
          <a:p>
            <a:pPr rtl="0"/>
            <a:r>
              <a:rPr lang="de-DE" sz="1200" kern="1200" dirty="0">
                <a:solidFill>
                  <a:schemeClr val="tx1"/>
                </a:solidFill>
                <a:latin typeface="+mn-lt"/>
                <a:ea typeface="+mn-ea"/>
                <a:cs typeface="+mn-cs"/>
              </a:rPr>
              <a:t>@EndUserText.label: 'CDS Workshop: Order Analysis'</a:t>
            </a:r>
          </a:p>
          <a:p>
            <a:pPr rtl="0"/>
            <a:r>
              <a:rPr lang="de-DE" sz="1200" kern="1200" dirty="0">
                <a:solidFill>
                  <a:schemeClr val="tx1"/>
                </a:solidFill>
                <a:latin typeface="+mn-lt"/>
                <a:ea typeface="+mn-ea"/>
                <a:cs typeface="+mn-cs"/>
              </a:rPr>
              <a:t>@AccessControl.authorizationCheck: #NOT_ALLOWED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transient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ZQ_CDSOrderAnalysis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provider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contract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analytical_query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projection</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ZI_CDSOrderCube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ProductHierarchy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@Consumption.hidden: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ProductDummy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axis</a:t>
            </a:r>
            <a:r>
              <a:rPr lang="de-DE" sz="1200" kern="1200" dirty="0">
                <a:solidFill>
                  <a:schemeClr val="tx1"/>
                </a:solidFill>
                <a:latin typeface="+mn-lt"/>
                <a:ea typeface="+mn-ea"/>
                <a:cs typeface="+mn-cs"/>
              </a:rPr>
              <a:t>:                  #ROWS,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displayHierarchy</a:t>
            </a:r>
            <a:r>
              <a:rPr lang="de-DE" sz="1200" kern="1200" dirty="0">
                <a:solidFill>
                  <a:schemeClr val="tx1"/>
                </a:solidFill>
                <a:latin typeface="+mn-lt"/>
                <a:ea typeface="+mn-ea"/>
                <a:cs typeface="+mn-cs"/>
              </a:rPr>
              <a:t>:      #ON,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hierarchyAssociation</a:t>
            </a:r>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ProductHierarchy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hierarchyInitialLevel</a:t>
            </a:r>
            <a:r>
              <a:rPr lang="de-DE" sz="1200" kern="1200" dirty="0">
                <a:solidFill>
                  <a:schemeClr val="tx1"/>
                </a:solidFill>
                <a:latin typeface="+mn-lt"/>
                <a:ea typeface="+mn-ea"/>
                <a:cs typeface="+mn-cs"/>
              </a:rPr>
              <a:t>: 3</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#FREE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#FREE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#FREE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@AnalyticsDetails.query.axis: #COLUMNS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Sprechertext</a:t>
            </a:r>
          </a:p>
          <a:p>
            <a:r>
              <a:rPr lang="de-DE" dirty="0"/>
              <a:t>Die Query exponiert die verschachtelte Hierarchieassoziation unter dem lokalen Namen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ProductHierarchy</a:t>
            </a:r>
            <a:r>
              <a:rPr lang="de-DE" dirty="0"/>
              <a:t>.</a:t>
            </a:r>
          </a:p>
          <a:p>
            <a:r>
              <a:rPr lang="de-DE" dirty="0"/>
              <a:t>Anschließend aktivieren wir die Hierarchiedarstellung am Merkmal </a:t>
            </a:r>
            <a:r>
              <a:rPr lang="de-DE" sz="1200" kern="1200" dirty="0" err="1">
                <a:solidFill>
                  <a:schemeClr val="tx1"/>
                </a:solidFill>
                <a:latin typeface="+mn-lt"/>
                <a:ea typeface="+mn-ea"/>
                <a:cs typeface="+mn-cs"/>
              </a:rPr>
              <a:t>ProductId</a:t>
            </a:r>
            <a:r>
              <a:rPr lang="de-DE" dirty="0"/>
              <a:t>.</a:t>
            </a:r>
          </a:p>
          <a:p>
            <a:r>
              <a:rPr lang="de-DE" sz="1200" kern="1200" dirty="0" err="1">
                <a:solidFill>
                  <a:schemeClr val="tx1"/>
                </a:solidFill>
                <a:latin typeface="+mn-lt"/>
                <a:ea typeface="+mn-ea"/>
                <a:cs typeface="+mn-cs"/>
              </a:rPr>
              <a:t>hierarchyInitialLevel</a:t>
            </a:r>
            <a:r>
              <a:rPr lang="de-DE" sz="1200" kern="1200" dirty="0">
                <a:solidFill>
                  <a:schemeClr val="tx1"/>
                </a:solidFill>
                <a:latin typeface="+mn-lt"/>
                <a:ea typeface="+mn-ea"/>
                <a:cs typeface="+mn-cs"/>
              </a:rPr>
              <a:t>: 3</a:t>
            </a:r>
            <a:r>
              <a:rPr lang="de-DE" dirty="0"/>
              <a:t> sorgt dafür, dass die ersten Ebenen beim Start bereits aufgeklappt erscheinen.</a:t>
            </a:r>
          </a:p>
          <a:p>
            <a:br>
              <a:rPr lang="de-DE" dirty="0"/>
            </a:br>
            <a:endParaRPr lang="de-DE" dirty="0"/>
          </a:p>
          <a:p>
            <a:r>
              <a:rPr lang="de-DE" b="1" dirty="0"/>
              <a:t>Schritt 10 – Hierarchie testen</a:t>
            </a:r>
          </a:p>
          <a:p>
            <a:r>
              <a:rPr lang="de-DE" b="1" dirty="0"/>
              <a:t>Aktion</a:t>
            </a:r>
          </a:p>
          <a:p>
            <a:pPr lvl="0"/>
            <a:r>
              <a:rPr lang="de-DE" dirty="0"/>
              <a:t>Query aktivieren. </a:t>
            </a:r>
          </a:p>
          <a:p>
            <a:pPr lvl="0"/>
            <a:r>
              <a:rPr lang="de-DE" dirty="0"/>
              <a:t>Mit F8 starten. </a:t>
            </a:r>
          </a:p>
          <a:p>
            <a:pPr lvl="0"/>
            <a:r>
              <a:rPr lang="de-DE" dirty="0"/>
              <a:t>Hierarchieknoten auf- und zuklappen. </a:t>
            </a:r>
          </a:p>
          <a:p>
            <a:pPr lvl="0"/>
            <a:r>
              <a:rPr lang="de-DE" dirty="0"/>
              <a:t>Nettobeträge auf den Ebenen vergleichen. </a:t>
            </a:r>
          </a:p>
          <a:p>
            <a:pPr lvl="0"/>
            <a:r>
              <a:rPr lang="de-DE" dirty="0"/>
              <a:t>optional </a:t>
            </a:r>
            <a:r>
              <a:rPr lang="de-DE" sz="1200" kern="1200" dirty="0" err="1">
                <a:solidFill>
                  <a:schemeClr val="tx1"/>
                </a:solidFill>
                <a:latin typeface="+mn-lt"/>
                <a:ea typeface="+mn-ea"/>
                <a:cs typeface="+mn-cs"/>
              </a:rPr>
              <a:t>SalesOrganization</a:t>
            </a:r>
            <a:r>
              <a:rPr lang="de-DE" dirty="0"/>
              <a:t> in den Drilldown aufnehmen. </a:t>
            </a:r>
          </a:p>
          <a:p>
            <a:r>
              <a:rPr lang="de-DE" b="1" dirty="0"/>
              <a:t>Erwartetes Ergebnis</a:t>
            </a:r>
          </a:p>
          <a:p>
            <a:pPr rtl="0"/>
            <a:r>
              <a:rPr lang="de-DE" sz="1200" kern="1200" dirty="0">
                <a:solidFill>
                  <a:schemeClr val="tx1"/>
                </a:solidFill>
                <a:latin typeface="+mn-lt"/>
                <a:ea typeface="+mn-ea"/>
                <a:cs typeface="+mn-cs"/>
              </a:rPr>
              <a:t>PROD</a:t>
            </a:r>
          </a:p>
          <a:p>
            <a:pPr rtl="0"/>
            <a:r>
              <a:rPr lang="de-DE" sz="1200" kern="1200" dirty="0">
                <a:solidFill>
                  <a:schemeClr val="tx1"/>
                </a:solidFill>
                <a:latin typeface="+mn-lt"/>
                <a:ea typeface="+mn-ea"/>
                <a:cs typeface="+mn-cs"/>
              </a:rPr>
              <a:t>├─ HARDWARE</a:t>
            </a:r>
          </a:p>
          <a:p>
            <a:pPr rtl="0"/>
            <a:r>
              <a:rPr lang="de-DE" sz="1200" kern="1200" dirty="0">
                <a:solidFill>
                  <a:schemeClr val="tx1"/>
                </a:solidFill>
                <a:latin typeface="+mn-lt"/>
                <a:ea typeface="+mn-ea"/>
                <a:cs typeface="+mn-cs"/>
              </a:rPr>
              <a:t>│  ├─ COMPUTER</a:t>
            </a:r>
          </a:p>
          <a:p>
            <a:pPr rtl="0"/>
            <a:r>
              <a:rPr lang="de-DE" sz="1200" kern="1200" dirty="0">
                <a:solidFill>
                  <a:schemeClr val="tx1"/>
                </a:solidFill>
                <a:latin typeface="+mn-lt"/>
                <a:ea typeface="+mn-ea"/>
                <a:cs typeface="+mn-cs"/>
              </a:rPr>
              <a:t>│  │  ├─ P100</a:t>
            </a:r>
          </a:p>
          <a:p>
            <a:pPr rtl="0"/>
            <a:r>
              <a:rPr lang="de-DE" sz="1200" kern="1200" dirty="0">
                <a:solidFill>
                  <a:schemeClr val="tx1"/>
                </a:solidFill>
                <a:latin typeface="+mn-lt"/>
                <a:ea typeface="+mn-ea"/>
                <a:cs typeface="+mn-cs"/>
              </a:rPr>
              <a:t>│  │  └─ P110</a:t>
            </a:r>
          </a:p>
          <a:p>
            <a:pPr rtl="0"/>
            <a:r>
              <a:rPr lang="de-DE" sz="1200" kern="1200" dirty="0">
                <a:solidFill>
                  <a:schemeClr val="tx1"/>
                </a:solidFill>
                <a:latin typeface="+mn-lt"/>
                <a:ea typeface="+mn-ea"/>
                <a:cs typeface="+mn-cs"/>
              </a:rPr>
              <a:t>│  └─ ACCESSORY</a:t>
            </a:r>
          </a:p>
          <a:p>
            <a:pPr rtl="0"/>
            <a:r>
              <a:rPr lang="de-DE" sz="1200" kern="1200" dirty="0">
                <a:solidFill>
                  <a:schemeClr val="tx1"/>
                </a:solidFill>
                <a:latin typeface="+mn-lt"/>
                <a:ea typeface="+mn-ea"/>
                <a:cs typeface="+mn-cs"/>
              </a:rPr>
              <a:t>│     ├─ P200</a:t>
            </a:r>
          </a:p>
          <a:p>
            <a:pPr rtl="0"/>
            <a:r>
              <a:rPr lang="de-DE" sz="1200" kern="1200" dirty="0">
                <a:solidFill>
                  <a:schemeClr val="tx1"/>
                </a:solidFill>
                <a:latin typeface="+mn-lt"/>
                <a:ea typeface="+mn-ea"/>
                <a:cs typeface="+mn-cs"/>
              </a:rPr>
              <a:t>│     ├─ P210</a:t>
            </a:r>
          </a:p>
          <a:p>
            <a:pPr rtl="0"/>
            <a:r>
              <a:rPr lang="de-DE" sz="1200" kern="1200" dirty="0">
                <a:solidFill>
                  <a:schemeClr val="tx1"/>
                </a:solidFill>
                <a:latin typeface="+mn-lt"/>
                <a:ea typeface="+mn-ea"/>
                <a:cs typeface="+mn-cs"/>
              </a:rPr>
              <a:t>│     └─ P220</a:t>
            </a:r>
          </a:p>
          <a:p>
            <a:pPr rtl="0"/>
            <a:r>
              <a:rPr lang="de-DE" sz="1200" kern="1200" dirty="0">
                <a:solidFill>
                  <a:schemeClr val="tx1"/>
                </a:solidFill>
                <a:latin typeface="+mn-lt"/>
                <a:ea typeface="+mn-ea"/>
                <a:cs typeface="+mn-cs"/>
              </a:rPr>
              <a:t>└─ SOFTWARE</a:t>
            </a:r>
          </a:p>
          <a:p>
            <a:pPr rtl="0"/>
            <a:r>
              <a:rPr lang="de-DE" sz="1200" kern="1200" dirty="0">
                <a:solidFill>
                  <a:schemeClr val="tx1"/>
                </a:solidFill>
                <a:latin typeface="+mn-lt"/>
                <a:ea typeface="+mn-ea"/>
                <a:cs typeface="+mn-cs"/>
              </a:rPr>
              <a:t>   ├─ DEVELOP</a:t>
            </a:r>
          </a:p>
          <a:p>
            <a:pPr rtl="0"/>
            <a:r>
              <a:rPr lang="de-DE" sz="1200" kern="1200" dirty="0">
                <a:solidFill>
                  <a:schemeClr val="tx1"/>
                </a:solidFill>
                <a:latin typeface="+mn-lt"/>
                <a:ea typeface="+mn-ea"/>
                <a:cs typeface="+mn-cs"/>
              </a:rPr>
              <a:t>   │  └─ P310</a:t>
            </a:r>
          </a:p>
          <a:p>
            <a:pPr rtl="0"/>
            <a:r>
              <a:rPr lang="de-DE" sz="1200" kern="1200" dirty="0">
                <a:solidFill>
                  <a:schemeClr val="tx1"/>
                </a:solidFill>
                <a:latin typeface="+mn-lt"/>
                <a:ea typeface="+mn-ea"/>
                <a:cs typeface="+mn-cs"/>
              </a:rPr>
              <a:t>   └─ OFFICE</a:t>
            </a:r>
          </a:p>
          <a:p>
            <a:pPr rtl="0"/>
            <a:r>
              <a:rPr lang="de-DE" sz="1200" kern="1200" dirty="0">
                <a:solidFill>
                  <a:schemeClr val="tx1"/>
                </a:solidFill>
                <a:latin typeface="+mn-lt"/>
                <a:ea typeface="+mn-ea"/>
                <a:cs typeface="+mn-cs"/>
              </a:rPr>
              <a:t>      └─ P300</a:t>
            </a:r>
          </a:p>
          <a:p>
            <a:r>
              <a:rPr lang="de-DE" b="1" dirty="0"/>
              <a:t>Sprechertext</a:t>
            </a:r>
          </a:p>
          <a:p>
            <a:r>
              <a:rPr lang="de-DE" dirty="0"/>
              <a:t>Die Analytical Engine stellt Kategorien und Produkte in einem gemeinsamen Baum dar.</a:t>
            </a:r>
          </a:p>
          <a:p>
            <a:r>
              <a:rPr lang="de-DE" dirty="0"/>
              <a:t>Beim Zuklappen einer Kategorie bleiben die darunterliegenden Produktwerte erhalten und werden auf der </a:t>
            </a:r>
            <a:r>
              <a:rPr lang="de-DE" dirty="0" err="1"/>
              <a:t>Kategorieebene</a:t>
            </a:r>
            <a:r>
              <a:rPr lang="de-DE" dirty="0"/>
              <a:t> aggregiert.</a:t>
            </a:r>
          </a:p>
          <a:p>
            <a:r>
              <a:rPr lang="de-DE" dirty="0"/>
              <a:t>Damit sehen wir unmittelbar den analytischen Nutzen der Hierarchie: Sie ermöglicht Auswertungen vom Gesamtwert bis zum einzelnen Produkt.</a:t>
            </a:r>
          </a:p>
          <a:p>
            <a:br>
              <a:rPr lang="de-DE" dirty="0"/>
            </a:br>
            <a:endParaRPr lang="de-DE" dirty="0"/>
          </a:p>
          <a:p>
            <a:r>
              <a:rPr lang="de-DE" b="1" dirty="0"/>
              <a:t>Typische Fehlerquellen</a:t>
            </a:r>
          </a:p>
          <a:p>
            <a:r>
              <a:rPr lang="de-DE" b="1" dirty="0"/>
              <a:t>Hierarchie wird als ungültig ignoriert</a:t>
            </a:r>
          </a:p>
          <a:p>
            <a:r>
              <a:rPr lang="de-DE" dirty="0"/>
              <a:t>Prüfen:</a:t>
            </a:r>
          </a:p>
          <a:p>
            <a:pPr rtl="0"/>
            <a:r>
              <a:rPr lang="de-DE" sz="1200" kern="1200" dirty="0">
                <a:solidFill>
                  <a:schemeClr val="tx1"/>
                </a:solidFill>
                <a:latin typeface="+mn-lt"/>
                <a:ea typeface="+mn-ea"/>
                <a:cs typeface="+mn-cs"/>
              </a:rPr>
              <a:t>CATEGORYID → </a:t>
            </a:r>
            <a:r>
              <a:rPr lang="de-DE" sz="1200" kern="1200" dirty="0" err="1">
                <a:solidFill>
                  <a:schemeClr val="tx1"/>
                </a:solidFill>
                <a:latin typeface="+mn-lt"/>
                <a:ea typeface="+mn-ea"/>
                <a:cs typeface="+mn-cs"/>
              </a:rPr>
              <a:t>CategoryId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PRODUCTID  →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r>
              <a:rPr lang="de-DE" dirty="0"/>
              <a:t>Für jeden Wert von </a:t>
            </a:r>
            <a:r>
              <a:rPr lang="de-DE" sz="1200" kern="1200" dirty="0" err="1">
                <a:solidFill>
                  <a:schemeClr val="tx1"/>
                </a:solidFill>
                <a:latin typeface="+mn-lt"/>
                <a:ea typeface="+mn-ea"/>
                <a:cs typeface="+mn-cs"/>
              </a:rPr>
              <a:t>NodeType</a:t>
            </a:r>
            <a:r>
              <a:rPr lang="de-DE" dirty="0"/>
              <a:t> muss ein entsprechendes fachliches Element mit Fremdschlüsselassoziation vorhanden sein.</a:t>
            </a:r>
          </a:p>
          <a:p>
            <a:r>
              <a:rPr lang="de-DE" b="1" dirty="0"/>
              <a:t>Hierarchie erscheint nicht in der Query</a:t>
            </a:r>
          </a:p>
          <a:p>
            <a:r>
              <a:rPr lang="de-DE" dirty="0"/>
              <a:t>Prüfen:</a:t>
            </a:r>
          </a:p>
          <a:p>
            <a:pPr rtl="0"/>
            <a:r>
              <a:rPr lang="de-DE" sz="1200" kern="1200" dirty="0">
                <a:solidFill>
                  <a:schemeClr val="tx1"/>
                </a:solidFill>
                <a:latin typeface="+mn-lt"/>
                <a:ea typeface="+mn-ea"/>
                <a:cs typeface="+mn-cs"/>
              </a:rPr>
              <a:t>@ObjectModel.association.toHierarchy: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Hierarchy</a:t>
            </a:r>
            <a:endParaRPr lang="de-DE" sz="1200" kern="1200" dirty="0">
              <a:solidFill>
                <a:schemeClr val="tx1"/>
              </a:solidFill>
              <a:latin typeface="+mn-lt"/>
              <a:ea typeface="+mn-ea"/>
              <a:cs typeface="+mn-cs"/>
            </a:endParaRPr>
          </a:p>
          <a:p>
            <a:r>
              <a:rPr lang="de-DE" dirty="0"/>
              <a:t>und:</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Hierarchy</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ProductHierarchy</a:t>
            </a:r>
            <a:endParaRPr lang="de-DE" sz="1200" kern="1200" dirty="0">
              <a:solidFill>
                <a:schemeClr val="tx1"/>
              </a:solidFill>
              <a:latin typeface="+mn-lt"/>
              <a:ea typeface="+mn-ea"/>
              <a:cs typeface="+mn-cs"/>
            </a:endParaRPr>
          </a:p>
          <a:p>
            <a:r>
              <a:rPr lang="de-DE" b="1" dirty="0"/>
              <a:t>Produkte werden nicht zugeordnet</a:t>
            </a:r>
          </a:p>
          <a:p>
            <a:r>
              <a:rPr lang="de-DE" dirty="0"/>
              <a:t>Prüfen:</a:t>
            </a:r>
          </a:p>
          <a:p>
            <a:pPr rtl="0"/>
            <a:r>
              <a:rPr lang="de-DE" sz="1200" kern="1200" dirty="0">
                <a:solidFill>
                  <a:schemeClr val="tx1"/>
                </a:solidFill>
                <a:latin typeface="+mn-lt"/>
                <a:ea typeface="+mn-ea"/>
                <a:cs typeface="+mn-cs"/>
              </a:rPr>
              <a:t>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Hierarchy.ProductId</a:t>
            </a:r>
            <a:endParaRPr lang="de-DE" sz="1200" kern="1200" dirty="0">
              <a:solidFill>
                <a:schemeClr val="tx1"/>
              </a:solidFill>
              <a:latin typeface="+mn-lt"/>
              <a:ea typeface="+mn-ea"/>
              <a:cs typeface="+mn-cs"/>
            </a:endParaRPr>
          </a:p>
          <a:p>
            <a:r>
              <a:rPr lang="de-DE" dirty="0"/>
              <a:t>Nicht über </a:t>
            </a:r>
            <a:r>
              <a:rPr lang="de-DE" sz="1200" kern="1200" dirty="0" err="1">
                <a:solidFill>
                  <a:schemeClr val="tx1"/>
                </a:solidFill>
                <a:latin typeface="+mn-lt"/>
                <a:ea typeface="+mn-ea"/>
                <a:cs typeface="+mn-cs"/>
              </a:rPr>
              <a:t>NodeId</a:t>
            </a:r>
            <a:r>
              <a:rPr lang="de-DE" dirty="0"/>
              <a:t> verbinden.</a:t>
            </a:r>
          </a:p>
          <a:p>
            <a:r>
              <a:rPr lang="de-DE" b="1" dirty="0"/>
              <a:t>Knoten fehlen oder erscheinen doppelt</a:t>
            </a:r>
          </a:p>
          <a:p>
            <a:r>
              <a:rPr lang="de-DE" dirty="0"/>
              <a:t>Prüfen:</a:t>
            </a:r>
          </a:p>
          <a:p>
            <a:pPr lvl="0"/>
            <a:r>
              <a:rPr lang="de-DE" dirty="0"/>
              <a:t>Ist jeder </a:t>
            </a:r>
            <a:r>
              <a:rPr lang="de-DE" sz="1200" kern="1200" dirty="0" err="1">
                <a:solidFill>
                  <a:schemeClr val="tx1"/>
                </a:solidFill>
                <a:latin typeface="+mn-lt"/>
                <a:ea typeface="+mn-ea"/>
                <a:cs typeface="+mn-cs"/>
              </a:rPr>
              <a:t>NodeId</a:t>
            </a:r>
            <a:r>
              <a:rPr lang="de-DE" dirty="0"/>
              <a:t> eindeutig? </a:t>
            </a:r>
          </a:p>
          <a:p>
            <a:pPr lvl="0"/>
            <a:r>
              <a:rPr lang="de-DE" dirty="0"/>
              <a:t>Existiert jeder </a:t>
            </a:r>
            <a:r>
              <a:rPr lang="de-DE" sz="1200" kern="1200" dirty="0" err="1">
                <a:solidFill>
                  <a:schemeClr val="tx1"/>
                </a:solidFill>
                <a:latin typeface="+mn-lt"/>
                <a:ea typeface="+mn-ea"/>
                <a:cs typeface="+mn-cs"/>
              </a:rPr>
              <a:t>ParentNodeId</a:t>
            </a:r>
            <a:r>
              <a:rPr lang="de-DE" dirty="0"/>
              <a:t> als </a:t>
            </a:r>
            <a:r>
              <a:rPr lang="de-DE" sz="1200" kern="1200" dirty="0" err="1">
                <a:solidFill>
                  <a:schemeClr val="tx1"/>
                </a:solidFill>
                <a:latin typeface="+mn-lt"/>
                <a:ea typeface="+mn-ea"/>
                <a:cs typeface="+mn-cs"/>
              </a:rPr>
              <a:t>NodeId</a:t>
            </a:r>
            <a:r>
              <a:rPr lang="de-DE" dirty="0"/>
              <a:t>? </a:t>
            </a:r>
          </a:p>
          <a:p>
            <a:pPr lvl="0"/>
            <a:r>
              <a:rPr lang="de-DE" dirty="0"/>
              <a:t>Besitzt nur die Wurzel einen initialen Elternknoten? </a:t>
            </a:r>
          </a:p>
          <a:p>
            <a:pPr lvl="0"/>
            <a:r>
              <a:rPr lang="de-DE" dirty="0"/>
              <a:t>Liefert die Union doppelte Zeilen? </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55</a:t>
            </a:fld>
            <a:endParaRPr lang="de-DE" dirty="0"/>
          </a:p>
        </p:txBody>
      </p:sp>
    </p:spTree>
    <p:extLst>
      <p:ext uri="{BB962C8B-B14F-4D97-AF65-F5344CB8AC3E}">
        <p14:creationId xmlns:p14="http://schemas.microsoft.com/office/powerpoint/2010/main" val="40337402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diesem dritten Kursteil haben wir unser CDS-Datenmodell für zwei unterschiedliche Verbraucher eingesetzt.</a:t>
            </a:r>
          </a:p>
          <a:p>
            <a:endParaRPr lang="de-DE" dirty="0"/>
          </a:p>
          <a:p>
            <a:r>
              <a:rPr lang="de-DE" dirty="0"/>
              <a:t>Für Fiori Elements haben wir mit </a:t>
            </a:r>
            <a:r>
              <a:rPr lang="de-DE" dirty="0" err="1"/>
              <a:t>Metadata</a:t>
            </a:r>
            <a:r>
              <a:rPr lang="de-DE" dirty="0"/>
              <a:t> </a:t>
            </a:r>
            <a:r>
              <a:rPr lang="de-DE" dirty="0" err="1"/>
              <a:t>Extensions</a:t>
            </a:r>
            <a:r>
              <a:rPr lang="de-DE" dirty="0"/>
              <a:t> einen List Report und eine </a:t>
            </a:r>
            <a:r>
              <a:rPr lang="de-DE" dirty="0" err="1"/>
              <a:t>Object</a:t>
            </a:r>
            <a:r>
              <a:rPr lang="de-DE" dirty="0"/>
              <a:t> Page gestaltet. Assoziationen verbinden den Auftrag mit seinen Positionen. Data Points und Charts ergänzen visuelle Darstellungen.</a:t>
            </a:r>
          </a:p>
          <a:p>
            <a:endParaRPr lang="de-DE" dirty="0"/>
          </a:p>
          <a:p>
            <a:r>
              <a:rPr lang="de-DE" dirty="0"/>
              <a:t>Für die Analytik haben wir eine Produktdimension, einen Cube und eine transiente Query erstellt. Die Produkthierarchie verbindet Kategorien als Strukturknoten mit Produkten als Blättern.</a:t>
            </a:r>
          </a:p>
          <a:p>
            <a:endParaRPr lang="de-DE" dirty="0"/>
          </a:p>
          <a:p>
            <a:r>
              <a:rPr lang="de-DE" dirty="0"/>
              <a:t>Beide Anwendungstypen basieren auf demselben Grundprinzip: CDS beschreibt nicht nur Daten, sondern auch Beziehungen, Semantik und vorgesehene Verwendung.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56</a:t>
            </a:fld>
            <a:endParaRPr lang="de-DE" dirty="0"/>
          </a:p>
        </p:txBody>
      </p:sp>
    </p:spTree>
    <p:extLst>
      <p:ext uri="{BB962C8B-B14F-4D97-AF65-F5344CB8AC3E}">
        <p14:creationId xmlns:p14="http://schemas.microsoft.com/office/powerpoint/2010/main" val="22065712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Damit schließt sich der Bogen über alle drei Teile der Kursreihe.</a:t>
            </a:r>
          </a:p>
          <a:p>
            <a:endParaRPr lang="de-DE" dirty="0"/>
          </a:p>
          <a:p>
            <a:r>
              <a:rPr lang="de-DE" dirty="0"/>
              <a:t>Im ersten Teil haben wir CDS View </a:t>
            </a:r>
            <a:r>
              <a:rPr lang="de-DE" dirty="0" err="1"/>
              <a:t>Entities</a:t>
            </a:r>
            <a:r>
              <a:rPr lang="de-DE" dirty="0"/>
              <a:t> definiert, Assoziationen aufgebaut und den Zugriff mit DCL geschützt.</a:t>
            </a:r>
          </a:p>
          <a:p>
            <a:endParaRPr lang="de-DE" dirty="0"/>
          </a:p>
          <a:p>
            <a:r>
              <a:rPr lang="de-DE" dirty="0"/>
              <a:t>Im zweiten Teil haben wir Berechnungen und Funktionen auf die Datenbank verlagert, Daten aggregiert, Auftragsarten vereinigt und Views modifikationsfrei erweitert.</a:t>
            </a:r>
          </a:p>
          <a:p>
            <a:endParaRPr lang="de-DE" dirty="0"/>
          </a:p>
          <a:p>
            <a:r>
              <a:rPr lang="de-DE" dirty="0"/>
              <a:t>Im dritten Teil haben wir das entstandene Modell für Fiori Elements und analytische Anwendungen verwendet.</a:t>
            </a:r>
          </a:p>
          <a:p>
            <a:endParaRPr lang="de-DE" dirty="0"/>
          </a:p>
          <a:p>
            <a:r>
              <a:rPr lang="de-DE" dirty="0"/>
              <a:t>Aus einigen Datenbanktabellen ist damit schrittweise ein semantisch beschriebenes, verbundenes und für unterschiedliche Verbraucher nutzbares CDS-Datenmodell entstanden.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57</a:t>
            </a:fld>
            <a:endParaRPr lang="de-DE" dirty="0"/>
          </a:p>
        </p:txBody>
      </p:sp>
    </p:spTree>
    <p:extLst>
      <p:ext uri="{BB962C8B-B14F-4D97-AF65-F5344CB8AC3E}">
        <p14:creationId xmlns:p14="http://schemas.microsoft.com/office/powerpoint/2010/main" val="22502004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wichtigste Erkenntnis der gesamten Kursreihe lautet: Eine CDS View Entity ist mehr als eine komfortablere Form einer SQL-Abfrage.</a:t>
            </a:r>
          </a:p>
          <a:p>
            <a:endParaRPr lang="de-DE" dirty="0"/>
          </a:p>
          <a:p>
            <a:r>
              <a:rPr lang="de-DE" dirty="0"/>
              <a:t>Ein gutes CDS-Modell beschreibt Schlüssel, Beziehungen und fachliche Semantik. Es kann Berechtigungen berücksichtigen und Metadaten für unterschiedliche Verbraucher bereitstellen.</a:t>
            </a:r>
          </a:p>
          <a:p>
            <a:endParaRPr lang="de-DE" dirty="0"/>
          </a:p>
          <a:p>
            <a:r>
              <a:rPr lang="de-DE" dirty="0"/>
              <a:t>Fiori Elements verwendet diese Metadaten zur Generierung einer Benutzeroberfläche. Die Analytical Engine nutzt sie für dynamische Aggregationen und Hierarchien.</a:t>
            </a:r>
          </a:p>
          <a:p>
            <a:endParaRPr lang="de-DE" dirty="0"/>
          </a:p>
          <a:p>
            <a:r>
              <a:rPr lang="de-DE" dirty="0"/>
              <a:t>Je sauberer diese Bedeutung im Datenmodell beschrieben ist, desto weniger muss jeder Verbraucher erneut implementieren.</a:t>
            </a:r>
          </a:p>
          <a:p>
            <a:endParaRPr lang="de-DE" dirty="0"/>
          </a:p>
          <a:p>
            <a:r>
              <a:rPr lang="de-DE" dirty="0"/>
              <a:t>Damit sind wir am Ende der Kursreihe angekommen.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58</a:t>
            </a:fld>
            <a:endParaRPr lang="de-DE" dirty="0"/>
          </a:p>
        </p:txBody>
      </p:sp>
    </p:spTree>
    <p:extLst>
      <p:ext uri="{BB962C8B-B14F-4D97-AF65-F5344CB8AC3E}">
        <p14:creationId xmlns:p14="http://schemas.microsoft.com/office/powerpoint/2010/main" val="25317957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59</a:t>
            </a:fld>
            <a:endParaRPr lang="de-DE" dirty="0"/>
          </a:p>
        </p:txBody>
      </p:sp>
    </p:spTree>
    <p:extLst>
      <p:ext uri="{BB962C8B-B14F-4D97-AF65-F5344CB8AC3E}">
        <p14:creationId xmlns:p14="http://schemas.microsoft.com/office/powerpoint/2010/main" val="7349828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60</a:t>
            </a:fld>
            <a:endParaRPr lang="de-DE" dirty="0"/>
          </a:p>
        </p:txBody>
      </p:sp>
    </p:spTree>
    <p:extLst>
      <p:ext uri="{BB962C8B-B14F-4D97-AF65-F5344CB8AC3E}">
        <p14:creationId xmlns:p14="http://schemas.microsoft.com/office/powerpoint/2010/main" val="32299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CBA5C6-AA22-3537-BFD8-3B3B96B501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0BB920B5-11DB-39F1-438C-45576462E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FFC1068-AC93-FA27-6824-B39557D75988}"/>
              </a:ext>
            </a:extLst>
          </p:cNvPr>
          <p:cNvSpPr>
            <a:spLocks noGrp="1"/>
          </p:cNvSpPr>
          <p:nvPr>
            <p:ph type="dt" sz="half" idx="10"/>
          </p:nvPr>
        </p:nvSpPr>
        <p:spPr>
          <a:xfrm>
            <a:off x="838200" y="6356350"/>
            <a:ext cx="2743200" cy="365125"/>
          </a:xfrm>
          <a:prstGeom prst="rect">
            <a:avLst/>
          </a:prstGeom>
        </p:spPr>
        <p:txBody>
          <a:bodyPr/>
          <a:lstStyle/>
          <a:p>
            <a:fld id="{A9536FE4-5786-419D-BEFC-501822F05845}" type="datetime1">
              <a:rPr lang="de-DE" smtClean="0"/>
              <a:t>09.09.2026</a:t>
            </a:fld>
            <a:endParaRPr lang="de-DE" dirty="0"/>
          </a:p>
        </p:txBody>
      </p:sp>
      <p:sp>
        <p:nvSpPr>
          <p:cNvPr id="5" name="Fußzeilenplatzhalter 4">
            <a:extLst>
              <a:ext uri="{FF2B5EF4-FFF2-40B4-BE49-F238E27FC236}">
                <a16:creationId xmlns:a16="http://schemas.microsoft.com/office/drawing/2014/main" id="{B79C8490-17D4-2876-2238-01DFC41C9E76}"/>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CDC8C4AA-D2D4-85E2-46CC-A17FD346EBEE}"/>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09924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BE5684-8251-E29F-5A2A-12D2C04081D0}"/>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667783B3-FAFD-8C19-FBB1-16BFD18789E9}"/>
              </a:ext>
            </a:extLst>
          </p:cNvPr>
          <p:cNvSpPr>
            <a:spLocks noGrp="1"/>
          </p:cNvSpPr>
          <p:nvPr>
            <p:ph idx="1"/>
          </p:nvPr>
        </p:nvSpPr>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D51285BF-5671-0420-60D5-884EC2F6FF5E}"/>
              </a:ext>
            </a:extLst>
          </p:cNvPr>
          <p:cNvSpPr>
            <a:spLocks noGrp="1"/>
          </p:cNvSpPr>
          <p:nvPr>
            <p:ph type="dt" sz="half" idx="10"/>
          </p:nvPr>
        </p:nvSpPr>
        <p:spPr>
          <a:xfrm>
            <a:off x="838200" y="6356350"/>
            <a:ext cx="2743200" cy="365125"/>
          </a:xfrm>
          <a:prstGeom prst="rect">
            <a:avLst/>
          </a:prstGeom>
        </p:spPr>
        <p:txBody>
          <a:bodyPr/>
          <a:lstStyle/>
          <a:p>
            <a:fld id="{15B639AA-02E9-47DF-BFAD-69C50BB74770}" type="datetime1">
              <a:rPr lang="de-DE" smtClean="0"/>
              <a:t>09.09.2026</a:t>
            </a:fld>
            <a:endParaRPr lang="de-DE" dirty="0"/>
          </a:p>
        </p:txBody>
      </p:sp>
      <p:sp>
        <p:nvSpPr>
          <p:cNvPr id="5" name="Fußzeilenplatzhalter 4">
            <a:extLst>
              <a:ext uri="{FF2B5EF4-FFF2-40B4-BE49-F238E27FC236}">
                <a16:creationId xmlns:a16="http://schemas.microsoft.com/office/drawing/2014/main" id="{10F8A230-46A9-6446-6656-1613579BA8AC}"/>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FF5EC8A-A7F1-7E1D-EF78-D2BD6560E815}"/>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78965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DD6CEF-83A0-8501-0860-64379D07AD5C}"/>
              </a:ext>
            </a:extLst>
          </p:cNvPr>
          <p:cNvSpPr>
            <a:spLocks noGrp="1"/>
          </p:cNvSpPr>
          <p:nvPr>
            <p:ph type="title"/>
          </p:nvPr>
        </p:nvSpPr>
        <p:spPr>
          <a:xfrm>
            <a:off x="831850" y="1709738"/>
            <a:ext cx="10515600" cy="2852737"/>
          </a:xfrm>
        </p:spPr>
        <p:txBody>
          <a:bodyPr lIns="0" anchor="b"/>
          <a:lstStyle>
            <a:lvl1pPr>
              <a:defRPr sz="6000"/>
            </a:lvl1pPr>
          </a:lstStyle>
          <a:p>
            <a:r>
              <a:rPr lang="de-DE" dirty="0"/>
              <a:t>Mastertitelformat bearbeiten</a:t>
            </a:r>
          </a:p>
        </p:txBody>
      </p:sp>
      <p:sp>
        <p:nvSpPr>
          <p:cNvPr id="3" name="Textplatzhalter 2">
            <a:extLst>
              <a:ext uri="{FF2B5EF4-FFF2-40B4-BE49-F238E27FC236}">
                <a16:creationId xmlns:a16="http://schemas.microsoft.com/office/drawing/2014/main" id="{E2CA302A-1DF6-5BFE-AAB4-243E6F266692}"/>
              </a:ext>
            </a:extLst>
          </p:cNvPr>
          <p:cNvSpPr>
            <a:spLocks noGrp="1"/>
          </p:cNvSpPr>
          <p:nvPr>
            <p:ph type="body" idx="1"/>
          </p:nvPr>
        </p:nvSpPr>
        <p:spPr>
          <a:xfrm>
            <a:off x="831850" y="4589463"/>
            <a:ext cx="10515600" cy="1500187"/>
          </a:xfrm>
        </p:spPr>
        <p:txBody>
          <a:bodyPr lIns="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Mastertextformat bearbeiten</a:t>
            </a:r>
          </a:p>
        </p:txBody>
      </p:sp>
      <p:sp>
        <p:nvSpPr>
          <p:cNvPr id="4" name="Datumsplatzhalter 3">
            <a:extLst>
              <a:ext uri="{FF2B5EF4-FFF2-40B4-BE49-F238E27FC236}">
                <a16:creationId xmlns:a16="http://schemas.microsoft.com/office/drawing/2014/main" id="{ACB97290-D9D2-BDEA-B544-9D80C7C92688}"/>
              </a:ext>
            </a:extLst>
          </p:cNvPr>
          <p:cNvSpPr>
            <a:spLocks noGrp="1"/>
          </p:cNvSpPr>
          <p:nvPr>
            <p:ph type="dt" sz="half" idx="10"/>
          </p:nvPr>
        </p:nvSpPr>
        <p:spPr>
          <a:xfrm>
            <a:off x="838200" y="6356350"/>
            <a:ext cx="2743200" cy="365125"/>
          </a:xfrm>
          <a:prstGeom prst="rect">
            <a:avLst/>
          </a:prstGeom>
        </p:spPr>
        <p:txBody>
          <a:bodyPr/>
          <a:lstStyle/>
          <a:p>
            <a:fld id="{2791E82D-3FE7-482A-9BEE-155BD834B8C0}" type="datetime1">
              <a:rPr lang="de-DE" smtClean="0"/>
              <a:t>09.09.2026</a:t>
            </a:fld>
            <a:endParaRPr lang="de-DE" dirty="0"/>
          </a:p>
        </p:txBody>
      </p:sp>
      <p:sp>
        <p:nvSpPr>
          <p:cNvPr id="5" name="Fußzeilenplatzhalter 4">
            <a:extLst>
              <a:ext uri="{FF2B5EF4-FFF2-40B4-BE49-F238E27FC236}">
                <a16:creationId xmlns:a16="http://schemas.microsoft.com/office/drawing/2014/main" id="{BCBA3C84-9825-0644-758D-17885723D524}"/>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B93EE689-D1AA-12E2-15CE-D86564CA263F}"/>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095475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193A0F-F7B1-1AEE-20A3-08A6B8BEEF86}"/>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1B48FD81-6911-F9F5-18A9-321A9DE0310A}"/>
              </a:ext>
            </a:extLst>
          </p:cNvPr>
          <p:cNvSpPr>
            <a:spLocks noGrp="1"/>
          </p:cNvSpPr>
          <p:nvPr>
            <p:ph sz="half" idx="1"/>
          </p:nvPr>
        </p:nvSpPr>
        <p:spPr>
          <a:xfrm>
            <a:off x="838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055F3876-CC10-CBB5-5183-554DDD8485F2}"/>
              </a:ext>
            </a:extLst>
          </p:cNvPr>
          <p:cNvSpPr>
            <a:spLocks noGrp="1"/>
          </p:cNvSpPr>
          <p:nvPr>
            <p:ph sz="half" idx="2"/>
          </p:nvPr>
        </p:nvSpPr>
        <p:spPr>
          <a:xfrm>
            <a:off x="6172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85613C97-875A-9A9D-9134-D376362DB8D2}"/>
              </a:ext>
            </a:extLst>
          </p:cNvPr>
          <p:cNvSpPr>
            <a:spLocks noGrp="1"/>
          </p:cNvSpPr>
          <p:nvPr>
            <p:ph type="dt" sz="half" idx="10"/>
          </p:nvPr>
        </p:nvSpPr>
        <p:spPr>
          <a:xfrm>
            <a:off x="838200" y="6356350"/>
            <a:ext cx="2743200" cy="365125"/>
          </a:xfrm>
          <a:prstGeom prst="rect">
            <a:avLst/>
          </a:prstGeom>
        </p:spPr>
        <p:txBody>
          <a:bodyPr/>
          <a:lstStyle/>
          <a:p>
            <a:fld id="{A9B7B6AC-FEDE-4E87-906B-CA84082377CE}" type="datetime1">
              <a:rPr lang="de-DE" smtClean="0"/>
              <a:t>09.09.2026</a:t>
            </a:fld>
            <a:endParaRPr lang="de-DE" dirty="0"/>
          </a:p>
        </p:txBody>
      </p:sp>
      <p:sp>
        <p:nvSpPr>
          <p:cNvPr id="6" name="Fußzeilenplatzhalter 5">
            <a:extLst>
              <a:ext uri="{FF2B5EF4-FFF2-40B4-BE49-F238E27FC236}">
                <a16:creationId xmlns:a16="http://schemas.microsoft.com/office/drawing/2014/main" id="{D7EB2499-5D99-DB45-0226-CBBFB473779A}"/>
              </a:ext>
            </a:extLst>
          </p:cNvPr>
          <p:cNvSpPr>
            <a:spLocks noGrp="1"/>
          </p:cNvSpPr>
          <p:nvPr>
            <p:ph type="ftr" sz="quarter" idx="11"/>
          </p:nvPr>
        </p:nvSpPr>
        <p:spPr/>
        <p:txBody>
          <a:bodyPr lIns="0"/>
          <a:lstStyle/>
          <a:p>
            <a:endParaRPr lang="de-DE" dirty="0"/>
          </a:p>
        </p:txBody>
      </p:sp>
      <p:sp>
        <p:nvSpPr>
          <p:cNvPr id="7" name="Foliennummernplatzhalter 6">
            <a:extLst>
              <a:ext uri="{FF2B5EF4-FFF2-40B4-BE49-F238E27FC236}">
                <a16:creationId xmlns:a16="http://schemas.microsoft.com/office/drawing/2014/main" id="{E20C516F-6889-2622-CB47-71F4A953FC9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2025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41093-F901-B522-3FF7-96221A8DB03C}"/>
              </a:ext>
            </a:extLst>
          </p:cNvPr>
          <p:cNvSpPr>
            <a:spLocks noGrp="1"/>
          </p:cNvSpPr>
          <p:nvPr>
            <p:ph type="title"/>
          </p:nvPr>
        </p:nvSpPr>
        <p:spPr>
          <a:xfrm>
            <a:off x="839788" y="365125"/>
            <a:ext cx="10515600" cy="1325563"/>
          </a:xfrm>
        </p:spPr>
        <p:txBody>
          <a:bodyPr lIns="0"/>
          <a:lstStyle/>
          <a:p>
            <a:r>
              <a:rPr lang="de-DE" dirty="0"/>
              <a:t>Mastertitelformat bearbeiten</a:t>
            </a:r>
          </a:p>
        </p:txBody>
      </p:sp>
      <p:sp>
        <p:nvSpPr>
          <p:cNvPr id="3" name="Textplatzhalter 2">
            <a:extLst>
              <a:ext uri="{FF2B5EF4-FFF2-40B4-BE49-F238E27FC236}">
                <a16:creationId xmlns:a16="http://schemas.microsoft.com/office/drawing/2014/main" id="{BCCE7358-7990-7D06-C065-9F0FA0E951D6}"/>
              </a:ext>
            </a:extLst>
          </p:cNvPr>
          <p:cNvSpPr>
            <a:spLocks noGrp="1"/>
          </p:cNvSpPr>
          <p:nvPr>
            <p:ph type="body" idx="1"/>
          </p:nvPr>
        </p:nvSpPr>
        <p:spPr>
          <a:xfrm>
            <a:off x="839788" y="1681163"/>
            <a:ext cx="5157787"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Inhaltsplatzhalter 3">
            <a:extLst>
              <a:ext uri="{FF2B5EF4-FFF2-40B4-BE49-F238E27FC236}">
                <a16:creationId xmlns:a16="http://schemas.microsoft.com/office/drawing/2014/main" id="{DCD64BAF-9E55-00A2-B16E-2A2AB1FFE3B9}"/>
              </a:ext>
            </a:extLst>
          </p:cNvPr>
          <p:cNvSpPr>
            <a:spLocks noGrp="1"/>
          </p:cNvSpPr>
          <p:nvPr>
            <p:ph sz="half" idx="2"/>
          </p:nvPr>
        </p:nvSpPr>
        <p:spPr>
          <a:xfrm>
            <a:off x="839788" y="2505075"/>
            <a:ext cx="5157787"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DE21E76C-E1A6-92CB-1A6C-39DF9EA616BD}"/>
              </a:ext>
            </a:extLst>
          </p:cNvPr>
          <p:cNvSpPr>
            <a:spLocks noGrp="1"/>
          </p:cNvSpPr>
          <p:nvPr>
            <p:ph type="body" sz="quarter" idx="3"/>
          </p:nvPr>
        </p:nvSpPr>
        <p:spPr>
          <a:xfrm>
            <a:off x="6172200" y="1681163"/>
            <a:ext cx="5183188"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6" name="Inhaltsplatzhalter 5">
            <a:extLst>
              <a:ext uri="{FF2B5EF4-FFF2-40B4-BE49-F238E27FC236}">
                <a16:creationId xmlns:a16="http://schemas.microsoft.com/office/drawing/2014/main" id="{F6B46EFD-F626-D064-BAEC-144DDDBFFA8D}"/>
              </a:ext>
            </a:extLst>
          </p:cNvPr>
          <p:cNvSpPr>
            <a:spLocks noGrp="1"/>
          </p:cNvSpPr>
          <p:nvPr>
            <p:ph sz="quarter" idx="4"/>
          </p:nvPr>
        </p:nvSpPr>
        <p:spPr>
          <a:xfrm>
            <a:off x="6172200" y="2505075"/>
            <a:ext cx="5183188"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157E90FD-0856-7859-83CD-8CF6B71937D5}"/>
              </a:ext>
            </a:extLst>
          </p:cNvPr>
          <p:cNvSpPr>
            <a:spLocks noGrp="1"/>
          </p:cNvSpPr>
          <p:nvPr>
            <p:ph type="dt" sz="half" idx="10"/>
          </p:nvPr>
        </p:nvSpPr>
        <p:spPr>
          <a:xfrm>
            <a:off x="838200" y="6356350"/>
            <a:ext cx="2743200" cy="365125"/>
          </a:xfrm>
          <a:prstGeom prst="rect">
            <a:avLst/>
          </a:prstGeom>
        </p:spPr>
        <p:txBody>
          <a:bodyPr/>
          <a:lstStyle/>
          <a:p>
            <a:fld id="{797C16CE-5020-4093-8D5C-EC8F7F3E68A7}" type="datetime1">
              <a:rPr lang="de-DE" smtClean="0"/>
              <a:t>09.09.2026</a:t>
            </a:fld>
            <a:endParaRPr lang="de-DE" dirty="0"/>
          </a:p>
        </p:txBody>
      </p:sp>
      <p:sp>
        <p:nvSpPr>
          <p:cNvPr id="8" name="Fußzeilenplatzhalter 7">
            <a:extLst>
              <a:ext uri="{FF2B5EF4-FFF2-40B4-BE49-F238E27FC236}">
                <a16:creationId xmlns:a16="http://schemas.microsoft.com/office/drawing/2014/main" id="{6C00833E-7D6F-81E1-4D90-3D401D8335DA}"/>
              </a:ext>
            </a:extLst>
          </p:cNvPr>
          <p:cNvSpPr>
            <a:spLocks noGrp="1"/>
          </p:cNvSpPr>
          <p:nvPr>
            <p:ph type="ftr" sz="quarter" idx="11"/>
          </p:nvPr>
        </p:nvSpPr>
        <p:spPr/>
        <p:txBody>
          <a:bodyPr/>
          <a:lstStyle/>
          <a:p>
            <a:endParaRPr lang="de-DE" dirty="0"/>
          </a:p>
        </p:txBody>
      </p:sp>
      <p:sp>
        <p:nvSpPr>
          <p:cNvPr id="9" name="Foliennummernplatzhalter 8">
            <a:extLst>
              <a:ext uri="{FF2B5EF4-FFF2-40B4-BE49-F238E27FC236}">
                <a16:creationId xmlns:a16="http://schemas.microsoft.com/office/drawing/2014/main" id="{E8F1E2F3-CA87-290B-D146-1A4186D490D8}"/>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52694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98D28F-6483-5658-A729-17CF97AEC628}"/>
              </a:ext>
            </a:extLst>
          </p:cNvPr>
          <p:cNvSpPr>
            <a:spLocks noGrp="1"/>
          </p:cNvSpPr>
          <p:nvPr>
            <p:ph type="title"/>
          </p:nvPr>
        </p:nvSpPr>
        <p:spPr/>
        <p:txBody>
          <a:bodyPr lIns="0"/>
          <a:lstStyle/>
          <a:p>
            <a:r>
              <a:rPr lang="de-DE" dirty="0"/>
              <a:t>Mastertitelformat bearbeiten</a:t>
            </a:r>
          </a:p>
        </p:txBody>
      </p:sp>
      <p:sp>
        <p:nvSpPr>
          <p:cNvPr id="3" name="Datumsplatzhalter 2">
            <a:extLst>
              <a:ext uri="{FF2B5EF4-FFF2-40B4-BE49-F238E27FC236}">
                <a16:creationId xmlns:a16="http://schemas.microsoft.com/office/drawing/2014/main" id="{4C9EC290-D7B2-8C57-8382-57338C82EA19}"/>
              </a:ext>
            </a:extLst>
          </p:cNvPr>
          <p:cNvSpPr>
            <a:spLocks noGrp="1"/>
          </p:cNvSpPr>
          <p:nvPr>
            <p:ph type="dt" sz="half" idx="10"/>
          </p:nvPr>
        </p:nvSpPr>
        <p:spPr>
          <a:xfrm>
            <a:off x="838200" y="6356350"/>
            <a:ext cx="2743200" cy="365125"/>
          </a:xfrm>
          <a:prstGeom prst="rect">
            <a:avLst/>
          </a:prstGeom>
        </p:spPr>
        <p:txBody>
          <a:bodyPr/>
          <a:lstStyle/>
          <a:p>
            <a:fld id="{25819BBE-EF90-431C-8C14-C0758E0ADB00}" type="datetime1">
              <a:rPr lang="de-DE" smtClean="0"/>
              <a:t>09.09.2026</a:t>
            </a:fld>
            <a:endParaRPr lang="de-DE" dirty="0"/>
          </a:p>
        </p:txBody>
      </p:sp>
      <p:sp>
        <p:nvSpPr>
          <p:cNvPr id="4" name="Fußzeilenplatzhalter 3">
            <a:extLst>
              <a:ext uri="{FF2B5EF4-FFF2-40B4-BE49-F238E27FC236}">
                <a16:creationId xmlns:a16="http://schemas.microsoft.com/office/drawing/2014/main" id="{7D12D6A7-2ABD-D449-DE85-D48F9F3B693E}"/>
              </a:ext>
            </a:extLst>
          </p:cNvPr>
          <p:cNvSpPr>
            <a:spLocks noGrp="1"/>
          </p:cNvSpPr>
          <p:nvPr>
            <p:ph type="ftr" sz="quarter" idx="11"/>
          </p:nvPr>
        </p:nvSpPr>
        <p:spPr/>
        <p:txBody>
          <a:bodyPr/>
          <a:lstStyle/>
          <a:p>
            <a:endParaRPr lang="de-DE" dirty="0"/>
          </a:p>
        </p:txBody>
      </p:sp>
      <p:sp>
        <p:nvSpPr>
          <p:cNvPr id="5" name="Foliennummernplatzhalter 4">
            <a:extLst>
              <a:ext uri="{FF2B5EF4-FFF2-40B4-BE49-F238E27FC236}">
                <a16:creationId xmlns:a16="http://schemas.microsoft.com/office/drawing/2014/main" id="{AAF8C156-EB81-B362-55E9-C503F2568A8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6231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7A5C929-59B7-1FAF-6FF9-600F932477B4}"/>
              </a:ext>
            </a:extLst>
          </p:cNvPr>
          <p:cNvSpPr>
            <a:spLocks noGrp="1"/>
          </p:cNvSpPr>
          <p:nvPr>
            <p:ph type="dt" sz="half" idx="10"/>
          </p:nvPr>
        </p:nvSpPr>
        <p:spPr>
          <a:xfrm>
            <a:off x="838200" y="6356350"/>
            <a:ext cx="2743200" cy="365125"/>
          </a:xfrm>
          <a:prstGeom prst="rect">
            <a:avLst/>
          </a:prstGeom>
        </p:spPr>
        <p:txBody>
          <a:bodyPr/>
          <a:lstStyle/>
          <a:p>
            <a:fld id="{291CE142-BB2A-4BDF-83C5-943C5DEBC55E}" type="datetime1">
              <a:rPr lang="de-DE" smtClean="0"/>
              <a:t>09.09.2026</a:t>
            </a:fld>
            <a:endParaRPr lang="de-DE" dirty="0"/>
          </a:p>
        </p:txBody>
      </p:sp>
      <p:sp>
        <p:nvSpPr>
          <p:cNvPr id="3" name="Fußzeilenplatzhalter 2">
            <a:extLst>
              <a:ext uri="{FF2B5EF4-FFF2-40B4-BE49-F238E27FC236}">
                <a16:creationId xmlns:a16="http://schemas.microsoft.com/office/drawing/2014/main" id="{C07468D1-61BD-A655-E9CD-070D574FE9A5}"/>
              </a:ext>
            </a:extLst>
          </p:cNvPr>
          <p:cNvSpPr>
            <a:spLocks noGrp="1"/>
          </p:cNvSpPr>
          <p:nvPr>
            <p:ph type="ftr" sz="quarter" idx="11"/>
          </p:nvPr>
        </p:nvSpPr>
        <p:spPr/>
        <p:txBody>
          <a:bodyPr/>
          <a:lstStyle/>
          <a:p>
            <a:endParaRPr lang="de-DE" dirty="0"/>
          </a:p>
        </p:txBody>
      </p:sp>
      <p:sp>
        <p:nvSpPr>
          <p:cNvPr id="4" name="Foliennummernplatzhalter 3">
            <a:extLst>
              <a:ext uri="{FF2B5EF4-FFF2-40B4-BE49-F238E27FC236}">
                <a16:creationId xmlns:a16="http://schemas.microsoft.com/office/drawing/2014/main" id="{7AF0701C-EC72-D386-DC42-C6FDC64DF22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48080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224BF-C075-F58A-8F07-C0E2D66891F1}"/>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Inhaltsplatzhalter 2">
            <a:extLst>
              <a:ext uri="{FF2B5EF4-FFF2-40B4-BE49-F238E27FC236}">
                <a16:creationId xmlns:a16="http://schemas.microsoft.com/office/drawing/2014/main" id="{30D79D7D-CA98-A993-95BA-71CC42B94BD9}"/>
              </a:ext>
            </a:extLst>
          </p:cNvPr>
          <p:cNvSpPr>
            <a:spLocks noGrp="1"/>
          </p:cNvSpPr>
          <p:nvPr>
            <p:ph idx="1"/>
          </p:nvPr>
        </p:nvSpPr>
        <p:spPr>
          <a:xfrm>
            <a:off x="5183188" y="987425"/>
            <a:ext cx="6172200" cy="4873625"/>
          </a:xfrm>
        </p:spPr>
        <p:txBody>
          <a:bodyPr lIns="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3E5B85EE-8521-41AF-7854-5DDCC58A34E3}"/>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E8286844-0BC0-0AD3-C849-FD4DDE3B55E5}"/>
              </a:ext>
            </a:extLst>
          </p:cNvPr>
          <p:cNvSpPr>
            <a:spLocks noGrp="1"/>
          </p:cNvSpPr>
          <p:nvPr>
            <p:ph type="dt" sz="half" idx="10"/>
          </p:nvPr>
        </p:nvSpPr>
        <p:spPr>
          <a:xfrm>
            <a:off x="838200" y="6356350"/>
            <a:ext cx="2743200" cy="365125"/>
          </a:xfrm>
          <a:prstGeom prst="rect">
            <a:avLst/>
          </a:prstGeom>
        </p:spPr>
        <p:txBody>
          <a:bodyPr/>
          <a:lstStyle/>
          <a:p>
            <a:fld id="{1F5E831C-3B82-4066-A869-E07623BB2494}" type="datetime1">
              <a:rPr lang="de-DE" smtClean="0"/>
              <a:t>09.09.2026</a:t>
            </a:fld>
            <a:endParaRPr lang="de-DE" dirty="0"/>
          </a:p>
        </p:txBody>
      </p:sp>
      <p:sp>
        <p:nvSpPr>
          <p:cNvPr id="6" name="Fußzeilenplatzhalter 5">
            <a:extLst>
              <a:ext uri="{FF2B5EF4-FFF2-40B4-BE49-F238E27FC236}">
                <a16:creationId xmlns:a16="http://schemas.microsoft.com/office/drawing/2014/main" id="{E9456BFB-2BB6-627E-E63D-BF8857430835}"/>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B9EA5C65-BB23-3D6D-4552-C05EA62C2A2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57347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3CC994-77BF-7CD2-9FFC-F77FD81379C3}"/>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Bildplatzhalter 2">
            <a:extLst>
              <a:ext uri="{FF2B5EF4-FFF2-40B4-BE49-F238E27FC236}">
                <a16:creationId xmlns:a16="http://schemas.microsoft.com/office/drawing/2014/main" id="{82B47D57-842E-720E-BE3C-5FC783A43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4" name="Textplatzhalter 3">
            <a:extLst>
              <a:ext uri="{FF2B5EF4-FFF2-40B4-BE49-F238E27FC236}">
                <a16:creationId xmlns:a16="http://schemas.microsoft.com/office/drawing/2014/main" id="{88154144-9441-01CD-B5F6-58145AAB8C27}"/>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39939527-D869-E5B6-5154-59D45B037311}"/>
              </a:ext>
            </a:extLst>
          </p:cNvPr>
          <p:cNvSpPr>
            <a:spLocks noGrp="1"/>
          </p:cNvSpPr>
          <p:nvPr>
            <p:ph type="dt" sz="half" idx="10"/>
          </p:nvPr>
        </p:nvSpPr>
        <p:spPr>
          <a:xfrm>
            <a:off x="838200" y="6356350"/>
            <a:ext cx="2743200" cy="365125"/>
          </a:xfrm>
          <a:prstGeom prst="rect">
            <a:avLst/>
          </a:prstGeom>
        </p:spPr>
        <p:txBody>
          <a:bodyPr/>
          <a:lstStyle/>
          <a:p>
            <a:fld id="{FFF409A1-0DE6-4B32-B92B-C95B22F64BE0}" type="datetime1">
              <a:rPr lang="de-DE" smtClean="0"/>
              <a:t>09.09.2026</a:t>
            </a:fld>
            <a:endParaRPr lang="de-DE" dirty="0"/>
          </a:p>
        </p:txBody>
      </p:sp>
      <p:sp>
        <p:nvSpPr>
          <p:cNvPr id="6" name="Fußzeilenplatzhalter 5">
            <a:extLst>
              <a:ext uri="{FF2B5EF4-FFF2-40B4-BE49-F238E27FC236}">
                <a16:creationId xmlns:a16="http://schemas.microsoft.com/office/drawing/2014/main" id="{4210ED70-0049-547C-8C4A-F92106835E2F}"/>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387AA5B5-6E70-90F4-35CF-DE1E28E576C2}"/>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8929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0608B-DF17-3949-88AE-9CD937E6C54A}"/>
              </a:ext>
            </a:extLst>
          </p:cNvPr>
          <p:cNvSpPr>
            <a:spLocks noGrp="1"/>
          </p:cNvSpPr>
          <p:nvPr>
            <p:ph type="title"/>
          </p:nvPr>
        </p:nvSpPr>
        <p:spPr/>
        <p:txBody>
          <a:bodyPr lIns="0"/>
          <a:lstStyle/>
          <a:p>
            <a:r>
              <a:rPr lang="de-DE" dirty="0"/>
              <a:t>Mastertitelformat bearbeiten</a:t>
            </a:r>
          </a:p>
        </p:txBody>
      </p:sp>
      <p:sp>
        <p:nvSpPr>
          <p:cNvPr id="3" name="Vertikaler Textplatzhalter 2">
            <a:extLst>
              <a:ext uri="{FF2B5EF4-FFF2-40B4-BE49-F238E27FC236}">
                <a16:creationId xmlns:a16="http://schemas.microsoft.com/office/drawing/2014/main" id="{5B03D809-8F02-38B3-E70B-B1C42DCDB5F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CE5C240-12FE-F728-9A85-67681C695451}"/>
              </a:ext>
            </a:extLst>
          </p:cNvPr>
          <p:cNvSpPr>
            <a:spLocks noGrp="1"/>
          </p:cNvSpPr>
          <p:nvPr>
            <p:ph type="dt" sz="half" idx="10"/>
          </p:nvPr>
        </p:nvSpPr>
        <p:spPr>
          <a:xfrm>
            <a:off x="838200" y="6356350"/>
            <a:ext cx="2743200" cy="365125"/>
          </a:xfrm>
          <a:prstGeom prst="rect">
            <a:avLst/>
          </a:prstGeom>
        </p:spPr>
        <p:txBody>
          <a:bodyPr/>
          <a:lstStyle/>
          <a:p>
            <a:fld id="{0572F267-975B-4E02-B9DF-060D495BECA9}" type="datetime1">
              <a:rPr lang="de-DE" smtClean="0"/>
              <a:t>09.09.2026</a:t>
            </a:fld>
            <a:endParaRPr lang="de-DE" dirty="0"/>
          </a:p>
        </p:txBody>
      </p:sp>
      <p:sp>
        <p:nvSpPr>
          <p:cNvPr id="5" name="Fußzeilenplatzhalter 4">
            <a:extLst>
              <a:ext uri="{FF2B5EF4-FFF2-40B4-BE49-F238E27FC236}">
                <a16:creationId xmlns:a16="http://schemas.microsoft.com/office/drawing/2014/main" id="{CFE7DFB3-CBD1-7DBA-7736-3A621E022248}"/>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A63F9B0-5C73-F2EC-F9E5-0A2B01F0E9B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54599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DF20870-C991-BB7D-37CA-5663C66AAD9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0AA1D4A-469B-8B67-93C6-B20E99986BD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722488-7B5B-4F01-97FA-120B2F236DEF}"/>
              </a:ext>
            </a:extLst>
          </p:cNvPr>
          <p:cNvSpPr>
            <a:spLocks noGrp="1"/>
          </p:cNvSpPr>
          <p:nvPr>
            <p:ph type="dt" sz="half" idx="10"/>
          </p:nvPr>
        </p:nvSpPr>
        <p:spPr>
          <a:xfrm>
            <a:off x="838200" y="6356350"/>
            <a:ext cx="2743200" cy="365125"/>
          </a:xfrm>
          <a:prstGeom prst="rect">
            <a:avLst/>
          </a:prstGeom>
        </p:spPr>
        <p:txBody>
          <a:bodyPr/>
          <a:lstStyle/>
          <a:p>
            <a:fld id="{296E7FD8-1F1E-4498-9E5E-8106F53A13B7}" type="datetime1">
              <a:rPr lang="de-DE" smtClean="0"/>
              <a:t>09.09.2026</a:t>
            </a:fld>
            <a:endParaRPr lang="de-DE" dirty="0"/>
          </a:p>
        </p:txBody>
      </p:sp>
      <p:sp>
        <p:nvSpPr>
          <p:cNvPr id="5" name="Fußzeilenplatzhalter 4">
            <a:extLst>
              <a:ext uri="{FF2B5EF4-FFF2-40B4-BE49-F238E27FC236}">
                <a16:creationId xmlns:a16="http://schemas.microsoft.com/office/drawing/2014/main" id="{5B4430E0-C88C-2C32-86F9-083731CC100A}"/>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DE5ED0A9-0C8C-4924-6C68-84F845E101DC}"/>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87761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635E341-9ED9-6696-8DA2-032A86DC8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3A44B57-4588-B8C3-8B70-EC09D67D9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0B379F4-2229-9BCB-0F89-3BA278B2B640}"/>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dirty="0"/>
          </a:p>
        </p:txBody>
      </p:sp>
      <p:sp>
        <p:nvSpPr>
          <p:cNvPr id="6" name="Foliennummernplatzhalter 5">
            <a:extLst>
              <a:ext uri="{FF2B5EF4-FFF2-40B4-BE49-F238E27FC236}">
                <a16:creationId xmlns:a16="http://schemas.microsoft.com/office/drawing/2014/main" id="{F6F9FE7F-7BDB-3B51-66E5-941A97A3A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C8BF5-653B-41D0-99F2-8CC2D2A1F005}" type="slidenum">
              <a:rPr lang="de-DE" smtClean="0"/>
              <a:t>‹Nr.›</a:t>
            </a:fld>
            <a:endParaRPr lang="de-DE" dirty="0"/>
          </a:p>
        </p:txBody>
      </p:sp>
    </p:spTree>
    <p:extLst>
      <p:ext uri="{BB962C8B-B14F-4D97-AF65-F5344CB8AC3E}">
        <p14:creationId xmlns:p14="http://schemas.microsoft.com/office/powerpoint/2010/main" val="334908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rheinwerk-verlag.de/core-data-services-fuer-abap/" TargetMode="External"/><Relationship Id="rId7"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hyperlink" Target="https://training.sap.com/course/s4d430-data-modelling-in-abap-dictionary-and-abap-core-data-services-classroom-024-de-de" TargetMode="External"/><Relationship Id="rId5" Type="http://schemas.openxmlformats.org/officeDocument/2006/relationships/hyperlink" Target="https://learning.sap.com/courses/developing-analytical-models-with-cds-based-analytical-projection-views" TargetMode="External"/><Relationship Id="rId4" Type="http://schemas.openxmlformats.org/officeDocument/2006/relationships/hyperlink" Target="https://learning.sap.com/courses/building-data-models-with-the-abap-dictionary-and-abap-core-data-services"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github.com/MichaelWegelin/cds-workshop.git"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145329-41F4-501E-FB56-244ED2737B99}"/>
              </a:ext>
            </a:extLst>
          </p:cNvPr>
          <p:cNvSpPr>
            <a:spLocks noGrp="1"/>
          </p:cNvSpPr>
          <p:nvPr>
            <p:ph type="ctrTitle"/>
          </p:nvPr>
        </p:nvSpPr>
        <p:spPr/>
        <p:txBody>
          <a:bodyPr/>
          <a:lstStyle/>
          <a:p>
            <a:r>
              <a:rPr lang="de-DE" dirty="0"/>
              <a:t>Einführung in ABAP Core Data Services</a:t>
            </a:r>
          </a:p>
        </p:txBody>
      </p:sp>
      <p:sp>
        <p:nvSpPr>
          <p:cNvPr id="3" name="Untertitel 2">
            <a:extLst>
              <a:ext uri="{FF2B5EF4-FFF2-40B4-BE49-F238E27FC236}">
                <a16:creationId xmlns:a16="http://schemas.microsoft.com/office/drawing/2014/main" id="{602C510F-AB78-3A01-3A34-CB0CE8198C66}"/>
              </a:ext>
            </a:extLst>
          </p:cNvPr>
          <p:cNvSpPr>
            <a:spLocks noGrp="1"/>
          </p:cNvSpPr>
          <p:nvPr>
            <p:ph type="subTitle" idx="1"/>
          </p:nvPr>
        </p:nvSpPr>
        <p:spPr/>
        <p:txBody>
          <a:bodyPr/>
          <a:lstStyle/>
          <a:p>
            <a:r>
              <a:rPr lang="de-DE" dirty="0"/>
              <a:t>Annotationen für Fiori Elements und Analytische Anwendungen</a:t>
            </a:r>
          </a:p>
        </p:txBody>
      </p:sp>
    </p:spTree>
    <p:extLst>
      <p:ext uri="{BB962C8B-B14F-4D97-AF65-F5344CB8AC3E}">
        <p14:creationId xmlns:p14="http://schemas.microsoft.com/office/powerpoint/2010/main" val="62539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FADA1E8-AC5F-1BA7-2DB9-FF684ED6E5D9}"/>
              </a:ext>
            </a:extLst>
          </p:cNvPr>
          <p:cNvSpPr>
            <a:spLocks noGrp="1"/>
          </p:cNvSpPr>
          <p:nvPr>
            <p:ph type="title"/>
          </p:nvPr>
        </p:nvSpPr>
        <p:spPr/>
        <p:txBody>
          <a:bodyPr/>
          <a:lstStyle/>
          <a:p>
            <a:r>
              <a:rPr lang="de-DE" dirty="0"/>
              <a:t>Agenda</a:t>
            </a:r>
          </a:p>
        </p:txBody>
      </p:sp>
      <p:sp>
        <p:nvSpPr>
          <p:cNvPr id="5" name="Inhaltsplatzhalter 4">
            <a:extLst>
              <a:ext uri="{FF2B5EF4-FFF2-40B4-BE49-F238E27FC236}">
                <a16:creationId xmlns:a16="http://schemas.microsoft.com/office/drawing/2014/main" id="{E0CC596D-566C-A44C-5FDD-BCE18BC98293}"/>
              </a:ext>
            </a:extLst>
          </p:cNvPr>
          <p:cNvSpPr>
            <a:spLocks noGrp="1"/>
          </p:cNvSpPr>
          <p:nvPr>
            <p:ph idx="1"/>
          </p:nvPr>
        </p:nvSpPr>
        <p:spPr/>
        <p:txBody>
          <a:bodyPr/>
          <a:lstStyle/>
          <a:p>
            <a:pPr lvl="0"/>
            <a:r>
              <a:rPr lang="de-DE" dirty="0"/>
              <a:t>Metadaten mit Metadatenerweiterungen ergänzen </a:t>
            </a:r>
          </a:p>
          <a:p>
            <a:pPr lvl="0"/>
            <a:r>
              <a:rPr lang="de-DE" dirty="0"/>
              <a:t>List Reports und </a:t>
            </a:r>
            <a:r>
              <a:rPr lang="de-DE" dirty="0" err="1"/>
              <a:t>Object</a:t>
            </a:r>
            <a:r>
              <a:rPr lang="de-DE" dirty="0"/>
              <a:t> Pages gestalten </a:t>
            </a:r>
          </a:p>
          <a:p>
            <a:pPr lvl="0"/>
            <a:r>
              <a:rPr lang="de-DE" dirty="0"/>
              <a:t>Navigation über CDS-Assoziationen ermöglichen </a:t>
            </a:r>
          </a:p>
          <a:p>
            <a:pPr lvl="0"/>
            <a:r>
              <a:rPr lang="de-DE" dirty="0"/>
              <a:t>Data Points und Diagramme definieren </a:t>
            </a:r>
          </a:p>
          <a:p>
            <a:pPr lvl="0"/>
            <a:r>
              <a:rPr lang="de-DE" dirty="0"/>
              <a:t>Analytische Dimensionen, Cubes und </a:t>
            </a:r>
            <a:r>
              <a:rPr lang="de-DE" dirty="0" err="1"/>
              <a:t>Queries</a:t>
            </a:r>
            <a:r>
              <a:rPr lang="de-DE" dirty="0"/>
              <a:t> modellieren </a:t>
            </a:r>
          </a:p>
          <a:p>
            <a:pPr lvl="0"/>
            <a:r>
              <a:rPr lang="de-DE" dirty="0"/>
              <a:t>Eine Produkthierarchie mit Kategorien und Produkten aufbauen</a:t>
            </a:r>
          </a:p>
        </p:txBody>
      </p:sp>
    </p:spTree>
    <p:extLst>
      <p:ext uri="{BB962C8B-B14F-4D97-AF65-F5344CB8AC3E}">
        <p14:creationId xmlns:p14="http://schemas.microsoft.com/office/powerpoint/2010/main" val="2578804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9A6580-6F1B-70BF-8057-092C0BE9A574}"/>
              </a:ext>
            </a:extLst>
          </p:cNvPr>
          <p:cNvSpPr>
            <a:spLocks noGrp="1"/>
          </p:cNvSpPr>
          <p:nvPr>
            <p:ph type="title"/>
          </p:nvPr>
        </p:nvSpPr>
        <p:spPr/>
        <p:txBody>
          <a:bodyPr/>
          <a:lstStyle/>
          <a:p>
            <a:r>
              <a:rPr lang="de-DE" dirty="0"/>
              <a:t>Praktische Ergebnisse des Live-</a:t>
            </a:r>
            <a:r>
              <a:rPr lang="de-DE" dirty="0" err="1"/>
              <a:t>Codings</a:t>
            </a:r>
            <a:endParaRPr lang="de-DE" dirty="0"/>
          </a:p>
        </p:txBody>
      </p:sp>
      <p:graphicFrame>
        <p:nvGraphicFramePr>
          <p:cNvPr id="4" name="Inhaltsplatzhalter 3">
            <a:extLst>
              <a:ext uri="{FF2B5EF4-FFF2-40B4-BE49-F238E27FC236}">
                <a16:creationId xmlns:a16="http://schemas.microsoft.com/office/drawing/2014/main" id="{39EE1BA3-C6BB-EA3B-C101-D2018C80B5BC}"/>
              </a:ext>
            </a:extLst>
          </p:cNvPr>
          <p:cNvGraphicFramePr>
            <a:graphicFrameLocks noGrp="1"/>
          </p:cNvGraphicFramePr>
          <p:nvPr>
            <p:ph idx="1"/>
            <p:extLst>
              <p:ext uri="{D42A27DB-BD31-4B8C-83A1-F6EECF244321}">
                <p14:modId xmlns:p14="http://schemas.microsoft.com/office/powerpoint/2010/main" val="3598523472"/>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3264568">
                  <a:extLst>
                    <a:ext uri="{9D8B030D-6E8A-4147-A177-3AD203B41FA5}">
                      <a16:colId xmlns:a16="http://schemas.microsoft.com/office/drawing/2014/main" val="4230271939"/>
                    </a:ext>
                  </a:extLst>
                </a:gridCol>
                <a:gridCol w="7251032">
                  <a:extLst>
                    <a:ext uri="{9D8B030D-6E8A-4147-A177-3AD203B41FA5}">
                      <a16:colId xmlns:a16="http://schemas.microsoft.com/office/drawing/2014/main" val="4133336402"/>
                    </a:ext>
                  </a:extLst>
                </a:gridCol>
              </a:tblGrid>
              <a:tr h="370840">
                <a:tc>
                  <a:txBody>
                    <a:bodyPr/>
                    <a:lstStyle/>
                    <a:p>
                      <a:r>
                        <a:rPr lang="de-DE" dirty="0"/>
                        <a:t>Abschnitt</a:t>
                      </a:r>
                    </a:p>
                  </a:txBody>
                  <a:tcPr/>
                </a:tc>
                <a:tc>
                  <a:txBody>
                    <a:bodyPr/>
                    <a:lstStyle/>
                    <a:p>
                      <a:r>
                        <a:rPr lang="de-DE" dirty="0"/>
                        <a:t>Praktisches Ergebnis</a:t>
                      </a:r>
                    </a:p>
                  </a:txBody>
                  <a:tcPr/>
                </a:tc>
                <a:extLst>
                  <a:ext uri="{0D108BD9-81ED-4DB2-BD59-A6C34878D82A}">
                    <a16:rowId xmlns:a16="http://schemas.microsoft.com/office/drawing/2014/main" val="1558051361"/>
                  </a:ext>
                </a:extLst>
              </a:tr>
              <a:tr h="370840">
                <a:tc>
                  <a:txBody>
                    <a:bodyPr/>
                    <a:lstStyle/>
                    <a:p>
                      <a:r>
                        <a:rPr lang="de-DE" dirty="0"/>
                        <a:t>SQL-Ausdrücke</a:t>
                      </a:r>
                    </a:p>
                  </a:txBody>
                  <a:tcPr/>
                </a:tc>
                <a:tc>
                  <a:txBody>
                    <a:bodyPr/>
                    <a:lstStyle/>
                    <a:p>
                      <a:r>
                        <a:rPr lang="de-DE" dirty="0"/>
                        <a:t>Brutto-, Rabatt- und Nettobetrag</a:t>
                      </a:r>
                    </a:p>
                  </a:txBody>
                  <a:tcPr/>
                </a:tc>
                <a:extLst>
                  <a:ext uri="{0D108BD9-81ED-4DB2-BD59-A6C34878D82A}">
                    <a16:rowId xmlns:a16="http://schemas.microsoft.com/office/drawing/2014/main" val="2810836065"/>
                  </a:ext>
                </a:extLst>
              </a:tr>
              <a:tr h="370840">
                <a:tc>
                  <a:txBody>
                    <a:bodyPr/>
                    <a:lstStyle/>
                    <a:p>
                      <a:r>
                        <a:rPr lang="de-DE" dirty="0"/>
                        <a:t>Funktionen</a:t>
                      </a:r>
                    </a:p>
                  </a:txBody>
                  <a:tcPr/>
                </a:tc>
                <a:tc>
                  <a:txBody>
                    <a:bodyPr/>
                    <a:lstStyle/>
                    <a:p>
                      <a:r>
                        <a:rPr lang="de-DE" dirty="0"/>
                        <a:t>Texte und Liefertermine auswerten</a:t>
                      </a:r>
                    </a:p>
                  </a:txBody>
                  <a:tcPr/>
                </a:tc>
                <a:extLst>
                  <a:ext uri="{0D108BD9-81ED-4DB2-BD59-A6C34878D82A}">
                    <a16:rowId xmlns:a16="http://schemas.microsoft.com/office/drawing/2014/main" val="3759950643"/>
                  </a:ext>
                </a:extLst>
              </a:tr>
              <a:tr h="370840">
                <a:tc>
                  <a:txBody>
                    <a:bodyPr/>
                    <a:lstStyle/>
                    <a:p>
                      <a:r>
                        <a:rPr lang="de-DE" dirty="0"/>
                        <a:t>Semantik</a:t>
                      </a:r>
                    </a:p>
                  </a:txBody>
                  <a:tcPr/>
                </a:tc>
                <a:tc>
                  <a:txBody>
                    <a:bodyPr/>
                    <a:lstStyle/>
                    <a:p>
                      <a:r>
                        <a:rPr lang="de-DE" dirty="0"/>
                        <a:t>Beträge ihrer Währung zuordnen</a:t>
                      </a:r>
                    </a:p>
                  </a:txBody>
                  <a:tcPr/>
                </a:tc>
                <a:extLst>
                  <a:ext uri="{0D108BD9-81ED-4DB2-BD59-A6C34878D82A}">
                    <a16:rowId xmlns:a16="http://schemas.microsoft.com/office/drawing/2014/main" val="601600027"/>
                  </a:ext>
                </a:extLst>
              </a:tr>
              <a:tr h="370840">
                <a:tc>
                  <a:txBody>
                    <a:bodyPr/>
                    <a:lstStyle/>
                    <a:p>
                      <a:r>
                        <a:rPr lang="de-DE" dirty="0"/>
                        <a:t>Aggregation</a:t>
                      </a:r>
                    </a:p>
                  </a:txBody>
                  <a:tcPr/>
                </a:tc>
                <a:tc>
                  <a:txBody>
                    <a:bodyPr/>
                    <a:lstStyle/>
                    <a:p>
                      <a:r>
                        <a:rPr lang="de-DE" dirty="0"/>
                        <a:t>Umsatz nach Kunde</a:t>
                      </a:r>
                    </a:p>
                  </a:txBody>
                  <a:tcPr/>
                </a:tc>
                <a:extLst>
                  <a:ext uri="{0D108BD9-81ED-4DB2-BD59-A6C34878D82A}">
                    <a16:rowId xmlns:a16="http://schemas.microsoft.com/office/drawing/2014/main" val="1887382468"/>
                  </a:ext>
                </a:extLst>
              </a:tr>
              <a:tr h="370840">
                <a:tc>
                  <a:txBody>
                    <a:bodyPr/>
                    <a:lstStyle/>
                    <a:p>
                      <a:r>
                        <a:rPr lang="de-DE" dirty="0"/>
                        <a:t>UNION ALL</a:t>
                      </a:r>
                    </a:p>
                  </a:txBody>
                  <a:tcPr/>
                </a:tc>
                <a:tc>
                  <a:txBody>
                    <a:bodyPr/>
                    <a:lstStyle/>
                    <a:p>
                      <a:r>
                        <a:rPr lang="de-DE" dirty="0"/>
                        <a:t>Auftragsarten zusammenführen</a:t>
                      </a:r>
                    </a:p>
                  </a:txBody>
                  <a:tcPr/>
                </a:tc>
                <a:extLst>
                  <a:ext uri="{0D108BD9-81ED-4DB2-BD59-A6C34878D82A}">
                    <a16:rowId xmlns:a16="http://schemas.microsoft.com/office/drawing/2014/main" val="1773558442"/>
                  </a:ext>
                </a:extLst>
              </a:tr>
              <a:tr h="370840">
                <a:tc>
                  <a:txBody>
                    <a:bodyPr/>
                    <a:lstStyle/>
                    <a:p>
                      <a:r>
                        <a:rPr lang="de-DE" dirty="0"/>
                        <a:t>Erweiterungen</a:t>
                      </a:r>
                    </a:p>
                  </a:txBody>
                  <a:tcPr/>
                </a:tc>
                <a:tc>
                  <a:txBody>
                    <a:bodyPr/>
                    <a:lstStyle/>
                    <a:p>
                      <a:r>
                        <a:rPr lang="de-DE" dirty="0"/>
                        <a:t>Zusätzliche Felder und Metadaten</a:t>
                      </a:r>
                    </a:p>
                  </a:txBody>
                  <a:tcPr/>
                </a:tc>
                <a:extLst>
                  <a:ext uri="{0D108BD9-81ED-4DB2-BD59-A6C34878D82A}">
                    <a16:rowId xmlns:a16="http://schemas.microsoft.com/office/drawing/2014/main" val="1732739615"/>
                  </a:ext>
                </a:extLst>
              </a:tr>
            </a:tbl>
          </a:graphicData>
        </a:graphic>
      </p:graphicFrame>
    </p:spTree>
    <p:extLst>
      <p:ext uri="{BB962C8B-B14F-4D97-AF65-F5344CB8AC3E}">
        <p14:creationId xmlns:p14="http://schemas.microsoft.com/office/powerpoint/2010/main" val="21303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C84100-B88D-B15A-9F20-0C5CE010EFFB}"/>
              </a:ext>
            </a:extLst>
          </p:cNvPr>
          <p:cNvSpPr>
            <a:spLocks noGrp="1"/>
          </p:cNvSpPr>
          <p:nvPr>
            <p:ph type="title"/>
          </p:nvPr>
        </p:nvSpPr>
        <p:spPr/>
        <p:txBody>
          <a:bodyPr/>
          <a:lstStyle/>
          <a:p>
            <a:r>
              <a:rPr lang="de-DE" dirty="0"/>
              <a:t>Ausgangspunkt: Unser CDS-Datenmodell</a:t>
            </a:r>
          </a:p>
        </p:txBody>
      </p:sp>
      <p:pic>
        <p:nvPicPr>
          <p:cNvPr id="5" name="Inhaltsplatzhalter 4">
            <a:extLst>
              <a:ext uri="{FF2B5EF4-FFF2-40B4-BE49-F238E27FC236}">
                <a16:creationId xmlns:a16="http://schemas.microsoft.com/office/drawing/2014/main" id="{42D82AFF-DD6B-2DD9-4C44-E97676E69418}"/>
              </a:ext>
            </a:extLst>
          </p:cNvPr>
          <p:cNvPicPr>
            <a:picLocks noGrp="1" noChangeAspect="1"/>
          </p:cNvPicPr>
          <p:nvPr>
            <p:ph idx="1"/>
          </p:nvPr>
        </p:nvPicPr>
        <p:blipFill>
          <a:blip r:embed="rId3"/>
          <a:stretch>
            <a:fillRect/>
          </a:stretch>
        </p:blipFill>
        <p:spPr>
          <a:xfrm>
            <a:off x="3504975" y="1907136"/>
            <a:ext cx="5182049" cy="4188315"/>
          </a:xfrm>
          <a:prstGeom prst="rect">
            <a:avLst/>
          </a:prstGeom>
        </p:spPr>
      </p:pic>
    </p:spTree>
    <p:extLst>
      <p:ext uri="{BB962C8B-B14F-4D97-AF65-F5344CB8AC3E}">
        <p14:creationId xmlns:p14="http://schemas.microsoft.com/office/powerpoint/2010/main" val="2846214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8930C0-6930-3884-D8CF-E38FBDF50431}"/>
              </a:ext>
            </a:extLst>
          </p:cNvPr>
          <p:cNvSpPr>
            <a:spLocks noGrp="1"/>
          </p:cNvSpPr>
          <p:nvPr>
            <p:ph type="title"/>
          </p:nvPr>
        </p:nvSpPr>
        <p:spPr/>
        <p:txBody>
          <a:bodyPr/>
          <a:lstStyle/>
          <a:p>
            <a:r>
              <a:rPr lang="de-DE" dirty="0"/>
              <a:t>Vom CDS-Modell zur Anwendung</a:t>
            </a:r>
          </a:p>
        </p:txBody>
      </p:sp>
      <p:graphicFrame>
        <p:nvGraphicFramePr>
          <p:cNvPr id="4" name="Inhaltsplatzhalter 3">
            <a:extLst>
              <a:ext uri="{FF2B5EF4-FFF2-40B4-BE49-F238E27FC236}">
                <a16:creationId xmlns:a16="http://schemas.microsoft.com/office/drawing/2014/main" id="{2625D793-EB91-768A-3BC6-BD2B40B99375}"/>
              </a:ext>
            </a:extLst>
          </p:cNvPr>
          <p:cNvGraphicFramePr>
            <a:graphicFrameLocks noGrp="1"/>
          </p:cNvGraphicFramePr>
          <p:nvPr>
            <p:ph idx="1"/>
            <p:extLst>
              <p:ext uri="{D42A27DB-BD31-4B8C-83A1-F6EECF244321}">
                <p14:modId xmlns:p14="http://schemas.microsoft.com/office/powerpoint/2010/main" val="3684087110"/>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645479909"/>
                    </a:ext>
                  </a:extLst>
                </a:gridCol>
                <a:gridCol w="5257800">
                  <a:extLst>
                    <a:ext uri="{9D8B030D-6E8A-4147-A177-3AD203B41FA5}">
                      <a16:colId xmlns:a16="http://schemas.microsoft.com/office/drawing/2014/main" val="1014382230"/>
                    </a:ext>
                  </a:extLst>
                </a:gridCol>
              </a:tblGrid>
              <a:tr h="370840">
                <a:tc>
                  <a:txBody>
                    <a:bodyPr/>
                    <a:lstStyle/>
                    <a:p>
                      <a:r>
                        <a:rPr lang="de-DE" dirty="0"/>
                        <a:t>Schicht</a:t>
                      </a:r>
                    </a:p>
                  </a:txBody>
                  <a:tcPr/>
                </a:tc>
                <a:tc>
                  <a:txBody>
                    <a:bodyPr/>
                    <a:lstStyle/>
                    <a:p>
                      <a:r>
                        <a:rPr lang="de-DE" dirty="0"/>
                        <a:t>Aufgabe</a:t>
                      </a:r>
                    </a:p>
                  </a:txBody>
                  <a:tcPr/>
                </a:tc>
                <a:extLst>
                  <a:ext uri="{0D108BD9-81ED-4DB2-BD59-A6C34878D82A}">
                    <a16:rowId xmlns:a16="http://schemas.microsoft.com/office/drawing/2014/main" val="4110604603"/>
                  </a:ext>
                </a:extLst>
              </a:tr>
              <a:tr h="370840">
                <a:tc>
                  <a:txBody>
                    <a:bodyPr/>
                    <a:lstStyle/>
                    <a:p>
                      <a:r>
                        <a:rPr lang="de-DE" dirty="0"/>
                        <a:t>CDS</a:t>
                      </a:r>
                    </a:p>
                  </a:txBody>
                  <a:tcPr/>
                </a:tc>
                <a:tc>
                  <a:txBody>
                    <a:bodyPr/>
                    <a:lstStyle/>
                    <a:p>
                      <a:r>
                        <a:rPr lang="de-DE" dirty="0"/>
                        <a:t>Daten, Beziehungen und Semantik</a:t>
                      </a:r>
                    </a:p>
                  </a:txBody>
                  <a:tcPr/>
                </a:tc>
                <a:extLst>
                  <a:ext uri="{0D108BD9-81ED-4DB2-BD59-A6C34878D82A}">
                    <a16:rowId xmlns:a16="http://schemas.microsoft.com/office/drawing/2014/main" val="1625450481"/>
                  </a:ext>
                </a:extLst>
              </a:tr>
              <a:tr h="370840">
                <a:tc>
                  <a:txBody>
                    <a:bodyPr/>
                    <a:lstStyle/>
                    <a:p>
                      <a:r>
                        <a:rPr lang="de-DE" dirty="0"/>
                        <a:t>RAP</a:t>
                      </a:r>
                    </a:p>
                  </a:txBody>
                  <a:tcPr/>
                </a:tc>
                <a:tc>
                  <a:txBody>
                    <a:bodyPr/>
                    <a:lstStyle/>
                    <a:p>
                      <a:r>
                        <a:rPr lang="de-DE" dirty="0"/>
                        <a:t>Geschäftsobjekt und Verhalten</a:t>
                      </a:r>
                    </a:p>
                  </a:txBody>
                  <a:tcPr/>
                </a:tc>
                <a:extLst>
                  <a:ext uri="{0D108BD9-81ED-4DB2-BD59-A6C34878D82A}">
                    <a16:rowId xmlns:a16="http://schemas.microsoft.com/office/drawing/2014/main" val="3886451484"/>
                  </a:ext>
                </a:extLst>
              </a:tr>
              <a:tr h="370840">
                <a:tc>
                  <a:txBody>
                    <a:bodyPr/>
                    <a:lstStyle/>
                    <a:p>
                      <a:r>
                        <a:rPr lang="de-DE" dirty="0" err="1"/>
                        <a:t>OData</a:t>
                      </a:r>
                      <a:endParaRPr lang="de-DE" dirty="0"/>
                    </a:p>
                  </a:txBody>
                  <a:tcPr/>
                </a:tc>
                <a:tc>
                  <a:txBody>
                    <a:bodyPr/>
                    <a:lstStyle/>
                    <a:p>
                      <a:r>
                        <a:rPr lang="de-DE" dirty="0"/>
                        <a:t>Metadaten und Daten bereitstellen</a:t>
                      </a:r>
                    </a:p>
                  </a:txBody>
                  <a:tcPr/>
                </a:tc>
                <a:extLst>
                  <a:ext uri="{0D108BD9-81ED-4DB2-BD59-A6C34878D82A}">
                    <a16:rowId xmlns:a16="http://schemas.microsoft.com/office/drawing/2014/main" val="4232887326"/>
                  </a:ext>
                </a:extLst>
              </a:tr>
              <a:tr h="370840">
                <a:tc>
                  <a:txBody>
                    <a:bodyPr/>
                    <a:lstStyle/>
                    <a:p>
                      <a:r>
                        <a:rPr lang="de-DE" dirty="0"/>
                        <a:t>Fiori Elements</a:t>
                      </a:r>
                    </a:p>
                  </a:txBody>
                  <a:tcPr/>
                </a:tc>
                <a:tc>
                  <a:txBody>
                    <a:bodyPr/>
                    <a:lstStyle/>
                    <a:p>
                      <a:r>
                        <a:rPr lang="de-DE" dirty="0"/>
                        <a:t>Benutzeroberfläche generieren</a:t>
                      </a:r>
                    </a:p>
                  </a:txBody>
                  <a:tcPr/>
                </a:tc>
                <a:extLst>
                  <a:ext uri="{0D108BD9-81ED-4DB2-BD59-A6C34878D82A}">
                    <a16:rowId xmlns:a16="http://schemas.microsoft.com/office/drawing/2014/main" val="3649758160"/>
                  </a:ext>
                </a:extLst>
              </a:tr>
            </a:tbl>
          </a:graphicData>
        </a:graphic>
      </p:graphicFrame>
    </p:spTree>
    <p:extLst>
      <p:ext uri="{BB962C8B-B14F-4D97-AF65-F5344CB8AC3E}">
        <p14:creationId xmlns:p14="http://schemas.microsoft.com/office/powerpoint/2010/main" val="675667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17DB8F-6874-F201-22BB-051F1E900289}"/>
              </a:ext>
            </a:extLst>
          </p:cNvPr>
          <p:cNvSpPr>
            <a:spLocks noGrp="1"/>
          </p:cNvSpPr>
          <p:nvPr>
            <p:ph type="title"/>
          </p:nvPr>
        </p:nvSpPr>
        <p:spPr/>
        <p:txBody>
          <a:bodyPr/>
          <a:lstStyle/>
          <a:p>
            <a:r>
              <a:rPr lang="de-DE" dirty="0"/>
              <a:t>Was steuern Annotationen?</a:t>
            </a:r>
          </a:p>
        </p:txBody>
      </p:sp>
      <p:sp>
        <p:nvSpPr>
          <p:cNvPr id="3" name="Inhaltsplatzhalter 2">
            <a:extLst>
              <a:ext uri="{FF2B5EF4-FFF2-40B4-BE49-F238E27FC236}">
                <a16:creationId xmlns:a16="http://schemas.microsoft.com/office/drawing/2014/main" id="{50F60228-3163-0944-6A9A-93D251F0E56D}"/>
              </a:ext>
            </a:extLst>
          </p:cNvPr>
          <p:cNvSpPr>
            <a:spLocks noGrp="1"/>
          </p:cNvSpPr>
          <p:nvPr>
            <p:ph idx="1"/>
          </p:nvPr>
        </p:nvSpPr>
        <p:spPr/>
        <p:txBody>
          <a:bodyPr/>
          <a:lstStyle/>
          <a:p>
            <a:pPr marL="0" indent="0">
              <a:buNone/>
            </a:pPr>
            <a:r>
              <a:rPr lang="de-DE" dirty="0"/>
              <a:t>Annotationen beschreiben unter anderem:</a:t>
            </a:r>
          </a:p>
          <a:p>
            <a:pPr lvl="0"/>
            <a:r>
              <a:rPr lang="de-DE" dirty="0"/>
              <a:t>welche Felder in einer Tabelle erscheinen </a:t>
            </a:r>
          </a:p>
          <a:p>
            <a:pPr lvl="0"/>
            <a:r>
              <a:rPr lang="de-DE" dirty="0"/>
              <a:t>welche Felder als Filter angeboten werden </a:t>
            </a:r>
          </a:p>
          <a:p>
            <a:pPr lvl="0"/>
            <a:r>
              <a:rPr lang="de-DE" dirty="0"/>
              <a:t>wie die Kopfzeile einer Detailseite aussieht </a:t>
            </a:r>
          </a:p>
          <a:p>
            <a:pPr lvl="0"/>
            <a:r>
              <a:rPr lang="de-DE" dirty="0"/>
              <a:t>wie Inhalte in Abschnitte gruppiert werden </a:t>
            </a:r>
          </a:p>
          <a:p>
            <a:pPr lvl="0"/>
            <a:r>
              <a:rPr lang="de-DE" dirty="0"/>
              <a:t>welche Kennzahlen hervorgehoben werden </a:t>
            </a:r>
          </a:p>
          <a:p>
            <a:pPr lvl="0"/>
            <a:r>
              <a:rPr lang="de-DE" dirty="0"/>
              <a:t>wie Werte und Zustände visualisiert werden</a:t>
            </a:r>
          </a:p>
          <a:p>
            <a:endParaRPr lang="de-DE" dirty="0"/>
          </a:p>
        </p:txBody>
      </p:sp>
    </p:spTree>
    <p:extLst>
      <p:ext uri="{BB962C8B-B14F-4D97-AF65-F5344CB8AC3E}">
        <p14:creationId xmlns:p14="http://schemas.microsoft.com/office/powerpoint/2010/main" val="2650347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E919F1-0BE6-FE9E-2A65-0F292C930918}"/>
              </a:ext>
            </a:extLst>
          </p:cNvPr>
          <p:cNvSpPr>
            <a:spLocks noGrp="1"/>
          </p:cNvSpPr>
          <p:nvPr>
            <p:ph type="title"/>
          </p:nvPr>
        </p:nvSpPr>
        <p:spPr/>
        <p:txBody>
          <a:bodyPr/>
          <a:lstStyle/>
          <a:p>
            <a:r>
              <a:rPr lang="de-DE" dirty="0"/>
              <a:t>Fiori Elements: Anwendung aus Metadaten</a:t>
            </a:r>
          </a:p>
        </p:txBody>
      </p:sp>
      <p:sp>
        <p:nvSpPr>
          <p:cNvPr id="3" name="Inhaltsplatzhalter 2">
            <a:extLst>
              <a:ext uri="{FF2B5EF4-FFF2-40B4-BE49-F238E27FC236}">
                <a16:creationId xmlns:a16="http://schemas.microsoft.com/office/drawing/2014/main" id="{C4ABD870-FFAA-7A47-8569-CD5384A4B8BA}"/>
              </a:ext>
            </a:extLst>
          </p:cNvPr>
          <p:cNvSpPr>
            <a:spLocks noGrp="1"/>
          </p:cNvSpPr>
          <p:nvPr>
            <p:ph idx="1"/>
          </p:nvPr>
        </p:nvSpPr>
        <p:spPr/>
        <p:txBody>
          <a:bodyPr>
            <a:normAutofit fontScale="92500" lnSpcReduction="10000"/>
          </a:bodyPr>
          <a:lstStyle/>
          <a:p>
            <a:pPr marL="0" indent="0">
              <a:buNone/>
            </a:pPr>
            <a:r>
              <a:rPr lang="de-DE" dirty="0"/>
              <a:t>Fiori Elements liefert standardisierte Seitenbausteine:</a:t>
            </a:r>
          </a:p>
          <a:p>
            <a:pPr lvl="0"/>
            <a:r>
              <a:rPr lang="de-DE" dirty="0"/>
              <a:t>List Report </a:t>
            </a:r>
          </a:p>
          <a:p>
            <a:pPr lvl="0"/>
            <a:r>
              <a:rPr lang="de-DE" dirty="0" err="1"/>
              <a:t>Object</a:t>
            </a:r>
            <a:r>
              <a:rPr lang="de-DE" dirty="0"/>
              <a:t> Page </a:t>
            </a:r>
          </a:p>
          <a:p>
            <a:pPr lvl="0"/>
            <a:r>
              <a:rPr lang="de-DE" dirty="0"/>
              <a:t>Filterleiste </a:t>
            </a:r>
          </a:p>
          <a:p>
            <a:pPr lvl="0"/>
            <a:r>
              <a:rPr lang="de-DE" dirty="0"/>
              <a:t>Tabellen und Formulare </a:t>
            </a:r>
          </a:p>
          <a:p>
            <a:pPr lvl="0"/>
            <a:r>
              <a:rPr lang="de-DE" dirty="0"/>
              <a:t>Navigation </a:t>
            </a:r>
          </a:p>
          <a:p>
            <a:pPr lvl="0"/>
            <a:r>
              <a:rPr lang="de-DE" dirty="0"/>
              <a:t>Aktionen und Meldungen </a:t>
            </a:r>
          </a:p>
          <a:p>
            <a:pPr marL="0" indent="0">
              <a:buNone/>
            </a:pPr>
            <a:r>
              <a:rPr lang="de-DE" b="1" dirty="0"/>
              <a:t>Entwicklungsprinzip</a:t>
            </a:r>
            <a:endParaRPr lang="de-DE" dirty="0"/>
          </a:p>
          <a:p>
            <a:pPr marL="0" indent="0">
              <a:buNone/>
            </a:pPr>
            <a:r>
              <a:rPr lang="de-DE" dirty="0"/>
              <a:t>Datenmodell und Metadaten beschreiben –</a:t>
            </a:r>
            <a:br>
              <a:rPr lang="de-DE" dirty="0"/>
            </a:br>
            <a:r>
              <a:rPr lang="de-DE" dirty="0"/>
              <a:t>Fiori Elements erzeugt die standardisierte Oberfläche.</a:t>
            </a:r>
          </a:p>
          <a:p>
            <a:endParaRPr lang="de-DE" dirty="0"/>
          </a:p>
        </p:txBody>
      </p:sp>
    </p:spTree>
    <p:extLst>
      <p:ext uri="{BB962C8B-B14F-4D97-AF65-F5344CB8AC3E}">
        <p14:creationId xmlns:p14="http://schemas.microsoft.com/office/powerpoint/2010/main" val="3059476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AE0FE2-E535-56BF-F29F-3230A05F3DB3}"/>
              </a:ext>
            </a:extLst>
          </p:cNvPr>
          <p:cNvSpPr>
            <a:spLocks noGrp="1"/>
          </p:cNvSpPr>
          <p:nvPr>
            <p:ph type="title"/>
          </p:nvPr>
        </p:nvSpPr>
        <p:spPr/>
        <p:txBody>
          <a:bodyPr/>
          <a:lstStyle/>
          <a:p>
            <a:r>
              <a:rPr lang="de-DE" dirty="0"/>
              <a:t>Das Ziel für Teil 3</a:t>
            </a:r>
          </a:p>
        </p:txBody>
      </p:sp>
      <p:sp>
        <p:nvSpPr>
          <p:cNvPr id="3" name="Inhaltsplatzhalter 2">
            <a:extLst>
              <a:ext uri="{FF2B5EF4-FFF2-40B4-BE49-F238E27FC236}">
                <a16:creationId xmlns:a16="http://schemas.microsoft.com/office/drawing/2014/main" id="{1C0C15ED-7548-AEC6-8F59-5C664E78B531}"/>
              </a:ext>
            </a:extLst>
          </p:cNvPr>
          <p:cNvSpPr>
            <a:spLocks noGrp="1"/>
          </p:cNvSpPr>
          <p:nvPr>
            <p:ph idx="1"/>
          </p:nvPr>
        </p:nvSpPr>
        <p:spPr/>
        <p:txBody>
          <a:bodyPr/>
          <a:lstStyle/>
          <a:p>
            <a:pPr marL="514350" lvl="0" indent="-514350">
              <a:buFont typeface="+mj-lt"/>
              <a:buAutoNum type="arabicPeriod"/>
            </a:pPr>
            <a:r>
              <a:rPr lang="de-DE" dirty="0"/>
              <a:t>Aufträge filtern und als Liste darstellen </a:t>
            </a:r>
          </a:p>
          <a:p>
            <a:pPr marL="514350" lvl="0" indent="-514350">
              <a:buFont typeface="+mj-lt"/>
              <a:buAutoNum type="arabicPeriod"/>
            </a:pPr>
            <a:r>
              <a:rPr lang="de-DE" dirty="0"/>
              <a:t>Auftragsdetails und Positionen anzeigen </a:t>
            </a:r>
          </a:p>
          <a:p>
            <a:pPr marL="514350" lvl="0" indent="-514350">
              <a:buFont typeface="+mj-lt"/>
              <a:buAutoNum type="arabicPeriod"/>
            </a:pPr>
            <a:r>
              <a:rPr lang="de-DE" dirty="0"/>
              <a:t>Kennzahlen und Diagramme ergänzen </a:t>
            </a:r>
          </a:p>
          <a:p>
            <a:pPr marL="514350" lvl="0" indent="-514350">
              <a:buFont typeface="+mj-lt"/>
              <a:buAutoNum type="arabicPeriod"/>
            </a:pPr>
            <a:r>
              <a:rPr lang="de-DE" dirty="0"/>
              <a:t>Umsätze analytisch auswerten </a:t>
            </a:r>
          </a:p>
          <a:p>
            <a:pPr marL="514350" lvl="0" indent="-514350">
              <a:buFont typeface="+mj-lt"/>
              <a:buAutoNum type="arabicPeriod"/>
            </a:pPr>
            <a:r>
              <a:rPr lang="de-DE" dirty="0"/>
              <a:t>Produkte hierarchisch darstellen</a:t>
            </a:r>
          </a:p>
          <a:p>
            <a:pPr marL="514350" indent="-514350">
              <a:buFont typeface="+mj-lt"/>
              <a:buAutoNum type="arabicPeriod"/>
            </a:pPr>
            <a:endParaRPr lang="de-DE" dirty="0"/>
          </a:p>
        </p:txBody>
      </p:sp>
    </p:spTree>
    <p:extLst>
      <p:ext uri="{BB962C8B-B14F-4D97-AF65-F5344CB8AC3E}">
        <p14:creationId xmlns:p14="http://schemas.microsoft.com/office/powerpoint/2010/main" val="8941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DC71B3-F916-D9D1-CC12-A923568DF6C0}"/>
              </a:ext>
            </a:extLst>
          </p:cNvPr>
          <p:cNvSpPr>
            <a:spLocks noGrp="1"/>
          </p:cNvSpPr>
          <p:nvPr>
            <p:ph type="title"/>
          </p:nvPr>
        </p:nvSpPr>
        <p:spPr/>
        <p:txBody>
          <a:bodyPr/>
          <a:lstStyle/>
          <a:p>
            <a:r>
              <a:rPr lang="de-DE" dirty="0"/>
              <a:t>Datenmodell und Darstellung trennen</a:t>
            </a:r>
          </a:p>
        </p:txBody>
      </p:sp>
      <p:sp>
        <p:nvSpPr>
          <p:cNvPr id="3" name="Inhaltsplatzhalter 2">
            <a:extLst>
              <a:ext uri="{FF2B5EF4-FFF2-40B4-BE49-F238E27FC236}">
                <a16:creationId xmlns:a16="http://schemas.microsoft.com/office/drawing/2014/main" id="{50C60EBA-60EC-925B-E9BB-D576FB58706C}"/>
              </a:ext>
            </a:extLst>
          </p:cNvPr>
          <p:cNvSpPr>
            <a:spLocks noGrp="1"/>
          </p:cNvSpPr>
          <p:nvPr>
            <p:ph idx="1"/>
          </p:nvPr>
        </p:nvSpPr>
        <p:spPr/>
        <p:txBody>
          <a:bodyPr/>
          <a:lstStyle/>
          <a:p>
            <a:pPr marL="0" indent="0">
              <a:buNone/>
            </a:pPr>
            <a:r>
              <a:rPr lang="de-DE" dirty="0"/>
              <a:t>Eine CDS View Entity kann unterschiedliche Aufgaben erfüllen:</a:t>
            </a:r>
          </a:p>
          <a:p>
            <a:pPr lvl="0"/>
            <a:r>
              <a:rPr lang="de-DE" dirty="0"/>
              <a:t>Daten auswählen und verknüpfen </a:t>
            </a:r>
          </a:p>
          <a:p>
            <a:pPr lvl="0"/>
            <a:r>
              <a:rPr lang="de-DE" dirty="0"/>
              <a:t>fachliche Semantik beschreiben </a:t>
            </a:r>
          </a:p>
          <a:p>
            <a:pPr lvl="0"/>
            <a:r>
              <a:rPr lang="de-DE" dirty="0"/>
              <a:t>Berechtigungen berücksichtigen </a:t>
            </a:r>
          </a:p>
          <a:p>
            <a:pPr lvl="0"/>
            <a:r>
              <a:rPr lang="de-DE" dirty="0"/>
              <a:t>Benutzeroberflächen unterstützen </a:t>
            </a:r>
          </a:p>
          <a:p>
            <a:pPr lvl="0"/>
            <a:r>
              <a:rPr lang="de-DE" dirty="0"/>
              <a:t>analytische Auswertungen ermöglichen </a:t>
            </a:r>
          </a:p>
          <a:p>
            <a:pPr marL="0" indent="0">
              <a:buNone/>
            </a:pPr>
            <a:r>
              <a:rPr lang="de-DE" b="1" dirty="0"/>
              <a:t>Problem:</a:t>
            </a:r>
            <a:br>
              <a:rPr lang="de-DE" dirty="0"/>
            </a:br>
            <a:r>
              <a:rPr lang="de-DE" dirty="0"/>
              <a:t>Viele UI-Annotationen verdecken schnell das eigentliche Datenmodell.</a:t>
            </a:r>
          </a:p>
          <a:p>
            <a:endParaRPr lang="de-DE" dirty="0"/>
          </a:p>
        </p:txBody>
      </p:sp>
    </p:spTree>
    <p:extLst>
      <p:ext uri="{BB962C8B-B14F-4D97-AF65-F5344CB8AC3E}">
        <p14:creationId xmlns:p14="http://schemas.microsoft.com/office/powerpoint/2010/main" val="3439242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ADF9EE-37DA-B726-5478-D65C2210D4CD}"/>
              </a:ext>
            </a:extLst>
          </p:cNvPr>
          <p:cNvSpPr>
            <a:spLocks noGrp="1"/>
          </p:cNvSpPr>
          <p:nvPr>
            <p:ph type="title"/>
          </p:nvPr>
        </p:nvSpPr>
        <p:spPr/>
        <p:txBody>
          <a:bodyPr/>
          <a:lstStyle/>
          <a:p>
            <a:r>
              <a:rPr lang="de-DE" dirty="0"/>
              <a:t>Wo können Annotationen stehen?</a:t>
            </a:r>
          </a:p>
        </p:txBody>
      </p:sp>
      <p:graphicFrame>
        <p:nvGraphicFramePr>
          <p:cNvPr id="4" name="Inhaltsplatzhalter 3">
            <a:extLst>
              <a:ext uri="{FF2B5EF4-FFF2-40B4-BE49-F238E27FC236}">
                <a16:creationId xmlns:a16="http://schemas.microsoft.com/office/drawing/2014/main" id="{1532E5D4-2F72-F968-021C-79C4839FDAAD}"/>
              </a:ext>
            </a:extLst>
          </p:cNvPr>
          <p:cNvGraphicFramePr>
            <a:graphicFrameLocks noGrp="1"/>
          </p:cNvGraphicFramePr>
          <p:nvPr>
            <p:ph idx="1"/>
            <p:extLst>
              <p:ext uri="{D42A27DB-BD31-4B8C-83A1-F6EECF244321}">
                <p14:modId xmlns:p14="http://schemas.microsoft.com/office/powerpoint/2010/main" val="397011328"/>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70163859"/>
                    </a:ext>
                  </a:extLst>
                </a:gridCol>
                <a:gridCol w="5257800">
                  <a:extLst>
                    <a:ext uri="{9D8B030D-6E8A-4147-A177-3AD203B41FA5}">
                      <a16:colId xmlns:a16="http://schemas.microsoft.com/office/drawing/2014/main" val="3591550199"/>
                    </a:ext>
                  </a:extLst>
                </a:gridCol>
              </a:tblGrid>
              <a:tr h="370840">
                <a:tc>
                  <a:txBody>
                    <a:bodyPr/>
                    <a:lstStyle/>
                    <a:p>
                      <a:r>
                        <a:rPr lang="de-DE" dirty="0"/>
                        <a:t>Ort</a:t>
                      </a:r>
                    </a:p>
                  </a:txBody>
                  <a:tcPr/>
                </a:tc>
                <a:tc>
                  <a:txBody>
                    <a:bodyPr/>
                    <a:lstStyle/>
                    <a:p>
                      <a:r>
                        <a:rPr lang="de-DE" dirty="0"/>
                        <a:t>Typische Verwendung</a:t>
                      </a:r>
                    </a:p>
                  </a:txBody>
                  <a:tcPr/>
                </a:tc>
                <a:extLst>
                  <a:ext uri="{0D108BD9-81ED-4DB2-BD59-A6C34878D82A}">
                    <a16:rowId xmlns:a16="http://schemas.microsoft.com/office/drawing/2014/main" val="3187267318"/>
                  </a:ext>
                </a:extLst>
              </a:tr>
              <a:tr h="370840">
                <a:tc>
                  <a:txBody>
                    <a:bodyPr/>
                    <a:lstStyle/>
                    <a:p>
                      <a:r>
                        <a:rPr lang="de-DE" dirty="0"/>
                        <a:t>CDS View Entity</a:t>
                      </a:r>
                    </a:p>
                  </a:txBody>
                  <a:tcPr/>
                </a:tc>
                <a:tc>
                  <a:txBody>
                    <a:bodyPr/>
                    <a:lstStyle/>
                    <a:p>
                      <a:r>
                        <a:rPr lang="de-DE" dirty="0"/>
                        <a:t>Datenmodell und fachliche Semantik</a:t>
                      </a:r>
                    </a:p>
                  </a:txBody>
                  <a:tcPr/>
                </a:tc>
                <a:extLst>
                  <a:ext uri="{0D108BD9-81ED-4DB2-BD59-A6C34878D82A}">
                    <a16:rowId xmlns:a16="http://schemas.microsoft.com/office/drawing/2014/main" val="477433579"/>
                  </a:ext>
                </a:extLst>
              </a:tr>
              <a:tr h="370840">
                <a:tc>
                  <a:txBody>
                    <a:bodyPr/>
                    <a:lstStyle/>
                    <a:p>
                      <a:r>
                        <a:rPr lang="de-DE" dirty="0" err="1"/>
                        <a:t>Metadata</a:t>
                      </a:r>
                      <a:r>
                        <a:rPr lang="de-DE" dirty="0"/>
                        <a:t> Extension</a:t>
                      </a:r>
                    </a:p>
                  </a:txBody>
                  <a:tcPr/>
                </a:tc>
                <a:tc>
                  <a:txBody>
                    <a:bodyPr/>
                    <a:lstStyle/>
                    <a:p>
                      <a:r>
                        <a:rPr lang="de-DE" dirty="0"/>
                        <a:t>UI- und verbraucherspezifische Metadaten</a:t>
                      </a:r>
                    </a:p>
                  </a:txBody>
                  <a:tcPr/>
                </a:tc>
                <a:extLst>
                  <a:ext uri="{0D108BD9-81ED-4DB2-BD59-A6C34878D82A}">
                    <a16:rowId xmlns:a16="http://schemas.microsoft.com/office/drawing/2014/main" val="302444477"/>
                  </a:ext>
                </a:extLst>
              </a:tr>
              <a:tr h="370840">
                <a:tc>
                  <a:txBody>
                    <a:bodyPr/>
                    <a:lstStyle/>
                    <a:p>
                      <a:r>
                        <a:rPr lang="de-DE" dirty="0"/>
                        <a:t>Lokale Annotationen</a:t>
                      </a:r>
                    </a:p>
                  </a:txBody>
                  <a:tcPr/>
                </a:tc>
                <a:tc>
                  <a:txBody>
                    <a:bodyPr/>
                    <a:lstStyle/>
                    <a:p>
                      <a:r>
                        <a:rPr lang="de-DE" dirty="0"/>
                        <a:t>Anpassungen innerhalb einer Fiori-Anwendung</a:t>
                      </a:r>
                    </a:p>
                  </a:txBody>
                  <a:tcPr/>
                </a:tc>
                <a:extLst>
                  <a:ext uri="{0D108BD9-81ED-4DB2-BD59-A6C34878D82A}">
                    <a16:rowId xmlns:a16="http://schemas.microsoft.com/office/drawing/2014/main" val="1109104618"/>
                  </a:ext>
                </a:extLst>
              </a:tr>
            </a:tbl>
          </a:graphicData>
        </a:graphic>
      </p:graphicFrame>
    </p:spTree>
    <p:extLst>
      <p:ext uri="{BB962C8B-B14F-4D97-AF65-F5344CB8AC3E}">
        <p14:creationId xmlns:p14="http://schemas.microsoft.com/office/powerpoint/2010/main" val="2610462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E1DFBF-DFF6-A616-A534-3D02502734C2}"/>
              </a:ext>
            </a:extLst>
          </p:cNvPr>
          <p:cNvSpPr>
            <a:spLocks noGrp="1"/>
          </p:cNvSpPr>
          <p:nvPr>
            <p:ph type="title"/>
          </p:nvPr>
        </p:nvSpPr>
        <p:spPr/>
        <p:txBody>
          <a:bodyPr/>
          <a:lstStyle/>
          <a:p>
            <a:r>
              <a:rPr lang="de-DE" dirty="0"/>
              <a:t>Annotationen direkt in der View</a:t>
            </a:r>
          </a:p>
        </p:txBody>
      </p:sp>
      <p:sp>
        <p:nvSpPr>
          <p:cNvPr id="3" name="Inhaltsplatzhalter 2">
            <a:extLst>
              <a:ext uri="{FF2B5EF4-FFF2-40B4-BE49-F238E27FC236}">
                <a16:creationId xmlns:a16="http://schemas.microsoft.com/office/drawing/2014/main" id="{B2373F65-8363-938C-E070-6F9F5E4B4C45}"/>
              </a:ext>
            </a:extLst>
          </p:cNvPr>
          <p:cNvSpPr>
            <a:spLocks noGrp="1"/>
          </p:cNvSpPr>
          <p:nvPr>
            <p:ph idx="1"/>
          </p:nvPr>
        </p:nvSpPr>
        <p:spPr/>
        <p:txBody>
          <a:bodyPr>
            <a:normAutofit fontScale="62500" lnSpcReduction="20000"/>
          </a:bodyPr>
          <a:lstStyle/>
          <a:p>
            <a:pPr marL="0" indent="0">
              <a:buNone/>
            </a:pPr>
            <a:r>
              <a:rPr lang="de-DE" dirty="0" err="1">
                <a:latin typeface="Courier New" panose="02070309020205020404" pitchFamily="49" charset="0"/>
                <a:cs typeface="Courier New" panose="02070309020205020404" pitchFamily="49" charset="0"/>
              </a:rPr>
              <a:t>define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view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ZC_CDSOrder</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projection</a:t>
            </a:r>
            <a:r>
              <a:rPr lang="de-DE" dirty="0">
                <a:latin typeface="Courier New" panose="02070309020205020404" pitchFamily="49" charset="0"/>
                <a:cs typeface="Courier New" panose="02070309020205020404" pitchFamily="49" charset="0"/>
              </a:rPr>
              <a:t> on </a:t>
            </a:r>
            <a:r>
              <a:rPr lang="de-DE" dirty="0" err="1">
                <a:latin typeface="Courier New" panose="02070309020205020404" pitchFamily="49" charset="0"/>
                <a:cs typeface="Courier New" panose="02070309020205020404" pitchFamily="49" charset="0"/>
              </a:rPr>
              <a:t>ZI_CDSOrder</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@UI.selectionField: [</a:t>
            </a:r>
          </a:p>
          <a:p>
            <a:pPr marL="0"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10 }</a:t>
            </a:r>
          </a:p>
          <a:p>
            <a:pPr marL="0" indent="0">
              <a:buNone/>
            </a:pP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  @UI.lineItem: [</a:t>
            </a:r>
          </a:p>
          <a:p>
            <a:pPr marL="0"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10 }</a:t>
            </a:r>
          </a:p>
          <a:p>
            <a:pPr marL="0" indent="0">
              <a:buNone/>
            </a:pP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key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OrderDate</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5677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B8CA9E-2AF6-0325-EC97-32168C3EA6D9}"/>
              </a:ext>
            </a:extLst>
          </p:cNvPr>
          <p:cNvSpPr>
            <a:spLocks noGrp="1"/>
          </p:cNvSpPr>
          <p:nvPr>
            <p:ph type="title"/>
          </p:nvPr>
        </p:nvSpPr>
        <p:spPr/>
        <p:txBody>
          <a:bodyPr/>
          <a:lstStyle/>
          <a:p>
            <a:r>
              <a:rPr lang="de-DE" dirty="0"/>
              <a:t>Die Metadatenerweiterung</a:t>
            </a:r>
          </a:p>
        </p:txBody>
      </p:sp>
      <p:sp>
        <p:nvSpPr>
          <p:cNvPr id="3" name="Inhaltsplatzhalter 2">
            <a:extLst>
              <a:ext uri="{FF2B5EF4-FFF2-40B4-BE49-F238E27FC236}">
                <a16:creationId xmlns:a16="http://schemas.microsoft.com/office/drawing/2014/main" id="{18C09904-8299-EA32-96CB-D382B449FB2A}"/>
              </a:ext>
            </a:extLst>
          </p:cNvPr>
          <p:cNvSpPr>
            <a:spLocks noGrp="1"/>
          </p:cNvSpPr>
          <p:nvPr>
            <p:ph idx="1"/>
          </p:nvPr>
        </p:nvSpPr>
        <p:spPr/>
        <p:txBody>
          <a:bodyPr>
            <a:normAutofit fontScale="77500" lnSpcReduction="20000"/>
          </a:bodyPr>
          <a:lstStyle/>
          <a:p>
            <a:pPr marL="0" indent="0">
              <a:buNone/>
            </a:pPr>
            <a:r>
              <a:rPr lang="de-DE" dirty="0">
                <a:latin typeface="Courier New" panose="02070309020205020404" pitchFamily="49" charset="0"/>
                <a:cs typeface="Courier New" panose="02070309020205020404" pitchFamily="49" charset="0"/>
              </a:rPr>
              <a:t>@Metadata.layer: #CORE</a:t>
            </a: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err="1">
                <a:latin typeface="Courier New" panose="02070309020205020404" pitchFamily="49" charset="0"/>
                <a:cs typeface="Courier New" panose="02070309020205020404" pitchFamily="49" charset="0"/>
              </a:rPr>
              <a:t>annotate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ZC_CDSOrder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with</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@UI.selectionField: [</a:t>
            </a:r>
          </a:p>
          <a:p>
            <a:pPr marL="0"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10 }</a:t>
            </a:r>
          </a:p>
          <a:p>
            <a:pPr marL="0" indent="0">
              <a:buNone/>
            </a:pP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  @UI.lineItem: [</a:t>
            </a:r>
          </a:p>
          <a:p>
            <a:pPr marL="0"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10 }</a:t>
            </a:r>
          </a:p>
          <a:p>
            <a:pPr marL="0" indent="0">
              <a:buNone/>
            </a:pP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96488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4D3B03-EEBA-AD33-761D-9B0FEFA1F2D2}"/>
              </a:ext>
            </a:extLst>
          </p:cNvPr>
          <p:cNvSpPr>
            <a:spLocks noGrp="1"/>
          </p:cNvSpPr>
          <p:nvPr>
            <p:ph type="title"/>
          </p:nvPr>
        </p:nvSpPr>
        <p:spPr/>
        <p:txBody>
          <a:bodyPr/>
          <a:lstStyle/>
          <a:p>
            <a:r>
              <a:rPr lang="de-DE" dirty="0"/>
              <a:t>Metadatenerweiterungen zulassen</a:t>
            </a:r>
          </a:p>
        </p:txBody>
      </p:sp>
      <p:sp>
        <p:nvSpPr>
          <p:cNvPr id="3" name="Inhaltsplatzhalter 2">
            <a:extLst>
              <a:ext uri="{FF2B5EF4-FFF2-40B4-BE49-F238E27FC236}">
                <a16:creationId xmlns:a16="http://schemas.microsoft.com/office/drawing/2014/main" id="{D64B7BCA-5C8D-73B6-180D-ED87AC570214}"/>
              </a:ext>
            </a:extLst>
          </p:cNvPr>
          <p:cNvSpPr>
            <a:spLocks noGrp="1"/>
          </p:cNvSpPr>
          <p:nvPr>
            <p:ph idx="1"/>
          </p:nvPr>
        </p:nvSpPr>
        <p:spPr/>
        <p:txBody>
          <a:bodyPr>
            <a:normAutofit lnSpcReduction="10000"/>
          </a:bodyPr>
          <a:lstStyle/>
          <a:p>
            <a:pPr marL="0" indent="0">
              <a:buNone/>
            </a:pPr>
            <a:r>
              <a:rPr lang="de-DE" dirty="0">
                <a:latin typeface="Courier New" panose="02070309020205020404" pitchFamily="49" charset="0"/>
                <a:cs typeface="Courier New" panose="02070309020205020404" pitchFamily="49" charset="0"/>
              </a:rPr>
              <a:t>@Metadata.allowExtensions: </a:t>
            </a:r>
            <a:r>
              <a:rPr lang="de-DE" dirty="0" err="1">
                <a:latin typeface="Courier New" panose="02070309020205020404" pitchFamily="49" charset="0"/>
                <a:cs typeface="Courier New" panose="02070309020205020404" pitchFamily="49" charset="0"/>
              </a:rPr>
              <a:t>true</a:t>
            </a:r>
            <a:endParaRPr lang="de-DE"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err="1">
                <a:latin typeface="Courier New" panose="02070309020205020404" pitchFamily="49" charset="0"/>
                <a:cs typeface="Courier New" panose="02070309020205020404" pitchFamily="49" charset="0"/>
              </a:rPr>
              <a:t>define</a:t>
            </a:r>
            <a:r>
              <a:rPr lang="de-DE" dirty="0">
                <a:latin typeface="Courier New" panose="02070309020205020404" pitchFamily="49" charset="0"/>
                <a:cs typeface="Courier New" panose="02070309020205020404" pitchFamily="49" charset="0"/>
              </a:rPr>
              <a:t> root </a:t>
            </a:r>
            <a:r>
              <a:rPr lang="de-DE" dirty="0" err="1">
                <a:latin typeface="Courier New" panose="02070309020205020404" pitchFamily="49" charset="0"/>
                <a:cs typeface="Courier New" panose="02070309020205020404" pitchFamily="49" charset="0"/>
              </a:rPr>
              <a:t>view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ZC_CDSOrder</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projection</a:t>
            </a:r>
            <a:r>
              <a:rPr lang="de-DE" dirty="0">
                <a:latin typeface="Courier New" panose="02070309020205020404" pitchFamily="49" charset="0"/>
                <a:cs typeface="Courier New" panose="02070309020205020404" pitchFamily="49" charset="0"/>
              </a:rPr>
              <a:t> on </a:t>
            </a:r>
            <a:r>
              <a:rPr lang="de-DE" dirty="0" err="1">
                <a:latin typeface="Courier New" panose="02070309020205020404" pitchFamily="49" charset="0"/>
                <a:cs typeface="Courier New" panose="02070309020205020404" pitchFamily="49" charset="0"/>
              </a:rPr>
              <a:t>ZI_CDSOrder</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key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OrderDate</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4962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45E4C1-CCB8-93EA-451B-6595527E8E1C}"/>
              </a:ext>
            </a:extLst>
          </p:cNvPr>
          <p:cNvSpPr>
            <a:spLocks noGrp="1"/>
          </p:cNvSpPr>
          <p:nvPr>
            <p:ph type="title"/>
          </p:nvPr>
        </p:nvSpPr>
        <p:spPr/>
        <p:txBody>
          <a:bodyPr/>
          <a:lstStyle/>
          <a:p>
            <a:r>
              <a:rPr lang="de-DE" dirty="0"/>
              <a:t>Annotationsebenen</a:t>
            </a:r>
          </a:p>
        </p:txBody>
      </p:sp>
      <p:graphicFrame>
        <p:nvGraphicFramePr>
          <p:cNvPr id="4" name="Inhaltsplatzhalter 3">
            <a:extLst>
              <a:ext uri="{FF2B5EF4-FFF2-40B4-BE49-F238E27FC236}">
                <a16:creationId xmlns:a16="http://schemas.microsoft.com/office/drawing/2014/main" id="{66EED2F1-F4B4-934C-344C-A4273B29D3BF}"/>
              </a:ext>
            </a:extLst>
          </p:cNvPr>
          <p:cNvGraphicFramePr>
            <a:graphicFrameLocks noGrp="1"/>
          </p:cNvGraphicFramePr>
          <p:nvPr>
            <p:ph idx="1"/>
            <p:extLst>
              <p:ext uri="{D42A27DB-BD31-4B8C-83A1-F6EECF244321}">
                <p14:modId xmlns:p14="http://schemas.microsoft.com/office/powerpoint/2010/main" val="1121280414"/>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825537591"/>
                    </a:ext>
                  </a:extLst>
                </a:gridCol>
                <a:gridCol w="5257800">
                  <a:extLst>
                    <a:ext uri="{9D8B030D-6E8A-4147-A177-3AD203B41FA5}">
                      <a16:colId xmlns:a16="http://schemas.microsoft.com/office/drawing/2014/main" val="3422179444"/>
                    </a:ext>
                  </a:extLst>
                </a:gridCol>
              </a:tblGrid>
              <a:tr h="370840">
                <a:tc>
                  <a:txBody>
                    <a:bodyPr/>
                    <a:lstStyle/>
                    <a:p>
                      <a:r>
                        <a:rPr lang="de-DE" dirty="0"/>
                        <a:t>Ebene</a:t>
                      </a:r>
                    </a:p>
                  </a:txBody>
                  <a:tcPr/>
                </a:tc>
                <a:tc>
                  <a:txBody>
                    <a:bodyPr/>
                    <a:lstStyle/>
                    <a:p>
                      <a:r>
                        <a:rPr lang="de-DE" dirty="0"/>
                        <a:t>Typische Herkunft</a:t>
                      </a:r>
                    </a:p>
                  </a:txBody>
                  <a:tcPr/>
                </a:tc>
                <a:extLst>
                  <a:ext uri="{0D108BD9-81ED-4DB2-BD59-A6C34878D82A}">
                    <a16:rowId xmlns:a16="http://schemas.microsoft.com/office/drawing/2014/main" val="3913188082"/>
                  </a:ext>
                </a:extLst>
              </a:tr>
              <a:tr h="370840">
                <a:tc>
                  <a:txBody>
                    <a:bodyPr/>
                    <a:lstStyle/>
                    <a:p>
                      <a:r>
                        <a:rPr lang="de-DE" dirty="0">
                          <a:latin typeface="Courier New" panose="02070309020205020404" pitchFamily="49" charset="0"/>
                          <a:cs typeface="Courier New" panose="02070309020205020404" pitchFamily="49" charset="0"/>
                        </a:rPr>
                        <a:t>#CORE</a:t>
                      </a:r>
                    </a:p>
                  </a:txBody>
                  <a:tcPr/>
                </a:tc>
                <a:tc>
                  <a:txBody>
                    <a:bodyPr/>
                    <a:lstStyle/>
                    <a:p>
                      <a:r>
                        <a:rPr lang="de-DE" dirty="0"/>
                        <a:t>ursprüngliches Datenmodell</a:t>
                      </a:r>
                    </a:p>
                  </a:txBody>
                  <a:tcPr/>
                </a:tc>
                <a:extLst>
                  <a:ext uri="{0D108BD9-81ED-4DB2-BD59-A6C34878D82A}">
                    <a16:rowId xmlns:a16="http://schemas.microsoft.com/office/drawing/2014/main" val="932236879"/>
                  </a:ext>
                </a:extLst>
              </a:tr>
              <a:tr h="370840">
                <a:tc>
                  <a:txBody>
                    <a:bodyPr/>
                    <a:lstStyle/>
                    <a:p>
                      <a:r>
                        <a:rPr lang="de-DE" dirty="0">
                          <a:latin typeface="Courier New" panose="02070309020205020404" pitchFamily="49" charset="0"/>
                          <a:cs typeface="Courier New" panose="02070309020205020404" pitchFamily="49" charset="0"/>
                        </a:rPr>
                        <a:t>#LOCALIZATION</a:t>
                      </a:r>
                    </a:p>
                  </a:txBody>
                  <a:tcPr/>
                </a:tc>
                <a:tc>
                  <a:txBody>
                    <a:bodyPr/>
                    <a:lstStyle/>
                    <a:p>
                      <a:r>
                        <a:rPr lang="de-DE" dirty="0"/>
                        <a:t>länder- oder regionsspezifisch</a:t>
                      </a:r>
                    </a:p>
                  </a:txBody>
                  <a:tcPr/>
                </a:tc>
                <a:extLst>
                  <a:ext uri="{0D108BD9-81ED-4DB2-BD59-A6C34878D82A}">
                    <a16:rowId xmlns:a16="http://schemas.microsoft.com/office/drawing/2014/main" val="1826388227"/>
                  </a:ext>
                </a:extLst>
              </a:tr>
              <a:tr h="370840">
                <a:tc>
                  <a:txBody>
                    <a:bodyPr/>
                    <a:lstStyle/>
                    <a:p>
                      <a:r>
                        <a:rPr lang="de-DE" dirty="0">
                          <a:latin typeface="Courier New" panose="02070309020205020404" pitchFamily="49" charset="0"/>
                          <a:cs typeface="Courier New" panose="02070309020205020404" pitchFamily="49" charset="0"/>
                        </a:rPr>
                        <a:t>#INDUSTRY</a:t>
                      </a:r>
                    </a:p>
                  </a:txBody>
                  <a:tcPr/>
                </a:tc>
                <a:tc>
                  <a:txBody>
                    <a:bodyPr/>
                    <a:lstStyle/>
                    <a:p>
                      <a:r>
                        <a:rPr lang="de-DE" dirty="0"/>
                        <a:t>branchenspezifisch</a:t>
                      </a:r>
                    </a:p>
                  </a:txBody>
                  <a:tcPr/>
                </a:tc>
                <a:extLst>
                  <a:ext uri="{0D108BD9-81ED-4DB2-BD59-A6C34878D82A}">
                    <a16:rowId xmlns:a16="http://schemas.microsoft.com/office/drawing/2014/main" val="659227524"/>
                  </a:ext>
                </a:extLst>
              </a:tr>
              <a:tr h="370840">
                <a:tc>
                  <a:txBody>
                    <a:bodyPr/>
                    <a:lstStyle/>
                    <a:p>
                      <a:r>
                        <a:rPr lang="de-DE" dirty="0">
                          <a:latin typeface="Courier New" panose="02070309020205020404" pitchFamily="49" charset="0"/>
                          <a:cs typeface="Courier New" panose="02070309020205020404" pitchFamily="49" charset="0"/>
                        </a:rPr>
                        <a:t>#PARTNER</a:t>
                      </a:r>
                    </a:p>
                  </a:txBody>
                  <a:tcPr/>
                </a:tc>
                <a:tc>
                  <a:txBody>
                    <a:bodyPr/>
                    <a:lstStyle/>
                    <a:p>
                      <a:r>
                        <a:rPr lang="de-DE" dirty="0"/>
                        <a:t>Partnerlösung</a:t>
                      </a:r>
                    </a:p>
                  </a:txBody>
                  <a:tcPr/>
                </a:tc>
                <a:extLst>
                  <a:ext uri="{0D108BD9-81ED-4DB2-BD59-A6C34878D82A}">
                    <a16:rowId xmlns:a16="http://schemas.microsoft.com/office/drawing/2014/main" val="549429805"/>
                  </a:ext>
                </a:extLst>
              </a:tr>
              <a:tr h="370840">
                <a:tc>
                  <a:txBody>
                    <a:bodyPr/>
                    <a:lstStyle/>
                    <a:p>
                      <a:r>
                        <a:rPr lang="de-DE" dirty="0">
                          <a:latin typeface="Courier New" panose="02070309020205020404" pitchFamily="49" charset="0"/>
                          <a:cs typeface="Courier New" panose="02070309020205020404" pitchFamily="49" charset="0"/>
                        </a:rPr>
                        <a:t>#CUSTOMER</a:t>
                      </a:r>
                    </a:p>
                  </a:txBody>
                  <a:tcPr/>
                </a:tc>
                <a:tc>
                  <a:txBody>
                    <a:bodyPr/>
                    <a:lstStyle/>
                    <a:p>
                      <a:r>
                        <a:rPr lang="de-DE" dirty="0"/>
                        <a:t>kundenspezifische Anpassung</a:t>
                      </a:r>
                    </a:p>
                  </a:txBody>
                  <a:tcPr/>
                </a:tc>
                <a:extLst>
                  <a:ext uri="{0D108BD9-81ED-4DB2-BD59-A6C34878D82A}">
                    <a16:rowId xmlns:a16="http://schemas.microsoft.com/office/drawing/2014/main" val="378360528"/>
                  </a:ext>
                </a:extLst>
              </a:tr>
            </a:tbl>
          </a:graphicData>
        </a:graphic>
      </p:graphicFrame>
    </p:spTree>
    <p:extLst>
      <p:ext uri="{BB962C8B-B14F-4D97-AF65-F5344CB8AC3E}">
        <p14:creationId xmlns:p14="http://schemas.microsoft.com/office/powerpoint/2010/main" val="2542288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5461BA-B456-3E4A-7DF4-C21395B20F18}"/>
              </a:ext>
            </a:extLst>
          </p:cNvPr>
          <p:cNvSpPr>
            <a:spLocks noGrp="1"/>
          </p:cNvSpPr>
          <p:nvPr>
            <p:ph type="title"/>
          </p:nvPr>
        </p:nvSpPr>
        <p:spPr/>
        <p:txBody>
          <a:bodyPr/>
          <a:lstStyle/>
          <a:p>
            <a:r>
              <a:rPr lang="de-DE" dirty="0"/>
              <a:t>Der List Report</a:t>
            </a:r>
          </a:p>
        </p:txBody>
      </p:sp>
      <p:sp>
        <p:nvSpPr>
          <p:cNvPr id="3" name="Inhaltsplatzhalter 2">
            <a:extLst>
              <a:ext uri="{FF2B5EF4-FFF2-40B4-BE49-F238E27FC236}">
                <a16:creationId xmlns:a16="http://schemas.microsoft.com/office/drawing/2014/main" id="{B0659B97-D4DC-B6F5-88CF-97164B1ED347}"/>
              </a:ext>
            </a:extLst>
          </p:cNvPr>
          <p:cNvSpPr>
            <a:spLocks noGrp="1"/>
          </p:cNvSpPr>
          <p:nvPr>
            <p:ph idx="1"/>
          </p:nvPr>
        </p:nvSpPr>
        <p:spPr/>
        <p:txBody>
          <a:bodyPr/>
          <a:lstStyle/>
          <a:p>
            <a:pPr marL="0" indent="0">
              <a:buNone/>
            </a:pPr>
            <a:r>
              <a:rPr lang="de-DE" dirty="0"/>
              <a:t>Ein List Report besteht im Wesentlichen aus:</a:t>
            </a:r>
          </a:p>
          <a:p>
            <a:pPr lvl="0"/>
            <a:r>
              <a:rPr lang="de-DE" dirty="0"/>
              <a:t>Seitentitel und Standardaktionen </a:t>
            </a:r>
          </a:p>
          <a:p>
            <a:pPr lvl="0"/>
            <a:r>
              <a:rPr lang="de-DE" dirty="0"/>
              <a:t>Filterleiste </a:t>
            </a:r>
          </a:p>
          <a:p>
            <a:pPr lvl="0"/>
            <a:r>
              <a:rPr lang="de-DE" dirty="0"/>
              <a:t>Ergebnistabelle </a:t>
            </a:r>
          </a:p>
          <a:p>
            <a:pPr lvl="0"/>
            <a:r>
              <a:rPr lang="de-DE" dirty="0"/>
              <a:t>Navigation zur </a:t>
            </a:r>
            <a:r>
              <a:rPr lang="de-DE" dirty="0" err="1"/>
              <a:t>Object</a:t>
            </a:r>
            <a:r>
              <a:rPr lang="de-DE" dirty="0"/>
              <a:t> Page </a:t>
            </a:r>
          </a:p>
          <a:p>
            <a:pPr marL="0" indent="0">
              <a:buNone/>
            </a:pPr>
            <a:r>
              <a:rPr lang="de-DE" dirty="0"/>
              <a:t>Für die Gestaltung benötigen wir zunächst:</a:t>
            </a:r>
          </a:p>
          <a:p>
            <a:r>
              <a:rPr lang="de-DE" dirty="0">
                <a:latin typeface="Courier New" panose="02070309020205020404" pitchFamily="49" charset="0"/>
                <a:cs typeface="Courier New" panose="02070309020205020404" pitchFamily="49" charset="0"/>
              </a:rPr>
              <a:t>@UI.selectionField</a:t>
            </a:r>
          </a:p>
          <a:p>
            <a:r>
              <a:rPr lang="de-DE" dirty="0">
                <a:latin typeface="Courier New" panose="02070309020205020404" pitchFamily="49" charset="0"/>
                <a:cs typeface="Courier New" panose="02070309020205020404" pitchFamily="49" charset="0"/>
              </a:rPr>
              <a:t>@UI.lineItem</a:t>
            </a:r>
          </a:p>
          <a:p>
            <a:endParaRPr lang="de-DE" dirty="0"/>
          </a:p>
        </p:txBody>
      </p:sp>
    </p:spTree>
    <p:extLst>
      <p:ext uri="{BB962C8B-B14F-4D97-AF65-F5344CB8AC3E}">
        <p14:creationId xmlns:p14="http://schemas.microsoft.com/office/powerpoint/2010/main" val="813780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0A8946-4AD5-0218-62F3-6E42ACA51DE6}"/>
              </a:ext>
            </a:extLst>
          </p:cNvPr>
          <p:cNvSpPr>
            <a:spLocks noGrp="1"/>
          </p:cNvSpPr>
          <p:nvPr>
            <p:ph type="title"/>
          </p:nvPr>
        </p:nvSpPr>
        <p:spPr/>
        <p:txBody>
          <a:bodyPr/>
          <a:lstStyle/>
          <a:p>
            <a:r>
              <a:rPr lang="de-DE" dirty="0"/>
              <a:t>Filterfelder mit </a:t>
            </a:r>
            <a:r>
              <a:rPr lang="de-DE" dirty="0">
                <a:latin typeface="Courier New" panose="02070309020205020404" pitchFamily="49" charset="0"/>
                <a:cs typeface="Courier New" panose="02070309020205020404" pitchFamily="49" charset="0"/>
              </a:rPr>
              <a:t>@UI.selectionField</a:t>
            </a:r>
          </a:p>
        </p:txBody>
      </p:sp>
      <p:pic>
        <p:nvPicPr>
          <p:cNvPr id="5" name="Inhaltsplatzhalter 4">
            <a:extLst>
              <a:ext uri="{FF2B5EF4-FFF2-40B4-BE49-F238E27FC236}">
                <a16:creationId xmlns:a16="http://schemas.microsoft.com/office/drawing/2014/main" id="{C07EFB58-5B15-1C21-252D-23370E562BF4}"/>
              </a:ext>
            </a:extLst>
          </p:cNvPr>
          <p:cNvPicPr>
            <a:picLocks noGrp="1" noChangeAspect="1"/>
          </p:cNvPicPr>
          <p:nvPr>
            <p:ph idx="1"/>
          </p:nvPr>
        </p:nvPicPr>
        <p:blipFill>
          <a:blip r:embed="rId3"/>
          <a:stretch>
            <a:fillRect/>
          </a:stretch>
        </p:blipFill>
        <p:spPr>
          <a:xfrm>
            <a:off x="838201" y="1690689"/>
            <a:ext cx="6514892" cy="1738312"/>
          </a:xfrm>
          <a:prstGeom prst="rect">
            <a:avLst/>
          </a:prstGeom>
        </p:spPr>
      </p:pic>
    </p:spTree>
    <p:extLst>
      <p:ext uri="{BB962C8B-B14F-4D97-AF65-F5344CB8AC3E}">
        <p14:creationId xmlns:p14="http://schemas.microsoft.com/office/powerpoint/2010/main" val="2412798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C64DFA-CFB4-0AA3-74DB-DC145717EF2F}"/>
              </a:ext>
            </a:extLst>
          </p:cNvPr>
          <p:cNvSpPr>
            <a:spLocks noGrp="1"/>
          </p:cNvSpPr>
          <p:nvPr>
            <p:ph type="title"/>
          </p:nvPr>
        </p:nvSpPr>
        <p:spPr/>
        <p:txBody>
          <a:bodyPr/>
          <a:lstStyle/>
          <a:p>
            <a:r>
              <a:rPr lang="de-DE" dirty="0"/>
              <a:t>Tabellenspalten mit </a:t>
            </a:r>
            <a:r>
              <a:rPr lang="de-DE" dirty="0">
                <a:latin typeface="Courier New" panose="02070309020205020404" pitchFamily="49" charset="0"/>
                <a:cs typeface="Courier New" panose="02070309020205020404" pitchFamily="49" charset="0"/>
              </a:rPr>
              <a:t>@UI.lineItem</a:t>
            </a:r>
          </a:p>
        </p:txBody>
      </p:sp>
      <p:pic>
        <p:nvPicPr>
          <p:cNvPr id="5" name="Inhaltsplatzhalter 4">
            <a:extLst>
              <a:ext uri="{FF2B5EF4-FFF2-40B4-BE49-F238E27FC236}">
                <a16:creationId xmlns:a16="http://schemas.microsoft.com/office/drawing/2014/main" id="{D63B3E2D-2A09-473E-4AF5-318785DD08CB}"/>
              </a:ext>
            </a:extLst>
          </p:cNvPr>
          <p:cNvPicPr>
            <a:picLocks noGrp="1" noChangeAspect="1"/>
          </p:cNvPicPr>
          <p:nvPr>
            <p:ph idx="1"/>
          </p:nvPr>
        </p:nvPicPr>
        <p:blipFill>
          <a:blip r:embed="rId3"/>
          <a:stretch>
            <a:fillRect/>
          </a:stretch>
        </p:blipFill>
        <p:spPr>
          <a:xfrm>
            <a:off x="838200" y="1548377"/>
            <a:ext cx="4033838" cy="4955858"/>
          </a:xfrm>
          <a:prstGeom prst="rect">
            <a:avLst/>
          </a:prstGeom>
        </p:spPr>
      </p:pic>
    </p:spTree>
    <p:extLst>
      <p:ext uri="{BB962C8B-B14F-4D97-AF65-F5344CB8AC3E}">
        <p14:creationId xmlns:p14="http://schemas.microsoft.com/office/powerpoint/2010/main" val="306038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C0AD24-ABE1-CC33-AF20-FD33311731F2}"/>
              </a:ext>
            </a:extLst>
          </p:cNvPr>
          <p:cNvSpPr>
            <a:spLocks noGrp="1"/>
          </p:cNvSpPr>
          <p:nvPr>
            <p:ph type="title"/>
          </p:nvPr>
        </p:nvSpPr>
        <p:spPr/>
        <p:txBody>
          <a:bodyPr/>
          <a:lstStyle/>
          <a:p>
            <a:r>
              <a:rPr lang="de-DE" dirty="0"/>
              <a:t>Responsive Spalten mit </a:t>
            </a:r>
            <a:r>
              <a:rPr lang="de-DE" dirty="0" err="1">
                <a:latin typeface="Courier New" panose="02070309020205020404" pitchFamily="49" charset="0"/>
                <a:cs typeface="Courier New" panose="02070309020205020404" pitchFamily="49" charset="0"/>
              </a:rPr>
              <a:t>importance</a:t>
            </a:r>
            <a:endParaRPr lang="de-DE" dirty="0">
              <a:latin typeface="Courier New" panose="02070309020205020404" pitchFamily="49" charset="0"/>
              <a:cs typeface="Courier New" panose="02070309020205020404" pitchFamily="49" charset="0"/>
            </a:endParaRPr>
          </a:p>
        </p:txBody>
      </p:sp>
      <p:graphicFrame>
        <p:nvGraphicFramePr>
          <p:cNvPr id="4" name="Inhaltsplatzhalter 3">
            <a:extLst>
              <a:ext uri="{FF2B5EF4-FFF2-40B4-BE49-F238E27FC236}">
                <a16:creationId xmlns:a16="http://schemas.microsoft.com/office/drawing/2014/main" id="{A0661688-49BD-F896-6CB0-CD257C74ED50}"/>
              </a:ext>
            </a:extLst>
          </p:cNvPr>
          <p:cNvGraphicFramePr>
            <a:graphicFrameLocks noGrp="1"/>
          </p:cNvGraphicFramePr>
          <p:nvPr>
            <p:ph idx="1"/>
            <p:extLst>
              <p:ext uri="{D42A27DB-BD31-4B8C-83A1-F6EECF244321}">
                <p14:modId xmlns:p14="http://schemas.microsoft.com/office/powerpoint/2010/main" val="1216633066"/>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927455575"/>
                    </a:ext>
                  </a:extLst>
                </a:gridCol>
                <a:gridCol w="5257800">
                  <a:extLst>
                    <a:ext uri="{9D8B030D-6E8A-4147-A177-3AD203B41FA5}">
                      <a16:colId xmlns:a16="http://schemas.microsoft.com/office/drawing/2014/main" val="81286542"/>
                    </a:ext>
                  </a:extLst>
                </a:gridCol>
              </a:tblGrid>
              <a:tr h="370840">
                <a:tc>
                  <a:txBody>
                    <a:bodyPr/>
                    <a:lstStyle/>
                    <a:p>
                      <a:r>
                        <a:rPr lang="de-DE" dirty="0"/>
                        <a:t>Priorität</a:t>
                      </a:r>
                    </a:p>
                  </a:txBody>
                  <a:tcPr/>
                </a:tc>
                <a:tc>
                  <a:txBody>
                    <a:bodyPr/>
                    <a:lstStyle/>
                    <a:p>
                      <a:r>
                        <a:rPr lang="de-DE" dirty="0"/>
                        <a:t>Felder</a:t>
                      </a:r>
                    </a:p>
                  </a:txBody>
                  <a:tcPr/>
                </a:tc>
                <a:extLst>
                  <a:ext uri="{0D108BD9-81ED-4DB2-BD59-A6C34878D82A}">
                    <a16:rowId xmlns:a16="http://schemas.microsoft.com/office/drawing/2014/main" val="707552548"/>
                  </a:ext>
                </a:extLst>
              </a:tr>
              <a:tr h="370840">
                <a:tc>
                  <a:txBody>
                    <a:bodyPr/>
                    <a:lstStyle/>
                    <a:p>
                      <a:r>
                        <a:rPr lang="de-DE" dirty="0"/>
                        <a:t>#HIGH</a:t>
                      </a:r>
                    </a:p>
                  </a:txBody>
                  <a:tcPr/>
                </a:tc>
                <a:tc>
                  <a:txBody>
                    <a:bodyPr/>
                    <a:lstStyle/>
                    <a:p>
                      <a:r>
                        <a:rPr lang="de-DE" dirty="0"/>
                        <a:t>Auftrag, Kunde, Status</a:t>
                      </a:r>
                    </a:p>
                  </a:txBody>
                  <a:tcPr/>
                </a:tc>
                <a:extLst>
                  <a:ext uri="{0D108BD9-81ED-4DB2-BD59-A6C34878D82A}">
                    <a16:rowId xmlns:a16="http://schemas.microsoft.com/office/drawing/2014/main" val="1764894417"/>
                  </a:ext>
                </a:extLst>
              </a:tr>
              <a:tr h="370840">
                <a:tc>
                  <a:txBody>
                    <a:bodyPr/>
                    <a:lstStyle/>
                    <a:p>
                      <a:r>
                        <a:rPr lang="de-DE" dirty="0"/>
                        <a:t>#MEDIUM</a:t>
                      </a:r>
                    </a:p>
                  </a:txBody>
                  <a:tcPr/>
                </a:tc>
                <a:tc>
                  <a:txBody>
                    <a:bodyPr/>
                    <a:lstStyle/>
                    <a:p>
                      <a:r>
                        <a:rPr lang="de-DE" dirty="0"/>
                        <a:t>Auftragsdatum, Wunschdatum</a:t>
                      </a:r>
                    </a:p>
                  </a:txBody>
                  <a:tcPr/>
                </a:tc>
                <a:extLst>
                  <a:ext uri="{0D108BD9-81ED-4DB2-BD59-A6C34878D82A}">
                    <a16:rowId xmlns:a16="http://schemas.microsoft.com/office/drawing/2014/main" val="2413084909"/>
                  </a:ext>
                </a:extLst>
              </a:tr>
              <a:tr h="370840">
                <a:tc>
                  <a:txBody>
                    <a:bodyPr/>
                    <a:lstStyle/>
                    <a:p>
                      <a:r>
                        <a:rPr lang="de-DE" dirty="0"/>
                        <a:t>#LOW</a:t>
                      </a:r>
                    </a:p>
                  </a:txBody>
                  <a:tcPr/>
                </a:tc>
                <a:tc>
                  <a:txBody>
                    <a:bodyPr/>
                    <a:lstStyle/>
                    <a:p>
                      <a:r>
                        <a:rPr lang="de-DE" dirty="0"/>
                        <a:t>Verkaufsorganisation</a:t>
                      </a:r>
                    </a:p>
                  </a:txBody>
                  <a:tcPr/>
                </a:tc>
                <a:extLst>
                  <a:ext uri="{0D108BD9-81ED-4DB2-BD59-A6C34878D82A}">
                    <a16:rowId xmlns:a16="http://schemas.microsoft.com/office/drawing/2014/main" val="2629791370"/>
                  </a:ext>
                </a:extLst>
              </a:tr>
            </a:tbl>
          </a:graphicData>
        </a:graphic>
      </p:graphicFrame>
    </p:spTree>
    <p:extLst>
      <p:ext uri="{BB962C8B-B14F-4D97-AF65-F5344CB8AC3E}">
        <p14:creationId xmlns:p14="http://schemas.microsoft.com/office/powerpoint/2010/main" val="476440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FB5F06-61B7-EA14-180F-88FF546B067A}"/>
              </a:ext>
            </a:extLst>
          </p:cNvPr>
          <p:cNvSpPr>
            <a:spLocks noGrp="1"/>
          </p:cNvSpPr>
          <p:nvPr>
            <p:ph type="title"/>
          </p:nvPr>
        </p:nvSpPr>
        <p:spPr/>
        <p:txBody>
          <a:bodyPr/>
          <a:lstStyle/>
          <a:p>
            <a:r>
              <a:rPr lang="de-DE" dirty="0"/>
              <a:t>Ein Feld, mehrere Verwendungen</a:t>
            </a:r>
          </a:p>
        </p:txBody>
      </p:sp>
      <p:pic>
        <p:nvPicPr>
          <p:cNvPr id="5" name="Inhaltsplatzhalter 4">
            <a:extLst>
              <a:ext uri="{FF2B5EF4-FFF2-40B4-BE49-F238E27FC236}">
                <a16:creationId xmlns:a16="http://schemas.microsoft.com/office/drawing/2014/main" id="{DEDC1ECC-DA24-A940-20B3-B6734969B5E9}"/>
              </a:ext>
            </a:extLst>
          </p:cNvPr>
          <p:cNvPicPr>
            <a:picLocks noGrp="1" noChangeAspect="1"/>
          </p:cNvPicPr>
          <p:nvPr>
            <p:ph idx="1"/>
          </p:nvPr>
        </p:nvPicPr>
        <p:blipFill>
          <a:blip r:embed="rId3"/>
          <a:stretch>
            <a:fillRect/>
          </a:stretch>
        </p:blipFill>
        <p:spPr>
          <a:xfrm>
            <a:off x="838199" y="1690687"/>
            <a:ext cx="3706217" cy="4802187"/>
          </a:xfrm>
          <a:prstGeom prst="rect">
            <a:avLst/>
          </a:prstGeom>
        </p:spPr>
      </p:pic>
    </p:spTree>
    <p:extLst>
      <p:ext uri="{BB962C8B-B14F-4D97-AF65-F5344CB8AC3E}">
        <p14:creationId xmlns:p14="http://schemas.microsoft.com/office/powerpoint/2010/main" val="3763321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09B210-F67F-74B2-075B-F1C42F4DB765}"/>
              </a:ext>
            </a:extLst>
          </p:cNvPr>
          <p:cNvSpPr>
            <a:spLocks noGrp="1"/>
          </p:cNvSpPr>
          <p:nvPr>
            <p:ph type="title"/>
          </p:nvPr>
        </p:nvSpPr>
        <p:spPr/>
        <p:txBody>
          <a:bodyPr/>
          <a:lstStyle/>
          <a:p>
            <a:r>
              <a:rPr lang="de-DE" dirty="0"/>
              <a:t>List Report gestalten</a:t>
            </a:r>
          </a:p>
        </p:txBody>
      </p:sp>
      <p:sp>
        <p:nvSpPr>
          <p:cNvPr id="3" name="Inhaltsplatzhalter 2">
            <a:extLst>
              <a:ext uri="{FF2B5EF4-FFF2-40B4-BE49-F238E27FC236}">
                <a16:creationId xmlns:a16="http://schemas.microsoft.com/office/drawing/2014/main" id="{0588A28B-381E-1F62-35C4-6CE355F5CD90}"/>
              </a:ext>
            </a:extLst>
          </p:cNvPr>
          <p:cNvSpPr>
            <a:spLocks noGrp="1"/>
          </p:cNvSpPr>
          <p:nvPr>
            <p:ph idx="1"/>
          </p:nvPr>
        </p:nvSpPr>
        <p:spPr/>
        <p:txBody>
          <a:bodyPr/>
          <a:lstStyle/>
          <a:p>
            <a:pPr marL="0" indent="0">
              <a:buNone/>
            </a:pPr>
            <a:r>
              <a:rPr lang="de-DE" dirty="0"/>
              <a:t>Aus einer noch weitgehend technischen Standardansicht entsteht ein fachlich strukturierter List Report:</a:t>
            </a:r>
          </a:p>
          <a:p>
            <a:pPr lvl="0"/>
            <a:r>
              <a:rPr lang="de-DE" dirty="0"/>
              <a:t>Auftragsnummer, Kunde, Status und Verkaufsorganisation als Filter </a:t>
            </a:r>
          </a:p>
          <a:p>
            <a:pPr lvl="0"/>
            <a:r>
              <a:rPr lang="de-DE" dirty="0"/>
              <a:t>relevante Auftragsinformationen als Tabellenspalten </a:t>
            </a:r>
          </a:p>
          <a:p>
            <a:pPr lvl="0"/>
            <a:r>
              <a:rPr lang="de-DE" dirty="0"/>
              <a:t>nachvollziehbare Reihenfolge </a:t>
            </a:r>
          </a:p>
          <a:p>
            <a:pPr lvl="0"/>
            <a:r>
              <a:rPr lang="de-DE" dirty="0"/>
              <a:t>responsive Gewichtung der Spalten</a:t>
            </a:r>
          </a:p>
          <a:p>
            <a:endParaRPr lang="de-DE" dirty="0"/>
          </a:p>
        </p:txBody>
      </p:sp>
    </p:spTree>
    <p:extLst>
      <p:ext uri="{BB962C8B-B14F-4D97-AF65-F5344CB8AC3E}">
        <p14:creationId xmlns:p14="http://schemas.microsoft.com/office/powerpoint/2010/main" val="3572140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A0A95A-5E58-69CB-663E-1EE9A2552AE7}"/>
              </a:ext>
            </a:extLst>
          </p:cNvPr>
          <p:cNvSpPr>
            <a:spLocks noGrp="1"/>
          </p:cNvSpPr>
          <p:nvPr>
            <p:ph type="title"/>
          </p:nvPr>
        </p:nvSpPr>
        <p:spPr/>
        <p:txBody>
          <a:bodyPr/>
          <a:lstStyle/>
          <a:p>
            <a:r>
              <a:rPr lang="de-DE" dirty="0"/>
              <a:t>Die </a:t>
            </a:r>
            <a:r>
              <a:rPr lang="de-DE" dirty="0" err="1"/>
              <a:t>Object</a:t>
            </a:r>
            <a:r>
              <a:rPr lang="de-DE" dirty="0"/>
              <a:t> Page</a:t>
            </a:r>
          </a:p>
        </p:txBody>
      </p:sp>
      <p:sp>
        <p:nvSpPr>
          <p:cNvPr id="3" name="Inhaltsplatzhalter 2">
            <a:extLst>
              <a:ext uri="{FF2B5EF4-FFF2-40B4-BE49-F238E27FC236}">
                <a16:creationId xmlns:a16="http://schemas.microsoft.com/office/drawing/2014/main" id="{529DB125-138E-CE71-8A05-2F4AA2139C07}"/>
              </a:ext>
            </a:extLst>
          </p:cNvPr>
          <p:cNvSpPr>
            <a:spLocks noGrp="1"/>
          </p:cNvSpPr>
          <p:nvPr>
            <p:ph idx="1"/>
          </p:nvPr>
        </p:nvSpPr>
        <p:spPr/>
        <p:txBody>
          <a:bodyPr/>
          <a:lstStyle/>
          <a:p>
            <a:pPr marL="0" indent="0">
              <a:buNone/>
            </a:pPr>
            <a:r>
              <a:rPr lang="de-DE" dirty="0"/>
              <a:t>Die </a:t>
            </a:r>
            <a:r>
              <a:rPr lang="de-DE" dirty="0" err="1"/>
              <a:t>Object</a:t>
            </a:r>
            <a:r>
              <a:rPr lang="de-DE" dirty="0"/>
              <a:t> Page zeigt ein einzelnes Geschäftsobjekt:</a:t>
            </a:r>
          </a:p>
          <a:p>
            <a:pPr lvl="0"/>
            <a:r>
              <a:rPr lang="de-DE" dirty="0"/>
              <a:t>Titel und Beschreibung </a:t>
            </a:r>
          </a:p>
          <a:p>
            <a:pPr lvl="0"/>
            <a:r>
              <a:rPr lang="de-DE" dirty="0"/>
              <a:t>zentrale Identifikationsmerkmale </a:t>
            </a:r>
          </a:p>
          <a:p>
            <a:pPr lvl="0"/>
            <a:r>
              <a:rPr lang="de-DE" dirty="0"/>
              <a:t>fachlich gruppierte Detaildaten </a:t>
            </a:r>
          </a:p>
          <a:p>
            <a:pPr lvl="0"/>
            <a:r>
              <a:rPr lang="de-DE" dirty="0"/>
              <a:t>abhängige Objekte </a:t>
            </a:r>
          </a:p>
          <a:p>
            <a:pPr lvl="0"/>
            <a:r>
              <a:rPr lang="de-DE" dirty="0"/>
              <a:t>Aktionen und Navigation</a:t>
            </a:r>
          </a:p>
          <a:p>
            <a:endParaRPr lang="de-DE" dirty="0"/>
          </a:p>
        </p:txBody>
      </p:sp>
    </p:spTree>
    <p:extLst>
      <p:ext uri="{BB962C8B-B14F-4D97-AF65-F5344CB8AC3E}">
        <p14:creationId xmlns:p14="http://schemas.microsoft.com/office/powerpoint/2010/main" val="4107561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2028C7-A82F-7451-D44E-8CC4A4CA9EE7}"/>
              </a:ext>
            </a:extLst>
          </p:cNvPr>
          <p:cNvSpPr>
            <a:spLocks noGrp="1"/>
          </p:cNvSpPr>
          <p:nvPr>
            <p:ph type="title"/>
          </p:nvPr>
        </p:nvSpPr>
        <p:spPr/>
        <p:txBody>
          <a:bodyPr/>
          <a:lstStyle/>
          <a:p>
            <a:r>
              <a:rPr lang="de-DE" dirty="0"/>
              <a:t>Der Seitenkopf mit </a:t>
            </a:r>
            <a:r>
              <a:rPr lang="de-DE" dirty="0">
                <a:latin typeface="Courier New" panose="02070309020205020404" pitchFamily="49" charset="0"/>
                <a:cs typeface="Courier New" panose="02070309020205020404" pitchFamily="49" charset="0"/>
              </a:rPr>
              <a:t>@UI.headerInfo</a:t>
            </a:r>
          </a:p>
        </p:txBody>
      </p:sp>
      <p:pic>
        <p:nvPicPr>
          <p:cNvPr id="5" name="Inhaltsplatzhalter 4">
            <a:extLst>
              <a:ext uri="{FF2B5EF4-FFF2-40B4-BE49-F238E27FC236}">
                <a16:creationId xmlns:a16="http://schemas.microsoft.com/office/drawing/2014/main" id="{5E644A7B-7697-53B5-C193-8392AF81EDD1}"/>
              </a:ext>
            </a:extLst>
          </p:cNvPr>
          <p:cNvPicPr>
            <a:picLocks noGrp="1" noChangeAspect="1"/>
          </p:cNvPicPr>
          <p:nvPr>
            <p:ph idx="1"/>
          </p:nvPr>
        </p:nvPicPr>
        <p:blipFill>
          <a:blip r:embed="rId3"/>
          <a:stretch>
            <a:fillRect/>
          </a:stretch>
        </p:blipFill>
        <p:spPr>
          <a:xfrm>
            <a:off x="838200" y="1690688"/>
            <a:ext cx="5226408" cy="4802187"/>
          </a:xfrm>
          <a:prstGeom prst="rect">
            <a:avLst/>
          </a:prstGeom>
        </p:spPr>
      </p:pic>
    </p:spTree>
    <p:extLst>
      <p:ext uri="{BB962C8B-B14F-4D97-AF65-F5344CB8AC3E}">
        <p14:creationId xmlns:p14="http://schemas.microsoft.com/office/powerpoint/2010/main" val="1105270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E96327-8847-E11F-4D68-F6B0F32A8697}"/>
              </a:ext>
            </a:extLst>
          </p:cNvPr>
          <p:cNvSpPr>
            <a:spLocks noGrp="1"/>
          </p:cNvSpPr>
          <p:nvPr>
            <p:ph type="title"/>
          </p:nvPr>
        </p:nvSpPr>
        <p:spPr/>
        <p:txBody>
          <a:bodyPr/>
          <a:lstStyle/>
          <a:p>
            <a:r>
              <a:rPr lang="de-DE" dirty="0"/>
              <a:t>Identifikationsmerkmale</a:t>
            </a:r>
          </a:p>
        </p:txBody>
      </p:sp>
      <p:pic>
        <p:nvPicPr>
          <p:cNvPr id="5" name="Inhaltsplatzhalter 4">
            <a:extLst>
              <a:ext uri="{FF2B5EF4-FFF2-40B4-BE49-F238E27FC236}">
                <a16:creationId xmlns:a16="http://schemas.microsoft.com/office/drawing/2014/main" id="{0C163BA8-798B-70E8-A5AF-E4F8BAD28D82}"/>
              </a:ext>
            </a:extLst>
          </p:cNvPr>
          <p:cNvPicPr>
            <a:picLocks noGrp="1" noChangeAspect="1"/>
          </p:cNvPicPr>
          <p:nvPr>
            <p:ph idx="1"/>
          </p:nvPr>
        </p:nvPicPr>
        <p:blipFill>
          <a:blip r:embed="rId3"/>
          <a:stretch>
            <a:fillRect/>
          </a:stretch>
        </p:blipFill>
        <p:spPr>
          <a:xfrm>
            <a:off x="838199" y="1567534"/>
            <a:ext cx="6669499" cy="2847304"/>
          </a:xfrm>
          <a:prstGeom prst="rect">
            <a:avLst/>
          </a:prstGeom>
        </p:spPr>
      </p:pic>
    </p:spTree>
    <p:extLst>
      <p:ext uri="{BB962C8B-B14F-4D97-AF65-F5344CB8AC3E}">
        <p14:creationId xmlns:p14="http://schemas.microsoft.com/office/powerpoint/2010/main" val="2296720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B5515F-81A4-955B-7900-5DCC87CE94D2}"/>
              </a:ext>
            </a:extLst>
          </p:cNvPr>
          <p:cNvSpPr>
            <a:spLocks noGrp="1"/>
          </p:cNvSpPr>
          <p:nvPr>
            <p:ph type="title"/>
          </p:nvPr>
        </p:nvSpPr>
        <p:spPr/>
        <p:txBody>
          <a:bodyPr/>
          <a:lstStyle/>
          <a:p>
            <a:r>
              <a:rPr lang="de-DE" dirty="0"/>
              <a:t>Zusammengehörige Felder gruppieren</a:t>
            </a:r>
          </a:p>
        </p:txBody>
      </p:sp>
      <p:pic>
        <p:nvPicPr>
          <p:cNvPr id="9" name="Inhaltsplatzhalter 8">
            <a:extLst>
              <a:ext uri="{FF2B5EF4-FFF2-40B4-BE49-F238E27FC236}">
                <a16:creationId xmlns:a16="http://schemas.microsoft.com/office/drawing/2014/main" id="{1BC8E5E9-E192-92CA-17C7-F81CCC6ACD4A}"/>
              </a:ext>
            </a:extLst>
          </p:cNvPr>
          <p:cNvPicPr>
            <a:picLocks noGrp="1" noChangeAspect="1"/>
          </p:cNvPicPr>
          <p:nvPr>
            <p:ph sz="half" idx="2"/>
          </p:nvPr>
        </p:nvPicPr>
        <p:blipFill>
          <a:blip r:embed="rId3"/>
          <a:stretch>
            <a:fillRect/>
          </a:stretch>
        </p:blipFill>
        <p:spPr>
          <a:xfrm>
            <a:off x="6172200" y="1825625"/>
            <a:ext cx="5181600" cy="1962315"/>
          </a:xfrm>
          <a:prstGeom prst="rect">
            <a:avLst/>
          </a:prstGeom>
        </p:spPr>
      </p:pic>
      <p:pic>
        <p:nvPicPr>
          <p:cNvPr id="13" name="Inhaltsplatzhalter 12">
            <a:extLst>
              <a:ext uri="{FF2B5EF4-FFF2-40B4-BE49-F238E27FC236}">
                <a16:creationId xmlns:a16="http://schemas.microsoft.com/office/drawing/2014/main" id="{AF98B170-2309-D56F-8FC7-976A9AC52701}"/>
              </a:ext>
            </a:extLst>
          </p:cNvPr>
          <p:cNvPicPr>
            <a:picLocks noGrp="1" noChangeAspect="1"/>
          </p:cNvPicPr>
          <p:nvPr>
            <p:ph sz="half" idx="1"/>
          </p:nvPr>
        </p:nvPicPr>
        <p:blipFill>
          <a:blip r:embed="rId4"/>
          <a:stretch>
            <a:fillRect/>
          </a:stretch>
        </p:blipFill>
        <p:spPr>
          <a:xfrm>
            <a:off x="838200" y="1690687"/>
            <a:ext cx="4519613" cy="4691015"/>
          </a:xfrm>
          <a:prstGeom prst="rect">
            <a:avLst/>
          </a:prstGeom>
        </p:spPr>
      </p:pic>
    </p:spTree>
    <p:extLst>
      <p:ext uri="{BB962C8B-B14F-4D97-AF65-F5344CB8AC3E}">
        <p14:creationId xmlns:p14="http://schemas.microsoft.com/office/powerpoint/2010/main" val="3863484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7AF190-FF5B-0608-34BB-42D4E212DC22}"/>
              </a:ext>
            </a:extLst>
          </p:cNvPr>
          <p:cNvSpPr>
            <a:spLocks noGrp="1"/>
          </p:cNvSpPr>
          <p:nvPr>
            <p:ph type="title"/>
          </p:nvPr>
        </p:nvSpPr>
        <p:spPr/>
        <p:txBody>
          <a:bodyPr/>
          <a:lstStyle/>
          <a:p>
            <a:r>
              <a:rPr lang="de-DE" dirty="0"/>
              <a:t>Zusammenwirken der Annotationen</a:t>
            </a:r>
          </a:p>
        </p:txBody>
      </p:sp>
      <p:graphicFrame>
        <p:nvGraphicFramePr>
          <p:cNvPr id="4" name="Inhaltsplatzhalter 3">
            <a:extLst>
              <a:ext uri="{FF2B5EF4-FFF2-40B4-BE49-F238E27FC236}">
                <a16:creationId xmlns:a16="http://schemas.microsoft.com/office/drawing/2014/main" id="{17E3107D-75F0-780D-A3C4-07AC0BAE530F}"/>
              </a:ext>
            </a:extLst>
          </p:cNvPr>
          <p:cNvGraphicFramePr>
            <a:graphicFrameLocks noGrp="1"/>
          </p:cNvGraphicFramePr>
          <p:nvPr>
            <p:ph idx="1"/>
            <p:extLst>
              <p:ext uri="{D42A27DB-BD31-4B8C-83A1-F6EECF244321}">
                <p14:modId xmlns:p14="http://schemas.microsoft.com/office/powerpoint/2010/main" val="4224154951"/>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282554368"/>
                    </a:ext>
                  </a:extLst>
                </a:gridCol>
                <a:gridCol w="5257800">
                  <a:extLst>
                    <a:ext uri="{9D8B030D-6E8A-4147-A177-3AD203B41FA5}">
                      <a16:colId xmlns:a16="http://schemas.microsoft.com/office/drawing/2014/main" val="2936508864"/>
                    </a:ext>
                  </a:extLst>
                </a:gridCol>
              </a:tblGrid>
              <a:tr h="370840">
                <a:tc>
                  <a:txBody>
                    <a:bodyPr/>
                    <a:lstStyle/>
                    <a:p>
                      <a:r>
                        <a:rPr lang="de-DE" dirty="0"/>
                        <a:t>Annotation</a:t>
                      </a:r>
                    </a:p>
                  </a:txBody>
                  <a:tcPr/>
                </a:tc>
                <a:tc>
                  <a:txBody>
                    <a:bodyPr/>
                    <a:lstStyle/>
                    <a:p>
                      <a:r>
                        <a:rPr lang="de-DE" dirty="0"/>
                        <a:t>Aufgabe</a:t>
                      </a:r>
                    </a:p>
                  </a:txBody>
                  <a:tcPr/>
                </a:tc>
                <a:extLst>
                  <a:ext uri="{0D108BD9-81ED-4DB2-BD59-A6C34878D82A}">
                    <a16:rowId xmlns:a16="http://schemas.microsoft.com/office/drawing/2014/main" val="2579072862"/>
                  </a:ext>
                </a:extLst>
              </a:tr>
              <a:tr h="370840">
                <a:tc>
                  <a:txBody>
                    <a:bodyPr/>
                    <a:lstStyle/>
                    <a:p>
                      <a:r>
                        <a:rPr lang="de-DE" dirty="0"/>
                        <a:t>@UI.headerInfo</a:t>
                      </a:r>
                    </a:p>
                  </a:txBody>
                  <a:tcPr/>
                </a:tc>
                <a:tc>
                  <a:txBody>
                    <a:bodyPr/>
                    <a:lstStyle/>
                    <a:p>
                      <a:r>
                        <a:rPr lang="de-DE" dirty="0"/>
                        <a:t>Identität und Titel des Geschäftsobjekts</a:t>
                      </a:r>
                    </a:p>
                  </a:txBody>
                  <a:tcPr/>
                </a:tc>
                <a:extLst>
                  <a:ext uri="{0D108BD9-81ED-4DB2-BD59-A6C34878D82A}">
                    <a16:rowId xmlns:a16="http://schemas.microsoft.com/office/drawing/2014/main" val="563520334"/>
                  </a:ext>
                </a:extLst>
              </a:tr>
              <a:tr h="370840">
                <a:tc>
                  <a:txBody>
                    <a:bodyPr/>
                    <a:lstStyle/>
                    <a:p>
                      <a:r>
                        <a:rPr lang="de-DE" dirty="0"/>
                        <a:t>@UI.identification</a:t>
                      </a:r>
                    </a:p>
                  </a:txBody>
                  <a:tcPr/>
                </a:tc>
                <a:tc>
                  <a:txBody>
                    <a:bodyPr/>
                    <a:lstStyle/>
                    <a:p>
                      <a:r>
                        <a:rPr lang="de-DE" dirty="0"/>
                        <a:t>besonders wichtige Einzelmerkmale</a:t>
                      </a:r>
                    </a:p>
                  </a:txBody>
                  <a:tcPr/>
                </a:tc>
                <a:extLst>
                  <a:ext uri="{0D108BD9-81ED-4DB2-BD59-A6C34878D82A}">
                    <a16:rowId xmlns:a16="http://schemas.microsoft.com/office/drawing/2014/main" val="3244427934"/>
                  </a:ext>
                </a:extLst>
              </a:tr>
              <a:tr h="370840">
                <a:tc>
                  <a:txBody>
                    <a:bodyPr/>
                    <a:lstStyle/>
                    <a:p>
                      <a:r>
                        <a:rPr lang="de-DE" dirty="0"/>
                        <a:t>@UI.fieldGroup</a:t>
                      </a:r>
                    </a:p>
                  </a:txBody>
                  <a:tcPr/>
                </a:tc>
                <a:tc>
                  <a:txBody>
                    <a:bodyPr/>
                    <a:lstStyle/>
                    <a:p>
                      <a:r>
                        <a:rPr lang="de-DE" dirty="0"/>
                        <a:t>fachlich zusammengehörige Felder</a:t>
                      </a:r>
                    </a:p>
                  </a:txBody>
                  <a:tcPr/>
                </a:tc>
                <a:extLst>
                  <a:ext uri="{0D108BD9-81ED-4DB2-BD59-A6C34878D82A}">
                    <a16:rowId xmlns:a16="http://schemas.microsoft.com/office/drawing/2014/main" val="2430157316"/>
                  </a:ext>
                </a:extLst>
              </a:tr>
              <a:tr h="370840">
                <a:tc>
                  <a:txBody>
                    <a:bodyPr/>
                    <a:lstStyle/>
                    <a:p>
                      <a:r>
                        <a:rPr lang="de-DE" dirty="0"/>
                        <a:t>@UI.facet</a:t>
                      </a:r>
                    </a:p>
                  </a:txBody>
                  <a:tcPr/>
                </a:tc>
                <a:tc>
                  <a:txBody>
                    <a:bodyPr/>
                    <a:lstStyle/>
                    <a:p>
                      <a:r>
                        <a:rPr lang="de-DE" dirty="0"/>
                        <a:t>Gliederung und Einbindung in die </a:t>
                      </a:r>
                      <a:r>
                        <a:rPr lang="de-DE" dirty="0" err="1"/>
                        <a:t>Object</a:t>
                      </a:r>
                      <a:r>
                        <a:rPr lang="de-DE" dirty="0"/>
                        <a:t> Page</a:t>
                      </a:r>
                    </a:p>
                  </a:txBody>
                  <a:tcPr/>
                </a:tc>
                <a:extLst>
                  <a:ext uri="{0D108BD9-81ED-4DB2-BD59-A6C34878D82A}">
                    <a16:rowId xmlns:a16="http://schemas.microsoft.com/office/drawing/2014/main" val="2511283205"/>
                  </a:ext>
                </a:extLst>
              </a:tr>
            </a:tbl>
          </a:graphicData>
        </a:graphic>
      </p:graphicFrame>
    </p:spTree>
    <p:extLst>
      <p:ext uri="{BB962C8B-B14F-4D97-AF65-F5344CB8AC3E}">
        <p14:creationId xmlns:p14="http://schemas.microsoft.com/office/powerpoint/2010/main" val="3764823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FCF78A-9246-70DF-8E8A-1B61AE4B71AD}"/>
              </a:ext>
            </a:extLst>
          </p:cNvPr>
          <p:cNvSpPr>
            <a:spLocks noGrp="1"/>
          </p:cNvSpPr>
          <p:nvPr>
            <p:ph type="title"/>
          </p:nvPr>
        </p:nvSpPr>
        <p:spPr/>
        <p:txBody>
          <a:bodyPr/>
          <a:lstStyle/>
          <a:p>
            <a:r>
              <a:rPr lang="de-DE" dirty="0" err="1"/>
              <a:t>Object</a:t>
            </a:r>
            <a:r>
              <a:rPr lang="de-DE" dirty="0"/>
              <a:t> Page gestalten</a:t>
            </a:r>
          </a:p>
        </p:txBody>
      </p:sp>
      <p:sp>
        <p:nvSpPr>
          <p:cNvPr id="3" name="Inhaltsplatzhalter 2">
            <a:extLst>
              <a:ext uri="{FF2B5EF4-FFF2-40B4-BE49-F238E27FC236}">
                <a16:creationId xmlns:a16="http://schemas.microsoft.com/office/drawing/2014/main" id="{9C4D130E-3645-ED35-3F09-F1DD4DA26605}"/>
              </a:ext>
            </a:extLst>
          </p:cNvPr>
          <p:cNvSpPr>
            <a:spLocks noGrp="1"/>
          </p:cNvSpPr>
          <p:nvPr>
            <p:ph idx="1"/>
          </p:nvPr>
        </p:nvSpPr>
        <p:spPr/>
        <p:txBody>
          <a:bodyPr/>
          <a:lstStyle/>
          <a:p>
            <a:pPr marL="514350" lvl="0" indent="-514350">
              <a:buFont typeface="+mj-lt"/>
              <a:buAutoNum type="arabicPeriod"/>
            </a:pPr>
            <a:r>
              <a:rPr lang="de-DE" dirty="0"/>
              <a:t>den Auftrag mit @UI.headerInfo benennen, </a:t>
            </a:r>
          </a:p>
          <a:p>
            <a:pPr marL="514350" lvl="0" indent="-514350">
              <a:buFont typeface="+mj-lt"/>
              <a:buAutoNum type="arabicPeriod"/>
            </a:pPr>
            <a:r>
              <a:rPr lang="de-DE" dirty="0"/>
              <a:t>zentrale Felder mit @UI.identification hervorheben, </a:t>
            </a:r>
          </a:p>
          <a:p>
            <a:pPr marL="514350" lvl="0" indent="-514350">
              <a:buFont typeface="+mj-lt"/>
              <a:buAutoNum type="arabicPeriod"/>
            </a:pPr>
            <a:r>
              <a:rPr lang="de-DE" dirty="0"/>
              <a:t>die Auftragsdaten in Field Groups ordnen, </a:t>
            </a:r>
          </a:p>
          <a:p>
            <a:pPr marL="514350" lvl="0" indent="-514350">
              <a:buFont typeface="+mj-lt"/>
              <a:buAutoNum type="arabicPeriod"/>
            </a:pPr>
            <a:r>
              <a:rPr lang="de-DE" dirty="0"/>
              <a:t>diese Gruppen mit </a:t>
            </a:r>
            <a:r>
              <a:rPr lang="de-DE" dirty="0" err="1"/>
              <a:t>Facets</a:t>
            </a:r>
            <a:r>
              <a:rPr lang="de-DE" dirty="0"/>
              <a:t> in die </a:t>
            </a:r>
            <a:r>
              <a:rPr lang="de-DE" dirty="0" err="1"/>
              <a:t>Object</a:t>
            </a:r>
            <a:r>
              <a:rPr lang="de-DE" dirty="0"/>
              <a:t> Page einbinden, </a:t>
            </a:r>
          </a:p>
          <a:p>
            <a:pPr marL="514350" lvl="0" indent="-514350">
              <a:buFont typeface="+mj-lt"/>
              <a:buAutoNum type="arabicPeriod"/>
            </a:pPr>
            <a:r>
              <a:rPr lang="de-DE" dirty="0"/>
              <a:t>die Navigation vom List Report zur Detailseite testen.</a:t>
            </a:r>
          </a:p>
          <a:p>
            <a:pPr marL="514350" indent="-514350">
              <a:buFont typeface="+mj-lt"/>
              <a:buAutoNum type="arabicPeriod"/>
            </a:pPr>
            <a:endParaRPr lang="de-DE" dirty="0"/>
          </a:p>
        </p:txBody>
      </p:sp>
    </p:spTree>
    <p:extLst>
      <p:ext uri="{BB962C8B-B14F-4D97-AF65-F5344CB8AC3E}">
        <p14:creationId xmlns:p14="http://schemas.microsoft.com/office/powerpoint/2010/main" val="1668681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1F416D-CECC-28BC-B878-F13FC23B25DB}"/>
              </a:ext>
            </a:extLst>
          </p:cNvPr>
          <p:cNvSpPr>
            <a:spLocks noGrp="1"/>
          </p:cNvSpPr>
          <p:nvPr>
            <p:ph type="title"/>
          </p:nvPr>
        </p:nvSpPr>
        <p:spPr/>
        <p:txBody>
          <a:bodyPr/>
          <a:lstStyle/>
          <a:p>
            <a:r>
              <a:rPr lang="de-DE" dirty="0"/>
              <a:t>Ein Auftrag besteht nicht nur aus Feldern</a:t>
            </a:r>
          </a:p>
        </p:txBody>
      </p:sp>
      <p:pic>
        <p:nvPicPr>
          <p:cNvPr id="5" name="Inhaltsplatzhalter 4">
            <a:extLst>
              <a:ext uri="{FF2B5EF4-FFF2-40B4-BE49-F238E27FC236}">
                <a16:creationId xmlns:a16="http://schemas.microsoft.com/office/drawing/2014/main" id="{4C4D9FA1-5CC6-8BF9-67C5-36435DEAF270}"/>
              </a:ext>
            </a:extLst>
          </p:cNvPr>
          <p:cNvPicPr>
            <a:picLocks noGrp="1" noChangeAspect="1"/>
          </p:cNvPicPr>
          <p:nvPr>
            <p:ph idx="1"/>
          </p:nvPr>
        </p:nvPicPr>
        <p:blipFill>
          <a:blip r:embed="rId3"/>
          <a:stretch>
            <a:fillRect/>
          </a:stretch>
        </p:blipFill>
        <p:spPr>
          <a:xfrm>
            <a:off x="3504975" y="1907136"/>
            <a:ext cx="5182049" cy="4188315"/>
          </a:xfrm>
          <a:prstGeom prst="rect">
            <a:avLst/>
          </a:prstGeom>
        </p:spPr>
      </p:pic>
    </p:spTree>
    <p:extLst>
      <p:ext uri="{BB962C8B-B14F-4D97-AF65-F5344CB8AC3E}">
        <p14:creationId xmlns:p14="http://schemas.microsoft.com/office/powerpoint/2010/main" val="3145606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3A09BE-BEBF-6682-FF7B-82C47BFC27C4}"/>
              </a:ext>
            </a:extLst>
          </p:cNvPr>
          <p:cNvSpPr>
            <a:spLocks noGrp="1"/>
          </p:cNvSpPr>
          <p:nvPr>
            <p:ph type="title"/>
          </p:nvPr>
        </p:nvSpPr>
        <p:spPr/>
        <p:txBody>
          <a:bodyPr/>
          <a:lstStyle/>
          <a:p>
            <a:r>
              <a:rPr lang="de-DE" dirty="0"/>
              <a:t>Beide Entitäten gehören zum Service</a:t>
            </a:r>
          </a:p>
        </p:txBody>
      </p:sp>
      <p:pic>
        <p:nvPicPr>
          <p:cNvPr id="5" name="Inhaltsplatzhalter 4">
            <a:extLst>
              <a:ext uri="{FF2B5EF4-FFF2-40B4-BE49-F238E27FC236}">
                <a16:creationId xmlns:a16="http://schemas.microsoft.com/office/drawing/2014/main" id="{31462961-DF30-FD8C-A75C-2C40E4530EBE}"/>
              </a:ext>
            </a:extLst>
          </p:cNvPr>
          <p:cNvPicPr>
            <a:picLocks noGrp="1" noChangeAspect="1"/>
          </p:cNvPicPr>
          <p:nvPr>
            <p:ph idx="1"/>
          </p:nvPr>
        </p:nvPicPr>
        <p:blipFill>
          <a:blip r:embed="rId3"/>
          <a:stretch>
            <a:fillRect/>
          </a:stretch>
        </p:blipFill>
        <p:spPr>
          <a:xfrm>
            <a:off x="838200" y="1690688"/>
            <a:ext cx="10045292" cy="1738312"/>
          </a:xfrm>
          <a:prstGeom prst="rect">
            <a:avLst/>
          </a:prstGeom>
        </p:spPr>
      </p:pic>
    </p:spTree>
    <p:extLst>
      <p:ext uri="{BB962C8B-B14F-4D97-AF65-F5344CB8AC3E}">
        <p14:creationId xmlns:p14="http://schemas.microsoft.com/office/powerpoint/2010/main" val="364161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71293-28EA-6C82-857D-50E366632DED}"/>
              </a:ext>
            </a:extLst>
          </p:cNvPr>
          <p:cNvSpPr>
            <a:spLocks noGrp="1"/>
          </p:cNvSpPr>
          <p:nvPr>
            <p:ph type="title"/>
          </p:nvPr>
        </p:nvSpPr>
        <p:spPr/>
        <p:txBody>
          <a:bodyPr/>
          <a:lstStyle/>
          <a:p>
            <a:r>
              <a:rPr lang="de-DE" dirty="0"/>
              <a:t>Die Zielentität gestaltet die Tabelle</a:t>
            </a:r>
          </a:p>
        </p:txBody>
      </p:sp>
      <p:sp>
        <p:nvSpPr>
          <p:cNvPr id="8" name="Textplatzhalter 7">
            <a:extLst>
              <a:ext uri="{FF2B5EF4-FFF2-40B4-BE49-F238E27FC236}">
                <a16:creationId xmlns:a16="http://schemas.microsoft.com/office/drawing/2014/main" id="{2178D4C9-204D-5307-C4E6-5E6984CA3EC0}"/>
              </a:ext>
            </a:extLst>
          </p:cNvPr>
          <p:cNvSpPr>
            <a:spLocks noGrp="1"/>
          </p:cNvSpPr>
          <p:nvPr>
            <p:ph type="body" idx="1"/>
          </p:nvPr>
        </p:nvSpPr>
        <p:spPr/>
        <p:txBody>
          <a:bodyPr/>
          <a:lstStyle/>
          <a:p>
            <a:r>
              <a:rPr lang="de-DE" dirty="0"/>
              <a:t>Auftragsentität</a:t>
            </a:r>
          </a:p>
        </p:txBody>
      </p:sp>
      <p:pic>
        <p:nvPicPr>
          <p:cNvPr id="13" name="Inhaltsplatzhalter 12">
            <a:extLst>
              <a:ext uri="{FF2B5EF4-FFF2-40B4-BE49-F238E27FC236}">
                <a16:creationId xmlns:a16="http://schemas.microsoft.com/office/drawing/2014/main" id="{D88D0460-A99B-53E9-1711-98F5D703D8B1}"/>
              </a:ext>
            </a:extLst>
          </p:cNvPr>
          <p:cNvPicPr>
            <a:picLocks noGrp="1" noChangeAspect="1"/>
          </p:cNvPicPr>
          <p:nvPr>
            <p:ph sz="half" idx="2"/>
          </p:nvPr>
        </p:nvPicPr>
        <p:blipFill>
          <a:blip r:embed="rId3"/>
          <a:stretch>
            <a:fillRect/>
          </a:stretch>
        </p:blipFill>
        <p:spPr>
          <a:xfrm>
            <a:off x="836612" y="2505074"/>
            <a:ext cx="5255852" cy="2238375"/>
          </a:xfrm>
          <a:prstGeom prst="rect">
            <a:avLst/>
          </a:prstGeom>
        </p:spPr>
      </p:pic>
      <p:sp>
        <p:nvSpPr>
          <p:cNvPr id="10" name="Textplatzhalter 9">
            <a:extLst>
              <a:ext uri="{FF2B5EF4-FFF2-40B4-BE49-F238E27FC236}">
                <a16:creationId xmlns:a16="http://schemas.microsoft.com/office/drawing/2014/main" id="{1E0C44C5-D3BA-CDC7-D36F-D13C2059BDB2}"/>
              </a:ext>
            </a:extLst>
          </p:cNvPr>
          <p:cNvSpPr>
            <a:spLocks noGrp="1"/>
          </p:cNvSpPr>
          <p:nvPr>
            <p:ph type="body" sz="quarter" idx="3"/>
          </p:nvPr>
        </p:nvSpPr>
        <p:spPr/>
        <p:txBody>
          <a:bodyPr/>
          <a:lstStyle/>
          <a:p>
            <a:r>
              <a:rPr lang="de-DE" dirty="0" err="1"/>
              <a:t>Positionentiät</a:t>
            </a:r>
            <a:endParaRPr lang="de-DE" dirty="0"/>
          </a:p>
        </p:txBody>
      </p:sp>
      <p:pic>
        <p:nvPicPr>
          <p:cNvPr id="15" name="Inhaltsplatzhalter 14">
            <a:extLst>
              <a:ext uri="{FF2B5EF4-FFF2-40B4-BE49-F238E27FC236}">
                <a16:creationId xmlns:a16="http://schemas.microsoft.com/office/drawing/2014/main" id="{BDB2686E-FDB2-88A1-4781-141F7B382AE4}"/>
              </a:ext>
            </a:extLst>
          </p:cNvPr>
          <p:cNvPicPr>
            <a:picLocks noGrp="1" noChangeAspect="1"/>
          </p:cNvPicPr>
          <p:nvPr>
            <p:ph sz="quarter" idx="4"/>
          </p:nvPr>
        </p:nvPicPr>
        <p:blipFill>
          <a:blip r:embed="rId4"/>
          <a:stretch>
            <a:fillRect/>
          </a:stretch>
        </p:blipFill>
        <p:spPr>
          <a:xfrm>
            <a:off x="6172200" y="2714397"/>
            <a:ext cx="3257550" cy="3824563"/>
          </a:xfrm>
          <a:prstGeom prst="rect">
            <a:avLst/>
          </a:prstGeom>
        </p:spPr>
      </p:pic>
    </p:spTree>
    <p:extLst>
      <p:ext uri="{BB962C8B-B14F-4D97-AF65-F5344CB8AC3E}">
        <p14:creationId xmlns:p14="http://schemas.microsoft.com/office/powerpoint/2010/main" val="1162973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6DE9E2-505B-FFA2-0675-0450E086A08C}"/>
              </a:ext>
            </a:extLst>
          </p:cNvPr>
          <p:cNvSpPr>
            <a:spLocks noGrp="1"/>
          </p:cNvSpPr>
          <p:nvPr>
            <p:ph type="title"/>
          </p:nvPr>
        </p:nvSpPr>
        <p:spPr/>
        <p:txBody>
          <a:bodyPr/>
          <a:lstStyle/>
          <a:p>
            <a:r>
              <a:rPr lang="de-DE" dirty="0"/>
              <a:t>Typische Fehlerquellen</a:t>
            </a:r>
          </a:p>
        </p:txBody>
      </p:sp>
      <p:sp>
        <p:nvSpPr>
          <p:cNvPr id="3" name="Inhaltsplatzhalter 2">
            <a:extLst>
              <a:ext uri="{FF2B5EF4-FFF2-40B4-BE49-F238E27FC236}">
                <a16:creationId xmlns:a16="http://schemas.microsoft.com/office/drawing/2014/main" id="{45C040D4-9E5F-3D20-BF9E-BC44172805BA}"/>
              </a:ext>
            </a:extLst>
          </p:cNvPr>
          <p:cNvSpPr>
            <a:spLocks noGrp="1"/>
          </p:cNvSpPr>
          <p:nvPr>
            <p:ph idx="1"/>
          </p:nvPr>
        </p:nvSpPr>
        <p:spPr/>
        <p:txBody>
          <a:bodyPr/>
          <a:lstStyle/>
          <a:p>
            <a:pPr lvl="0"/>
            <a:r>
              <a:rPr lang="de-DE" dirty="0"/>
              <a:t>Ist _Items im Datenmodell definiert? </a:t>
            </a:r>
          </a:p>
          <a:p>
            <a:pPr lvl="0"/>
            <a:r>
              <a:rPr lang="de-DE" dirty="0"/>
              <a:t>Wird _Items in der </a:t>
            </a:r>
            <a:r>
              <a:rPr lang="de-DE" dirty="0" err="1"/>
              <a:t>Projection</a:t>
            </a:r>
            <a:r>
              <a:rPr lang="de-DE" dirty="0"/>
              <a:t> exponiert? </a:t>
            </a:r>
          </a:p>
          <a:p>
            <a:pPr lvl="0"/>
            <a:r>
              <a:rPr lang="de-DE" dirty="0"/>
              <a:t>Ist die Positionsentität im Service enthalten? </a:t>
            </a:r>
          </a:p>
          <a:p>
            <a:pPr lvl="0"/>
            <a:r>
              <a:rPr lang="de-DE" dirty="0"/>
              <a:t>Stimmt </a:t>
            </a:r>
            <a:r>
              <a:rPr lang="de-DE" dirty="0" err="1"/>
              <a:t>targetElement</a:t>
            </a:r>
            <a:r>
              <a:rPr lang="de-DE" dirty="0"/>
              <a:t>: '_Items'? </a:t>
            </a:r>
          </a:p>
          <a:p>
            <a:pPr lvl="0"/>
            <a:r>
              <a:rPr lang="de-DE" dirty="0"/>
              <a:t>Besitzt die Zielentität @UI.lineItem-Annotationen? </a:t>
            </a:r>
          </a:p>
          <a:p>
            <a:pPr lvl="0"/>
            <a:r>
              <a:rPr lang="de-DE" dirty="0"/>
              <a:t>Wurde das Service Binding aktualisiert?</a:t>
            </a:r>
          </a:p>
          <a:p>
            <a:endParaRPr lang="de-DE" dirty="0"/>
          </a:p>
        </p:txBody>
      </p:sp>
    </p:spTree>
    <p:extLst>
      <p:ext uri="{BB962C8B-B14F-4D97-AF65-F5344CB8AC3E}">
        <p14:creationId xmlns:p14="http://schemas.microsoft.com/office/powerpoint/2010/main" val="638438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DB229E-C787-DE34-2FDC-220F9777EA19}"/>
              </a:ext>
            </a:extLst>
          </p:cNvPr>
          <p:cNvSpPr>
            <a:spLocks noGrp="1"/>
          </p:cNvSpPr>
          <p:nvPr>
            <p:ph type="title"/>
          </p:nvPr>
        </p:nvSpPr>
        <p:spPr/>
        <p:txBody>
          <a:bodyPr/>
          <a:lstStyle/>
          <a:p>
            <a:r>
              <a:rPr lang="de-DE" dirty="0"/>
              <a:t>Darstellung der Positionsdaten</a:t>
            </a:r>
          </a:p>
        </p:txBody>
      </p:sp>
      <p:sp>
        <p:nvSpPr>
          <p:cNvPr id="3" name="Inhaltsplatzhalter 2">
            <a:extLst>
              <a:ext uri="{FF2B5EF4-FFF2-40B4-BE49-F238E27FC236}">
                <a16:creationId xmlns:a16="http://schemas.microsoft.com/office/drawing/2014/main" id="{DC401DA8-5F8B-10E2-5E31-920A25A928F3}"/>
              </a:ext>
            </a:extLst>
          </p:cNvPr>
          <p:cNvSpPr>
            <a:spLocks noGrp="1"/>
          </p:cNvSpPr>
          <p:nvPr>
            <p:ph idx="1"/>
          </p:nvPr>
        </p:nvSpPr>
        <p:spPr/>
        <p:txBody>
          <a:bodyPr/>
          <a:lstStyle/>
          <a:p>
            <a:pPr marL="514350" lvl="0" indent="-514350">
              <a:buFont typeface="+mj-lt"/>
              <a:buAutoNum type="arabicPeriod"/>
            </a:pPr>
            <a:r>
              <a:rPr lang="de-DE" dirty="0"/>
              <a:t>den Navigationspfad _Items im CDS-Modell überprüfen, </a:t>
            </a:r>
          </a:p>
          <a:p>
            <a:pPr marL="514350" lvl="0" indent="-514350">
              <a:buFont typeface="+mj-lt"/>
              <a:buAutoNum type="arabicPeriod"/>
            </a:pPr>
            <a:r>
              <a:rPr lang="de-DE" dirty="0"/>
              <a:t>eine </a:t>
            </a:r>
            <a:r>
              <a:rPr lang="de-DE" dirty="0" err="1"/>
              <a:t>Metadata</a:t>
            </a:r>
            <a:r>
              <a:rPr lang="de-DE" dirty="0"/>
              <a:t> Extension für die Positionsentität anlegen, </a:t>
            </a:r>
          </a:p>
          <a:p>
            <a:pPr marL="514350" lvl="0" indent="-514350">
              <a:buFont typeface="+mj-lt"/>
              <a:buAutoNum type="arabicPeriod"/>
            </a:pPr>
            <a:r>
              <a:rPr lang="de-DE" dirty="0"/>
              <a:t>deren Tabellenspalten mit @UI.lineItem definieren, </a:t>
            </a:r>
          </a:p>
          <a:p>
            <a:pPr marL="514350" lvl="0" indent="-514350">
              <a:buFont typeface="+mj-lt"/>
              <a:buAutoNum type="arabicPeriod"/>
            </a:pPr>
            <a:r>
              <a:rPr lang="de-DE" dirty="0"/>
              <a:t>auf der </a:t>
            </a:r>
            <a:r>
              <a:rPr lang="de-DE" dirty="0" err="1"/>
              <a:t>Object</a:t>
            </a:r>
            <a:r>
              <a:rPr lang="de-DE" dirty="0"/>
              <a:t> Page eine #LINEITEM_REFERENCE ergänzen, </a:t>
            </a:r>
          </a:p>
          <a:p>
            <a:pPr marL="514350" lvl="0" indent="-514350">
              <a:buFont typeface="+mj-lt"/>
              <a:buAutoNum type="arabicPeriod"/>
            </a:pPr>
            <a:r>
              <a:rPr lang="de-DE" dirty="0"/>
              <a:t>die Navigation vom Auftrag zu seinen Positionen testen.</a:t>
            </a:r>
          </a:p>
          <a:p>
            <a:endParaRPr lang="de-DE" dirty="0"/>
          </a:p>
        </p:txBody>
      </p:sp>
    </p:spTree>
    <p:extLst>
      <p:ext uri="{BB962C8B-B14F-4D97-AF65-F5344CB8AC3E}">
        <p14:creationId xmlns:p14="http://schemas.microsoft.com/office/powerpoint/2010/main" val="3138167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F0A45B-6187-2E6B-0993-C9C2E624A3B8}"/>
              </a:ext>
            </a:extLst>
          </p:cNvPr>
          <p:cNvSpPr>
            <a:spLocks noGrp="1"/>
          </p:cNvSpPr>
          <p:nvPr>
            <p:ph type="title"/>
          </p:nvPr>
        </p:nvSpPr>
        <p:spPr/>
        <p:txBody>
          <a:bodyPr/>
          <a:lstStyle/>
          <a:p>
            <a:r>
              <a:rPr lang="de-DE" dirty="0"/>
              <a:t>Von Daten zu visuellen Aussagen</a:t>
            </a:r>
          </a:p>
        </p:txBody>
      </p:sp>
      <p:graphicFrame>
        <p:nvGraphicFramePr>
          <p:cNvPr id="4" name="Inhaltsplatzhalter 3">
            <a:extLst>
              <a:ext uri="{FF2B5EF4-FFF2-40B4-BE49-F238E27FC236}">
                <a16:creationId xmlns:a16="http://schemas.microsoft.com/office/drawing/2014/main" id="{25B01BBF-8C22-AC52-9092-09418877A485}"/>
              </a:ext>
            </a:extLst>
          </p:cNvPr>
          <p:cNvGraphicFramePr>
            <a:graphicFrameLocks noGrp="1"/>
          </p:cNvGraphicFramePr>
          <p:nvPr>
            <p:ph idx="1"/>
            <p:extLst>
              <p:ext uri="{D42A27DB-BD31-4B8C-83A1-F6EECF244321}">
                <p14:modId xmlns:p14="http://schemas.microsoft.com/office/powerpoint/2010/main" val="685176013"/>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88178897"/>
                    </a:ext>
                  </a:extLst>
                </a:gridCol>
                <a:gridCol w="5257800">
                  <a:extLst>
                    <a:ext uri="{9D8B030D-6E8A-4147-A177-3AD203B41FA5}">
                      <a16:colId xmlns:a16="http://schemas.microsoft.com/office/drawing/2014/main" val="3939415743"/>
                    </a:ext>
                  </a:extLst>
                </a:gridCol>
              </a:tblGrid>
              <a:tr h="370840">
                <a:tc>
                  <a:txBody>
                    <a:bodyPr/>
                    <a:lstStyle/>
                    <a:p>
                      <a:r>
                        <a:rPr lang="de-DE" dirty="0"/>
                        <a:t>Annotation</a:t>
                      </a:r>
                    </a:p>
                  </a:txBody>
                  <a:tcPr/>
                </a:tc>
                <a:tc>
                  <a:txBody>
                    <a:bodyPr/>
                    <a:lstStyle/>
                    <a:p>
                      <a:r>
                        <a:rPr lang="de-DE" dirty="0"/>
                        <a:t>Aussage</a:t>
                      </a:r>
                    </a:p>
                  </a:txBody>
                  <a:tcPr/>
                </a:tc>
                <a:extLst>
                  <a:ext uri="{0D108BD9-81ED-4DB2-BD59-A6C34878D82A}">
                    <a16:rowId xmlns:a16="http://schemas.microsoft.com/office/drawing/2014/main" val="435556974"/>
                  </a:ext>
                </a:extLst>
              </a:tr>
              <a:tr h="370840">
                <a:tc>
                  <a:txBody>
                    <a:bodyPr/>
                    <a:lstStyle/>
                    <a:p>
                      <a:r>
                        <a:rPr lang="de-DE" dirty="0">
                          <a:latin typeface="Courier New" panose="02070309020205020404" pitchFamily="49" charset="0"/>
                          <a:cs typeface="Courier New" panose="02070309020205020404" pitchFamily="49" charset="0"/>
                        </a:rPr>
                        <a:t>@UI.dataPoint</a:t>
                      </a:r>
                    </a:p>
                  </a:txBody>
                  <a:tcPr/>
                </a:tc>
                <a:tc>
                  <a:txBody>
                    <a:bodyPr/>
                    <a:lstStyle/>
                    <a:p>
                      <a:r>
                        <a:rPr lang="de-DE" dirty="0"/>
                        <a:t>Das ist eine wichtige Kennzahl</a:t>
                      </a:r>
                    </a:p>
                  </a:txBody>
                  <a:tcPr/>
                </a:tc>
                <a:extLst>
                  <a:ext uri="{0D108BD9-81ED-4DB2-BD59-A6C34878D82A}">
                    <a16:rowId xmlns:a16="http://schemas.microsoft.com/office/drawing/2014/main" val="3937832017"/>
                  </a:ext>
                </a:extLst>
              </a:tr>
              <a:tr h="370840">
                <a:tc>
                  <a:txBody>
                    <a:bodyPr/>
                    <a:lstStyle/>
                    <a:p>
                      <a:r>
                        <a:rPr lang="de-DE" dirty="0" err="1">
                          <a:latin typeface="Courier New" panose="02070309020205020404" pitchFamily="49" charset="0"/>
                          <a:cs typeface="Courier New" panose="02070309020205020404" pitchFamily="49" charset="0"/>
                        </a:rPr>
                        <a:t>criticality</a:t>
                      </a:r>
                      <a:endParaRPr lang="de-DE" dirty="0">
                        <a:latin typeface="Courier New" panose="02070309020205020404" pitchFamily="49" charset="0"/>
                        <a:cs typeface="Courier New" panose="02070309020205020404" pitchFamily="49" charset="0"/>
                      </a:endParaRPr>
                    </a:p>
                  </a:txBody>
                  <a:tcPr/>
                </a:tc>
                <a:tc>
                  <a:txBody>
                    <a:bodyPr/>
                    <a:lstStyle/>
                    <a:p>
                      <a:r>
                        <a:rPr lang="de-DE" dirty="0"/>
                        <a:t>So ist der Wert zu bewerten</a:t>
                      </a:r>
                    </a:p>
                  </a:txBody>
                  <a:tcPr/>
                </a:tc>
                <a:extLst>
                  <a:ext uri="{0D108BD9-81ED-4DB2-BD59-A6C34878D82A}">
                    <a16:rowId xmlns:a16="http://schemas.microsoft.com/office/drawing/2014/main" val="3687383033"/>
                  </a:ext>
                </a:extLst>
              </a:tr>
              <a:tr h="370840">
                <a:tc>
                  <a:txBody>
                    <a:bodyPr/>
                    <a:lstStyle/>
                    <a:p>
                      <a:r>
                        <a:rPr lang="de-DE" dirty="0">
                          <a:latin typeface="Courier New" panose="02070309020205020404" pitchFamily="49" charset="0"/>
                          <a:cs typeface="Courier New" panose="02070309020205020404" pitchFamily="49" charset="0"/>
                        </a:rPr>
                        <a:t>@UI.chart</a:t>
                      </a:r>
                    </a:p>
                  </a:txBody>
                  <a:tcPr/>
                </a:tc>
                <a:tc>
                  <a:txBody>
                    <a:bodyPr/>
                    <a:lstStyle/>
                    <a:p>
                      <a:r>
                        <a:rPr lang="de-DE" dirty="0"/>
                        <a:t>So verteilen sich die Werte</a:t>
                      </a:r>
                    </a:p>
                  </a:txBody>
                  <a:tcPr/>
                </a:tc>
                <a:extLst>
                  <a:ext uri="{0D108BD9-81ED-4DB2-BD59-A6C34878D82A}">
                    <a16:rowId xmlns:a16="http://schemas.microsoft.com/office/drawing/2014/main" val="2011386955"/>
                  </a:ext>
                </a:extLst>
              </a:tr>
            </a:tbl>
          </a:graphicData>
        </a:graphic>
      </p:graphicFrame>
    </p:spTree>
    <p:extLst>
      <p:ext uri="{BB962C8B-B14F-4D97-AF65-F5344CB8AC3E}">
        <p14:creationId xmlns:p14="http://schemas.microsoft.com/office/powerpoint/2010/main" val="2526558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ACC96A-9E89-59A4-CFF0-2064EC79CA62}"/>
              </a:ext>
            </a:extLst>
          </p:cNvPr>
          <p:cNvSpPr>
            <a:spLocks noGrp="1"/>
          </p:cNvSpPr>
          <p:nvPr>
            <p:ph type="title"/>
          </p:nvPr>
        </p:nvSpPr>
        <p:spPr/>
        <p:txBody>
          <a:bodyPr/>
          <a:lstStyle/>
          <a:p>
            <a:r>
              <a:rPr lang="de-DE" dirty="0"/>
              <a:t>Kennzahlen mit </a:t>
            </a:r>
            <a:r>
              <a:rPr lang="de-DE" dirty="0">
                <a:latin typeface="Courier New" panose="02070309020205020404" pitchFamily="49" charset="0"/>
                <a:cs typeface="Courier New" panose="02070309020205020404" pitchFamily="49" charset="0"/>
              </a:rPr>
              <a:t>@UI.dataPoint</a:t>
            </a:r>
          </a:p>
        </p:txBody>
      </p:sp>
      <p:sp>
        <p:nvSpPr>
          <p:cNvPr id="4" name="Inhaltsplatzhalter 3">
            <a:extLst>
              <a:ext uri="{FF2B5EF4-FFF2-40B4-BE49-F238E27FC236}">
                <a16:creationId xmlns:a16="http://schemas.microsoft.com/office/drawing/2014/main" id="{3683E5EF-9EA2-415D-0521-65F21A55EBC6}"/>
              </a:ext>
            </a:extLst>
          </p:cNvPr>
          <p:cNvSpPr>
            <a:spLocks noGrp="1"/>
          </p:cNvSpPr>
          <p:nvPr>
            <p:ph sz="half" idx="1"/>
          </p:nvPr>
        </p:nvSpPr>
        <p:spPr/>
        <p:txBody>
          <a:bodyPr/>
          <a:lstStyle/>
          <a:p>
            <a:pPr marL="0" indent="0">
              <a:buNone/>
            </a:pPr>
            <a:r>
              <a:rPr lang="de-DE" dirty="0"/>
              <a:t>Ein Data Point beschreibt:</a:t>
            </a:r>
          </a:p>
          <a:p>
            <a:pPr lvl="0"/>
            <a:r>
              <a:rPr lang="de-DE" dirty="0"/>
              <a:t>den Wert </a:t>
            </a:r>
          </a:p>
          <a:p>
            <a:pPr lvl="0"/>
            <a:r>
              <a:rPr lang="de-DE" dirty="0"/>
              <a:t>einen fachlichen Titel </a:t>
            </a:r>
          </a:p>
          <a:p>
            <a:pPr lvl="0"/>
            <a:r>
              <a:rPr lang="de-DE" dirty="0"/>
              <a:t>optional Einheit oder Währung </a:t>
            </a:r>
          </a:p>
          <a:p>
            <a:pPr lvl="0"/>
            <a:r>
              <a:rPr lang="de-DE" dirty="0"/>
              <a:t>optional Zielwert und </a:t>
            </a:r>
            <a:r>
              <a:rPr lang="de-DE" dirty="0" err="1"/>
              <a:t>Criticality</a:t>
            </a:r>
            <a:endParaRPr lang="de-DE" dirty="0"/>
          </a:p>
          <a:p>
            <a:endParaRPr lang="de-DE" dirty="0"/>
          </a:p>
        </p:txBody>
      </p:sp>
      <p:pic>
        <p:nvPicPr>
          <p:cNvPr id="7" name="Inhaltsplatzhalter 6">
            <a:extLst>
              <a:ext uri="{FF2B5EF4-FFF2-40B4-BE49-F238E27FC236}">
                <a16:creationId xmlns:a16="http://schemas.microsoft.com/office/drawing/2014/main" id="{916E8AFF-A96E-6841-6E11-C135D7745D4A}"/>
              </a:ext>
            </a:extLst>
          </p:cNvPr>
          <p:cNvPicPr>
            <a:picLocks noGrp="1" noChangeAspect="1"/>
          </p:cNvPicPr>
          <p:nvPr>
            <p:ph sz="half" idx="2"/>
          </p:nvPr>
        </p:nvPicPr>
        <p:blipFill>
          <a:blip r:embed="rId3"/>
          <a:stretch>
            <a:fillRect/>
          </a:stretch>
        </p:blipFill>
        <p:spPr>
          <a:xfrm>
            <a:off x="6362016" y="1825625"/>
            <a:ext cx="5276813" cy="1782548"/>
          </a:xfrm>
          <a:prstGeom prst="rect">
            <a:avLst/>
          </a:prstGeom>
        </p:spPr>
      </p:pic>
    </p:spTree>
    <p:extLst>
      <p:ext uri="{BB962C8B-B14F-4D97-AF65-F5344CB8AC3E}">
        <p14:creationId xmlns:p14="http://schemas.microsoft.com/office/powerpoint/2010/main" val="1041579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435AB8-8D2E-1C18-378E-4AA9FE2C349B}"/>
              </a:ext>
            </a:extLst>
          </p:cNvPr>
          <p:cNvSpPr>
            <a:spLocks noGrp="1"/>
          </p:cNvSpPr>
          <p:nvPr>
            <p:ph type="title"/>
          </p:nvPr>
        </p:nvSpPr>
        <p:spPr/>
        <p:txBody>
          <a:bodyPr/>
          <a:lstStyle/>
          <a:p>
            <a:r>
              <a:rPr lang="de-DE" dirty="0"/>
              <a:t>Data Point im Kopfbereich</a:t>
            </a:r>
          </a:p>
        </p:txBody>
      </p:sp>
      <p:sp>
        <p:nvSpPr>
          <p:cNvPr id="4" name="Inhaltsplatzhalter 3">
            <a:extLst>
              <a:ext uri="{FF2B5EF4-FFF2-40B4-BE49-F238E27FC236}">
                <a16:creationId xmlns:a16="http://schemas.microsoft.com/office/drawing/2014/main" id="{B2E6C7F8-A362-6A09-BE8A-8325C97C158C}"/>
              </a:ext>
            </a:extLst>
          </p:cNvPr>
          <p:cNvSpPr>
            <a:spLocks noGrp="1"/>
          </p:cNvSpPr>
          <p:nvPr>
            <p:ph sz="half" idx="1"/>
          </p:nvPr>
        </p:nvSpPr>
        <p:spPr/>
        <p:txBody>
          <a:bodyPr/>
          <a:lstStyle/>
          <a:p>
            <a:pPr marL="0" indent="0">
              <a:buNone/>
            </a:pPr>
            <a:r>
              <a:rPr lang="de-DE" dirty="0"/>
              <a:t>Fiori Elements übernimmt:</a:t>
            </a:r>
          </a:p>
          <a:p>
            <a:pPr lvl="0"/>
            <a:r>
              <a:rPr lang="de-DE" dirty="0"/>
              <a:t>den Wert aus </a:t>
            </a:r>
            <a:r>
              <a:rPr lang="de-DE" dirty="0" err="1"/>
              <a:t>TotalNetAmount</a:t>
            </a:r>
            <a:r>
              <a:rPr lang="de-DE" dirty="0"/>
              <a:t> </a:t>
            </a:r>
          </a:p>
          <a:p>
            <a:pPr lvl="0"/>
            <a:r>
              <a:rPr lang="de-DE" dirty="0"/>
              <a:t>die Währung aus der Betragssemantik </a:t>
            </a:r>
          </a:p>
          <a:p>
            <a:pPr lvl="0"/>
            <a:r>
              <a:rPr lang="de-DE" dirty="0"/>
              <a:t>die Bewertung aus </a:t>
            </a:r>
            <a:r>
              <a:rPr lang="de-DE" dirty="0" err="1"/>
              <a:t>OrderCriticality</a:t>
            </a:r>
            <a:r>
              <a:rPr lang="de-DE" dirty="0"/>
              <a:t> </a:t>
            </a:r>
          </a:p>
          <a:p>
            <a:pPr lvl="0"/>
            <a:r>
              <a:rPr lang="de-DE" dirty="0"/>
              <a:t>die Darstellung im Kopfbereich </a:t>
            </a:r>
          </a:p>
          <a:p>
            <a:pPr marL="0" indent="0">
              <a:buNone/>
            </a:pPr>
            <a:r>
              <a:rPr lang="de-DE" b="1" dirty="0"/>
              <a:t>Eine zusätzliche Data-Point-</a:t>
            </a:r>
            <a:r>
              <a:rPr lang="de-DE" b="1" dirty="0" err="1"/>
              <a:t>Facet</a:t>
            </a:r>
            <a:r>
              <a:rPr lang="de-DE" b="1" dirty="0"/>
              <a:t> ist nicht erforderlich.</a:t>
            </a:r>
            <a:endParaRPr lang="de-DE" dirty="0"/>
          </a:p>
          <a:p>
            <a:endParaRPr lang="de-DE" dirty="0"/>
          </a:p>
        </p:txBody>
      </p:sp>
      <p:pic>
        <p:nvPicPr>
          <p:cNvPr id="7" name="Inhaltsplatzhalter 6">
            <a:extLst>
              <a:ext uri="{FF2B5EF4-FFF2-40B4-BE49-F238E27FC236}">
                <a16:creationId xmlns:a16="http://schemas.microsoft.com/office/drawing/2014/main" id="{FA7BA378-C333-1FA5-ED0A-23C732C3D2F3}"/>
              </a:ext>
            </a:extLst>
          </p:cNvPr>
          <p:cNvPicPr>
            <a:picLocks noGrp="1" noChangeAspect="1"/>
          </p:cNvPicPr>
          <p:nvPr>
            <p:ph sz="half" idx="2"/>
          </p:nvPr>
        </p:nvPicPr>
        <p:blipFill>
          <a:blip r:embed="rId3"/>
          <a:stretch>
            <a:fillRect/>
          </a:stretch>
        </p:blipFill>
        <p:spPr>
          <a:xfrm>
            <a:off x="6562170" y="1690687"/>
            <a:ext cx="3517648" cy="4486275"/>
          </a:xfrm>
          <a:prstGeom prst="rect">
            <a:avLst/>
          </a:prstGeom>
        </p:spPr>
      </p:pic>
    </p:spTree>
    <p:extLst>
      <p:ext uri="{BB962C8B-B14F-4D97-AF65-F5344CB8AC3E}">
        <p14:creationId xmlns:p14="http://schemas.microsoft.com/office/powerpoint/2010/main" val="492118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41A9-3D8B-AECE-40C5-E4D8F90E3AFA}"/>
              </a:ext>
            </a:extLst>
          </p:cNvPr>
          <p:cNvSpPr>
            <a:spLocks noGrp="1"/>
          </p:cNvSpPr>
          <p:nvPr>
            <p:ph type="title"/>
          </p:nvPr>
        </p:nvSpPr>
        <p:spPr/>
        <p:txBody>
          <a:bodyPr/>
          <a:lstStyle/>
          <a:p>
            <a:r>
              <a:rPr lang="de-DE" dirty="0" err="1"/>
              <a:t>Criticality</a:t>
            </a:r>
            <a:r>
              <a:rPr lang="de-DE" dirty="0"/>
              <a:t>: Werte fachlich bewerten</a:t>
            </a:r>
          </a:p>
        </p:txBody>
      </p:sp>
      <p:graphicFrame>
        <p:nvGraphicFramePr>
          <p:cNvPr id="4" name="Inhaltsplatzhalter 3">
            <a:extLst>
              <a:ext uri="{FF2B5EF4-FFF2-40B4-BE49-F238E27FC236}">
                <a16:creationId xmlns:a16="http://schemas.microsoft.com/office/drawing/2014/main" id="{0834B369-B710-9136-474F-D13B93DB6C69}"/>
              </a:ext>
            </a:extLst>
          </p:cNvPr>
          <p:cNvGraphicFramePr>
            <a:graphicFrameLocks noGrp="1"/>
          </p:cNvGraphicFramePr>
          <p:nvPr>
            <p:ph idx="1"/>
            <p:extLst>
              <p:ext uri="{D42A27DB-BD31-4B8C-83A1-F6EECF244321}">
                <p14:modId xmlns:p14="http://schemas.microsoft.com/office/powerpoint/2010/main" val="911867641"/>
              </p:ext>
            </p:extLst>
          </p:nvPr>
        </p:nvGraphicFramePr>
        <p:xfrm>
          <a:off x="838200" y="1825625"/>
          <a:ext cx="10515597" cy="22250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33909546"/>
                    </a:ext>
                  </a:extLst>
                </a:gridCol>
                <a:gridCol w="3505199">
                  <a:extLst>
                    <a:ext uri="{9D8B030D-6E8A-4147-A177-3AD203B41FA5}">
                      <a16:colId xmlns:a16="http://schemas.microsoft.com/office/drawing/2014/main" val="496274640"/>
                    </a:ext>
                  </a:extLst>
                </a:gridCol>
                <a:gridCol w="3505199">
                  <a:extLst>
                    <a:ext uri="{9D8B030D-6E8A-4147-A177-3AD203B41FA5}">
                      <a16:colId xmlns:a16="http://schemas.microsoft.com/office/drawing/2014/main" val="1466444768"/>
                    </a:ext>
                  </a:extLst>
                </a:gridCol>
              </a:tblGrid>
              <a:tr h="370840">
                <a:tc>
                  <a:txBody>
                    <a:bodyPr/>
                    <a:lstStyle/>
                    <a:p>
                      <a:r>
                        <a:rPr lang="de-DE" dirty="0"/>
                        <a:t>Wert</a:t>
                      </a:r>
                    </a:p>
                  </a:txBody>
                  <a:tcPr/>
                </a:tc>
                <a:tc>
                  <a:txBody>
                    <a:bodyPr/>
                    <a:lstStyle/>
                    <a:p>
                      <a:r>
                        <a:rPr lang="de-DE" dirty="0"/>
                        <a:t>Bedeutung</a:t>
                      </a:r>
                    </a:p>
                  </a:txBody>
                  <a:tcPr/>
                </a:tc>
                <a:tc>
                  <a:txBody>
                    <a:bodyPr/>
                    <a:lstStyle/>
                    <a:p>
                      <a:r>
                        <a:rPr lang="de-DE" dirty="0"/>
                        <a:t>Typische Darstellung</a:t>
                      </a:r>
                    </a:p>
                  </a:txBody>
                  <a:tcPr/>
                </a:tc>
                <a:extLst>
                  <a:ext uri="{0D108BD9-81ED-4DB2-BD59-A6C34878D82A}">
                    <a16:rowId xmlns:a16="http://schemas.microsoft.com/office/drawing/2014/main" val="3036711273"/>
                  </a:ext>
                </a:extLst>
              </a:tr>
              <a:tr h="370840">
                <a:tc>
                  <a:txBody>
                    <a:bodyPr/>
                    <a:lstStyle/>
                    <a:p>
                      <a:r>
                        <a:rPr lang="de-DE" dirty="0"/>
                        <a:t>0</a:t>
                      </a:r>
                    </a:p>
                  </a:txBody>
                  <a:tcPr/>
                </a:tc>
                <a:tc>
                  <a:txBody>
                    <a:bodyPr/>
                    <a:lstStyle/>
                    <a:p>
                      <a:r>
                        <a:rPr lang="de-DE" dirty="0"/>
                        <a:t>neutral</a:t>
                      </a:r>
                    </a:p>
                  </a:txBody>
                  <a:tcPr/>
                </a:tc>
                <a:tc>
                  <a:txBody>
                    <a:bodyPr/>
                    <a:lstStyle/>
                    <a:p>
                      <a:r>
                        <a:rPr lang="de-DE" dirty="0"/>
                        <a:t>neutral</a:t>
                      </a:r>
                    </a:p>
                  </a:txBody>
                  <a:tcPr/>
                </a:tc>
                <a:extLst>
                  <a:ext uri="{0D108BD9-81ED-4DB2-BD59-A6C34878D82A}">
                    <a16:rowId xmlns:a16="http://schemas.microsoft.com/office/drawing/2014/main" val="138523795"/>
                  </a:ext>
                </a:extLst>
              </a:tr>
              <a:tr h="370840">
                <a:tc>
                  <a:txBody>
                    <a:bodyPr/>
                    <a:lstStyle/>
                    <a:p>
                      <a:r>
                        <a:rPr lang="de-DE" dirty="0"/>
                        <a:t>1</a:t>
                      </a:r>
                    </a:p>
                  </a:txBody>
                  <a:tcPr/>
                </a:tc>
                <a:tc>
                  <a:txBody>
                    <a:bodyPr/>
                    <a:lstStyle/>
                    <a:p>
                      <a:r>
                        <a:rPr lang="de-DE" dirty="0"/>
                        <a:t>negativ</a:t>
                      </a:r>
                    </a:p>
                  </a:txBody>
                  <a:tcPr/>
                </a:tc>
                <a:tc>
                  <a:txBody>
                    <a:bodyPr/>
                    <a:lstStyle/>
                    <a:p>
                      <a:r>
                        <a:rPr lang="de-DE" dirty="0"/>
                        <a:t>rot</a:t>
                      </a:r>
                    </a:p>
                  </a:txBody>
                  <a:tcPr/>
                </a:tc>
                <a:extLst>
                  <a:ext uri="{0D108BD9-81ED-4DB2-BD59-A6C34878D82A}">
                    <a16:rowId xmlns:a16="http://schemas.microsoft.com/office/drawing/2014/main" val="2575623008"/>
                  </a:ext>
                </a:extLst>
              </a:tr>
              <a:tr h="370840">
                <a:tc>
                  <a:txBody>
                    <a:bodyPr/>
                    <a:lstStyle/>
                    <a:p>
                      <a:r>
                        <a:rPr lang="de-DE" dirty="0"/>
                        <a:t>2</a:t>
                      </a:r>
                    </a:p>
                  </a:txBody>
                  <a:tcPr/>
                </a:tc>
                <a:tc>
                  <a:txBody>
                    <a:bodyPr/>
                    <a:lstStyle/>
                    <a:p>
                      <a:r>
                        <a:rPr lang="de-DE" dirty="0"/>
                        <a:t>kritisch</a:t>
                      </a:r>
                    </a:p>
                  </a:txBody>
                  <a:tcPr/>
                </a:tc>
                <a:tc>
                  <a:txBody>
                    <a:bodyPr/>
                    <a:lstStyle/>
                    <a:p>
                      <a:r>
                        <a:rPr lang="de-DE" dirty="0"/>
                        <a:t>orange</a:t>
                      </a:r>
                    </a:p>
                  </a:txBody>
                  <a:tcPr/>
                </a:tc>
                <a:extLst>
                  <a:ext uri="{0D108BD9-81ED-4DB2-BD59-A6C34878D82A}">
                    <a16:rowId xmlns:a16="http://schemas.microsoft.com/office/drawing/2014/main" val="2863485512"/>
                  </a:ext>
                </a:extLst>
              </a:tr>
              <a:tr h="370840">
                <a:tc>
                  <a:txBody>
                    <a:bodyPr/>
                    <a:lstStyle/>
                    <a:p>
                      <a:r>
                        <a:rPr lang="de-DE" dirty="0"/>
                        <a:t>3</a:t>
                      </a:r>
                    </a:p>
                  </a:txBody>
                  <a:tcPr/>
                </a:tc>
                <a:tc>
                  <a:txBody>
                    <a:bodyPr/>
                    <a:lstStyle/>
                    <a:p>
                      <a:r>
                        <a:rPr lang="de-DE" dirty="0"/>
                        <a:t>positiv</a:t>
                      </a:r>
                    </a:p>
                  </a:txBody>
                  <a:tcPr/>
                </a:tc>
                <a:tc>
                  <a:txBody>
                    <a:bodyPr/>
                    <a:lstStyle/>
                    <a:p>
                      <a:r>
                        <a:rPr lang="de-DE" dirty="0"/>
                        <a:t>grün</a:t>
                      </a:r>
                    </a:p>
                  </a:txBody>
                  <a:tcPr/>
                </a:tc>
                <a:extLst>
                  <a:ext uri="{0D108BD9-81ED-4DB2-BD59-A6C34878D82A}">
                    <a16:rowId xmlns:a16="http://schemas.microsoft.com/office/drawing/2014/main" val="2671925932"/>
                  </a:ext>
                </a:extLst>
              </a:tr>
              <a:tr h="370840">
                <a:tc>
                  <a:txBody>
                    <a:bodyPr/>
                    <a:lstStyle/>
                    <a:p>
                      <a:r>
                        <a:rPr lang="de-DE" dirty="0"/>
                        <a:t>5</a:t>
                      </a:r>
                    </a:p>
                  </a:txBody>
                  <a:tcPr/>
                </a:tc>
                <a:tc>
                  <a:txBody>
                    <a:bodyPr/>
                    <a:lstStyle/>
                    <a:p>
                      <a:r>
                        <a:rPr lang="de-DE" dirty="0"/>
                        <a:t>Information</a:t>
                      </a:r>
                    </a:p>
                  </a:txBody>
                  <a:tcPr/>
                </a:tc>
                <a:tc>
                  <a:txBody>
                    <a:bodyPr/>
                    <a:lstStyle/>
                    <a:p>
                      <a:r>
                        <a:rPr lang="de-DE" dirty="0"/>
                        <a:t>blau</a:t>
                      </a:r>
                    </a:p>
                  </a:txBody>
                  <a:tcPr/>
                </a:tc>
                <a:extLst>
                  <a:ext uri="{0D108BD9-81ED-4DB2-BD59-A6C34878D82A}">
                    <a16:rowId xmlns:a16="http://schemas.microsoft.com/office/drawing/2014/main" val="1563544033"/>
                  </a:ext>
                </a:extLst>
              </a:tr>
            </a:tbl>
          </a:graphicData>
        </a:graphic>
      </p:graphicFrame>
    </p:spTree>
    <p:extLst>
      <p:ext uri="{BB962C8B-B14F-4D97-AF65-F5344CB8AC3E}">
        <p14:creationId xmlns:p14="http://schemas.microsoft.com/office/powerpoint/2010/main" val="68936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48D1BD-A91D-1B91-1E1E-FB0A03379682}"/>
              </a:ext>
            </a:extLst>
          </p:cNvPr>
          <p:cNvSpPr>
            <a:spLocks noGrp="1"/>
          </p:cNvSpPr>
          <p:nvPr>
            <p:ph type="title"/>
          </p:nvPr>
        </p:nvSpPr>
        <p:spPr/>
        <p:txBody>
          <a:bodyPr/>
          <a:lstStyle/>
          <a:p>
            <a:r>
              <a:rPr lang="de-DE" dirty="0" err="1"/>
              <a:t>Criticality</a:t>
            </a:r>
            <a:r>
              <a:rPr lang="de-DE" dirty="0"/>
              <a:t> im Datenmodell bestimmen</a:t>
            </a:r>
          </a:p>
        </p:txBody>
      </p:sp>
      <p:pic>
        <p:nvPicPr>
          <p:cNvPr id="5" name="Inhaltsplatzhalter 4">
            <a:extLst>
              <a:ext uri="{FF2B5EF4-FFF2-40B4-BE49-F238E27FC236}">
                <a16:creationId xmlns:a16="http://schemas.microsoft.com/office/drawing/2014/main" id="{053F5CBD-3690-6534-936E-8ED67FF39245}"/>
              </a:ext>
            </a:extLst>
          </p:cNvPr>
          <p:cNvPicPr>
            <a:picLocks noGrp="1" noChangeAspect="1"/>
          </p:cNvPicPr>
          <p:nvPr>
            <p:ph idx="1"/>
          </p:nvPr>
        </p:nvPicPr>
        <p:blipFill>
          <a:blip r:embed="rId3"/>
          <a:stretch>
            <a:fillRect/>
          </a:stretch>
        </p:blipFill>
        <p:spPr>
          <a:xfrm>
            <a:off x="838199" y="1690688"/>
            <a:ext cx="9069269" cy="3728477"/>
          </a:xfrm>
          <a:prstGeom prst="rect">
            <a:avLst/>
          </a:prstGeom>
        </p:spPr>
      </p:pic>
    </p:spTree>
    <p:extLst>
      <p:ext uri="{BB962C8B-B14F-4D97-AF65-F5344CB8AC3E}">
        <p14:creationId xmlns:p14="http://schemas.microsoft.com/office/powerpoint/2010/main" val="3829369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77C9B1-3DF8-66E3-C4F8-870A3163772F}"/>
              </a:ext>
            </a:extLst>
          </p:cNvPr>
          <p:cNvSpPr>
            <a:spLocks noGrp="1"/>
          </p:cNvSpPr>
          <p:nvPr>
            <p:ph type="title"/>
          </p:nvPr>
        </p:nvSpPr>
        <p:spPr/>
        <p:txBody>
          <a:bodyPr/>
          <a:lstStyle/>
          <a:p>
            <a:r>
              <a:rPr lang="de-DE" dirty="0"/>
              <a:t>Diagramme mit </a:t>
            </a:r>
            <a:r>
              <a:rPr lang="de-DE" dirty="0">
                <a:latin typeface="Courier New" panose="02070309020205020404" pitchFamily="49" charset="0"/>
                <a:cs typeface="Courier New" panose="02070309020205020404" pitchFamily="49" charset="0"/>
              </a:rPr>
              <a:t>@UI.chart</a:t>
            </a:r>
          </a:p>
        </p:txBody>
      </p:sp>
      <p:graphicFrame>
        <p:nvGraphicFramePr>
          <p:cNvPr id="10" name="Inhaltsplatzhalter 9">
            <a:extLst>
              <a:ext uri="{FF2B5EF4-FFF2-40B4-BE49-F238E27FC236}">
                <a16:creationId xmlns:a16="http://schemas.microsoft.com/office/drawing/2014/main" id="{32C57766-1720-D47A-C34D-F7C393E07C88}"/>
              </a:ext>
            </a:extLst>
          </p:cNvPr>
          <p:cNvGraphicFramePr>
            <a:graphicFrameLocks noGrp="1"/>
          </p:cNvGraphicFramePr>
          <p:nvPr>
            <p:ph sz="half" idx="1"/>
            <p:extLst>
              <p:ext uri="{D42A27DB-BD31-4B8C-83A1-F6EECF244321}">
                <p14:modId xmlns:p14="http://schemas.microsoft.com/office/powerpoint/2010/main" val="1394802346"/>
              </p:ext>
            </p:extLst>
          </p:nvPr>
        </p:nvGraphicFramePr>
        <p:xfrm>
          <a:off x="838199" y="1825625"/>
          <a:ext cx="4942671" cy="1483360"/>
        </p:xfrm>
        <a:graphic>
          <a:graphicData uri="http://schemas.openxmlformats.org/drawingml/2006/table">
            <a:tbl>
              <a:tblPr firstRow="1" bandRow="1">
                <a:tableStyleId>{5C22544A-7EE6-4342-B048-85BDC9FD1C3A}</a:tableStyleId>
              </a:tblPr>
              <a:tblGrid>
                <a:gridCol w="1859075">
                  <a:extLst>
                    <a:ext uri="{9D8B030D-6E8A-4147-A177-3AD203B41FA5}">
                      <a16:colId xmlns:a16="http://schemas.microsoft.com/office/drawing/2014/main" val="265202510"/>
                    </a:ext>
                  </a:extLst>
                </a:gridCol>
                <a:gridCol w="3083596">
                  <a:extLst>
                    <a:ext uri="{9D8B030D-6E8A-4147-A177-3AD203B41FA5}">
                      <a16:colId xmlns:a16="http://schemas.microsoft.com/office/drawing/2014/main" val="1206056410"/>
                    </a:ext>
                  </a:extLst>
                </a:gridCol>
              </a:tblGrid>
              <a:tr h="370840">
                <a:tc>
                  <a:txBody>
                    <a:bodyPr/>
                    <a:lstStyle/>
                    <a:p>
                      <a:r>
                        <a:rPr lang="de-DE" dirty="0"/>
                        <a:t>Bestandteil</a:t>
                      </a:r>
                    </a:p>
                  </a:txBody>
                  <a:tcPr/>
                </a:tc>
                <a:tc>
                  <a:txBody>
                    <a:bodyPr/>
                    <a:lstStyle/>
                    <a:p>
                      <a:r>
                        <a:rPr lang="de-DE" dirty="0"/>
                        <a:t>Verwendung</a:t>
                      </a:r>
                    </a:p>
                  </a:txBody>
                  <a:tcPr/>
                </a:tc>
                <a:extLst>
                  <a:ext uri="{0D108BD9-81ED-4DB2-BD59-A6C34878D82A}">
                    <a16:rowId xmlns:a16="http://schemas.microsoft.com/office/drawing/2014/main" val="1641990341"/>
                  </a:ext>
                </a:extLst>
              </a:tr>
              <a:tr h="370840">
                <a:tc>
                  <a:txBody>
                    <a:bodyPr/>
                    <a:lstStyle/>
                    <a:p>
                      <a:r>
                        <a:rPr lang="de-DE" dirty="0" err="1">
                          <a:latin typeface="Courier New" panose="02070309020205020404" pitchFamily="49" charset="0"/>
                          <a:cs typeface="Courier New" panose="02070309020205020404" pitchFamily="49" charset="0"/>
                        </a:rPr>
                        <a:t>dimensions</a:t>
                      </a:r>
                      <a:endParaRPr lang="de-DE" dirty="0">
                        <a:latin typeface="Courier New" panose="02070309020205020404" pitchFamily="49" charset="0"/>
                        <a:cs typeface="Courier New" panose="02070309020205020404" pitchFamily="49" charset="0"/>
                      </a:endParaRPr>
                    </a:p>
                  </a:txBody>
                  <a:tcPr/>
                </a:tc>
                <a:tc>
                  <a:txBody>
                    <a:bodyPr/>
                    <a:lstStyle/>
                    <a:p>
                      <a:r>
                        <a:rPr lang="de-DE" dirty="0"/>
                        <a:t>Kategorien auf der Achse</a:t>
                      </a:r>
                    </a:p>
                  </a:txBody>
                  <a:tcPr/>
                </a:tc>
                <a:extLst>
                  <a:ext uri="{0D108BD9-81ED-4DB2-BD59-A6C34878D82A}">
                    <a16:rowId xmlns:a16="http://schemas.microsoft.com/office/drawing/2014/main" val="2010488592"/>
                  </a:ext>
                </a:extLst>
              </a:tr>
              <a:tr h="370840">
                <a:tc>
                  <a:txBody>
                    <a:bodyPr/>
                    <a:lstStyle/>
                    <a:p>
                      <a:r>
                        <a:rPr lang="de-DE" dirty="0" err="1">
                          <a:latin typeface="Courier New" panose="02070309020205020404" pitchFamily="49" charset="0"/>
                          <a:cs typeface="Courier New" panose="02070309020205020404" pitchFamily="49" charset="0"/>
                        </a:rPr>
                        <a:t>measures</a:t>
                      </a:r>
                      <a:endParaRPr lang="de-DE" dirty="0">
                        <a:latin typeface="Courier New" panose="02070309020205020404" pitchFamily="49" charset="0"/>
                        <a:cs typeface="Courier New" panose="02070309020205020404" pitchFamily="49" charset="0"/>
                      </a:endParaRPr>
                    </a:p>
                  </a:txBody>
                  <a:tcPr/>
                </a:tc>
                <a:tc>
                  <a:txBody>
                    <a:bodyPr/>
                    <a:lstStyle/>
                    <a:p>
                      <a:r>
                        <a:rPr lang="de-DE" dirty="0" err="1"/>
                        <a:t>numerischr</a:t>
                      </a:r>
                      <a:r>
                        <a:rPr lang="de-DE" dirty="0"/>
                        <a:t> Werte</a:t>
                      </a:r>
                    </a:p>
                  </a:txBody>
                  <a:tcPr/>
                </a:tc>
                <a:extLst>
                  <a:ext uri="{0D108BD9-81ED-4DB2-BD59-A6C34878D82A}">
                    <a16:rowId xmlns:a16="http://schemas.microsoft.com/office/drawing/2014/main" val="746139001"/>
                  </a:ext>
                </a:extLst>
              </a:tr>
              <a:tr h="370840">
                <a:tc>
                  <a:txBody>
                    <a:bodyPr/>
                    <a:lstStyle/>
                    <a:p>
                      <a:r>
                        <a:rPr lang="de-DE" dirty="0" err="1">
                          <a:latin typeface="Courier New" panose="02070309020205020404" pitchFamily="49" charset="0"/>
                          <a:cs typeface="Courier New" panose="02070309020205020404" pitchFamily="49" charset="0"/>
                        </a:rPr>
                        <a:t>chartType</a:t>
                      </a:r>
                      <a:endParaRPr lang="de-DE" dirty="0">
                        <a:latin typeface="Courier New" panose="02070309020205020404" pitchFamily="49" charset="0"/>
                        <a:cs typeface="Courier New" panose="02070309020205020404" pitchFamily="49" charset="0"/>
                      </a:endParaRPr>
                    </a:p>
                  </a:txBody>
                  <a:tcPr/>
                </a:tc>
                <a:tc>
                  <a:txBody>
                    <a:bodyPr/>
                    <a:lstStyle/>
                    <a:p>
                      <a:r>
                        <a:rPr lang="de-DE" dirty="0"/>
                        <a:t>Art der Darstellung</a:t>
                      </a:r>
                    </a:p>
                  </a:txBody>
                  <a:tcPr/>
                </a:tc>
                <a:extLst>
                  <a:ext uri="{0D108BD9-81ED-4DB2-BD59-A6C34878D82A}">
                    <a16:rowId xmlns:a16="http://schemas.microsoft.com/office/drawing/2014/main" val="2239321272"/>
                  </a:ext>
                </a:extLst>
              </a:tr>
            </a:tbl>
          </a:graphicData>
        </a:graphic>
      </p:graphicFrame>
      <p:pic>
        <p:nvPicPr>
          <p:cNvPr id="9" name="Inhaltsplatzhalter 8">
            <a:extLst>
              <a:ext uri="{FF2B5EF4-FFF2-40B4-BE49-F238E27FC236}">
                <a16:creationId xmlns:a16="http://schemas.microsoft.com/office/drawing/2014/main" id="{C87A798A-2A57-7B3C-FBA9-ED26F9E19D9F}"/>
              </a:ext>
            </a:extLst>
          </p:cNvPr>
          <p:cNvPicPr>
            <a:picLocks noGrp="1" noChangeAspect="1"/>
          </p:cNvPicPr>
          <p:nvPr>
            <p:ph sz="half" idx="2"/>
          </p:nvPr>
        </p:nvPicPr>
        <p:blipFill>
          <a:blip r:embed="rId3"/>
          <a:stretch>
            <a:fillRect/>
          </a:stretch>
        </p:blipFill>
        <p:spPr>
          <a:xfrm>
            <a:off x="6411130" y="1838817"/>
            <a:ext cx="5257912" cy="2518030"/>
          </a:xfrm>
          <a:prstGeom prst="rect">
            <a:avLst/>
          </a:prstGeom>
        </p:spPr>
      </p:pic>
    </p:spTree>
    <p:extLst>
      <p:ext uri="{BB962C8B-B14F-4D97-AF65-F5344CB8AC3E}">
        <p14:creationId xmlns:p14="http://schemas.microsoft.com/office/powerpoint/2010/main" val="325245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673561-673C-4051-7C67-AF27A24EB57B}"/>
              </a:ext>
            </a:extLst>
          </p:cNvPr>
          <p:cNvSpPr>
            <a:spLocks noGrp="1"/>
          </p:cNvSpPr>
          <p:nvPr>
            <p:ph type="title"/>
          </p:nvPr>
        </p:nvSpPr>
        <p:spPr/>
        <p:txBody>
          <a:bodyPr/>
          <a:lstStyle/>
          <a:p>
            <a:r>
              <a:rPr lang="de-DE" dirty="0"/>
              <a:t>Chart über eine Assoziation einbinden</a:t>
            </a:r>
          </a:p>
        </p:txBody>
      </p:sp>
      <p:pic>
        <p:nvPicPr>
          <p:cNvPr id="7" name="Inhaltsplatzhalter 6">
            <a:extLst>
              <a:ext uri="{FF2B5EF4-FFF2-40B4-BE49-F238E27FC236}">
                <a16:creationId xmlns:a16="http://schemas.microsoft.com/office/drawing/2014/main" id="{CE2E7F8A-0BAE-098F-2972-F706AB6FB72B}"/>
              </a:ext>
            </a:extLst>
          </p:cNvPr>
          <p:cNvPicPr>
            <a:picLocks noGrp="1" noChangeAspect="1"/>
          </p:cNvPicPr>
          <p:nvPr>
            <p:ph sz="half" idx="1"/>
          </p:nvPr>
        </p:nvPicPr>
        <p:blipFill>
          <a:blip r:embed="rId3"/>
          <a:stretch>
            <a:fillRect/>
          </a:stretch>
        </p:blipFill>
        <p:spPr>
          <a:xfrm>
            <a:off x="1015760" y="1825625"/>
            <a:ext cx="4772691" cy="1962424"/>
          </a:xfrm>
          <a:prstGeom prst="rect">
            <a:avLst/>
          </a:prstGeom>
        </p:spPr>
      </p:pic>
      <p:pic>
        <p:nvPicPr>
          <p:cNvPr id="9" name="Inhaltsplatzhalter 8">
            <a:extLst>
              <a:ext uri="{FF2B5EF4-FFF2-40B4-BE49-F238E27FC236}">
                <a16:creationId xmlns:a16="http://schemas.microsoft.com/office/drawing/2014/main" id="{76A8CB9C-CC92-925F-5517-42EFF8A1F21D}"/>
              </a:ext>
            </a:extLst>
          </p:cNvPr>
          <p:cNvPicPr>
            <a:picLocks noGrp="1" noChangeAspect="1"/>
          </p:cNvPicPr>
          <p:nvPr>
            <p:ph sz="half" idx="2"/>
          </p:nvPr>
        </p:nvPicPr>
        <p:blipFill>
          <a:blip r:embed="rId4"/>
          <a:stretch>
            <a:fillRect/>
          </a:stretch>
        </p:blipFill>
        <p:spPr>
          <a:xfrm>
            <a:off x="6330651" y="1825625"/>
            <a:ext cx="4864697" cy="4351338"/>
          </a:xfrm>
          <a:prstGeom prst="rect">
            <a:avLst/>
          </a:prstGeom>
        </p:spPr>
      </p:pic>
    </p:spTree>
    <p:extLst>
      <p:ext uri="{BB962C8B-B14F-4D97-AF65-F5344CB8AC3E}">
        <p14:creationId xmlns:p14="http://schemas.microsoft.com/office/powerpoint/2010/main" val="3431319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0D6EAA3-62FB-E036-73BA-3326D473AD16}"/>
              </a:ext>
            </a:extLst>
          </p:cNvPr>
          <p:cNvSpPr>
            <a:spLocks noGrp="1"/>
          </p:cNvSpPr>
          <p:nvPr>
            <p:ph type="title"/>
          </p:nvPr>
        </p:nvSpPr>
        <p:spPr/>
        <p:txBody>
          <a:bodyPr/>
          <a:lstStyle/>
          <a:p>
            <a:r>
              <a:rPr lang="de-DE" dirty="0"/>
              <a:t>Visuelle Elemente einfügen</a:t>
            </a:r>
          </a:p>
        </p:txBody>
      </p:sp>
      <p:sp>
        <p:nvSpPr>
          <p:cNvPr id="6" name="Inhaltsplatzhalter 5">
            <a:extLst>
              <a:ext uri="{FF2B5EF4-FFF2-40B4-BE49-F238E27FC236}">
                <a16:creationId xmlns:a16="http://schemas.microsoft.com/office/drawing/2014/main" id="{798B285B-2DED-EB72-91D5-F3943135645F}"/>
              </a:ext>
            </a:extLst>
          </p:cNvPr>
          <p:cNvSpPr>
            <a:spLocks noGrp="1"/>
          </p:cNvSpPr>
          <p:nvPr>
            <p:ph idx="1"/>
          </p:nvPr>
        </p:nvSpPr>
        <p:spPr/>
        <p:txBody>
          <a:bodyPr/>
          <a:lstStyle/>
          <a:p>
            <a:pPr marL="514350" lvl="0" indent="-514350">
              <a:buFont typeface="+mj-lt"/>
              <a:buAutoNum type="arabicPeriod"/>
            </a:pPr>
            <a:r>
              <a:rPr lang="de-DE" dirty="0" err="1"/>
              <a:t>OrderValue</a:t>
            </a:r>
            <a:r>
              <a:rPr lang="de-DE" dirty="0"/>
              <a:t> und </a:t>
            </a:r>
            <a:r>
              <a:rPr lang="de-DE" dirty="0" err="1"/>
              <a:t>OrderValueCriticality</a:t>
            </a:r>
            <a:r>
              <a:rPr lang="de-DE" dirty="0"/>
              <a:t> im Datenmodell zeigen </a:t>
            </a:r>
          </a:p>
          <a:p>
            <a:pPr marL="514350" lvl="0" indent="-514350">
              <a:buFont typeface="+mj-lt"/>
              <a:buAutoNum type="arabicPeriod"/>
            </a:pPr>
            <a:r>
              <a:rPr lang="de-DE" dirty="0"/>
              <a:t>@UI.dataPoint ergänzen </a:t>
            </a:r>
          </a:p>
          <a:p>
            <a:pPr marL="514350" lvl="0" indent="-514350">
              <a:buFont typeface="+mj-lt"/>
              <a:buAutoNum type="arabicPeriod"/>
            </a:pPr>
            <a:r>
              <a:rPr lang="de-DE" dirty="0"/>
              <a:t>Darstellung und </a:t>
            </a:r>
            <a:r>
              <a:rPr lang="de-DE" dirty="0" err="1"/>
              <a:t>Criticality</a:t>
            </a:r>
            <a:r>
              <a:rPr lang="de-DE" dirty="0"/>
              <a:t> im Kopfbereich testen </a:t>
            </a:r>
          </a:p>
          <a:p>
            <a:pPr marL="514350" lvl="0" indent="-514350">
              <a:buFont typeface="+mj-lt"/>
              <a:buAutoNum type="arabicPeriod"/>
            </a:pPr>
            <a:r>
              <a:rPr lang="de-DE" dirty="0"/>
              <a:t>@UI.chart an der Positionsentität definieren </a:t>
            </a:r>
          </a:p>
          <a:p>
            <a:pPr marL="514350" lvl="0" indent="-514350">
              <a:buFont typeface="+mj-lt"/>
              <a:buAutoNum type="arabicPeriod"/>
            </a:pPr>
            <a:r>
              <a:rPr lang="de-DE" dirty="0"/>
              <a:t>Chart über _Items in die </a:t>
            </a:r>
            <a:r>
              <a:rPr lang="de-DE" dirty="0" err="1"/>
              <a:t>Object</a:t>
            </a:r>
            <a:r>
              <a:rPr lang="de-DE" dirty="0"/>
              <a:t> Page einbinden </a:t>
            </a:r>
          </a:p>
          <a:p>
            <a:pPr marL="514350" lvl="0" indent="-514350">
              <a:buFont typeface="+mj-lt"/>
              <a:buAutoNum type="arabicPeriod"/>
            </a:pPr>
            <a:r>
              <a:rPr lang="de-DE" dirty="0"/>
              <a:t>Diagramm und Positionstabelle vergleichen</a:t>
            </a:r>
          </a:p>
          <a:p>
            <a:endParaRPr lang="de-DE" dirty="0"/>
          </a:p>
        </p:txBody>
      </p:sp>
    </p:spTree>
    <p:extLst>
      <p:ext uri="{BB962C8B-B14F-4D97-AF65-F5344CB8AC3E}">
        <p14:creationId xmlns:p14="http://schemas.microsoft.com/office/powerpoint/2010/main" val="2726241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72EB9B-AB01-732C-256A-FC752846EEAF}"/>
              </a:ext>
            </a:extLst>
          </p:cNvPr>
          <p:cNvSpPr>
            <a:spLocks noGrp="1"/>
          </p:cNvSpPr>
          <p:nvPr>
            <p:ph type="title"/>
          </p:nvPr>
        </p:nvSpPr>
        <p:spPr/>
        <p:txBody>
          <a:bodyPr/>
          <a:lstStyle/>
          <a:p>
            <a:r>
              <a:rPr lang="de-DE" dirty="0"/>
              <a:t>Von der Anwendung zur Analyse</a:t>
            </a:r>
          </a:p>
        </p:txBody>
      </p:sp>
      <p:graphicFrame>
        <p:nvGraphicFramePr>
          <p:cNvPr id="4" name="Inhaltsplatzhalter 3">
            <a:extLst>
              <a:ext uri="{FF2B5EF4-FFF2-40B4-BE49-F238E27FC236}">
                <a16:creationId xmlns:a16="http://schemas.microsoft.com/office/drawing/2014/main" id="{08971FA6-1EC9-967F-9455-CB30CFDD9BF0}"/>
              </a:ext>
            </a:extLst>
          </p:cNvPr>
          <p:cNvGraphicFramePr>
            <a:graphicFrameLocks noGrp="1"/>
          </p:cNvGraphicFramePr>
          <p:nvPr>
            <p:ph idx="1"/>
            <p:extLst>
              <p:ext uri="{D42A27DB-BD31-4B8C-83A1-F6EECF244321}">
                <p14:modId xmlns:p14="http://schemas.microsoft.com/office/powerpoint/2010/main" val="2788538215"/>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721310225"/>
                    </a:ext>
                  </a:extLst>
                </a:gridCol>
                <a:gridCol w="5257800">
                  <a:extLst>
                    <a:ext uri="{9D8B030D-6E8A-4147-A177-3AD203B41FA5}">
                      <a16:colId xmlns:a16="http://schemas.microsoft.com/office/drawing/2014/main" val="778046339"/>
                    </a:ext>
                  </a:extLst>
                </a:gridCol>
              </a:tblGrid>
              <a:tr h="370840">
                <a:tc>
                  <a:txBody>
                    <a:bodyPr/>
                    <a:lstStyle/>
                    <a:p>
                      <a:r>
                        <a:rPr lang="de-DE" dirty="0"/>
                        <a:t>Fiori-Elements-Anwendung</a:t>
                      </a:r>
                    </a:p>
                  </a:txBody>
                  <a:tcPr/>
                </a:tc>
                <a:tc>
                  <a:txBody>
                    <a:bodyPr/>
                    <a:lstStyle/>
                    <a:p>
                      <a:r>
                        <a:rPr lang="de-DE" dirty="0"/>
                        <a:t>Analytische Query</a:t>
                      </a:r>
                    </a:p>
                  </a:txBody>
                  <a:tcPr/>
                </a:tc>
                <a:extLst>
                  <a:ext uri="{0D108BD9-81ED-4DB2-BD59-A6C34878D82A}">
                    <a16:rowId xmlns:a16="http://schemas.microsoft.com/office/drawing/2014/main" val="3040595456"/>
                  </a:ext>
                </a:extLst>
              </a:tr>
              <a:tr h="370840">
                <a:tc>
                  <a:txBody>
                    <a:bodyPr/>
                    <a:lstStyle/>
                    <a:p>
                      <a:r>
                        <a:rPr lang="de-DE" dirty="0"/>
                        <a:t>einzelner Auftrag</a:t>
                      </a:r>
                    </a:p>
                  </a:txBody>
                  <a:tcPr/>
                </a:tc>
                <a:tc>
                  <a:txBody>
                    <a:bodyPr/>
                    <a:lstStyle/>
                    <a:p>
                      <a:r>
                        <a:rPr lang="de-DE" dirty="0"/>
                        <a:t>alle Aufträge</a:t>
                      </a:r>
                    </a:p>
                  </a:txBody>
                  <a:tcPr/>
                </a:tc>
                <a:extLst>
                  <a:ext uri="{0D108BD9-81ED-4DB2-BD59-A6C34878D82A}">
                    <a16:rowId xmlns:a16="http://schemas.microsoft.com/office/drawing/2014/main" val="1817581059"/>
                  </a:ext>
                </a:extLst>
              </a:tr>
              <a:tr h="370840">
                <a:tc>
                  <a:txBody>
                    <a:bodyPr/>
                    <a:lstStyle/>
                    <a:p>
                      <a:r>
                        <a:rPr lang="de-DE" dirty="0"/>
                        <a:t>feste </a:t>
                      </a:r>
                      <a:r>
                        <a:rPr lang="de-DE" dirty="0" err="1"/>
                        <a:t>Object</a:t>
                      </a:r>
                      <a:r>
                        <a:rPr lang="de-DE" dirty="0"/>
                        <a:t> Page</a:t>
                      </a:r>
                    </a:p>
                  </a:txBody>
                  <a:tcPr/>
                </a:tc>
                <a:tc>
                  <a:txBody>
                    <a:bodyPr/>
                    <a:lstStyle/>
                    <a:p>
                      <a:r>
                        <a:rPr lang="de-DE" dirty="0"/>
                        <a:t>flexible Auswertung</a:t>
                      </a:r>
                    </a:p>
                  </a:txBody>
                  <a:tcPr/>
                </a:tc>
                <a:extLst>
                  <a:ext uri="{0D108BD9-81ED-4DB2-BD59-A6C34878D82A}">
                    <a16:rowId xmlns:a16="http://schemas.microsoft.com/office/drawing/2014/main" val="2077352538"/>
                  </a:ext>
                </a:extLst>
              </a:tr>
              <a:tr h="370840">
                <a:tc>
                  <a:txBody>
                    <a:bodyPr/>
                    <a:lstStyle/>
                    <a:p>
                      <a:r>
                        <a:rPr lang="de-DE" dirty="0"/>
                        <a:t>Positionstabelle</a:t>
                      </a:r>
                    </a:p>
                  </a:txBody>
                  <a:tcPr/>
                </a:tc>
                <a:tc>
                  <a:txBody>
                    <a:bodyPr/>
                    <a:lstStyle/>
                    <a:p>
                      <a:r>
                        <a:rPr lang="de-DE" dirty="0"/>
                        <a:t>aggregierte Kennzahlen</a:t>
                      </a:r>
                    </a:p>
                  </a:txBody>
                  <a:tcPr/>
                </a:tc>
                <a:extLst>
                  <a:ext uri="{0D108BD9-81ED-4DB2-BD59-A6C34878D82A}">
                    <a16:rowId xmlns:a16="http://schemas.microsoft.com/office/drawing/2014/main" val="832607114"/>
                  </a:ext>
                </a:extLst>
              </a:tr>
              <a:tr h="370840">
                <a:tc>
                  <a:txBody>
                    <a:bodyPr/>
                    <a:lstStyle/>
                    <a:p>
                      <a:r>
                        <a:rPr lang="de-DE" dirty="0"/>
                        <a:t>Navigation</a:t>
                      </a:r>
                    </a:p>
                  </a:txBody>
                  <a:tcPr/>
                </a:tc>
                <a:tc>
                  <a:txBody>
                    <a:bodyPr/>
                    <a:lstStyle/>
                    <a:p>
                      <a:r>
                        <a:rPr lang="de-DE" dirty="0"/>
                        <a:t>Drilldown</a:t>
                      </a:r>
                    </a:p>
                  </a:txBody>
                  <a:tcPr/>
                </a:tc>
                <a:extLst>
                  <a:ext uri="{0D108BD9-81ED-4DB2-BD59-A6C34878D82A}">
                    <a16:rowId xmlns:a16="http://schemas.microsoft.com/office/drawing/2014/main" val="3064894170"/>
                  </a:ext>
                </a:extLst>
              </a:tr>
              <a:tr h="370840">
                <a:tc>
                  <a:txBody>
                    <a:bodyPr/>
                    <a:lstStyle/>
                    <a:p>
                      <a:r>
                        <a:rPr lang="de-DE" dirty="0"/>
                        <a:t>transaktional Verwendung</a:t>
                      </a:r>
                    </a:p>
                  </a:txBody>
                  <a:tcPr/>
                </a:tc>
                <a:tc>
                  <a:txBody>
                    <a:bodyPr/>
                    <a:lstStyle/>
                    <a:p>
                      <a:r>
                        <a:rPr lang="de-DE" dirty="0"/>
                        <a:t>analytische Verwendung</a:t>
                      </a:r>
                    </a:p>
                  </a:txBody>
                  <a:tcPr/>
                </a:tc>
                <a:extLst>
                  <a:ext uri="{0D108BD9-81ED-4DB2-BD59-A6C34878D82A}">
                    <a16:rowId xmlns:a16="http://schemas.microsoft.com/office/drawing/2014/main" val="609449205"/>
                  </a:ext>
                </a:extLst>
              </a:tr>
            </a:tbl>
          </a:graphicData>
        </a:graphic>
      </p:graphicFrame>
      <p:sp>
        <p:nvSpPr>
          <p:cNvPr id="6" name="Textfeld 5">
            <a:extLst>
              <a:ext uri="{FF2B5EF4-FFF2-40B4-BE49-F238E27FC236}">
                <a16:creationId xmlns:a16="http://schemas.microsoft.com/office/drawing/2014/main" id="{C6DA2EC9-B1C8-D823-5803-B7962AAB868C}"/>
              </a:ext>
            </a:extLst>
          </p:cNvPr>
          <p:cNvSpPr txBox="1"/>
          <p:nvPr/>
        </p:nvSpPr>
        <p:spPr>
          <a:xfrm>
            <a:off x="6096000" y="4282584"/>
            <a:ext cx="5486400" cy="1200329"/>
          </a:xfrm>
          <a:prstGeom prst="rect">
            <a:avLst/>
          </a:prstGeom>
          <a:noFill/>
        </p:spPr>
        <p:txBody>
          <a:bodyPr wrap="square">
            <a:spAutoFit/>
          </a:bodyPr>
          <a:lstStyle/>
          <a:p>
            <a:pPr>
              <a:buNone/>
            </a:pPr>
            <a:r>
              <a:rPr lang="de-DE" dirty="0"/>
              <a:t>Fragestellungen:</a:t>
            </a:r>
          </a:p>
          <a:p>
            <a:pPr marL="342900" lvl="0" indent="-342900">
              <a:buFont typeface="Arial" panose="020B0604020202020204" pitchFamily="34" charset="0"/>
              <a:buChar char="•"/>
            </a:pPr>
            <a:r>
              <a:rPr lang="de-DE" dirty="0"/>
              <a:t>Welcher Umsatz entfällt auf ein Produkt? </a:t>
            </a:r>
          </a:p>
          <a:p>
            <a:pPr marL="342900" lvl="0" indent="-342900">
              <a:buFont typeface="Arial" panose="020B0604020202020204" pitchFamily="34" charset="0"/>
              <a:buChar char="•"/>
            </a:pPr>
            <a:r>
              <a:rPr lang="de-DE" dirty="0"/>
              <a:t>Wie unterscheiden sich Verkaufsorganisationen? </a:t>
            </a:r>
          </a:p>
          <a:p>
            <a:pPr marL="342900" lvl="0" indent="-342900">
              <a:buFont typeface="Arial" panose="020B0604020202020204" pitchFamily="34" charset="0"/>
              <a:buChar char="•"/>
            </a:pPr>
            <a:r>
              <a:rPr lang="de-DE" dirty="0"/>
              <a:t>Wie entwickelt sich der Umsatz im Zeitverlauf?</a:t>
            </a:r>
          </a:p>
        </p:txBody>
      </p:sp>
    </p:spTree>
    <p:extLst>
      <p:ext uri="{BB962C8B-B14F-4D97-AF65-F5344CB8AC3E}">
        <p14:creationId xmlns:p14="http://schemas.microsoft.com/office/powerpoint/2010/main" val="714939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8B9370-E538-D46A-BA35-FB01B68D9F6F}"/>
              </a:ext>
            </a:extLst>
          </p:cNvPr>
          <p:cNvSpPr>
            <a:spLocks noGrp="1"/>
          </p:cNvSpPr>
          <p:nvPr>
            <p:ph type="title"/>
          </p:nvPr>
        </p:nvSpPr>
        <p:spPr/>
        <p:txBody>
          <a:bodyPr/>
          <a:lstStyle/>
          <a:p>
            <a:r>
              <a:rPr lang="de-DE" dirty="0"/>
              <a:t>Merkmale und Kennzahlen</a:t>
            </a:r>
          </a:p>
        </p:txBody>
      </p:sp>
      <p:graphicFrame>
        <p:nvGraphicFramePr>
          <p:cNvPr id="4" name="Inhaltsplatzhalter 3">
            <a:extLst>
              <a:ext uri="{FF2B5EF4-FFF2-40B4-BE49-F238E27FC236}">
                <a16:creationId xmlns:a16="http://schemas.microsoft.com/office/drawing/2014/main" id="{0B322490-3390-C49A-2D14-E46C9DEC1DF7}"/>
              </a:ext>
            </a:extLst>
          </p:cNvPr>
          <p:cNvGraphicFramePr>
            <a:graphicFrameLocks noGrp="1"/>
          </p:cNvGraphicFramePr>
          <p:nvPr>
            <p:ph idx="1"/>
            <p:extLst>
              <p:ext uri="{D42A27DB-BD31-4B8C-83A1-F6EECF244321}">
                <p14:modId xmlns:p14="http://schemas.microsoft.com/office/powerpoint/2010/main" val="1243198637"/>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118275557"/>
                    </a:ext>
                  </a:extLst>
                </a:gridCol>
                <a:gridCol w="5257800">
                  <a:extLst>
                    <a:ext uri="{9D8B030D-6E8A-4147-A177-3AD203B41FA5}">
                      <a16:colId xmlns:a16="http://schemas.microsoft.com/office/drawing/2014/main" val="1215708812"/>
                    </a:ext>
                  </a:extLst>
                </a:gridCol>
              </a:tblGrid>
              <a:tr h="370840">
                <a:tc>
                  <a:txBody>
                    <a:bodyPr/>
                    <a:lstStyle/>
                    <a:p>
                      <a:r>
                        <a:rPr lang="de-DE" dirty="0"/>
                        <a:t>Merkmale</a:t>
                      </a:r>
                    </a:p>
                  </a:txBody>
                  <a:tcPr/>
                </a:tc>
                <a:tc>
                  <a:txBody>
                    <a:bodyPr/>
                    <a:lstStyle/>
                    <a:p>
                      <a:r>
                        <a:rPr lang="de-DE" dirty="0"/>
                        <a:t>Kennzahlen</a:t>
                      </a:r>
                    </a:p>
                  </a:txBody>
                  <a:tcPr/>
                </a:tc>
                <a:extLst>
                  <a:ext uri="{0D108BD9-81ED-4DB2-BD59-A6C34878D82A}">
                    <a16:rowId xmlns:a16="http://schemas.microsoft.com/office/drawing/2014/main" val="2727366300"/>
                  </a:ext>
                </a:extLst>
              </a:tr>
              <a:tr h="370840">
                <a:tc>
                  <a:txBody>
                    <a:bodyPr/>
                    <a:lstStyle/>
                    <a:p>
                      <a:r>
                        <a:rPr lang="de-DE" dirty="0"/>
                        <a:t>Produkt</a:t>
                      </a:r>
                    </a:p>
                  </a:txBody>
                  <a:tcPr/>
                </a:tc>
                <a:tc>
                  <a:txBody>
                    <a:bodyPr/>
                    <a:lstStyle/>
                    <a:p>
                      <a:r>
                        <a:rPr lang="de-DE" dirty="0"/>
                        <a:t>Nettobetrag</a:t>
                      </a:r>
                    </a:p>
                  </a:txBody>
                  <a:tcPr/>
                </a:tc>
                <a:extLst>
                  <a:ext uri="{0D108BD9-81ED-4DB2-BD59-A6C34878D82A}">
                    <a16:rowId xmlns:a16="http://schemas.microsoft.com/office/drawing/2014/main" val="2875683577"/>
                  </a:ext>
                </a:extLst>
              </a:tr>
              <a:tr h="370840">
                <a:tc>
                  <a:txBody>
                    <a:bodyPr/>
                    <a:lstStyle/>
                    <a:p>
                      <a:r>
                        <a:rPr lang="de-DE" dirty="0"/>
                        <a:t>Verkaufsorganisation</a:t>
                      </a:r>
                    </a:p>
                  </a:txBody>
                  <a:tcPr/>
                </a:tc>
                <a:tc>
                  <a:txBody>
                    <a:bodyPr/>
                    <a:lstStyle/>
                    <a:p>
                      <a:r>
                        <a:rPr lang="de-DE" dirty="0"/>
                        <a:t>Menge</a:t>
                      </a:r>
                    </a:p>
                  </a:txBody>
                  <a:tcPr/>
                </a:tc>
                <a:extLst>
                  <a:ext uri="{0D108BD9-81ED-4DB2-BD59-A6C34878D82A}">
                    <a16:rowId xmlns:a16="http://schemas.microsoft.com/office/drawing/2014/main" val="250995181"/>
                  </a:ext>
                </a:extLst>
              </a:tr>
              <a:tr h="370840">
                <a:tc>
                  <a:txBody>
                    <a:bodyPr/>
                    <a:lstStyle/>
                    <a:p>
                      <a:r>
                        <a:rPr lang="de-DE" dirty="0"/>
                        <a:t>Auftragsdatum</a:t>
                      </a:r>
                    </a:p>
                  </a:txBody>
                  <a:tcPr/>
                </a:tc>
                <a:tc>
                  <a:txBody>
                    <a:bodyPr/>
                    <a:lstStyle/>
                    <a:p>
                      <a:r>
                        <a:rPr lang="de-DE" dirty="0"/>
                        <a:t>Anzahl</a:t>
                      </a:r>
                    </a:p>
                  </a:txBody>
                  <a:tcPr/>
                </a:tc>
                <a:extLst>
                  <a:ext uri="{0D108BD9-81ED-4DB2-BD59-A6C34878D82A}">
                    <a16:rowId xmlns:a16="http://schemas.microsoft.com/office/drawing/2014/main" val="557489796"/>
                  </a:ext>
                </a:extLst>
              </a:tr>
              <a:tr h="370840">
                <a:tc>
                  <a:txBody>
                    <a:bodyPr/>
                    <a:lstStyle/>
                    <a:p>
                      <a:r>
                        <a:rPr lang="de-DE" dirty="0"/>
                        <a:t>Kunde</a:t>
                      </a:r>
                    </a:p>
                  </a:txBody>
                  <a:tcPr/>
                </a:tc>
                <a:tc>
                  <a:txBody>
                    <a:bodyPr/>
                    <a:lstStyle/>
                    <a:p>
                      <a:r>
                        <a:rPr lang="de-DE" dirty="0"/>
                        <a:t>Durchschnitt</a:t>
                      </a:r>
                    </a:p>
                  </a:txBody>
                  <a:tcPr/>
                </a:tc>
                <a:extLst>
                  <a:ext uri="{0D108BD9-81ED-4DB2-BD59-A6C34878D82A}">
                    <a16:rowId xmlns:a16="http://schemas.microsoft.com/office/drawing/2014/main" val="1051057411"/>
                  </a:ext>
                </a:extLst>
              </a:tr>
            </a:tbl>
          </a:graphicData>
        </a:graphic>
      </p:graphicFrame>
    </p:spTree>
    <p:extLst>
      <p:ext uri="{BB962C8B-B14F-4D97-AF65-F5344CB8AC3E}">
        <p14:creationId xmlns:p14="http://schemas.microsoft.com/office/powerpoint/2010/main" val="985813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9A0C24-CB7E-020B-8688-D77DAAB19D86}"/>
              </a:ext>
            </a:extLst>
          </p:cNvPr>
          <p:cNvSpPr>
            <a:spLocks noGrp="1"/>
          </p:cNvSpPr>
          <p:nvPr>
            <p:ph type="title"/>
          </p:nvPr>
        </p:nvSpPr>
        <p:spPr/>
        <p:txBody>
          <a:bodyPr/>
          <a:lstStyle/>
          <a:p>
            <a:r>
              <a:rPr lang="de-DE" dirty="0"/>
              <a:t>Das analytische CDS-Modell</a:t>
            </a:r>
          </a:p>
        </p:txBody>
      </p:sp>
      <p:graphicFrame>
        <p:nvGraphicFramePr>
          <p:cNvPr id="4" name="Inhaltsplatzhalter 3">
            <a:extLst>
              <a:ext uri="{FF2B5EF4-FFF2-40B4-BE49-F238E27FC236}">
                <a16:creationId xmlns:a16="http://schemas.microsoft.com/office/drawing/2014/main" id="{130F805F-C630-12F8-0FCF-C154838AD41A}"/>
              </a:ext>
            </a:extLst>
          </p:cNvPr>
          <p:cNvGraphicFramePr>
            <a:graphicFrameLocks noGrp="1"/>
          </p:cNvGraphicFramePr>
          <p:nvPr>
            <p:ph idx="1"/>
            <p:extLst>
              <p:ext uri="{D42A27DB-BD31-4B8C-83A1-F6EECF244321}">
                <p14:modId xmlns:p14="http://schemas.microsoft.com/office/powerpoint/2010/main" val="514740946"/>
              </p:ext>
            </p:extLst>
          </p:nvPr>
        </p:nvGraphicFramePr>
        <p:xfrm>
          <a:off x="838200" y="1825625"/>
          <a:ext cx="9483436" cy="1483360"/>
        </p:xfrm>
        <a:graphic>
          <a:graphicData uri="http://schemas.openxmlformats.org/drawingml/2006/table">
            <a:tbl>
              <a:tblPr firstRow="1" bandRow="1">
                <a:tableStyleId>{5C22544A-7EE6-4342-B048-85BDC9FD1C3A}</a:tableStyleId>
              </a:tblPr>
              <a:tblGrid>
                <a:gridCol w="1876844">
                  <a:extLst>
                    <a:ext uri="{9D8B030D-6E8A-4147-A177-3AD203B41FA5}">
                      <a16:colId xmlns:a16="http://schemas.microsoft.com/office/drawing/2014/main" val="113027062"/>
                    </a:ext>
                  </a:extLst>
                </a:gridCol>
                <a:gridCol w="7606592">
                  <a:extLst>
                    <a:ext uri="{9D8B030D-6E8A-4147-A177-3AD203B41FA5}">
                      <a16:colId xmlns:a16="http://schemas.microsoft.com/office/drawing/2014/main" val="3216919444"/>
                    </a:ext>
                  </a:extLst>
                </a:gridCol>
              </a:tblGrid>
              <a:tr h="370840">
                <a:tc>
                  <a:txBody>
                    <a:bodyPr/>
                    <a:lstStyle/>
                    <a:p>
                      <a:r>
                        <a:rPr lang="de-DE" dirty="0"/>
                        <a:t>Ebene</a:t>
                      </a:r>
                    </a:p>
                  </a:txBody>
                  <a:tcPr/>
                </a:tc>
                <a:tc>
                  <a:txBody>
                    <a:bodyPr/>
                    <a:lstStyle/>
                    <a:p>
                      <a:r>
                        <a:rPr lang="de-DE" dirty="0"/>
                        <a:t>Aufgabe</a:t>
                      </a:r>
                    </a:p>
                  </a:txBody>
                  <a:tcPr/>
                </a:tc>
                <a:extLst>
                  <a:ext uri="{0D108BD9-81ED-4DB2-BD59-A6C34878D82A}">
                    <a16:rowId xmlns:a16="http://schemas.microsoft.com/office/drawing/2014/main" val="3712932788"/>
                  </a:ext>
                </a:extLst>
              </a:tr>
              <a:tr h="370840">
                <a:tc>
                  <a:txBody>
                    <a:bodyPr/>
                    <a:lstStyle/>
                    <a:p>
                      <a:r>
                        <a:rPr lang="de-DE" dirty="0"/>
                        <a:t>Dimension</a:t>
                      </a:r>
                    </a:p>
                  </a:txBody>
                  <a:tcPr/>
                </a:tc>
                <a:tc>
                  <a:txBody>
                    <a:bodyPr/>
                    <a:lstStyle/>
                    <a:p>
                      <a:r>
                        <a:rPr lang="de-DE" dirty="0"/>
                        <a:t>Stammdaten und beschreibende Merkmale</a:t>
                      </a:r>
                    </a:p>
                  </a:txBody>
                  <a:tcPr/>
                </a:tc>
                <a:extLst>
                  <a:ext uri="{0D108BD9-81ED-4DB2-BD59-A6C34878D82A}">
                    <a16:rowId xmlns:a16="http://schemas.microsoft.com/office/drawing/2014/main" val="2319188703"/>
                  </a:ext>
                </a:extLst>
              </a:tr>
              <a:tr h="370840">
                <a:tc>
                  <a:txBody>
                    <a:bodyPr/>
                    <a:lstStyle/>
                    <a:p>
                      <a:r>
                        <a:rPr lang="de-DE" dirty="0"/>
                        <a:t>Cube</a:t>
                      </a:r>
                    </a:p>
                  </a:txBody>
                  <a:tcPr/>
                </a:tc>
                <a:tc>
                  <a:txBody>
                    <a:bodyPr/>
                    <a:lstStyle/>
                    <a:p>
                      <a:r>
                        <a:rPr lang="de-DE" dirty="0"/>
                        <a:t>Fakten, Kennzahlen und Beziehungen</a:t>
                      </a:r>
                    </a:p>
                  </a:txBody>
                  <a:tcPr/>
                </a:tc>
                <a:extLst>
                  <a:ext uri="{0D108BD9-81ED-4DB2-BD59-A6C34878D82A}">
                    <a16:rowId xmlns:a16="http://schemas.microsoft.com/office/drawing/2014/main" val="996206172"/>
                  </a:ext>
                </a:extLst>
              </a:tr>
              <a:tr h="370840">
                <a:tc>
                  <a:txBody>
                    <a:bodyPr/>
                    <a:lstStyle/>
                    <a:p>
                      <a:r>
                        <a:rPr lang="de-DE" dirty="0"/>
                        <a:t>Query</a:t>
                      </a:r>
                    </a:p>
                  </a:txBody>
                  <a:tcPr/>
                </a:tc>
                <a:tc>
                  <a:txBody>
                    <a:bodyPr/>
                    <a:lstStyle/>
                    <a:p>
                      <a:r>
                        <a:rPr lang="de-DE" dirty="0"/>
                        <a:t>Achsen, Drilldown und Verbrauchersicht</a:t>
                      </a:r>
                    </a:p>
                  </a:txBody>
                  <a:tcPr/>
                </a:tc>
                <a:extLst>
                  <a:ext uri="{0D108BD9-81ED-4DB2-BD59-A6C34878D82A}">
                    <a16:rowId xmlns:a16="http://schemas.microsoft.com/office/drawing/2014/main" val="3252939808"/>
                  </a:ext>
                </a:extLst>
              </a:tr>
            </a:tbl>
          </a:graphicData>
        </a:graphic>
      </p:graphicFrame>
      <p:sp>
        <p:nvSpPr>
          <p:cNvPr id="5" name="Rechteck 4">
            <a:extLst>
              <a:ext uri="{FF2B5EF4-FFF2-40B4-BE49-F238E27FC236}">
                <a16:creationId xmlns:a16="http://schemas.microsoft.com/office/drawing/2014/main" id="{9EE3C713-82FF-A72E-C982-D1DB578A893D}"/>
              </a:ext>
            </a:extLst>
          </p:cNvPr>
          <p:cNvSpPr/>
          <p:nvPr/>
        </p:nvSpPr>
        <p:spPr>
          <a:xfrm>
            <a:off x="5043055" y="3713018"/>
            <a:ext cx="2272145" cy="817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Query</a:t>
            </a:r>
          </a:p>
        </p:txBody>
      </p:sp>
      <p:sp>
        <p:nvSpPr>
          <p:cNvPr id="7" name="Rechteck 6">
            <a:extLst>
              <a:ext uri="{FF2B5EF4-FFF2-40B4-BE49-F238E27FC236}">
                <a16:creationId xmlns:a16="http://schemas.microsoft.com/office/drawing/2014/main" id="{8C3B6541-4FCC-FC3D-4087-0EA97189AE2B}"/>
              </a:ext>
            </a:extLst>
          </p:cNvPr>
          <p:cNvSpPr/>
          <p:nvPr/>
        </p:nvSpPr>
        <p:spPr>
          <a:xfrm>
            <a:off x="5043055" y="4835236"/>
            <a:ext cx="2272145" cy="817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Cube</a:t>
            </a:r>
          </a:p>
        </p:txBody>
      </p:sp>
      <p:sp>
        <p:nvSpPr>
          <p:cNvPr id="9" name="Rechteck 8">
            <a:extLst>
              <a:ext uri="{FF2B5EF4-FFF2-40B4-BE49-F238E27FC236}">
                <a16:creationId xmlns:a16="http://schemas.microsoft.com/office/drawing/2014/main" id="{9A97AE8F-E791-7C59-2A8F-9ECB788147F3}"/>
              </a:ext>
            </a:extLst>
          </p:cNvPr>
          <p:cNvSpPr/>
          <p:nvPr/>
        </p:nvSpPr>
        <p:spPr>
          <a:xfrm>
            <a:off x="2286000" y="4835236"/>
            <a:ext cx="2272145" cy="817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Dimension 1</a:t>
            </a:r>
          </a:p>
        </p:txBody>
      </p:sp>
      <p:sp>
        <p:nvSpPr>
          <p:cNvPr id="11" name="Rechteck 10">
            <a:extLst>
              <a:ext uri="{FF2B5EF4-FFF2-40B4-BE49-F238E27FC236}">
                <a16:creationId xmlns:a16="http://schemas.microsoft.com/office/drawing/2014/main" id="{C1BAFE1C-A6E2-BCA7-4910-E37AFC743933}"/>
              </a:ext>
            </a:extLst>
          </p:cNvPr>
          <p:cNvSpPr/>
          <p:nvPr/>
        </p:nvSpPr>
        <p:spPr>
          <a:xfrm>
            <a:off x="8049491" y="4835236"/>
            <a:ext cx="2272145" cy="8174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Dimension 2</a:t>
            </a:r>
          </a:p>
        </p:txBody>
      </p:sp>
      <p:cxnSp>
        <p:nvCxnSpPr>
          <p:cNvPr id="13" name="Gerade Verbindung mit Pfeil 12">
            <a:extLst>
              <a:ext uri="{FF2B5EF4-FFF2-40B4-BE49-F238E27FC236}">
                <a16:creationId xmlns:a16="http://schemas.microsoft.com/office/drawing/2014/main" id="{EE6B9513-032A-4C0B-C5DF-A341F400641B}"/>
              </a:ext>
            </a:extLst>
          </p:cNvPr>
          <p:cNvCxnSpPr>
            <a:stCxn id="7" idx="3"/>
            <a:endCxn id="11" idx="1"/>
          </p:cNvCxnSpPr>
          <p:nvPr/>
        </p:nvCxnSpPr>
        <p:spPr>
          <a:xfrm>
            <a:off x="7315200" y="5243945"/>
            <a:ext cx="73429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Gerade Verbindung mit Pfeil 14">
            <a:extLst>
              <a:ext uri="{FF2B5EF4-FFF2-40B4-BE49-F238E27FC236}">
                <a16:creationId xmlns:a16="http://schemas.microsoft.com/office/drawing/2014/main" id="{A6D23BB9-087A-5692-B014-1460C7BB8F65}"/>
              </a:ext>
            </a:extLst>
          </p:cNvPr>
          <p:cNvCxnSpPr>
            <a:cxnSpLocks/>
            <a:stCxn id="7" idx="1"/>
            <a:endCxn id="9" idx="3"/>
          </p:cNvCxnSpPr>
          <p:nvPr/>
        </p:nvCxnSpPr>
        <p:spPr>
          <a:xfrm flipH="1">
            <a:off x="4558145" y="5243945"/>
            <a:ext cx="484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Gerade Verbindung mit Pfeil 17">
            <a:extLst>
              <a:ext uri="{FF2B5EF4-FFF2-40B4-BE49-F238E27FC236}">
                <a16:creationId xmlns:a16="http://schemas.microsoft.com/office/drawing/2014/main" id="{A6D5DF4F-46FC-88F2-3977-3B19569B8F60}"/>
              </a:ext>
            </a:extLst>
          </p:cNvPr>
          <p:cNvCxnSpPr>
            <a:stCxn id="5" idx="2"/>
            <a:endCxn id="7" idx="0"/>
          </p:cNvCxnSpPr>
          <p:nvPr/>
        </p:nvCxnSpPr>
        <p:spPr>
          <a:xfrm>
            <a:off x="6179128" y="4530436"/>
            <a:ext cx="0" cy="304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7699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CB407E-36D4-25B0-A00D-3AF4D3952937}"/>
              </a:ext>
            </a:extLst>
          </p:cNvPr>
          <p:cNvSpPr>
            <a:spLocks noGrp="1"/>
          </p:cNvSpPr>
          <p:nvPr>
            <p:ph type="title"/>
          </p:nvPr>
        </p:nvSpPr>
        <p:spPr/>
        <p:txBody>
          <a:bodyPr/>
          <a:lstStyle/>
          <a:p>
            <a:r>
              <a:rPr lang="de-DE" dirty="0"/>
              <a:t>Dimensionen</a:t>
            </a:r>
          </a:p>
        </p:txBody>
      </p:sp>
      <p:sp>
        <p:nvSpPr>
          <p:cNvPr id="4" name="Inhaltsplatzhalter 3">
            <a:extLst>
              <a:ext uri="{FF2B5EF4-FFF2-40B4-BE49-F238E27FC236}">
                <a16:creationId xmlns:a16="http://schemas.microsoft.com/office/drawing/2014/main" id="{72BBE074-9951-6001-15F0-C67D1B79E2F7}"/>
              </a:ext>
            </a:extLst>
          </p:cNvPr>
          <p:cNvSpPr>
            <a:spLocks noGrp="1"/>
          </p:cNvSpPr>
          <p:nvPr>
            <p:ph sz="half" idx="1"/>
          </p:nvPr>
        </p:nvSpPr>
        <p:spPr/>
        <p:txBody>
          <a:bodyPr/>
          <a:lstStyle/>
          <a:p>
            <a:pPr marL="0" indent="0">
              <a:buNone/>
            </a:pPr>
            <a:r>
              <a:rPr lang="de-DE" dirty="0"/>
              <a:t>Eine Dimension besitzt:</a:t>
            </a:r>
          </a:p>
          <a:p>
            <a:pPr lvl="0"/>
            <a:r>
              <a:rPr lang="de-DE" dirty="0"/>
              <a:t>einen repräsentativen Schlüssel </a:t>
            </a:r>
          </a:p>
          <a:p>
            <a:pPr lvl="0"/>
            <a:r>
              <a:rPr lang="de-DE" dirty="0"/>
              <a:t>beschreibende Texte </a:t>
            </a:r>
          </a:p>
          <a:p>
            <a:pPr lvl="0"/>
            <a:r>
              <a:rPr lang="de-DE" dirty="0"/>
              <a:t>weitere Attribute </a:t>
            </a:r>
          </a:p>
          <a:p>
            <a:pPr lvl="0"/>
            <a:r>
              <a:rPr lang="de-DE" dirty="0"/>
              <a:t>später optional eine Hierarchie</a:t>
            </a:r>
          </a:p>
          <a:p>
            <a:endParaRPr lang="de-DE" dirty="0"/>
          </a:p>
        </p:txBody>
      </p:sp>
      <p:pic>
        <p:nvPicPr>
          <p:cNvPr id="7" name="Inhaltsplatzhalter 6">
            <a:extLst>
              <a:ext uri="{FF2B5EF4-FFF2-40B4-BE49-F238E27FC236}">
                <a16:creationId xmlns:a16="http://schemas.microsoft.com/office/drawing/2014/main" id="{DC43EE8C-5336-0D1E-8505-E425461876FB}"/>
              </a:ext>
            </a:extLst>
          </p:cNvPr>
          <p:cNvPicPr>
            <a:picLocks noGrp="1" noChangeAspect="1"/>
          </p:cNvPicPr>
          <p:nvPr>
            <p:ph sz="half" idx="2"/>
          </p:nvPr>
        </p:nvPicPr>
        <p:blipFill>
          <a:blip r:embed="rId3"/>
          <a:stretch>
            <a:fillRect/>
          </a:stretch>
        </p:blipFill>
        <p:spPr>
          <a:xfrm>
            <a:off x="6172202" y="1825625"/>
            <a:ext cx="5181600" cy="2720931"/>
          </a:xfrm>
          <a:prstGeom prst="rect">
            <a:avLst/>
          </a:prstGeom>
        </p:spPr>
      </p:pic>
    </p:spTree>
    <p:extLst>
      <p:ext uri="{BB962C8B-B14F-4D97-AF65-F5344CB8AC3E}">
        <p14:creationId xmlns:p14="http://schemas.microsoft.com/office/powerpoint/2010/main" val="1732912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D3F7E1-F283-836E-F640-50C89F0FE865}"/>
              </a:ext>
            </a:extLst>
          </p:cNvPr>
          <p:cNvSpPr>
            <a:spLocks noGrp="1"/>
          </p:cNvSpPr>
          <p:nvPr>
            <p:ph type="title"/>
          </p:nvPr>
        </p:nvSpPr>
        <p:spPr/>
        <p:txBody>
          <a:bodyPr/>
          <a:lstStyle/>
          <a:p>
            <a:r>
              <a:rPr lang="de-DE" dirty="0"/>
              <a:t>Der analytische Cube</a:t>
            </a:r>
          </a:p>
        </p:txBody>
      </p:sp>
      <p:pic>
        <p:nvPicPr>
          <p:cNvPr id="5" name="Inhaltsplatzhalter 4">
            <a:extLst>
              <a:ext uri="{FF2B5EF4-FFF2-40B4-BE49-F238E27FC236}">
                <a16:creationId xmlns:a16="http://schemas.microsoft.com/office/drawing/2014/main" id="{03D14047-BC8E-618D-B6BC-97E432BBB225}"/>
              </a:ext>
            </a:extLst>
          </p:cNvPr>
          <p:cNvPicPr>
            <a:picLocks noGrp="1" noChangeAspect="1"/>
          </p:cNvPicPr>
          <p:nvPr>
            <p:ph idx="1"/>
          </p:nvPr>
        </p:nvPicPr>
        <p:blipFill>
          <a:blip r:embed="rId3"/>
          <a:stretch>
            <a:fillRect/>
          </a:stretch>
        </p:blipFill>
        <p:spPr>
          <a:xfrm>
            <a:off x="838200" y="1479261"/>
            <a:ext cx="9156009" cy="5013614"/>
          </a:xfrm>
          <a:prstGeom prst="rect">
            <a:avLst/>
          </a:prstGeom>
        </p:spPr>
      </p:pic>
    </p:spTree>
    <p:extLst>
      <p:ext uri="{BB962C8B-B14F-4D97-AF65-F5344CB8AC3E}">
        <p14:creationId xmlns:p14="http://schemas.microsoft.com/office/powerpoint/2010/main" val="3368975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CDDBFF-D0ED-6C06-CB02-BB6E608C77B5}"/>
              </a:ext>
            </a:extLst>
          </p:cNvPr>
          <p:cNvSpPr>
            <a:spLocks noGrp="1"/>
          </p:cNvSpPr>
          <p:nvPr>
            <p:ph type="title"/>
          </p:nvPr>
        </p:nvSpPr>
        <p:spPr/>
        <p:txBody>
          <a:bodyPr/>
          <a:lstStyle/>
          <a:p>
            <a:r>
              <a:rPr lang="de-DE" dirty="0"/>
              <a:t>Die analytische Query</a:t>
            </a:r>
          </a:p>
        </p:txBody>
      </p:sp>
      <p:pic>
        <p:nvPicPr>
          <p:cNvPr id="5" name="Inhaltsplatzhalter 4">
            <a:extLst>
              <a:ext uri="{FF2B5EF4-FFF2-40B4-BE49-F238E27FC236}">
                <a16:creationId xmlns:a16="http://schemas.microsoft.com/office/drawing/2014/main" id="{789AC9F2-FD63-71E6-C8FB-9CA860A520B9}"/>
              </a:ext>
            </a:extLst>
          </p:cNvPr>
          <p:cNvPicPr>
            <a:picLocks noGrp="1" noChangeAspect="1"/>
          </p:cNvPicPr>
          <p:nvPr>
            <p:ph idx="1"/>
          </p:nvPr>
        </p:nvPicPr>
        <p:blipFill>
          <a:blip r:embed="rId3"/>
          <a:stretch>
            <a:fillRect/>
          </a:stretch>
        </p:blipFill>
        <p:spPr>
          <a:xfrm>
            <a:off x="837466" y="1499918"/>
            <a:ext cx="6805216" cy="4992957"/>
          </a:xfrm>
          <a:prstGeom prst="rect">
            <a:avLst/>
          </a:prstGeom>
        </p:spPr>
      </p:pic>
    </p:spTree>
    <p:extLst>
      <p:ext uri="{BB962C8B-B14F-4D97-AF65-F5344CB8AC3E}">
        <p14:creationId xmlns:p14="http://schemas.microsoft.com/office/powerpoint/2010/main" val="2432175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E84FF0-D28A-6D68-3FA2-CB3878346DC9}"/>
              </a:ext>
            </a:extLst>
          </p:cNvPr>
          <p:cNvSpPr>
            <a:spLocks noGrp="1"/>
          </p:cNvSpPr>
          <p:nvPr>
            <p:ph type="title"/>
          </p:nvPr>
        </p:nvSpPr>
        <p:spPr/>
        <p:txBody>
          <a:bodyPr/>
          <a:lstStyle/>
          <a:p>
            <a:r>
              <a:rPr lang="de-DE" dirty="0"/>
              <a:t>Achsen einer analytischen Query</a:t>
            </a:r>
          </a:p>
        </p:txBody>
      </p:sp>
      <p:graphicFrame>
        <p:nvGraphicFramePr>
          <p:cNvPr id="4" name="Inhaltsplatzhalter 3">
            <a:extLst>
              <a:ext uri="{FF2B5EF4-FFF2-40B4-BE49-F238E27FC236}">
                <a16:creationId xmlns:a16="http://schemas.microsoft.com/office/drawing/2014/main" id="{9D3F1EAF-0515-29A7-2ACF-5513491CCA78}"/>
              </a:ext>
            </a:extLst>
          </p:cNvPr>
          <p:cNvGraphicFramePr>
            <a:graphicFrameLocks noGrp="1"/>
          </p:cNvGraphicFramePr>
          <p:nvPr>
            <p:ph idx="1"/>
            <p:extLst>
              <p:ext uri="{D42A27DB-BD31-4B8C-83A1-F6EECF244321}">
                <p14:modId xmlns:p14="http://schemas.microsoft.com/office/powerpoint/2010/main" val="795722159"/>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2228381"/>
                    </a:ext>
                  </a:extLst>
                </a:gridCol>
                <a:gridCol w="5257800">
                  <a:extLst>
                    <a:ext uri="{9D8B030D-6E8A-4147-A177-3AD203B41FA5}">
                      <a16:colId xmlns:a16="http://schemas.microsoft.com/office/drawing/2014/main" val="3890053069"/>
                    </a:ext>
                  </a:extLst>
                </a:gridCol>
              </a:tblGrid>
              <a:tr h="370840">
                <a:tc>
                  <a:txBody>
                    <a:bodyPr/>
                    <a:lstStyle/>
                    <a:p>
                      <a:r>
                        <a:rPr lang="de-DE" dirty="0"/>
                        <a:t>Achse</a:t>
                      </a:r>
                    </a:p>
                  </a:txBody>
                  <a:tcPr/>
                </a:tc>
                <a:tc>
                  <a:txBody>
                    <a:bodyPr/>
                    <a:lstStyle/>
                    <a:p>
                      <a:r>
                        <a:rPr lang="de-DE" dirty="0"/>
                        <a:t>Bedeutung</a:t>
                      </a:r>
                    </a:p>
                  </a:txBody>
                  <a:tcPr/>
                </a:tc>
                <a:extLst>
                  <a:ext uri="{0D108BD9-81ED-4DB2-BD59-A6C34878D82A}">
                    <a16:rowId xmlns:a16="http://schemas.microsoft.com/office/drawing/2014/main" val="132890621"/>
                  </a:ext>
                </a:extLst>
              </a:tr>
              <a:tr h="370840">
                <a:tc>
                  <a:txBody>
                    <a:bodyPr/>
                    <a:lstStyle/>
                    <a:p>
                      <a:r>
                        <a:rPr lang="de-DE" dirty="0"/>
                        <a:t>#ROWS</a:t>
                      </a:r>
                    </a:p>
                  </a:txBody>
                  <a:tcPr/>
                </a:tc>
                <a:tc>
                  <a:txBody>
                    <a:bodyPr/>
                    <a:lstStyle/>
                    <a:p>
                      <a:r>
                        <a:rPr lang="de-DE" dirty="0"/>
                        <a:t>initialer Drilldown in den Zeilen</a:t>
                      </a:r>
                    </a:p>
                  </a:txBody>
                  <a:tcPr/>
                </a:tc>
                <a:extLst>
                  <a:ext uri="{0D108BD9-81ED-4DB2-BD59-A6C34878D82A}">
                    <a16:rowId xmlns:a16="http://schemas.microsoft.com/office/drawing/2014/main" val="2624279870"/>
                  </a:ext>
                </a:extLst>
              </a:tr>
              <a:tr h="370840">
                <a:tc>
                  <a:txBody>
                    <a:bodyPr/>
                    <a:lstStyle/>
                    <a:p>
                      <a:r>
                        <a:rPr lang="de-DE" dirty="0"/>
                        <a:t>#COLUMNS</a:t>
                      </a:r>
                    </a:p>
                  </a:txBody>
                  <a:tcPr/>
                </a:tc>
                <a:tc>
                  <a:txBody>
                    <a:bodyPr/>
                    <a:lstStyle/>
                    <a:p>
                      <a:r>
                        <a:rPr lang="de-DE" dirty="0"/>
                        <a:t>Kennzahlen beziehungsweise Spalten</a:t>
                      </a:r>
                    </a:p>
                  </a:txBody>
                  <a:tcPr/>
                </a:tc>
                <a:extLst>
                  <a:ext uri="{0D108BD9-81ED-4DB2-BD59-A6C34878D82A}">
                    <a16:rowId xmlns:a16="http://schemas.microsoft.com/office/drawing/2014/main" val="3963823811"/>
                  </a:ext>
                </a:extLst>
              </a:tr>
              <a:tr h="370840">
                <a:tc>
                  <a:txBody>
                    <a:bodyPr/>
                    <a:lstStyle/>
                    <a:p>
                      <a:r>
                        <a:rPr lang="de-DE" dirty="0"/>
                        <a:t>#FREE</a:t>
                      </a:r>
                    </a:p>
                  </a:txBody>
                  <a:tcPr/>
                </a:tc>
                <a:tc>
                  <a:txBody>
                    <a:bodyPr/>
                    <a:lstStyle/>
                    <a:p>
                      <a:r>
                        <a:rPr lang="de-DE" dirty="0"/>
                        <a:t>verfügbar, aber zunächst nicht angezeigt</a:t>
                      </a:r>
                    </a:p>
                  </a:txBody>
                  <a:tcPr/>
                </a:tc>
                <a:extLst>
                  <a:ext uri="{0D108BD9-81ED-4DB2-BD59-A6C34878D82A}">
                    <a16:rowId xmlns:a16="http://schemas.microsoft.com/office/drawing/2014/main" val="3058392549"/>
                  </a:ext>
                </a:extLst>
              </a:tr>
            </a:tbl>
          </a:graphicData>
        </a:graphic>
      </p:graphicFrame>
      <p:sp>
        <p:nvSpPr>
          <p:cNvPr id="6" name="Textfeld 5">
            <a:extLst>
              <a:ext uri="{FF2B5EF4-FFF2-40B4-BE49-F238E27FC236}">
                <a16:creationId xmlns:a16="http://schemas.microsoft.com/office/drawing/2014/main" id="{00FAC65A-1A91-68F1-6DEC-339ACC15A6DC}"/>
              </a:ext>
            </a:extLst>
          </p:cNvPr>
          <p:cNvSpPr txBox="1"/>
          <p:nvPr/>
        </p:nvSpPr>
        <p:spPr>
          <a:xfrm>
            <a:off x="838200" y="3743144"/>
            <a:ext cx="10515600" cy="369332"/>
          </a:xfrm>
          <a:prstGeom prst="rect">
            <a:avLst/>
          </a:prstGeom>
          <a:noFill/>
        </p:spPr>
        <p:txBody>
          <a:bodyPr wrap="square">
            <a:spAutoFit/>
          </a:bodyPr>
          <a:lstStyle/>
          <a:p>
            <a:r>
              <a:rPr lang="de-DE" dirty="0">
                <a:highlight>
                  <a:srgbClr val="FFFF00"/>
                </a:highlight>
              </a:rPr>
              <a:t>Die Query definiert den Startzustand – nicht nur ein starres Ergebnis.</a:t>
            </a:r>
          </a:p>
        </p:txBody>
      </p:sp>
    </p:spTree>
    <p:extLst>
      <p:ext uri="{BB962C8B-B14F-4D97-AF65-F5344CB8AC3E}">
        <p14:creationId xmlns:p14="http://schemas.microsoft.com/office/powerpoint/2010/main" val="17093816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522FCB-E42A-25E3-4BFE-CDEC4AE04483}"/>
              </a:ext>
            </a:extLst>
          </p:cNvPr>
          <p:cNvSpPr>
            <a:spLocks noGrp="1"/>
          </p:cNvSpPr>
          <p:nvPr>
            <p:ph type="title"/>
          </p:nvPr>
        </p:nvSpPr>
        <p:spPr/>
        <p:txBody>
          <a:bodyPr/>
          <a:lstStyle/>
          <a:p>
            <a:r>
              <a:rPr lang="de-DE" dirty="0"/>
              <a:t>Cube und analytische Query erstellen</a:t>
            </a:r>
          </a:p>
        </p:txBody>
      </p:sp>
      <p:sp>
        <p:nvSpPr>
          <p:cNvPr id="3" name="Inhaltsplatzhalter 2">
            <a:extLst>
              <a:ext uri="{FF2B5EF4-FFF2-40B4-BE49-F238E27FC236}">
                <a16:creationId xmlns:a16="http://schemas.microsoft.com/office/drawing/2014/main" id="{341AA458-01F0-EA5D-2154-D494811115B0}"/>
              </a:ext>
            </a:extLst>
          </p:cNvPr>
          <p:cNvSpPr>
            <a:spLocks noGrp="1"/>
          </p:cNvSpPr>
          <p:nvPr>
            <p:ph sz="half" idx="1"/>
          </p:nvPr>
        </p:nvSpPr>
        <p:spPr/>
        <p:txBody>
          <a:bodyPr/>
          <a:lstStyle/>
          <a:p>
            <a:pPr marL="514350" indent="-514350">
              <a:buFont typeface="+mj-lt"/>
              <a:buAutoNum type="arabicPeriod"/>
            </a:pPr>
            <a:r>
              <a:rPr lang="de-DE" dirty="0"/>
              <a:t>Produktdimension anlegen</a:t>
            </a:r>
          </a:p>
          <a:p>
            <a:pPr marL="514350" indent="-514350">
              <a:buFont typeface="+mj-lt"/>
              <a:buAutoNum type="arabicPeriod"/>
            </a:pPr>
            <a:r>
              <a:rPr lang="de-DE" dirty="0"/>
              <a:t>Cube anlegen</a:t>
            </a:r>
          </a:p>
          <a:p>
            <a:pPr marL="514350" indent="-514350">
              <a:buFont typeface="+mj-lt"/>
              <a:buAutoNum type="arabicPeriod"/>
            </a:pPr>
            <a:r>
              <a:rPr lang="de-DE" dirty="0"/>
              <a:t>Dimension mit dem Cube verbinden</a:t>
            </a:r>
          </a:p>
          <a:p>
            <a:pPr marL="514350" indent="-514350">
              <a:buFont typeface="+mj-lt"/>
              <a:buAutoNum type="arabicPeriod"/>
            </a:pPr>
            <a:r>
              <a:rPr lang="de-DE" dirty="0"/>
              <a:t>Kennzahl definieren</a:t>
            </a:r>
          </a:p>
          <a:p>
            <a:pPr marL="514350" indent="-514350">
              <a:buFont typeface="+mj-lt"/>
              <a:buAutoNum type="arabicPeriod"/>
            </a:pPr>
            <a:r>
              <a:rPr lang="de-DE" dirty="0"/>
              <a:t>Cube testen</a:t>
            </a:r>
          </a:p>
          <a:p>
            <a:pPr marL="514350" indent="-514350">
              <a:buFont typeface="+mj-lt"/>
              <a:buAutoNum type="arabicPeriod"/>
            </a:pPr>
            <a:r>
              <a:rPr lang="de-DE" dirty="0"/>
              <a:t>Analytische Query anlegen</a:t>
            </a:r>
          </a:p>
          <a:p>
            <a:pPr marL="514350" indent="-514350">
              <a:buFont typeface="+mj-lt"/>
              <a:buAutoNum type="arabicPeriod"/>
            </a:pPr>
            <a:r>
              <a:rPr lang="de-DE" dirty="0"/>
              <a:t>Query aktivieren und starten</a:t>
            </a:r>
          </a:p>
        </p:txBody>
      </p:sp>
      <p:pic>
        <p:nvPicPr>
          <p:cNvPr id="6" name="Inhaltsplatzhalter 5">
            <a:extLst>
              <a:ext uri="{FF2B5EF4-FFF2-40B4-BE49-F238E27FC236}">
                <a16:creationId xmlns:a16="http://schemas.microsoft.com/office/drawing/2014/main" id="{358B5D8C-88EA-7E59-57EE-3A5792F6EEFA}"/>
              </a:ext>
            </a:extLst>
          </p:cNvPr>
          <p:cNvPicPr>
            <a:picLocks noGrp="1" noChangeAspect="1"/>
          </p:cNvPicPr>
          <p:nvPr>
            <p:ph sz="half" idx="2"/>
          </p:nvPr>
        </p:nvPicPr>
        <p:blipFill>
          <a:blip r:embed="rId3"/>
          <a:stretch>
            <a:fillRect/>
          </a:stretch>
        </p:blipFill>
        <p:spPr>
          <a:xfrm>
            <a:off x="6408731" y="1825625"/>
            <a:ext cx="4708537" cy="4351338"/>
          </a:xfrm>
          <a:prstGeom prst="rect">
            <a:avLst/>
          </a:prstGeom>
        </p:spPr>
      </p:pic>
    </p:spTree>
    <p:extLst>
      <p:ext uri="{BB962C8B-B14F-4D97-AF65-F5344CB8AC3E}">
        <p14:creationId xmlns:p14="http://schemas.microsoft.com/office/powerpoint/2010/main" val="20016075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F69FAA6-6BAD-7461-2A47-9578EE7E0AC3}"/>
              </a:ext>
            </a:extLst>
          </p:cNvPr>
          <p:cNvSpPr>
            <a:spLocks noGrp="1"/>
          </p:cNvSpPr>
          <p:nvPr>
            <p:ph type="title"/>
          </p:nvPr>
        </p:nvSpPr>
        <p:spPr/>
        <p:txBody>
          <a:bodyPr/>
          <a:lstStyle/>
          <a:p>
            <a:r>
              <a:rPr lang="de-DE" dirty="0"/>
              <a:t>Von der flachen Liste zur Hierarchie</a:t>
            </a:r>
          </a:p>
        </p:txBody>
      </p:sp>
      <p:sp>
        <p:nvSpPr>
          <p:cNvPr id="7" name="Textplatzhalter 6">
            <a:extLst>
              <a:ext uri="{FF2B5EF4-FFF2-40B4-BE49-F238E27FC236}">
                <a16:creationId xmlns:a16="http://schemas.microsoft.com/office/drawing/2014/main" id="{816C6DBA-5198-99AE-E938-1DD780F84096}"/>
              </a:ext>
            </a:extLst>
          </p:cNvPr>
          <p:cNvSpPr>
            <a:spLocks noGrp="1"/>
          </p:cNvSpPr>
          <p:nvPr>
            <p:ph type="body" idx="1"/>
          </p:nvPr>
        </p:nvSpPr>
        <p:spPr/>
        <p:txBody>
          <a:bodyPr/>
          <a:lstStyle/>
          <a:p>
            <a:r>
              <a:rPr lang="de-DE" dirty="0"/>
              <a:t>Flache Produktliste</a:t>
            </a:r>
          </a:p>
        </p:txBody>
      </p:sp>
      <p:sp>
        <p:nvSpPr>
          <p:cNvPr id="8" name="Inhaltsplatzhalter 7">
            <a:extLst>
              <a:ext uri="{FF2B5EF4-FFF2-40B4-BE49-F238E27FC236}">
                <a16:creationId xmlns:a16="http://schemas.microsoft.com/office/drawing/2014/main" id="{A08AE035-389B-D7A9-AC6C-B4A76A0A804A}"/>
              </a:ext>
            </a:extLst>
          </p:cNvPr>
          <p:cNvSpPr>
            <a:spLocks noGrp="1"/>
          </p:cNvSpPr>
          <p:nvPr>
            <p:ph sz="half" idx="2"/>
          </p:nvPr>
        </p:nvSpPr>
        <p:spPr/>
        <p:txBody>
          <a:bodyPr>
            <a:normAutofit fontScale="92500" lnSpcReduction="20000"/>
          </a:bodyPr>
          <a:lstStyle/>
          <a:p>
            <a:pPr marL="0" indent="0">
              <a:buNone/>
            </a:pPr>
            <a:r>
              <a:rPr lang="de-DE" dirty="0"/>
              <a:t>P100  Business Notebook 14</a:t>
            </a:r>
          </a:p>
          <a:p>
            <a:pPr marL="0" indent="0">
              <a:buNone/>
            </a:pPr>
            <a:r>
              <a:rPr lang="de-DE" dirty="0"/>
              <a:t>P110  Developer Workstation</a:t>
            </a:r>
          </a:p>
          <a:p>
            <a:pPr marL="0" indent="0">
              <a:buNone/>
            </a:pPr>
            <a:r>
              <a:rPr lang="de-DE" dirty="0"/>
              <a:t>P200  USB-C Dockingstation</a:t>
            </a:r>
          </a:p>
          <a:p>
            <a:pPr marL="0" indent="0">
              <a:buNone/>
            </a:pPr>
            <a:r>
              <a:rPr lang="de-DE" dirty="0"/>
              <a:t>P210  27 Zoll Monitor</a:t>
            </a:r>
          </a:p>
          <a:p>
            <a:pPr marL="0" indent="0">
              <a:buNone/>
            </a:pPr>
            <a:r>
              <a:rPr lang="de-DE" dirty="0"/>
              <a:t>P300  Office Suite Jahreslizenz</a:t>
            </a:r>
          </a:p>
          <a:p>
            <a:pPr marL="0" indent="0">
              <a:buNone/>
            </a:pPr>
            <a:r>
              <a:rPr lang="de-DE" dirty="0"/>
              <a:t>P310  Development Tools Pro</a:t>
            </a:r>
          </a:p>
        </p:txBody>
      </p:sp>
      <p:sp>
        <p:nvSpPr>
          <p:cNvPr id="9" name="Textplatzhalter 8">
            <a:extLst>
              <a:ext uri="{FF2B5EF4-FFF2-40B4-BE49-F238E27FC236}">
                <a16:creationId xmlns:a16="http://schemas.microsoft.com/office/drawing/2014/main" id="{53B36EF7-606B-F23D-9EB8-84AEAAE28186}"/>
              </a:ext>
            </a:extLst>
          </p:cNvPr>
          <p:cNvSpPr>
            <a:spLocks noGrp="1"/>
          </p:cNvSpPr>
          <p:nvPr>
            <p:ph type="body" sz="quarter" idx="3"/>
          </p:nvPr>
        </p:nvSpPr>
        <p:spPr/>
        <p:txBody>
          <a:bodyPr/>
          <a:lstStyle/>
          <a:p>
            <a:r>
              <a:rPr lang="de-DE" dirty="0"/>
              <a:t>Fachliche Produkthierarchie</a:t>
            </a:r>
          </a:p>
        </p:txBody>
      </p:sp>
      <p:sp>
        <p:nvSpPr>
          <p:cNvPr id="10" name="Inhaltsplatzhalter 9">
            <a:extLst>
              <a:ext uri="{FF2B5EF4-FFF2-40B4-BE49-F238E27FC236}">
                <a16:creationId xmlns:a16="http://schemas.microsoft.com/office/drawing/2014/main" id="{B2A7FEE9-40DF-E360-42A7-56C51C882007}"/>
              </a:ext>
            </a:extLst>
          </p:cNvPr>
          <p:cNvSpPr>
            <a:spLocks noGrp="1"/>
          </p:cNvSpPr>
          <p:nvPr>
            <p:ph sz="quarter" idx="4"/>
          </p:nvPr>
        </p:nvSpPr>
        <p:spPr/>
        <p:txBody>
          <a:bodyPr>
            <a:normAutofit fontScale="92500" lnSpcReduction="20000"/>
          </a:bodyPr>
          <a:lstStyle/>
          <a:p>
            <a:pPr marL="0" indent="0">
              <a:buNone/>
            </a:pPr>
            <a:r>
              <a:rPr lang="de-DE" dirty="0">
                <a:latin typeface="Courier New" panose="02070309020205020404" pitchFamily="49" charset="0"/>
                <a:cs typeface="Courier New" panose="02070309020205020404" pitchFamily="49" charset="0"/>
              </a:rPr>
              <a:t>PROD</a:t>
            </a:r>
          </a:p>
          <a:p>
            <a:pPr marL="0" indent="0">
              <a:buNone/>
            </a:pPr>
            <a:r>
              <a:rPr lang="de-DE" dirty="0">
                <a:latin typeface="Courier New" panose="02070309020205020404" pitchFamily="49" charset="0"/>
                <a:cs typeface="Courier New" panose="02070309020205020404" pitchFamily="49" charset="0"/>
              </a:rPr>
              <a:t>├─ HARDWARE</a:t>
            </a:r>
          </a:p>
          <a:p>
            <a:pPr marL="0" indent="0">
              <a:buNone/>
            </a:pPr>
            <a:r>
              <a:rPr lang="de-DE" dirty="0">
                <a:latin typeface="Courier New" panose="02070309020205020404" pitchFamily="49" charset="0"/>
                <a:cs typeface="Courier New" panose="02070309020205020404" pitchFamily="49" charset="0"/>
              </a:rPr>
              <a:t>│  ├─ COMPUTER</a:t>
            </a:r>
          </a:p>
          <a:p>
            <a:pPr marL="0" indent="0">
              <a:buNone/>
            </a:pPr>
            <a:r>
              <a:rPr lang="de-DE" dirty="0">
                <a:latin typeface="Courier New" panose="02070309020205020404" pitchFamily="49" charset="0"/>
                <a:cs typeface="Courier New" panose="02070309020205020404" pitchFamily="49" charset="0"/>
              </a:rPr>
              <a:t>│  │  ├─ P100</a:t>
            </a:r>
          </a:p>
          <a:p>
            <a:pPr marL="0" indent="0">
              <a:buNone/>
            </a:pPr>
            <a:r>
              <a:rPr lang="de-DE" dirty="0">
                <a:latin typeface="Courier New" panose="02070309020205020404" pitchFamily="49" charset="0"/>
                <a:cs typeface="Courier New" panose="02070309020205020404" pitchFamily="49" charset="0"/>
              </a:rPr>
              <a:t>│  │  └─ P110</a:t>
            </a:r>
          </a:p>
          <a:p>
            <a:pPr marL="0" indent="0">
              <a:buNone/>
            </a:pPr>
            <a:r>
              <a:rPr lang="de-DE" dirty="0">
                <a:latin typeface="Courier New" panose="02070309020205020404" pitchFamily="49" charset="0"/>
                <a:cs typeface="Courier New" panose="02070309020205020404" pitchFamily="49" charset="0"/>
              </a:rPr>
              <a:t>│  └─ ACCESSORY</a:t>
            </a:r>
          </a:p>
          <a:p>
            <a:pPr marL="0" indent="0">
              <a:buNone/>
            </a:pPr>
            <a:r>
              <a:rPr lang="de-DE" dirty="0">
                <a:latin typeface="Courier New" panose="02070309020205020404" pitchFamily="49" charset="0"/>
                <a:cs typeface="Courier New" panose="02070309020205020404" pitchFamily="49" charset="0"/>
              </a:rPr>
              <a:t>└─ SOFTWARE</a:t>
            </a:r>
          </a:p>
          <a:p>
            <a:pPr marL="0" indent="0">
              <a:buNone/>
            </a:pPr>
            <a:r>
              <a:rPr lang="de-DE" dirty="0">
                <a:latin typeface="Courier New" panose="02070309020205020404" pitchFamily="49" charset="0"/>
                <a:cs typeface="Courier New" panose="02070309020205020404" pitchFamily="49" charset="0"/>
              </a:rPr>
              <a:t>   ├─ DEVELOP</a:t>
            </a:r>
          </a:p>
          <a:p>
            <a:pPr marL="0" indent="0">
              <a:buNone/>
            </a:pPr>
            <a:r>
              <a:rPr lang="de-DE" dirty="0">
                <a:latin typeface="Courier New" panose="02070309020205020404" pitchFamily="49" charset="0"/>
                <a:cs typeface="Courier New" panose="02070309020205020404" pitchFamily="49" charset="0"/>
              </a:rPr>
              <a:t>   └─ OFFICE</a:t>
            </a:r>
          </a:p>
        </p:txBody>
      </p:sp>
    </p:spTree>
    <p:extLst>
      <p:ext uri="{BB962C8B-B14F-4D97-AF65-F5344CB8AC3E}">
        <p14:creationId xmlns:p14="http://schemas.microsoft.com/office/powerpoint/2010/main" val="5761448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9EE8EF-4B66-C0F6-E694-DE60CE12DBD7}"/>
              </a:ext>
            </a:extLst>
          </p:cNvPr>
          <p:cNvSpPr>
            <a:spLocks noGrp="1"/>
          </p:cNvSpPr>
          <p:nvPr>
            <p:ph type="title"/>
          </p:nvPr>
        </p:nvSpPr>
        <p:spPr/>
        <p:txBody>
          <a:bodyPr/>
          <a:lstStyle/>
          <a:p>
            <a:r>
              <a:rPr lang="de-DE" dirty="0"/>
              <a:t>Unterschiedliche Knotentypen</a:t>
            </a:r>
          </a:p>
        </p:txBody>
      </p:sp>
      <p:graphicFrame>
        <p:nvGraphicFramePr>
          <p:cNvPr id="4" name="Inhaltsplatzhalter 3">
            <a:extLst>
              <a:ext uri="{FF2B5EF4-FFF2-40B4-BE49-F238E27FC236}">
                <a16:creationId xmlns:a16="http://schemas.microsoft.com/office/drawing/2014/main" id="{825F7FFB-FF77-1298-4DCA-29E722867381}"/>
              </a:ext>
            </a:extLst>
          </p:cNvPr>
          <p:cNvGraphicFramePr>
            <a:graphicFrameLocks noGrp="1"/>
          </p:cNvGraphicFramePr>
          <p:nvPr>
            <p:ph idx="1"/>
            <p:extLst>
              <p:ext uri="{D42A27DB-BD31-4B8C-83A1-F6EECF244321}">
                <p14:modId xmlns:p14="http://schemas.microsoft.com/office/powerpoint/2010/main" val="3611780558"/>
              </p:ext>
            </p:extLst>
          </p:nvPr>
        </p:nvGraphicFramePr>
        <p:xfrm>
          <a:off x="838200" y="1825625"/>
          <a:ext cx="10515597" cy="14833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48152423"/>
                    </a:ext>
                  </a:extLst>
                </a:gridCol>
                <a:gridCol w="3505199">
                  <a:extLst>
                    <a:ext uri="{9D8B030D-6E8A-4147-A177-3AD203B41FA5}">
                      <a16:colId xmlns:a16="http://schemas.microsoft.com/office/drawing/2014/main" val="2803526378"/>
                    </a:ext>
                  </a:extLst>
                </a:gridCol>
                <a:gridCol w="3505199">
                  <a:extLst>
                    <a:ext uri="{9D8B030D-6E8A-4147-A177-3AD203B41FA5}">
                      <a16:colId xmlns:a16="http://schemas.microsoft.com/office/drawing/2014/main" val="165890435"/>
                    </a:ext>
                  </a:extLst>
                </a:gridCol>
              </a:tblGrid>
              <a:tr h="370840">
                <a:tc>
                  <a:txBody>
                    <a:bodyPr/>
                    <a:lstStyle/>
                    <a:p>
                      <a:r>
                        <a:rPr lang="de-DE" dirty="0"/>
                        <a:t>Knotentyp</a:t>
                      </a:r>
                    </a:p>
                  </a:txBody>
                  <a:tcPr/>
                </a:tc>
                <a:tc>
                  <a:txBody>
                    <a:bodyPr/>
                    <a:lstStyle/>
                    <a:p>
                      <a:r>
                        <a:rPr lang="de-DE" dirty="0"/>
                        <a:t>Fachlicher Schlüssel</a:t>
                      </a:r>
                    </a:p>
                  </a:txBody>
                  <a:tcPr/>
                </a:tc>
                <a:tc>
                  <a:txBody>
                    <a:bodyPr/>
                    <a:lstStyle/>
                    <a:p>
                      <a:r>
                        <a:rPr lang="de-DE" dirty="0"/>
                        <a:t>Verwendung</a:t>
                      </a:r>
                    </a:p>
                  </a:txBody>
                  <a:tcPr/>
                </a:tc>
                <a:extLst>
                  <a:ext uri="{0D108BD9-81ED-4DB2-BD59-A6C34878D82A}">
                    <a16:rowId xmlns:a16="http://schemas.microsoft.com/office/drawing/2014/main" val="352772314"/>
                  </a:ext>
                </a:extLst>
              </a:tr>
              <a:tr h="370840">
                <a:tc>
                  <a:txBody>
                    <a:bodyPr/>
                    <a:lstStyle/>
                    <a:p>
                      <a:r>
                        <a:rPr lang="de-DE" dirty="0"/>
                        <a:t>Kategorie</a:t>
                      </a:r>
                    </a:p>
                  </a:txBody>
                  <a:tcPr/>
                </a:tc>
                <a:tc>
                  <a:txBody>
                    <a:bodyPr/>
                    <a:lstStyle/>
                    <a:p>
                      <a:r>
                        <a:rPr lang="de-DE" dirty="0" err="1"/>
                        <a:t>CategoryId</a:t>
                      </a:r>
                      <a:endParaRPr lang="de-DE" dirty="0"/>
                    </a:p>
                  </a:txBody>
                  <a:tcPr/>
                </a:tc>
                <a:tc>
                  <a:txBody>
                    <a:bodyPr/>
                    <a:lstStyle/>
                    <a:p>
                      <a:r>
                        <a:rPr lang="de-DE" dirty="0"/>
                        <a:t>Strukturknoten</a:t>
                      </a:r>
                    </a:p>
                  </a:txBody>
                  <a:tcPr/>
                </a:tc>
                <a:extLst>
                  <a:ext uri="{0D108BD9-81ED-4DB2-BD59-A6C34878D82A}">
                    <a16:rowId xmlns:a16="http://schemas.microsoft.com/office/drawing/2014/main" val="2762377364"/>
                  </a:ext>
                </a:extLst>
              </a:tr>
              <a:tr h="370840">
                <a:tc>
                  <a:txBody>
                    <a:bodyPr/>
                    <a:lstStyle/>
                    <a:p>
                      <a:r>
                        <a:rPr lang="de-DE" dirty="0"/>
                        <a:t>Produkt</a:t>
                      </a:r>
                    </a:p>
                  </a:txBody>
                  <a:tcPr/>
                </a:tc>
                <a:tc>
                  <a:txBody>
                    <a:bodyPr/>
                    <a:lstStyle/>
                    <a:p>
                      <a:r>
                        <a:rPr lang="de-DE" dirty="0" err="1"/>
                        <a:t>ProductId</a:t>
                      </a:r>
                      <a:endParaRPr lang="de-DE" dirty="0"/>
                    </a:p>
                  </a:txBody>
                  <a:tcPr/>
                </a:tc>
                <a:tc>
                  <a:txBody>
                    <a:bodyPr/>
                    <a:lstStyle/>
                    <a:p>
                      <a:r>
                        <a:rPr lang="de-DE" dirty="0"/>
                        <a:t>Blatt und Dimensionswert</a:t>
                      </a:r>
                    </a:p>
                  </a:txBody>
                  <a:tcPr/>
                </a:tc>
                <a:extLst>
                  <a:ext uri="{0D108BD9-81ED-4DB2-BD59-A6C34878D82A}">
                    <a16:rowId xmlns:a16="http://schemas.microsoft.com/office/drawing/2014/main" val="4187763410"/>
                  </a:ext>
                </a:extLst>
              </a:tr>
              <a:tr h="370840">
                <a:tc>
                  <a:txBody>
                    <a:bodyPr/>
                    <a:lstStyle/>
                    <a:p>
                      <a:r>
                        <a:rPr lang="de-DE" dirty="0"/>
                        <a:t>technischer Knoten</a:t>
                      </a:r>
                    </a:p>
                  </a:txBody>
                  <a:tcPr/>
                </a:tc>
                <a:tc>
                  <a:txBody>
                    <a:bodyPr/>
                    <a:lstStyle/>
                    <a:p>
                      <a:r>
                        <a:rPr lang="de-DE" dirty="0" err="1"/>
                        <a:t>NodeId</a:t>
                      </a:r>
                      <a:endParaRPr lang="de-DE" dirty="0"/>
                    </a:p>
                  </a:txBody>
                  <a:tcPr/>
                </a:tc>
                <a:tc>
                  <a:txBody>
                    <a:bodyPr/>
                    <a:lstStyle/>
                    <a:p>
                      <a:r>
                        <a:rPr lang="de-DE" dirty="0"/>
                        <a:t>Parent-Child-Beziehung</a:t>
                      </a:r>
                    </a:p>
                  </a:txBody>
                  <a:tcPr/>
                </a:tc>
                <a:extLst>
                  <a:ext uri="{0D108BD9-81ED-4DB2-BD59-A6C34878D82A}">
                    <a16:rowId xmlns:a16="http://schemas.microsoft.com/office/drawing/2014/main" val="3513526395"/>
                  </a:ext>
                </a:extLst>
              </a:tr>
            </a:tbl>
          </a:graphicData>
        </a:graphic>
      </p:graphicFrame>
    </p:spTree>
    <p:extLst>
      <p:ext uri="{BB962C8B-B14F-4D97-AF65-F5344CB8AC3E}">
        <p14:creationId xmlns:p14="http://schemas.microsoft.com/office/powerpoint/2010/main" val="25827225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7ECB16-E2E4-331C-4F42-FC717B53A4D8}"/>
              </a:ext>
            </a:extLst>
          </p:cNvPr>
          <p:cNvSpPr>
            <a:spLocks noGrp="1"/>
          </p:cNvSpPr>
          <p:nvPr>
            <p:ph type="title"/>
          </p:nvPr>
        </p:nvSpPr>
        <p:spPr/>
        <p:txBody>
          <a:bodyPr/>
          <a:lstStyle/>
          <a:p>
            <a:r>
              <a:rPr lang="de-DE" dirty="0"/>
              <a:t>Aufbau des Hierarchiemodells</a:t>
            </a:r>
          </a:p>
        </p:txBody>
      </p:sp>
      <p:sp>
        <p:nvSpPr>
          <p:cNvPr id="3" name="Inhaltsplatzhalter 2">
            <a:extLst>
              <a:ext uri="{FF2B5EF4-FFF2-40B4-BE49-F238E27FC236}">
                <a16:creationId xmlns:a16="http://schemas.microsoft.com/office/drawing/2014/main" id="{C3C70DE0-976A-4AC4-7D10-3616329C6914}"/>
              </a:ext>
            </a:extLst>
          </p:cNvPr>
          <p:cNvSpPr>
            <a:spLocks noGrp="1"/>
          </p:cNvSpPr>
          <p:nvPr>
            <p:ph idx="1"/>
          </p:nvPr>
        </p:nvSpPr>
        <p:spPr/>
        <p:txBody>
          <a:bodyPr/>
          <a:lstStyle/>
          <a:p>
            <a:endParaRPr lang="de-DE" dirty="0"/>
          </a:p>
        </p:txBody>
      </p:sp>
      <p:sp>
        <p:nvSpPr>
          <p:cNvPr id="4" name="Rechteck 3">
            <a:extLst>
              <a:ext uri="{FF2B5EF4-FFF2-40B4-BE49-F238E27FC236}">
                <a16:creationId xmlns:a16="http://schemas.microsoft.com/office/drawing/2014/main" id="{7AD47633-41FA-F728-507F-243517049882}"/>
              </a:ext>
            </a:extLst>
          </p:cNvPr>
          <p:cNvSpPr/>
          <p:nvPr/>
        </p:nvSpPr>
        <p:spPr>
          <a:xfrm>
            <a:off x="838200" y="1859540"/>
            <a:ext cx="3938155" cy="11115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dirty="0" err="1"/>
              <a:t>ZI_CDSProductDim</a:t>
            </a:r>
            <a:endParaRPr lang="de-DE" sz="2400" dirty="0"/>
          </a:p>
          <a:p>
            <a:pPr algn="ctr"/>
            <a:r>
              <a:rPr lang="de-DE" sz="2000" dirty="0"/>
              <a:t>Produktdimension</a:t>
            </a:r>
            <a:endParaRPr lang="de-DE" dirty="0"/>
          </a:p>
        </p:txBody>
      </p:sp>
      <p:sp>
        <p:nvSpPr>
          <p:cNvPr id="6" name="Rechteck 5">
            <a:extLst>
              <a:ext uri="{FF2B5EF4-FFF2-40B4-BE49-F238E27FC236}">
                <a16:creationId xmlns:a16="http://schemas.microsoft.com/office/drawing/2014/main" id="{BC49BB58-0F22-2D6E-352E-0EC8C4BB8D8A}"/>
              </a:ext>
            </a:extLst>
          </p:cNvPr>
          <p:cNvSpPr/>
          <p:nvPr/>
        </p:nvSpPr>
        <p:spPr>
          <a:xfrm>
            <a:off x="5427516" y="1859539"/>
            <a:ext cx="3938155" cy="11115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dirty="0"/>
              <a:t>ZI_CDSProductHierarchy</a:t>
            </a:r>
          </a:p>
          <a:p>
            <a:pPr algn="ctr"/>
            <a:r>
              <a:rPr lang="de-DE" sz="2000" dirty="0"/>
              <a:t>Parent-Child-Hierarchie</a:t>
            </a:r>
            <a:endParaRPr lang="de-DE" dirty="0"/>
          </a:p>
        </p:txBody>
      </p:sp>
      <p:sp>
        <p:nvSpPr>
          <p:cNvPr id="8" name="Rechteck 7">
            <a:extLst>
              <a:ext uri="{FF2B5EF4-FFF2-40B4-BE49-F238E27FC236}">
                <a16:creationId xmlns:a16="http://schemas.microsoft.com/office/drawing/2014/main" id="{E5932054-97FB-98F3-DF05-DFE89138941E}"/>
              </a:ext>
            </a:extLst>
          </p:cNvPr>
          <p:cNvSpPr/>
          <p:nvPr/>
        </p:nvSpPr>
        <p:spPr>
          <a:xfrm>
            <a:off x="5427516" y="3462480"/>
            <a:ext cx="3938155" cy="11115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dirty="0" err="1"/>
              <a:t>ZI_CDSProdHierNode</a:t>
            </a:r>
            <a:endParaRPr lang="de-DE" sz="2400" dirty="0"/>
          </a:p>
          <a:p>
            <a:pPr algn="ctr"/>
            <a:r>
              <a:rPr lang="de-DE" sz="2000" dirty="0"/>
              <a:t>Knoten und Elternknoten der Hierarchie</a:t>
            </a:r>
            <a:endParaRPr lang="de-DE" dirty="0"/>
          </a:p>
        </p:txBody>
      </p:sp>
      <p:sp>
        <p:nvSpPr>
          <p:cNvPr id="10" name="Rechteck 9">
            <a:extLst>
              <a:ext uri="{FF2B5EF4-FFF2-40B4-BE49-F238E27FC236}">
                <a16:creationId xmlns:a16="http://schemas.microsoft.com/office/drawing/2014/main" id="{34B4DD59-A0A6-594E-C6A7-D2A5676946B1}"/>
              </a:ext>
            </a:extLst>
          </p:cNvPr>
          <p:cNvSpPr/>
          <p:nvPr/>
        </p:nvSpPr>
        <p:spPr>
          <a:xfrm>
            <a:off x="5427516" y="5065422"/>
            <a:ext cx="3938155" cy="11115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dirty="0" err="1"/>
              <a:t>ZI_CDSProdHierBase</a:t>
            </a:r>
            <a:endParaRPr lang="de-DE" sz="2400" dirty="0"/>
          </a:p>
          <a:p>
            <a:pPr algn="ctr"/>
            <a:r>
              <a:rPr lang="de-DE" sz="2000" dirty="0"/>
              <a:t>Kategorien und Produkte</a:t>
            </a:r>
            <a:endParaRPr lang="de-DE" dirty="0"/>
          </a:p>
        </p:txBody>
      </p:sp>
      <p:cxnSp>
        <p:nvCxnSpPr>
          <p:cNvPr id="12" name="Gerade Verbindung mit Pfeil 11">
            <a:extLst>
              <a:ext uri="{FF2B5EF4-FFF2-40B4-BE49-F238E27FC236}">
                <a16:creationId xmlns:a16="http://schemas.microsoft.com/office/drawing/2014/main" id="{AE699B25-BD9F-81EF-19CD-166D041B10D6}"/>
              </a:ext>
            </a:extLst>
          </p:cNvPr>
          <p:cNvCxnSpPr>
            <a:cxnSpLocks/>
            <a:stCxn id="4" idx="3"/>
            <a:endCxn id="6" idx="1"/>
          </p:cNvCxnSpPr>
          <p:nvPr/>
        </p:nvCxnSpPr>
        <p:spPr>
          <a:xfrm flipV="1">
            <a:off x="4776355" y="2415309"/>
            <a:ext cx="65116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Gerade Verbindung mit Pfeil 15">
            <a:extLst>
              <a:ext uri="{FF2B5EF4-FFF2-40B4-BE49-F238E27FC236}">
                <a16:creationId xmlns:a16="http://schemas.microsoft.com/office/drawing/2014/main" id="{58442338-6624-7864-5E98-C0C34C50D9AB}"/>
              </a:ext>
            </a:extLst>
          </p:cNvPr>
          <p:cNvCxnSpPr>
            <a:cxnSpLocks/>
            <a:stCxn id="6" idx="2"/>
            <a:endCxn id="8" idx="0"/>
          </p:cNvCxnSpPr>
          <p:nvPr/>
        </p:nvCxnSpPr>
        <p:spPr>
          <a:xfrm>
            <a:off x="7396594" y="2971079"/>
            <a:ext cx="0" cy="4914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Gerade Verbindung mit Pfeil 17">
            <a:extLst>
              <a:ext uri="{FF2B5EF4-FFF2-40B4-BE49-F238E27FC236}">
                <a16:creationId xmlns:a16="http://schemas.microsoft.com/office/drawing/2014/main" id="{EE027F81-4325-0F18-1FBA-0B885B40CA17}"/>
              </a:ext>
            </a:extLst>
          </p:cNvPr>
          <p:cNvCxnSpPr>
            <a:cxnSpLocks/>
            <a:stCxn id="8" idx="2"/>
            <a:endCxn id="10" idx="0"/>
          </p:cNvCxnSpPr>
          <p:nvPr/>
        </p:nvCxnSpPr>
        <p:spPr>
          <a:xfrm>
            <a:off x="7396594" y="4574020"/>
            <a:ext cx="0" cy="491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808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2058EF-BD6D-3E1C-A121-A54F21EF19CA}"/>
              </a:ext>
            </a:extLst>
          </p:cNvPr>
          <p:cNvSpPr>
            <a:spLocks noGrp="1"/>
          </p:cNvSpPr>
          <p:nvPr>
            <p:ph type="title"/>
          </p:nvPr>
        </p:nvSpPr>
        <p:spPr/>
        <p:txBody>
          <a:bodyPr/>
          <a:lstStyle/>
          <a:p>
            <a:r>
              <a:rPr lang="de-DE" dirty="0"/>
              <a:t>Parent-Child-Hierarchie</a:t>
            </a:r>
          </a:p>
        </p:txBody>
      </p:sp>
      <p:pic>
        <p:nvPicPr>
          <p:cNvPr id="10" name="Inhaltsplatzhalter 9">
            <a:extLst>
              <a:ext uri="{FF2B5EF4-FFF2-40B4-BE49-F238E27FC236}">
                <a16:creationId xmlns:a16="http://schemas.microsoft.com/office/drawing/2014/main" id="{70F2BDFA-ECBA-3717-F311-CBAF3A87B6D8}"/>
              </a:ext>
            </a:extLst>
          </p:cNvPr>
          <p:cNvPicPr>
            <a:picLocks noGrp="1" noChangeAspect="1"/>
          </p:cNvPicPr>
          <p:nvPr>
            <p:ph sz="half" idx="2"/>
          </p:nvPr>
        </p:nvPicPr>
        <p:blipFill>
          <a:blip r:embed="rId3"/>
          <a:stretch>
            <a:fillRect/>
          </a:stretch>
        </p:blipFill>
        <p:spPr>
          <a:xfrm>
            <a:off x="6377979" y="1825625"/>
            <a:ext cx="5355365" cy="2607830"/>
          </a:xfrm>
          <a:prstGeom prst="rect">
            <a:avLst/>
          </a:prstGeom>
        </p:spPr>
      </p:pic>
      <p:graphicFrame>
        <p:nvGraphicFramePr>
          <p:cNvPr id="11" name="Inhaltsplatzhalter 10">
            <a:extLst>
              <a:ext uri="{FF2B5EF4-FFF2-40B4-BE49-F238E27FC236}">
                <a16:creationId xmlns:a16="http://schemas.microsoft.com/office/drawing/2014/main" id="{426A16CA-AF27-70F6-907D-723390E7C3A6}"/>
              </a:ext>
            </a:extLst>
          </p:cNvPr>
          <p:cNvGraphicFramePr>
            <a:graphicFrameLocks noGrp="1"/>
          </p:cNvGraphicFramePr>
          <p:nvPr>
            <p:ph sz="half" idx="1"/>
            <p:extLst>
              <p:ext uri="{D42A27DB-BD31-4B8C-83A1-F6EECF244321}">
                <p14:modId xmlns:p14="http://schemas.microsoft.com/office/powerpoint/2010/main" val="808355765"/>
              </p:ext>
            </p:extLst>
          </p:nvPr>
        </p:nvGraphicFramePr>
        <p:xfrm>
          <a:off x="838200" y="1825625"/>
          <a:ext cx="5355365" cy="2494280"/>
        </p:xfrm>
        <a:graphic>
          <a:graphicData uri="http://schemas.openxmlformats.org/drawingml/2006/table">
            <a:tbl>
              <a:tblPr firstRow="1" bandRow="1">
                <a:tableStyleId>{5C22544A-7EE6-4342-B048-85BDC9FD1C3A}</a:tableStyleId>
              </a:tblPr>
              <a:tblGrid>
                <a:gridCol w="2215833">
                  <a:extLst>
                    <a:ext uri="{9D8B030D-6E8A-4147-A177-3AD203B41FA5}">
                      <a16:colId xmlns:a16="http://schemas.microsoft.com/office/drawing/2014/main" val="2664056770"/>
                    </a:ext>
                  </a:extLst>
                </a:gridCol>
                <a:gridCol w="3139532">
                  <a:extLst>
                    <a:ext uri="{9D8B030D-6E8A-4147-A177-3AD203B41FA5}">
                      <a16:colId xmlns:a16="http://schemas.microsoft.com/office/drawing/2014/main" val="127608555"/>
                    </a:ext>
                  </a:extLst>
                </a:gridCol>
              </a:tblGrid>
              <a:tr h="370840">
                <a:tc>
                  <a:txBody>
                    <a:bodyPr/>
                    <a:lstStyle/>
                    <a:p>
                      <a:r>
                        <a:rPr lang="de-DE" dirty="0"/>
                        <a:t>Bestandteil</a:t>
                      </a:r>
                    </a:p>
                  </a:txBody>
                  <a:tcPr/>
                </a:tc>
                <a:tc>
                  <a:txBody>
                    <a:bodyPr/>
                    <a:lstStyle/>
                    <a:p>
                      <a:r>
                        <a:rPr lang="de-DE" dirty="0"/>
                        <a:t>Bedeutung</a:t>
                      </a:r>
                    </a:p>
                  </a:txBody>
                  <a:tcPr/>
                </a:tc>
                <a:extLst>
                  <a:ext uri="{0D108BD9-81ED-4DB2-BD59-A6C34878D82A}">
                    <a16:rowId xmlns:a16="http://schemas.microsoft.com/office/drawing/2014/main" val="983295758"/>
                  </a:ext>
                </a:extLst>
              </a:tr>
              <a:tr h="370840">
                <a:tc>
                  <a:txBody>
                    <a:bodyPr/>
                    <a:lstStyle/>
                    <a:p>
                      <a:r>
                        <a:rPr lang="de-DE" dirty="0"/>
                        <a:t>source</a:t>
                      </a:r>
                    </a:p>
                  </a:txBody>
                  <a:tcPr/>
                </a:tc>
                <a:tc>
                  <a:txBody>
                    <a:bodyPr/>
                    <a:lstStyle/>
                    <a:p>
                      <a:r>
                        <a:rPr lang="de-DE" dirty="0"/>
                        <a:t>Quelle der Hierarchieknoten</a:t>
                      </a:r>
                    </a:p>
                  </a:txBody>
                  <a:tcPr/>
                </a:tc>
                <a:extLst>
                  <a:ext uri="{0D108BD9-81ED-4DB2-BD59-A6C34878D82A}">
                    <a16:rowId xmlns:a16="http://schemas.microsoft.com/office/drawing/2014/main" val="1573075187"/>
                  </a:ext>
                </a:extLst>
              </a:tr>
              <a:tr h="370840">
                <a:tc>
                  <a:txBody>
                    <a:bodyPr/>
                    <a:lstStyle/>
                    <a:p>
                      <a:r>
                        <a:rPr lang="de-DE" dirty="0"/>
                        <a:t>_Parent</a:t>
                      </a:r>
                    </a:p>
                  </a:txBody>
                  <a:tcPr/>
                </a:tc>
                <a:tc>
                  <a:txBody>
                    <a:bodyPr/>
                    <a:lstStyle/>
                    <a:p>
                      <a:r>
                        <a:rPr lang="de-DE" dirty="0"/>
                        <a:t>Verbindung zum Elternknoten</a:t>
                      </a:r>
                    </a:p>
                  </a:txBody>
                  <a:tcPr/>
                </a:tc>
                <a:extLst>
                  <a:ext uri="{0D108BD9-81ED-4DB2-BD59-A6C34878D82A}">
                    <a16:rowId xmlns:a16="http://schemas.microsoft.com/office/drawing/2014/main" val="682338310"/>
                  </a:ext>
                </a:extLst>
              </a:tr>
              <a:tr h="370840">
                <a:tc>
                  <a:txBody>
                    <a:bodyPr/>
                    <a:lstStyle/>
                    <a:p>
                      <a:r>
                        <a:rPr lang="de-DE" dirty="0" err="1"/>
                        <a:t>start</a:t>
                      </a:r>
                      <a:r>
                        <a:rPr lang="de-DE" dirty="0"/>
                        <a:t> </a:t>
                      </a:r>
                      <a:r>
                        <a:rPr lang="de-DE" dirty="0" err="1"/>
                        <a:t>where</a:t>
                      </a:r>
                      <a:endParaRPr lang="de-DE" dirty="0"/>
                    </a:p>
                  </a:txBody>
                  <a:tcPr/>
                </a:tc>
                <a:tc>
                  <a:txBody>
                    <a:bodyPr/>
                    <a:lstStyle/>
                    <a:p>
                      <a:r>
                        <a:rPr lang="de-DE" dirty="0"/>
                        <a:t>Bestimmung der Wurzel</a:t>
                      </a:r>
                    </a:p>
                  </a:txBody>
                  <a:tcPr/>
                </a:tc>
                <a:extLst>
                  <a:ext uri="{0D108BD9-81ED-4DB2-BD59-A6C34878D82A}">
                    <a16:rowId xmlns:a16="http://schemas.microsoft.com/office/drawing/2014/main" val="1318863634"/>
                  </a:ext>
                </a:extLst>
              </a:tr>
              <a:tr h="370840">
                <a:tc>
                  <a:txBody>
                    <a:bodyPr/>
                    <a:lstStyle/>
                    <a:p>
                      <a:r>
                        <a:rPr lang="de-DE" dirty="0" err="1"/>
                        <a:t>siblings</a:t>
                      </a:r>
                      <a:r>
                        <a:rPr lang="de-DE" dirty="0"/>
                        <a:t> </a:t>
                      </a:r>
                      <a:r>
                        <a:rPr lang="de-DE" dirty="0" err="1"/>
                        <a:t>order</a:t>
                      </a:r>
                      <a:r>
                        <a:rPr lang="de-DE" dirty="0"/>
                        <a:t> by</a:t>
                      </a:r>
                    </a:p>
                  </a:txBody>
                  <a:tcPr/>
                </a:tc>
                <a:tc>
                  <a:txBody>
                    <a:bodyPr/>
                    <a:lstStyle/>
                    <a:p>
                      <a:r>
                        <a:rPr lang="de-DE" dirty="0"/>
                        <a:t>Reihenfolge gleichrangiger Knoten</a:t>
                      </a:r>
                    </a:p>
                  </a:txBody>
                  <a:tcPr/>
                </a:tc>
                <a:extLst>
                  <a:ext uri="{0D108BD9-81ED-4DB2-BD59-A6C34878D82A}">
                    <a16:rowId xmlns:a16="http://schemas.microsoft.com/office/drawing/2014/main" val="23214671"/>
                  </a:ext>
                </a:extLst>
              </a:tr>
              <a:tr h="370840">
                <a:tc>
                  <a:txBody>
                    <a:bodyPr/>
                    <a:lstStyle/>
                    <a:p>
                      <a:r>
                        <a:rPr lang="de-DE" dirty="0" err="1"/>
                        <a:t>nodetype</a:t>
                      </a:r>
                      <a:endParaRPr lang="de-DE" dirty="0"/>
                    </a:p>
                  </a:txBody>
                  <a:tcPr/>
                </a:tc>
                <a:tc>
                  <a:txBody>
                    <a:bodyPr/>
                    <a:lstStyle/>
                    <a:p>
                      <a:r>
                        <a:rPr lang="de-DE" dirty="0"/>
                        <a:t>fachlicher Typ des Knotens</a:t>
                      </a:r>
                    </a:p>
                  </a:txBody>
                  <a:tcPr/>
                </a:tc>
                <a:extLst>
                  <a:ext uri="{0D108BD9-81ED-4DB2-BD59-A6C34878D82A}">
                    <a16:rowId xmlns:a16="http://schemas.microsoft.com/office/drawing/2014/main" val="3406025680"/>
                  </a:ext>
                </a:extLst>
              </a:tr>
            </a:tbl>
          </a:graphicData>
        </a:graphic>
      </p:graphicFrame>
    </p:spTree>
    <p:extLst>
      <p:ext uri="{BB962C8B-B14F-4D97-AF65-F5344CB8AC3E}">
        <p14:creationId xmlns:p14="http://schemas.microsoft.com/office/powerpoint/2010/main" val="259557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0A437-5DA7-0C05-A4FB-5FC753D594EC}"/>
              </a:ext>
            </a:extLst>
          </p:cNvPr>
          <p:cNvSpPr>
            <a:spLocks noGrp="1"/>
          </p:cNvSpPr>
          <p:nvPr>
            <p:ph type="title"/>
          </p:nvPr>
        </p:nvSpPr>
        <p:spPr/>
        <p:txBody>
          <a:bodyPr/>
          <a:lstStyle/>
          <a:p>
            <a:r>
              <a:rPr lang="de-DE" dirty="0"/>
              <a:t>Technischer und fachlicher Schlüssel</a:t>
            </a:r>
          </a:p>
        </p:txBody>
      </p:sp>
      <p:graphicFrame>
        <p:nvGraphicFramePr>
          <p:cNvPr id="4" name="Inhaltsplatzhalter 3">
            <a:extLst>
              <a:ext uri="{FF2B5EF4-FFF2-40B4-BE49-F238E27FC236}">
                <a16:creationId xmlns:a16="http://schemas.microsoft.com/office/drawing/2014/main" id="{3C7A6E37-59FE-232F-344D-1AC3579F212B}"/>
              </a:ext>
            </a:extLst>
          </p:cNvPr>
          <p:cNvGraphicFramePr>
            <a:graphicFrameLocks noGrp="1"/>
          </p:cNvGraphicFramePr>
          <p:nvPr>
            <p:ph idx="1"/>
            <p:extLst>
              <p:ext uri="{D42A27DB-BD31-4B8C-83A1-F6EECF244321}">
                <p14:modId xmlns:p14="http://schemas.microsoft.com/office/powerpoint/2010/main" val="3813966462"/>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009897486"/>
                    </a:ext>
                  </a:extLst>
                </a:gridCol>
                <a:gridCol w="2103120">
                  <a:extLst>
                    <a:ext uri="{9D8B030D-6E8A-4147-A177-3AD203B41FA5}">
                      <a16:colId xmlns:a16="http://schemas.microsoft.com/office/drawing/2014/main" val="3932831617"/>
                    </a:ext>
                  </a:extLst>
                </a:gridCol>
                <a:gridCol w="2103120">
                  <a:extLst>
                    <a:ext uri="{9D8B030D-6E8A-4147-A177-3AD203B41FA5}">
                      <a16:colId xmlns:a16="http://schemas.microsoft.com/office/drawing/2014/main" val="3694568399"/>
                    </a:ext>
                  </a:extLst>
                </a:gridCol>
                <a:gridCol w="2103120">
                  <a:extLst>
                    <a:ext uri="{9D8B030D-6E8A-4147-A177-3AD203B41FA5}">
                      <a16:colId xmlns:a16="http://schemas.microsoft.com/office/drawing/2014/main" val="1813989633"/>
                    </a:ext>
                  </a:extLst>
                </a:gridCol>
                <a:gridCol w="2103120">
                  <a:extLst>
                    <a:ext uri="{9D8B030D-6E8A-4147-A177-3AD203B41FA5}">
                      <a16:colId xmlns:a16="http://schemas.microsoft.com/office/drawing/2014/main" val="1020329447"/>
                    </a:ext>
                  </a:extLst>
                </a:gridCol>
              </a:tblGrid>
              <a:tr h="370840">
                <a:tc>
                  <a:txBody>
                    <a:bodyPr/>
                    <a:lstStyle/>
                    <a:p>
                      <a:r>
                        <a:rPr lang="de-DE" dirty="0" err="1"/>
                        <a:t>NodeId</a:t>
                      </a:r>
                      <a:endParaRPr lang="de-DE" dirty="0"/>
                    </a:p>
                  </a:txBody>
                  <a:tcPr/>
                </a:tc>
                <a:tc>
                  <a:txBody>
                    <a:bodyPr/>
                    <a:lstStyle/>
                    <a:p>
                      <a:r>
                        <a:rPr lang="de-DE" dirty="0" err="1"/>
                        <a:t>ParentNodeId</a:t>
                      </a:r>
                      <a:endParaRPr lang="de-DE" dirty="0"/>
                    </a:p>
                  </a:txBody>
                  <a:tcPr/>
                </a:tc>
                <a:tc>
                  <a:txBody>
                    <a:bodyPr/>
                    <a:lstStyle/>
                    <a:p>
                      <a:r>
                        <a:rPr lang="de-DE" dirty="0" err="1"/>
                        <a:t>NodeType</a:t>
                      </a:r>
                      <a:endParaRPr lang="de-DE" dirty="0"/>
                    </a:p>
                  </a:txBody>
                  <a:tcPr/>
                </a:tc>
                <a:tc>
                  <a:txBody>
                    <a:bodyPr/>
                    <a:lstStyle/>
                    <a:p>
                      <a:r>
                        <a:rPr lang="de-DE" dirty="0" err="1"/>
                        <a:t>CategoryID</a:t>
                      </a:r>
                      <a:endParaRPr lang="de-DE" dirty="0"/>
                    </a:p>
                  </a:txBody>
                  <a:tcPr/>
                </a:tc>
                <a:tc>
                  <a:txBody>
                    <a:bodyPr/>
                    <a:lstStyle/>
                    <a:p>
                      <a:r>
                        <a:rPr lang="de-DE" dirty="0" err="1"/>
                        <a:t>ProductId</a:t>
                      </a:r>
                      <a:endParaRPr lang="de-DE" dirty="0"/>
                    </a:p>
                  </a:txBody>
                  <a:tcPr/>
                </a:tc>
                <a:extLst>
                  <a:ext uri="{0D108BD9-81ED-4DB2-BD59-A6C34878D82A}">
                    <a16:rowId xmlns:a16="http://schemas.microsoft.com/office/drawing/2014/main" val="3429272291"/>
                  </a:ext>
                </a:extLst>
              </a:tr>
              <a:tr h="370840">
                <a:tc>
                  <a:txBody>
                    <a:bodyPr/>
                    <a:lstStyle/>
                    <a:p>
                      <a:r>
                        <a:rPr lang="de-DE" dirty="0"/>
                        <a:t>HARDWARE</a:t>
                      </a:r>
                    </a:p>
                  </a:txBody>
                  <a:tcPr/>
                </a:tc>
                <a:tc>
                  <a:txBody>
                    <a:bodyPr/>
                    <a:lstStyle/>
                    <a:p>
                      <a:r>
                        <a:rPr lang="de-DE" dirty="0"/>
                        <a:t>PROD</a:t>
                      </a:r>
                    </a:p>
                  </a:txBody>
                  <a:tcPr/>
                </a:tc>
                <a:tc>
                  <a:txBody>
                    <a:bodyPr/>
                    <a:lstStyle/>
                    <a:p>
                      <a:r>
                        <a:rPr lang="de-DE" dirty="0"/>
                        <a:t>CATEGORYID</a:t>
                      </a:r>
                    </a:p>
                  </a:txBody>
                  <a:tcPr/>
                </a:tc>
                <a:tc>
                  <a:txBody>
                    <a:bodyPr/>
                    <a:lstStyle/>
                    <a:p>
                      <a:r>
                        <a:rPr lang="de-DE" dirty="0"/>
                        <a:t>HARDWARE</a:t>
                      </a:r>
                    </a:p>
                  </a:txBody>
                  <a:tcPr/>
                </a:tc>
                <a:tc>
                  <a:txBody>
                    <a:bodyPr/>
                    <a:lstStyle/>
                    <a:p>
                      <a:endParaRPr lang="de-DE"/>
                    </a:p>
                  </a:txBody>
                  <a:tcPr/>
                </a:tc>
                <a:extLst>
                  <a:ext uri="{0D108BD9-81ED-4DB2-BD59-A6C34878D82A}">
                    <a16:rowId xmlns:a16="http://schemas.microsoft.com/office/drawing/2014/main" val="1865887767"/>
                  </a:ext>
                </a:extLst>
              </a:tr>
              <a:tr h="370840">
                <a:tc>
                  <a:txBody>
                    <a:bodyPr/>
                    <a:lstStyle/>
                    <a:p>
                      <a:r>
                        <a:rPr lang="de-DE" dirty="0"/>
                        <a:t>COMPUTER</a:t>
                      </a:r>
                    </a:p>
                  </a:txBody>
                  <a:tcPr/>
                </a:tc>
                <a:tc>
                  <a:txBody>
                    <a:bodyPr/>
                    <a:lstStyle/>
                    <a:p>
                      <a:r>
                        <a:rPr lang="de-DE" dirty="0"/>
                        <a:t>HARDWARE</a:t>
                      </a:r>
                    </a:p>
                  </a:txBody>
                  <a:tcPr/>
                </a:tc>
                <a:tc>
                  <a:txBody>
                    <a:bodyPr/>
                    <a:lstStyle/>
                    <a:p>
                      <a:r>
                        <a:rPr lang="de-DE" dirty="0"/>
                        <a:t>CATEGORYID</a:t>
                      </a:r>
                    </a:p>
                  </a:txBody>
                  <a:tcPr/>
                </a:tc>
                <a:tc>
                  <a:txBody>
                    <a:bodyPr/>
                    <a:lstStyle/>
                    <a:p>
                      <a:r>
                        <a:rPr lang="de-DE" dirty="0"/>
                        <a:t>COMPUTER</a:t>
                      </a:r>
                    </a:p>
                  </a:txBody>
                  <a:tcPr/>
                </a:tc>
                <a:tc>
                  <a:txBody>
                    <a:bodyPr/>
                    <a:lstStyle/>
                    <a:p>
                      <a:endParaRPr lang="de-DE"/>
                    </a:p>
                  </a:txBody>
                  <a:tcPr/>
                </a:tc>
                <a:extLst>
                  <a:ext uri="{0D108BD9-81ED-4DB2-BD59-A6C34878D82A}">
                    <a16:rowId xmlns:a16="http://schemas.microsoft.com/office/drawing/2014/main" val="3818531974"/>
                  </a:ext>
                </a:extLst>
              </a:tr>
              <a:tr h="370840">
                <a:tc>
                  <a:txBody>
                    <a:bodyPr/>
                    <a:lstStyle/>
                    <a:p>
                      <a:r>
                        <a:rPr lang="de-DE" dirty="0"/>
                        <a:t>P100</a:t>
                      </a:r>
                    </a:p>
                  </a:txBody>
                  <a:tcPr/>
                </a:tc>
                <a:tc>
                  <a:txBody>
                    <a:bodyPr/>
                    <a:lstStyle/>
                    <a:p>
                      <a:r>
                        <a:rPr lang="de-DE" dirty="0"/>
                        <a:t>COMPUTER</a:t>
                      </a:r>
                    </a:p>
                  </a:txBody>
                  <a:tcPr/>
                </a:tc>
                <a:tc>
                  <a:txBody>
                    <a:bodyPr/>
                    <a:lstStyle/>
                    <a:p>
                      <a:r>
                        <a:rPr lang="de-DE" dirty="0"/>
                        <a:t>PRODUCTID</a:t>
                      </a:r>
                    </a:p>
                  </a:txBody>
                  <a:tcPr/>
                </a:tc>
                <a:tc>
                  <a:txBody>
                    <a:bodyPr/>
                    <a:lstStyle/>
                    <a:p>
                      <a:endParaRPr lang="de-DE"/>
                    </a:p>
                  </a:txBody>
                  <a:tcPr/>
                </a:tc>
                <a:tc>
                  <a:txBody>
                    <a:bodyPr/>
                    <a:lstStyle/>
                    <a:p>
                      <a:r>
                        <a:rPr lang="de-DE" dirty="0"/>
                        <a:t>P100</a:t>
                      </a:r>
                    </a:p>
                  </a:txBody>
                  <a:tcPr/>
                </a:tc>
                <a:extLst>
                  <a:ext uri="{0D108BD9-81ED-4DB2-BD59-A6C34878D82A}">
                    <a16:rowId xmlns:a16="http://schemas.microsoft.com/office/drawing/2014/main" val="1219606046"/>
                  </a:ext>
                </a:extLst>
              </a:tr>
            </a:tbl>
          </a:graphicData>
        </a:graphic>
      </p:graphicFrame>
    </p:spTree>
    <p:extLst>
      <p:ext uri="{BB962C8B-B14F-4D97-AF65-F5344CB8AC3E}">
        <p14:creationId xmlns:p14="http://schemas.microsoft.com/office/powerpoint/2010/main" val="3587780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455658-D2D7-938E-9DDD-69738FF70CDD}"/>
              </a:ext>
            </a:extLst>
          </p:cNvPr>
          <p:cNvSpPr>
            <a:spLocks noGrp="1"/>
          </p:cNvSpPr>
          <p:nvPr>
            <p:ph type="title"/>
          </p:nvPr>
        </p:nvSpPr>
        <p:spPr/>
        <p:txBody>
          <a:bodyPr/>
          <a:lstStyle/>
          <a:p>
            <a:r>
              <a:rPr lang="de-DE" dirty="0"/>
              <a:t>Hierarchie in der Query aktivieren</a:t>
            </a:r>
          </a:p>
        </p:txBody>
      </p:sp>
      <p:sp>
        <p:nvSpPr>
          <p:cNvPr id="10" name="Inhaltsplatzhalter 9">
            <a:extLst>
              <a:ext uri="{FF2B5EF4-FFF2-40B4-BE49-F238E27FC236}">
                <a16:creationId xmlns:a16="http://schemas.microsoft.com/office/drawing/2014/main" id="{907845DF-B5AD-F2BA-3636-ECCE6EED2A7B}"/>
              </a:ext>
            </a:extLst>
          </p:cNvPr>
          <p:cNvSpPr>
            <a:spLocks noGrp="1"/>
          </p:cNvSpPr>
          <p:nvPr>
            <p:ph sz="half" idx="1"/>
          </p:nvPr>
        </p:nvSpPr>
        <p:spPr>
          <a:xfrm>
            <a:off x="838200" y="1645510"/>
            <a:ext cx="10515600" cy="2593975"/>
          </a:xfrm>
        </p:spPr>
        <p:txBody>
          <a:bodyPr/>
          <a:lstStyle/>
          <a:p>
            <a:pPr marL="0" indent="0">
              <a:buNone/>
            </a:pPr>
            <a:r>
              <a:rPr lang="de-DE" dirty="0"/>
              <a:t>Die Analytical Engine übernimmt:</a:t>
            </a:r>
          </a:p>
          <a:p>
            <a:pPr lvl="0"/>
            <a:r>
              <a:rPr lang="de-DE" dirty="0"/>
              <a:t>Baumdarstellung </a:t>
            </a:r>
          </a:p>
          <a:p>
            <a:pPr lvl="0"/>
            <a:r>
              <a:rPr lang="de-DE" dirty="0"/>
              <a:t>Auf- und Zuklappen </a:t>
            </a:r>
          </a:p>
          <a:p>
            <a:pPr lvl="0"/>
            <a:r>
              <a:rPr lang="de-DE" dirty="0"/>
              <a:t>Aggregation über alle Hierarchieebenen </a:t>
            </a:r>
          </a:p>
          <a:p>
            <a:pPr lvl="0"/>
            <a:r>
              <a:rPr lang="de-DE" dirty="0"/>
              <a:t>Anzeige von Strukturknoten und Produktblättern</a:t>
            </a:r>
          </a:p>
          <a:p>
            <a:endParaRPr lang="de-DE" dirty="0"/>
          </a:p>
        </p:txBody>
      </p:sp>
      <p:pic>
        <p:nvPicPr>
          <p:cNvPr id="13" name="Inhaltsplatzhalter 12">
            <a:extLst>
              <a:ext uri="{FF2B5EF4-FFF2-40B4-BE49-F238E27FC236}">
                <a16:creationId xmlns:a16="http://schemas.microsoft.com/office/drawing/2014/main" id="{8C3983C4-01B8-EBF0-02AE-E4BEB763BFD4}"/>
              </a:ext>
            </a:extLst>
          </p:cNvPr>
          <p:cNvPicPr>
            <a:picLocks noGrp="1" noChangeAspect="1"/>
          </p:cNvPicPr>
          <p:nvPr>
            <p:ph sz="half" idx="2"/>
          </p:nvPr>
        </p:nvPicPr>
        <p:blipFill>
          <a:blip r:embed="rId3"/>
          <a:stretch>
            <a:fillRect/>
          </a:stretch>
        </p:blipFill>
        <p:spPr>
          <a:xfrm>
            <a:off x="838200" y="4419600"/>
            <a:ext cx="7166309" cy="2202873"/>
          </a:xfrm>
          <a:prstGeom prst="rect">
            <a:avLst/>
          </a:prstGeom>
        </p:spPr>
      </p:pic>
    </p:spTree>
    <p:extLst>
      <p:ext uri="{BB962C8B-B14F-4D97-AF65-F5344CB8AC3E}">
        <p14:creationId xmlns:p14="http://schemas.microsoft.com/office/powerpoint/2010/main" val="39060909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C48198-489A-4D49-6546-674661558D22}"/>
              </a:ext>
            </a:extLst>
          </p:cNvPr>
          <p:cNvSpPr>
            <a:spLocks noGrp="1"/>
          </p:cNvSpPr>
          <p:nvPr>
            <p:ph type="title"/>
          </p:nvPr>
        </p:nvSpPr>
        <p:spPr/>
        <p:txBody>
          <a:bodyPr/>
          <a:lstStyle/>
          <a:p>
            <a:r>
              <a:rPr lang="de-DE" dirty="0"/>
              <a:t>Ergebnis der Produkthierarchie</a:t>
            </a:r>
          </a:p>
        </p:txBody>
      </p:sp>
      <p:pic>
        <p:nvPicPr>
          <p:cNvPr id="5" name="Inhaltsplatzhalter 4">
            <a:extLst>
              <a:ext uri="{FF2B5EF4-FFF2-40B4-BE49-F238E27FC236}">
                <a16:creationId xmlns:a16="http://schemas.microsoft.com/office/drawing/2014/main" id="{A2754EA8-F624-937B-736C-BF76A95F8C4D}"/>
              </a:ext>
            </a:extLst>
          </p:cNvPr>
          <p:cNvPicPr>
            <a:picLocks noGrp="1" noChangeAspect="1"/>
          </p:cNvPicPr>
          <p:nvPr>
            <p:ph idx="1"/>
          </p:nvPr>
        </p:nvPicPr>
        <p:blipFill>
          <a:blip r:embed="rId3"/>
          <a:stretch>
            <a:fillRect/>
          </a:stretch>
        </p:blipFill>
        <p:spPr>
          <a:xfrm>
            <a:off x="838200" y="1839479"/>
            <a:ext cx="3118070" cy="4351338"/>
          </a:xfrm>
          <a:prstGeom prst="rect">
            <a:avLst/>
          </a:prstGeom>
        </p:spPr>
      </p:pic>
    </p:spTree>
    <p:extLst>
      <p:ext uri="{BB962C8B-B14F-4D97-AF65-F5344CB8AC3E}">
        <p14:creationId xmlns:p14="http://schemas.microsoft.com/office/powerpoint/2010/main" val="31839671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34CD07-AA0E-FA53-5E82-09ABF3690D25}"/>
              </a:ext>
            </a:extLst>
          </p:cNvPr>
          <p:cNvSpPr>
            <a:spLocks noGrp="1"/>
          </p:cNvSpPr>
          <p:nvPr>
            <p:ph type="title"/>
          </p:nvPr>
        </p:nvSpPr>
        <p:spPr/>
        <p:txBody>
          <a:bodyPr/>
          <a:lstStyle/>
          <a:p>
            <a:r>
              <a:rPr lang="de-DE" dirty="0"/>
              <a:t>Produkthierarchie implementieren</a:t>
            </a:r>
          </a:p>
        </p:txBody>
      </p:sp>
      <p:sp>
        <p:nvSpPr>
          <p:cNvPr id="3" name="Inhaltsplatzhalter 2">
            <a:extLst>
              <a:ext uri="{FF2B5EF4-FFF2-40B4-BE49-F238E27FC236}">
                <a16:creationId xmlns:a16="http://schemas.microsoft.com/office/drawing/2014/main" id="{92461E9E-DF3F-03D2-9AEF-6996DF558631}"/>
              </a:ext>
            </a:extLst>
          </p:cNvPr>
          <p:cNvSpPr>
            <a:spLocks noGrp="1"/>
          </p:cNvSpPr>
          <p:nvPr>
            <p:ph idx="1"/>
          </p:nvPr>
        </p:nvSpPr>
        <p:spPr/>
        <p:txBody>
          <a:bodyPr>
            <a:normAutofit fontScale="92500" lnSpcReduction="20000"/>
          </a:bodyPr>
          <a:lstStyle/>
          <a:p>
            <a:pPr marL="514350" indent="-514350">
              <a:buFont typeface="+mj-lt"/>
              <a:buAutoNum type="arabicPeriod"/>
            </a:pPr>
            <a:r>
              <a:rPr lang="de-DE" dirty="0"/>
              <a:t>Kategorien und Produkte vereinigen</a:t>
            </a:r>
          </a:p>
          <a:p>
            <a:pPr marL="514350" indent="-514350">
              <a:buFont typeface="+mj-lt"/>
              <a:buAutoNum type="arabicPeriod"/>
            </a:pPr>
            <a:r>
              <a:rPr lang="de-DE" dirty="0"/>
              <a:t>Bedeutung von </a:t>
            </a:r>
            <a:r>
              <a:rPr lang="de-DE" dirty="0" err="1"/>
              <a:t>NodeType</a:t>
            </a:r>
            <a:r>
              <a:rPr lang="de-DE" dirty="0"/>
              <a:t> zeigen</a:t>
            </a:r>
          </a:p>
          <a:p>
            <a:pPr marL="514350" indent="-514350">
              <a:buFont typeface="+mj-lt"/>
              <a:buAutoNum type="arabicPeriod"/>
            </a:pPr>
            <a:r>
              <a:rPr lang="de-DE" dirty="0"/>
              <a:t>Kategorie als Knotendimension</a:t>
            </a:r>
          </a:p>
          <a:p>
            <a:pPr marL="514350" indent="-514350">
              <a:buFont typeface="+mj-lt"/>
              <a:buAutoNum type="arabicPeriod"/>
            </a:pPr>
            <a:r>
              <a:rPr lang="de-DE" dirty="0"/>
              <a:t>Node-View anlegen</a:t>
            </a:r>
          </a:p>
          <a:p>
            <a:pPr marL="514350" indent="-514350">
              <a:buFont typeface="+mj-lt"/>
              <a:buAutoNum type="arabicPeriod"/>
            </a:pPr>
            <a:r>
              <a:rPr lang="de-DE" dirty="0"/>
              <a:t>Parent-Child-Hierarchie definieren</a:t>
            </a:r>
          </a:p>
          <a:p>
            <a:pPr marL="514350" indent="-514350">
              <a:buFont typeface="+mj-lt"/>
              <a:buAutoNum type="arabicPeriod"/>
            </a:pPr>
            <a:r>
              <a:rPr lang="de-DE" dirty="0"/>
              <a:t>Produktdimension mit der Hierarchie verbinden</a:t>
            </a:r>
          </a:p>
          <a:p>
            <a:pPr marL="514350" indent="-514350">
              <a:buFont typeface="+mj-lt"/>
              <a:buAutoNum type="arabicPeriod"/>
            </a:pPr>
            <a:r>
              <a:rPr lang="de-DE" dirty="0"/>
              <a:t>Zusammengehörige Objekte aktivieren</a:t>
            </a:r>
          </a:p>
          <a:p>
            <a:pPr marL="514350" indent="-514350">
              <a:buFont typeface="+mj-lt"/>
              <a:buAutoNum type="arabicPeriod"/>
            </a:pPr>
            <a:r>
              <a:rPr lang="de-DE" dirty="0"/>
              <a:t>Relation Explorer zeigen</a:t>
            </a:r>
          </a:p>
          <a:p>
            <a:pPr marL="514350" indent="-514350">
              <a:buFont typeface="+mj-lt"/>
              <a:buAutoNum type="arabicPeriod"/>
            </a:pPr>
            <a:r>
              <a:rPr lang="de-DE" dirty="0"/>
              <a:t>Query um Hierarchie erweitern</a:t>
            </a:r>
          </a:p>
          <a:p>
            <a:pPr marL="514350" indent="-514350">
              <a:buFont typeface="+mj-lt"/>
              <a:buAutoNum type="arabicPeriod"/>
            </a:pPr>
            <a:r>
              <a:rPr lang="de-DE" dirty="0"/>
              <a:t>Hierarchie testen</a:t>
            </a:r>
          </a:p>
          <a:p>
            <a:pPr marL="514350" indent="-514350">
              <a:buFont typeface="+mj-lt"/>
              <a:buAutoNum type="arabicPeriod"/>
            </a:pPr>
            <a:endParaRPr lang="de-DE" dirty="0"/>
          </a:p>
        </p:txBody>
      </p:sp>
    </p:spTree>
    <p:extLst>
      <p:ext uri="{BB962C8B-B14F-4D97-AF65-F5344CB8AC3E}">
        <p14:creationId xmlns:p14="http://schemas.microsoft.com/office/powerpoint/2010/main" val="4293561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07F2AB-9DA1-0EBC-6D10-6A1043F7A109}"/>
              </a:ext>
            </a:extLst>
          </p:cNvPr>
          <p:cNvSpPr>
            <a:spLocks noGrp="1"/>
          </p:cNvSpPr>
          <p:nvPr>
            <p:ph type="title"/>
          </p:nvPr>
        </p:nvSpPr>
        <p:spPr/>
        <p:txBody>
          <a:bodyPr/>
          <a:lstStyle/>
          <a:p>
            <a:r>
              <a:rPr lang="de-DE" dirty="0"/>
              <a:t>Was haben wir aufgebaut?</a:t>
            </a:r>
          </a:p>
        </p:txBody>
      </p:sp>
      <p:sp>
        <p:nvSpPr>
          <p:cNvPr id="4" name="Textplatzhalter 3">
            <a:extLst>
              <a:ext uri="{FF2B5EF4-FFF2-40B4-BE49-F238E27FC236}">
                <a16:creationId xmlns:a16="http://schemas.microsoft.com/office/drawing/2014/main" id="{7B6DA598-6B27-7CDE-221F-7FF378E3D417}"/>
              </a:ext>
            </a:extLst>
          </p:cNvPr>
          <p:cNvSpPr>
            <a:spLocks noGrp="1"/>
          </p:cNvSpPr>
          <p:nvPr>
            <p:ph type="body" idx="1"/>
          </p:nvPr>
        </p:nvSpPr>
        <p:spPr/>
        <p:txBody>
          <a:bodyPr/>
          <a:lstStyle/>
          <a:p>
            <a:r>
              <a:rPr lang="de-DE" dirty="0"/>
              <a:t>Fiori Elements</a:t>
            </a:r>
          </a:p>
        </p:txBody>
      </p:sp>
      <p:sp>
        <p:nvSpPr>
          <p:cNvPr id="5" name="Inhaltsplatzhalter 4">
            <a:extLst>
              <a:ext uri="{FF2B5EF4-FFF2-40B4-BE49-F238E27FC236}">
                <a16:creationId xmlns:a16="http://schemas.microsoft.com/office/drawing/2014/main" id="{01A8F99F-2D30-66C0-F22C-E2919E63F0DE}"/>
              </a:ext>
            </a:extLst>
          </p:cNvPr>
          <p:cNvSpPr>
            <a:spLocks noGrp="1"/>
          </p:cNvSpPr>
          <p:nvPr>
            <p:ph sz="half" idx="2"/>
          </p:nvPr>
        </p:nvSpPr>
        <p:spPr/>
        <p:txBody>
          <a:bodyPr/>
          <a:lstStyle/>
          <a:p>
            <a:pPr lvl="0"/>
            <a:r>
              <a:rPr lang="de-DE" dirty="0"/>
              <a:t>Metadatenerweiterungen</a:t>
            </a:r>
          </a:p>
          <a:p>
            <a:pPr lvl="0"/>
            <a:r>
              <a:rPr lang="de-DE" dirty="0"/>
              <a:t>List Report und </a:t>
            </a:r>
            <a:r>
              <a:rPr lang="de-DE" dirty="0" err="1"/>
              <a:t>Object</a:t>
            </a:r>
            <a:r>
              <a:rPr lang="de-DE" dirty="0"/>
              <a:t> Page </a:t>
            </a:r>
          </a:p>
          <a:p>
            <a:pPr lvl="0"/>
            <a:r>
              <a:rPr lang="de-DE" dirty="0"/>
              <a:t>Navigation über Assoziationen </a:t>
            </a:r>
          </a:p>
          <a:p>
            <a:pPr lvl="0"/>
            <a:r>
              <a:rPr lang="de-DE" dirty="0"/>
              <a:t>Data Points, </a:t>
            </a:r>
            <a:r>
              <a:rPr lang="de-DE" dirty="0" err="1"/>
              <a:t>Criticality</a:t>
            </a:r>
            <a:r>
              <a:rPr lang="de-DE" dirty="0"/>
              <a:t> und Charts</a:t>
            </a:r>
          </a:p>
          <a:p>
            <a:endParaRPr lang="de-DE" dirty="0"/>
          </a:p>
        </p:txBody>
      </p:sp>
      <p:sp>
        <p:nvSpPr>
          <p:cNvPr id="6" name="Textplatzhalter 5">
            <a:extLst>
              <a:ext uri="{FF2B5EF4-FFF2-40B4-BE49-F238E27FC236}">
                <a16:creationId xmlns:a16="http://schemas.microsoft.com/office/drawing/2014/main" id="{A4250954-86E2-F469-EC05-A504DD6D87D4}"/>
              </a:ext>
            </a:extLst>
          </p:cNvPr>
          <p:cNvSpPr>
            <a:spLocks noGrp="1"/>
          </p:cNvSpPr>
          <p:nvPr>
            <p:ph type="body" sz="quarter" idx="3"/>
          </p:nvPr>
        </p:nvSpPr>
        <p:spPr/>
        <p:txBody>
          <a:bodyPr/>
          <a:lstStyle/>
          <a:p>
            <a:r>
              <a:rPr lang="de-DE" dirty="0"/>
              <a:t>Analytik</a:t>
            </a:r>
          </a:p>
        </p:txBody>
      </p:sp>
      <p:sp>
        <p:nvSpPr>
          <p:cNvPr id="7" name="Inhaltsplatzhalter 6">
            <a:extLst>
              <a:ext uri="{FF2B5EF4-FFF2-40B4-BE49-F238E27FC236}">
                <a16:creationId xmlns:a16="http://schemas.microsoft.com/office/drawing/2014/main" id="{75AB94CF-690B-F261-4730-62BDFB1A1F89}"/>
              </a:ext>
            </a:extLst>
          </p:cNvPr>
          <p:cNvSpPr>
            <a:spLocks noGrp="1"/>
          </p:cNvSpPr>
          <p:nvPr>
            <p:ph sz="quarter" idx="4"/>
          </p:nvPr>
        </p:nvSpPr>
        <p:spPr/>
        <p:txBody>
          <a:bodyPr/>
          <a:lstStyle/>
          <a:p>
            <a:pPr lvl="0"/>
            <a:r>
              <a:rPr lang="de-DE" dirty="0"/>
              <a:t>Dimensionen und Kennzahlen </a:t>
            </a:r>
          </a:p>
          <a:p>
            <a:pPr lvl="0"/>
            <a:r>
              <a:rPr lang="de-DE" dirty="0"/>
              <a:t>analytischer Cube </a:t>
            </a:r>
          </a:p>
          <a:p>
            <a:pPr lvl="0"/>
            <a:r>
              <a:rPr lang="de-DE" dirty="0"/>
              <a:t>transiente Query </a:t>
            </a:r>
          </a:p>
          <a:p>
            <a:pPr lvl="0"/>
            <a:r>
              <a:rPr lang="de-DE" dirty="0"/>
              <a:t>Produkthierarchie</a:t>
            </a:r>
          </a:p>
          <a:p>
            <a:endParaRPr lang="de-DE" dirty="0"/>
          </a:p>
        </p:txBody>
      </p:sp>
    </p:spTree>
    <p:extLst>
      <p:ext uri="{BB962C8B-B14F-4D97-AF65-F5344CB8AC3E}">
        <p14:creationId xmlns:p14="http://schemas.microsoft.com/office/powerpoint/2010/main" val="2872352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66F2AD-1FAD-FDD9-9600-F73AED2A4C13}"/>
              </a:ext>
            </a:extLst>
          </p:cNvPr>
          <p:cNvSpPr>
            <a:spLocks noGrp="1"/>
          </p:cNvSpPr>
          <p:nvPr>
            <p:ph type="title"/>
          </p:nvPr>
        </p:nvSpPr>
        <p:spPr/>
        <p:txBody>
          <a:bodyPr/>
          <a:lstStyle/>
          <a:p>
            <a:r>
              <a:rPr lang="de-DE" dirty="0"/>
              <a:t>Die Kursreihe im Überblick</a:t>
            </a:r>
          </a:p>
        </p:txBody>
      </p:sp>
      <p:graphicFrame>
        <p:nvGraphicFramePr>
          <p:cNvPr id="4" name="Inhaltsplatzhalter 3">
            <a:extLst>
              <a:ext uri="{FF2B5EF4-FFF2-40B4-BE49-F238E27FC236}">
                <a16:creationId xmlns:a16="http://schemas.microsoft.com/office/drawing/2014/main" id="{112E7720-0B01-057A-C3B3-3DF864ADDCF2}"/>
              </a:ext>
            </a:extLst>
          </p:cNvPr>
          <p:cNvGraphicFramePr>
            <a:graphicFrameLocks noGrp="1"/>
          </p:cNvGraphicFramePr>
          <p:nvPr>
            <p:ph idx="1"/>
            <p:extLst>
              <p:ext uri="{D42A27DB-BD31-4B8C-83A1-F6EECF244321}">
                <p14:modId xmlns:p14="http://schemas.microsoft.com/office/powerpoint/2010/main" val="1188312687"/>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1364673">
                  <a:extLst>
                    <a:ext uri="{9D8B030D-6E8A-4147-A177-3AD203B41FA5}">
                      <a16:colId xmlns:a16="http://schemas.microsoft.com/office/drawing/2014/main" val="3559484265"/>
                    </a:ext>
                  </a:extLst>
                </a:gridCol>
                <a:gridCol w="9150927">
                  <a:extLst>
                    <a:ext uri="{9D8B030D-6E8A-4147-A177-3AD203B41FA5}">
                      <a16:colId xmlns:a16="http://schemas.microsoft.com/office/drawing/2014/main" val="4026774284"/>
                    </a:ext>
                  </a:extLst>
                </a:gridCol>
              </a:tblGrid>
              <a:tr h="370840">
                <a:tc>
                  <a:txBody>
                    <a:bodyPr/>
                    <a:lstStyle/>
                    <a:p>
                      <a:r>
                        <a:rPr lang="de-DE" dirty="0"/>
                        <a:t>Teil</a:t>
                      </a:r>
                    </a:p>
                  </a:txBody>
                  <a:tcPr/>
                </a:tc>
                <a:tc>
                  <a:txBody>
                    <a:bodyPr/>
                    <a:lstStyle/>
                    <a:p>
                      <a:r>
                        <a:rPr lang="de-DE" dirty="0"/>
                        <a:t>Ergebnis</a:t>
                      </a:r>
                    </a:p>
                  </a:txBody>
                  <a:tcPr/>
                </a:tc>
                <a:extLst>
                  <a:ext uri="{0D108BD9-81ED-4DB2-BD59-A6C34878D82A}">
                    <a16:rowId xmlns:a16="http://schemas.microsoft.com/office/drawing/2014/main" val="178743550"/>
                  </a:ext>
                </a:extLst>
              </a:tr>
              <a:tr h="370840">
                <a:tc>
                  <a:txBody>
                    <a:bodyPr/>
                    <a:lstStyle/>
                    <a:p>
                      <a:r>
                        <a:rPr lang="de-DE" dirty="0"/>
                        <a:t>1</a:t>
                      </a:r>
                    </a:p>
                  </a:txBody>
                  <a:tcPr/>
                </a:tc>
                <a:tc>
                  <a:txBody>
                    <a:bodyPr/>
                    <a:lstStyle/>
                    <a:p>
                      <a:r>
                        <a:rPr lang="de-DE" dirty="0"/>
                        <a:t>verbundenes und geschütztes CDS-Datenmodell</a:t>
                      </a:r>
                    </a:p>
                  </a:txBody>
                  <a:tcPr/>
                </a:tc>
                <a:extLst>
                  <a:ext uri="{0D108BD9-81ED-4DB2-BD59-A6C34878D82A}">
                    <a16:rowId xmlns:a16="http://schemas.microsoft.com/office/drawing/2014/main" val="1825126515"/>
                  </a:ext>
                </a:extLst>
              </a:tr>
              <a:tr h="370840">
                <a:tc>
                  <a:txBody>
                    <a:bodyPr/>
                    <a:lstStyle/>
                    <a:p>
                      <a:r>
                        <a:rPr lang="de-DE" dirty="0"/>
                        <a:t>2</a:t>
                      </a:r>
                    </a:p>
                  </a:txBody>
                  <a:tcPr/>
                </a:tc>
                <a:tc>
                  <a:txBody>
                    <a:bodyPr/>
                    <a:lstStyle/>
                    <a:p>
                      <a:r>
                        <a:rPr lang="de-DE" dirty="0"/>
                        <a:t>Berechnungen, Aggregationen, Union und Erweiterungen</a:t>
                      </a:r>
                    </a:p>
                  </a:txBody>
                  <a:tcPr/>
                </a:tc>
                <a:extLst>
                  <a:ext uri="{0D108BD9-81ED-4DB2-BD59-A6C34878D82A}">
                    <a16:rowId xmlns:a16="http://schemas.microsoft.com/office/drawing/2014/main" val="1689851650"/>
                  </a:ext>
                </a:extLst>
              </a:tr>
              <a:tr h="370840">
                <a:tc>
                  <a:txBody>
                    <a:bodyPr/>
                    <a:lstStyle/>
                    <a:p>
                      <a:r>
                        <a:rPr lang="de-DE" dirty="0"/>
                        <a:t>3</a:t>
                      </a:r>
                    </a:p>
                  </a:txBody>
                  <a:tcPr/>
                </a:tc>
                <a:tc>
                  <a:txBody>
                    <a:bodyPr/>
                    <a:lstStyle/>
                    <a:p>
                      <a:r>
                        <a:rPr lang="de-DE" dirty="0"/>
                        <a:t>Fiori-Elements-Anwendung und analytisches Modell</a:t>
                      </a:r>
                    </a:p>
                  </a:txBody>
                  <a:tcPr/>
                </a:tc>
                <a:extLst>
                  <a:ext uri="{0D108BD9-81ED-4DB2-BD59-A6C34878D82A}">
                    <a16:rowId xmlns:a16="http://schemas.microsoft.com/office/drawing/2014/main" val="1584569911"/>
                  </a:ext>
                </a:extLst>
              </a:tr>
            </a:tbl>
          </a:graphicData>
        </a:graphic>
      </p:graphicFrame>
    </p:spTree>
    <p:extLst>
      <p:ext uri="{BB962C8B-B14F-4D97-AF65-F5344CB8AC3E}">
        <p14:creationId xmlns:p14="http://schemas.microsoft.com/office/powerpoint/2010/main" val="24166989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280F62-C66E-CC59-82E0-BB865F904842}"/>
              </a:ext>
            </a:extLst>
          </p:cNvPr>
          <p:cNvSpPr>
            <a:spLocks noGrp="1"/>
          </p:cNvSpPr>
          <p:nvPr>
            <p:ph type="title"/>
          </p:nvPr>
        </p:nvSpPr>
        <p:spPr/>
        <p:txBody>
          <a:bodyPr/>
          <a:lstStyle/>
          <a:p>
            <a:r>
              <a:rPr lang="de-DE" dirty="0"/>
              <a:t>Zentrale Erkenntnisse</a:t>
            </a:r>
          </a:p>
        </p:txBody>
      </p:sp>
      <p:sp>
        <p:nvSpPr>
          <p:cNvPr id="3" name="Inhaltsplatzhalter 2">
            <a:extLst>
              <a:ext uri="{FF2B5EF4-FFF2-40B4-BE49-F238E27FC236}">
                <a16:creationId xmlns:a16="http://schemas.microsoft.com/office/drawing/2014/main" id="{040117C3-1489-6963-5C8E-83E3F917582B}"/>
              </a:ext>
            </a:extLst>
          </p:cNvPr>
          <p:cNvSpPr>
            <a:spLocks noGrp="1"/>
          </p:cNvSpPr>
          <p:nvPr>
            <p:ph idx="1"/>
          </p:nvPr>
        </p:nvSpPr>
        <p:spPr/>
        <p:txBody>
          <a:bodyPr>
            <a:normAutofit lnSpcReduction="10000"/>
          </a:bodyPr>
          <a:lstStyle/>
          <a:p>
            <a:pPr marL="0" indent="0">
              <a:buNone/>
            </a:pPr>
            <a:r>
              <a:rPr lang="de-DE" b="1" dirty="0"/>
              <a:t>CDS View </a:t>
            </a:r>
            <a:r>
              <a:rPr lang="de-DE" b="1" dirty="0" err="1"/>
              <a:t>Entities</a:t>
            </a:r>
            <a:r>
              <a:rPr lang="de-DE" b="1" dirty="0"/>
              <a:t> beschreiben mehr als eine Datenbankabfrage</a:t>
            </a:r>
            <a:endParaRPr lang="de-DE" dirty="0"/>
          </a:p>
          <a:p>
            <a:pPr marL="514350" lvl="0" indent="-514350">
              <a:buFont typeface="+mj-lt"/>
              <a:buAutoNum type="arabicPeriod"/>
            </a:pPr>
            <a:r>
              <a:rPr lang="de-DE" dirty="0"/>
              <a:t>Daten und Schlüssel </a:t>
            </a:r>
          </a:p>
          <a:p>
            <a:pPr marL="514350" lvl="0" indent="-514350">
              <a:buFont typeface="+mj-lt"/>
              <a:buAutoNum type="arabicPeriod"/>
            </a:pPr>
            <a:r>
              <a:rPr lang="de-DE" dirty="0"/>
              <a:t>Beziehungen und Kardinalitäten </a:t>
            </a:r>
          </a:p>
          <a:p>
            <a:pPr marL="514350" lvl="0" indent="-514350">
              <a:buFont typeface="+mj-lt"/>
              <a:buAutoNum type="arabicPeriod"/>
            </a:pPr>
            <a:r>
              <a:rPr lang="de-DE" dirty="0"/>
              <a:t>fachliche Semantik </a:t>
            </a:r>
          </a:p>
          <a:p>
            <a:pPr marL="514350" lvl="0" indent="-514350">
              <a:buFont typeface="+mj-lt"/>
              <a:buAutoNum type="arabicPeriod"/>
            </a:pPr>
            <a:r>
              <a:rPr lang="de-DE" dirty="0"/>
              <a:t>Berechtigungen </a:t>
            </a:r>
          </a:p>
          <a:p>
            <a:pPr marL="514350" lvl="0" indent="-514350">
              <a:buFont typeface="+mj-lt"/>
              <a:buAutoNum type="arabicPeriod"/>
            </a:pPr>
            <a:r>
              <a:rPr lang="de-DE" dirty="0"/>
              <a:t>Benutzeroberflächen </a:t>
            </a:r>
          </a:p>
          <a:p>
            <a:pPr marL="514350" lvl="0" indent="-514350">
              <a:buFont typeface="+mj-lt"/>
              <a:buAutoNum type="arabicPeriod"/>
            </a:pPr>
            <a:r>
              <a:rPr lang="de-DE" dirty="0"/>
              <a:t>analytische Modelle und Hierarchien </a:t>
            </a:r>
          </a:p>
          <a:p>
            <a:pPr marL="0" indent="0">
              <a:buNone/>
            </a:pPr>
            <a:r>
              <a:rPr lang="de-DE" dirty="0"/>
              <a:t>Gute CDS-Modelle machen fachliche Zusammenhänge für unterschiedliche Verbraucher nutzbar.</a:t>
            </a:r>
          </a:p>
          <a:p>
            <a:endParaRPr lang="de-DE" dirty="0"/>
          </a:p>
        </p:txBody>
      </p:sp>
    </p:spTree>
    <p:extLst>
      <p:ext uri="{BB962C8B-B14F-4D97-AF65-F5344CB8AC3E}">
        <p14:creationId xmlns:p14="http://schemas.microsoft.com/office/powerpoint/2010/main" val="928410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F6B1C0-6498-9094-D941-19528FEE3EE4}"/>
              </a:ext>
            </a:extLst>
          </p:cNvPr>
          <p:cNvSpPr>
            <a:spLocks noGrp="1"/>
          </p:cNvSpPr>
          <p:nvPr>
            <p:ph type="title"/>
          </p:nvPr>
        </p:nvSpPr>
        <p:spPr/>
        <p:txBody>
          <a:bodyPr/>
          <a:lstStyle/>
          <a:p>
            <a:r>
              <a:rPr lang="de-DE" dirty="0"/>
              <a:t>Ressourcen</a:t>
            </a:r>
          </a:p>
        </p:txBody>
      </p:sp>
      <p:sp>
        <p:nvSpPr>
          <p:cNvPr id="3" name="Inhaltsplatzhalter 2">
            <a:extLst>
              <a:ext uri="{FF2B5EF4-FFF2-40B4-BE49-F238E27FC236}">
                <a16:creationId xmlns:a16="http://schemas.microsoft.com/office/drawing/2014/main" id="{414A8D02-C361-E8AE-D92B-53E118F8360A}"/>
              </a:ext>
            </a:extLst>
          </p:cNvPr>
          <p:cNvSpPr>
            <a:spLocks noGrp="1"/>
          </p:cNvSpPr>
          <p:nvPr>
            <p:ph idx="1"/>
          </p:nvPr>
        </p:nvSpPr>
        <p:spPr/>
        <p:txBody>
          <a:bodyPr>
            <a:normAutofit/>
          </a:bodyPr>
          <a:lstStyle/>
          <a:p>
            <a:pPr marL="0" indent="0">
              <a:buNone/>
            </a:pPr>
            <a:r>
              <a:rPr lang="de-DE" sz="1600" dirty="0">
                <a:hlinkClick r:id="rId3"/>
              </a:rPr>
              <a:t>https://www.rheinwerk-verlag.de/core-data-services-fuer-abap/</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r>
              <a:rPr lang="de-DE" sz="1600" dirty="0">
                <a:hlinkClick r:id="rId4"/>
              </a:rPr>
              <a:t>https://learning.sap.com/courses/building-data-models-with-the-abap-dictionary-and-abap-core-data-services</a:t>
            </a:r>
            <a:endParaRPr lang="de-DE" sz="1600" dirty="0"/>
          </a:p>
          <a:p>
            <a:pPr marL="0" indent="0">
              <a:buNone/>
            </a:pPr>
            <a:r>
              <a:rPr lang="de-DE" sz="1600">
                <a:hlinkClick r:id="rId5"/>
              </a:rPr>
              <a:t>https://learning.sap.com/courses/developing-analytical-models-with-cds-based-analytical-projection-views</a:t>
            </a:r>
            <a:r>
              <a:rPr lang="de-DE" sz="1600"/>
              <a:t> </a:t>
            </a:r>
            <a:endParaRPr lang="de-DE" sz="1600" dirty="0"/>
          </a:p>
          <a:p>
            <a:pPr marL="0" indent="0">
              <a:buNone/>
            </a:pPr>
            <a:r>
              <a:rPr lang="de-DE" sz="1600" dirty="0">
                <a:hlinkClick r:id="rId6"/>
              </a:rPr>
              <a:t>https://training.sap.com/course/s4d430-data-modelling-in-abap-dictionary-and-abap-core-data-services-classroom-024-de-de</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p:txBody>
      </p:sp>
      <p:pic>
        <p:nvPicPr>
          <p:cNvPr id="6" name="Grafik 5" descr="Cover von Core Data Services für ABAP">
            <a:extLst>
              <a:ext uri="{FF2B5EF4-FFF2-40B4-BE49-F238E27FC236}">
                <a16:creationId xmlns:a16="http://schemas.microsoft.com/office/drawing/2014/main" id="{9BAE3DBD-B303-D270-8BE6-7DD896F40DDB}"/>
              </a:ext>
            </a:extLst>
          </p:cNvPr>
          <p:cNvPicPr>
            <a:picLocks noChangeAspect="1"/>
          </p:cNvPicPr>
          <p:nvPr/>
        </p:nvPicPr>
        <p:blipFill>
          <a:blip r:embed="rId7"/>
          <a:stretch>
            <a:fillRect/>
          </a:stretch>
        </p:blipFill>
        <p:spPr>
          <a:xfrm>
            <a:off x="299413" y="2157412"/>
            <a:ext cx="3133725" cy="2543175"/>
          </a:xfrm>
          <a:prstGeom prst="rect">
            <a:avLst/>
          </a:prstGeom>
        </p:spPr>
      </p:pic>
    </p:spTree>
    <p:extLst>
      <p:ext uri="{BB962C8B-B14F-4D97-AF65-F5344CB8AC3E}">
        <p14:creationId xmlns:p14="http://schemas.microsoft.com/office/powerpoint/2010/main" val="1053560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802ED7-909F-E61F-4A08-6D4B936DB953}"/>
              </a:ext>
            </a:extLst>
          </p:cNvPr>
          <p:cNvSpPr>
            <a:spLocks noGrp="1"/>
          </p:cNvSpPr>
          <p:nvPr>
            <p:ph type="title"/>
          </p:nvPr>
        </p:nvSpPr>
        <p:spPr/>
        <p:txBody>
          <a:bodyPr anchor="b">
            <a:normAutofit/>
          </a:bodyPr>
          <a:lstStyle/>
          <a:p>
            <a:r>
              <a:rPr lang="de-DE" sz="3600" dirty="0"/>
              <a:t>Ressourcen: GitHub-Repository zur Veranstaltung</a:t>
            </a:r>
          </a:p>
        </p:txBody>
      </p:sp>
      <p:sp>
        <p:nvSpPr>
          <p:cNvPr id="3" name="Inhaltsplatzhalter 2">
            <a:extLst>
              <a:ext uri="{FF2B5EF4-FFF2-40B4-BE49-F238E27FC236}">
                <a16:creationId xmlns:a16="http://schemas.microsoft.com/office/drawing/2014/main" id="{9B7F34D7-59AD-384C-9508-3FF4807BDAED}"/>
              </a:ext>
            </a:extLst>
          </p:cNvPr>
          <p:cNvSpPr>
            <a:spLocks noGrp="1"/>
          </p:cNvSpPr>
          <p:nvPr>
            <p:ph idx="1"/>
          </p:nvPr>
        </p:nvSpPr>
        <p:spPr/>
        <p:txBody>
          <a:bodyPr anchor="b">
            <a:normAutofit/>
          </a:bodyPr>
          <a:lstStyle/>
          <a:p>
            <a:pPr marL="0" indent="0" algn="r">
              <a:buNone/>
            </a:pPr>
            <a:r>
              <a:rPr lang="de-DE" sz="2000" dirty="0">
                <a:hlinkClick r:id="rId3"/>
              </a:rPr>
              <a:t>https://github.com/MichaelWegelin/cds-workshop.git</a:t>
            </a:r>
            <a:r>
              <a:rPr lang="de-DE" sz="2000" dirty="0"/>
              <a:t> </a:t>
            </a:r>
          </a:p>
        </p:txBody>
      </p:sp>
      <p:pic>
        <p:nvPicPr>
          <p:cNvPr id="5" name="Grafik 4">
            <a:extLst>
              <a:ext uri="{FF2B5EF4-FFF2-40B4-BE49-F238E27FC236}">
                <a16:creationId xmlns:a16="http://schemas.microsoft.com/office/drawing/2014/main" id="{A512F91C-CDB1-72E7-609C-3DB9A3E98FF2}"/>
              </a:ext>
            </a:extLst>
          </p:cNvPr>
          <p:cNvPicPr>
            <a:picLocks noChangeAspect="1"/>
          </p:cNvPicPr>
          <p:nvPr/>
        </p:nvPicPr>
        <p:blipFill>
          <a:blip r:embed="rId4"/>
          <a:stretch>
            <a:fillRect/>
          </a:stretch>
        </p:blipFill>
        <p:spPr>
          <a:xfrm>
            <a:off x="838200" y="1825625"/>
            <a:ext cx="7884695" cy="3908970"/>
          </a:xfrm>
          <a:prstGeom prst="rect">
            <a:avLst/>
          </a:prstGeom>
        </p:spPr>
      </p:pic>
    </p:spTree>
    <p:extLst>
      <p:ext uri="{BB962C8B-B14F-4D97-AF65-F5344CB8AC3E}">
        <p14:creationId xmlns:p14="http://schemas.microsoft.com/office/powerpoint/2010/main" val="36850614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16906</Words>
  <Application>Microsoft Office PowerPoint</Application>
  <PresentationFormat>Breitbild</PresentationFormat>
  <Paragraphs>2996</Paragraphs>
  <Slides>60</Slides>
  <Notes>60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60</vt:i4>
      </vt:variant>
    </vt:vector>
  </HeadingPairs>
  <TitlesOfParts>
    <vt:vector size="65" baseType="lpstr">
      <vt:lpstr>Aptos</vt:lpstr>
      <vt:lpstr>Aptos Display</vt:lpstr>
      <vt:lpstr>Arial</vt:lpstr>
      <vt:lpstr>Courier New</vt:lpstr>
      <vt:lpstr>Office</vt:lpstr>
      <vt:lpstr>Einführung in ABAP Core Data Services</vt:lpstr>
      <vt:lpstr>Agenda</vt:lpstr>
      <vt:lpstr>Praktische Ergebnisse des Live-Codings</vt:lpstr>
      <vt:lpstr>Ausgangspunkt: Unser CDS-Datenmodell</vt:lpstr>
      <vt:lpstr>Vom CDS-Modell zur Anwendung</vt:lpstr>
      <vt:lpstr>Was steuern Annotationen?</vt:lpstr>
      <vt:lpstr>Fiori Elements: Anwendung aus Metadaten</vt:lpstr>
      <vt:lpstr>Das Ziel für Teil 3</vt:lpstr>
      <vt:lpstr>Datenmodell und Darstellung trennen</vt:lpstr>
      <vt:lpstr>Wo können Annotationen stehen?</vt:lpstr>
      <vt:lpstr>Annotationen direkt in der View</vt:lpstr>
      <vt:lpstr>Die Metadatenerweiterung</vt:lpstr>
      <vt:lpstr>Metadatenerweiterungen zulassen</vt:lpstr>
      <vt:lpstr>Annotationsebenen</vt:lpstr>
      <vt:lpstr>Der List Report</vt:lpstr>
      <vt:lpstr>Filterfelder mit @UI.selectionField</vt:lpstr>
      <vt:lpstr>Tabellenspalten mit @UI.lineItem</vt:lpstr>
      <vt:lpstr>Responsive Spalten mit importance</vt:lpstr>
      <vt:lpstr>Ein Feld, mehrere Verwendungen</vt:lpstr>
      <vt:lpstr>List Report gestalten</vt:lpstr>
      <vt:lpstr>Die Object Page</vt:lpstr>
      <vt:lpstr>Der Seitenkopf mit @UI.headerInfo</vt:lpstr>
      <vt:lpstr>Identifikationsmerkmale</vt:lpstr>
      <vt:lpstr>Zusammengehörige Felder gruppieren</vt:lpstr>
      <vt:lpstr>Zusammenwirken der Annotationen</vt:lpstr>
      <vt:lpstr>Object Page gestalten</vt:lpstr>
      <vt:lpstr>Ein Auftrag besteht nicht nur aus Feldern</vt:lpstr>
      <vt:lpstr>Beide Entitäten gehören zum Service</vt:lpstr>
      <vt:lpstr>Die Zielentität gestaltet die Tabelle</vt:lpstr>
      <vt:lpstr>Typische Fehlerquellen</vt:lpstr>
      <vt:lpstr>Darstellung der Positionsdaten</vt:lpstr>
      <vt:lpstr>Von Daten zu visuellen Aussagen</vt:lpstr>
      <vt:lpstr>Kennzahlen mit @UI.dataPoint</vt:lpstr>
      <vt:lpstr>Data Point im Kopfbereich</vt:lpstr>
      <vt:lpstr>Criticality: Werte fachlich bewerten</vt:lpstr>
      <vt:lpstr>Criticality im Datenmodell bestimmen</vt:lpstr>
      <vt:lpstr>Diagramme mit @UI.chart</vt:lpstr>
      <vt:lpstr>Chart über eine Assoziation einbinden</vt:lpstr>
      <vt:lpstr>Visuelle Elemente einfügen</vt:lpstr>
      <vt:lpstr>Von der Anwendung zur Analyse</vt:lpstr>
      <vt:lpstr>Merkmale und Kennzahlen</vt:lpstr>
      <vt:lpstr>Das analytische CDS-Modell</vt:lpstr>
      <vt:lpstr>Dimensionen</vt:lpstr>
      <vt:lpstr>Der analytische Cube</vt:lpstr>
      <vt:lpstr>Die analytische Query</vt:lpstr>
      <vt:lpstr>Achsen einer analytischen Query</vt:lpstr>
      <vt:lpstr>Cube und analytische Query erstellen</vt:lpstr>
      <vt:lpstr>Von der flachen Liste zur Hierarchie</vt:lpstr>
      <vt:lpstr>Unterschiedliche Knotentypen</vt:lpstr>
      <vt:lpstr>Aufbau des Hierarchiemodells</vt:lpstr>
      <vt:lpstr>Parent-Child-Hierarchie</vt:lpstr>
      <vt:lpstr>Technischer und fachlicher Schlüssel</vt:lpstr>
      <vt:lpstr>Hierarchie in der Query aktivieren</vt:lpstr>
      <vt:lpstr>Ergebnis der Produkthierarchie</vt:lpstr>
      <vt:lpstr>Produkthierarchie implementieren</vt:lpstr>
      <vt:lpstr>Was haben wir aufgebaut?</vt:lpstr>
      <vt:lpstr>Die Kursreihe im Überblick</vt:lpstr>
      <vt:lpstr>Zentrale Erkenntnisse</vt:lpstr>
      <vt:lpstr>Ressourcen</vt:lpstr>
      <vt:lpstr>Ressourcen: GitHub-Repository zur Veranstaltung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Wegelin</dc:creator>
  <cp:lastModifiedBy>Michael Wegelin</cp:lastModifiedBy>
  <cp:revision>1</cp:revision>
  <dcterms:created xsi:type="dcterms:W3CDTF">2025-04-11T06:58:28Z</dcterms:created>
  <dcterms:modified xsi:type="dcterms:W3CDTF">2026-09-09T10:53:51Z</dcterms:modified>
</cp:coreProperties>
</file>