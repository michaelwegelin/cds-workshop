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8"/>
  </p:notesMasterIdLst>
  <p:sldIdLst>
    <p:sldId id="256" r:id="rId2"/>
    <p:sldId id="298" r:id="rId3"/>
    <p:sldId id="305" r:id="rId4"/>
    <p:sldId id="299" r:id="rId5"/>
    <p:sldId id="300" r:id="rId6"/>
    <p:sldId id="301" r:id="rId7"/>
    <p:sldId id="302" r:id="rId8"/>
    <p:sldId id="303" r:id="rId9"/>
    <p:sldId id="304" r:id="rId10"/>
    <p:sldId id="306" r:id="rId11"/>
    <p:sldId id="315" r:id="rId12"/>
    <p:sldId id="307" r:id="rId13"/>
    <p:sldId id="308" r:id="rId14"/>
    <p:sldId id="309" r:id="rId15"/>
    <p:sldId id="310" r:id="rId16"/>
    <p:sldId id="311" r:id="rId17"/>
    <p:sldId id="312" r:id="rId18"/>
    <p:sldId id="313" r:id="rId19"/>
    <p:sldId id="316" r:id="rId20"/>
    <p:sldId id="317" r:id="rId21"/>
    <p:sldId id="318" r:id="rId22"/>
    <p:sldId id="319" r:id="rId23"/>
    <p:sldId id="320" r:id="rId24"/>
    <p:sldId id="321" r:id="rId25"/>
    <p:sldId id="322" r:id="rId26"/>
    <p:sldId id="323" r:id="rId27"/>
    <p:sldId id="324" r:id="rId28"/>
    <p:sldId id="325" r:id="rId29"/>
    <p:sldId id="326" r:id="rId30"/>
    <p:sldId id="327" r:id="rId31"/>
    <p:sldId id="328" r:id="rId32"/>
    <p:sldId id="329" r:id="rId33"/>
    <p:sldId id="330" r:id="rId34"/>
    <p:sldId id="331" r:id="rId35"/>
    <p:sldId id="332" r:id="rId36"/>
    <p:sldId id="333" r:id="rId37"/>
    <p:sldId id="334" r:id="rId38"/>
    <p:sldId id="335" r:id="rId39"/>
    <p:sldId id="336" r:id="rId40"/>
    <p:sldId id="337" r:id="rId41"/>
    <p:sldId id="338" r:id="rId42"/>
    <p:sldId id="339" r:id="rId43"/>
    <p:sldId id="340" r:id="rId44"/>
    <p:sldId id="296" r:id="rId45"/>
    <p:sldId id="341" r:id="rId46"/>
    <p:sldId id="342" r:id="rId47"/>
    <p:sldId id="343" r:id="rId48"/>
    <p:sldId id="345" r:id="rId49"/>
    <p:sldId id="346" r:id="rId50"/>
    <p:sldId id="351" r:id="rId51"/>
    <p:sldId id="352" r:id="rId52"/>
    <p:sldId id="347" r:id="rId53"/>
    <p:sldId id="348" r:id="rId54"/>
    <p:sldId id="349" r:id="rId55"/>
    <p:sldId id="294" r:id="rId56"/>
    <p:sldId id="297" r:id="rId57"/>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tandardabschnitt" id="{3D780B3C-D2DA-4FFC-B809-BCBE91ED70FE}">
          <p14:sldIdLst>
            <p14:sldId id="256"/>
          </p14:sldIdLst>
        </p14:section>
        <p14:section name="Einführung" id="{A71FEE34-3DD5-4C60-832B-F7B9E07D03ED}">
          <p14:sldIdLst>
            <p14:sldId id="298"/>
            <p14:sldId id="305"/>
            <p14:sldId id="299"/>
            <p14:sldId id="300"/>
            <p14:sldId id="301"/>
            <p14:sldId id="302"/>
            <p14:sldId id="303"/>
            <p14:sldId id="304"/>
          </p14:sldIdLst>
        </p14:section>
        <p14:section name="Grundelemente von CDS View Entities" id="{4BB6FAAE-6B26-4008-8AC1-1950284ABD94}">
          <p14:sldIdLst>
            <p14:sldId id="306"/>
            <p14:sldId id="315"/>
            <p14:sldId id="307"/>
            <p14:sldId id="308"/>
            <p14:sldId id="309"/>
            <p14:sldId id="310"/>
            <p14:sldId id="311"/>
            <p14:sldId id="312"/>
            <p14:sldId id="313"/>
          </p14:sldIdLst>
        </p14:section>
        <p14:section name="Assoziationen" id="{E69AA76A-BFF2-4176-B8B9-C312056C1CE6}">
          <p14:sldIdLst>
            <p14:sldId id="316"/>
            <p14:sldId id="317"/>
            <p14:sldId id="318"/>
            <p14:sldId id="319"/>
            <p14:sldId id="320"/>
            <p14:sldId id="321"/>
            <p14:sldId id="322"/>
            <p14:sldId id="323"/>
            <p14:sldId id="324"/>
          </p14:sldIdLst>
        </p14:section>
        <p14:section name="Pfadausdrücke" id="{7B881E04-5702-46BB-97D9-058FD8F1756A}">
          <p14:sldIdLst>
            <p14:sldId id="325"/>
            <p14:sldId id="326"/>
            <p14:sldId id="327"/>
            <p14:sldId id="328"/>
            <p14:sldId id="329"/>
            <p14:sldId id="330"/>
            <p14:sldId id="331"/>
            <p14:sldId id="332"/>
          </p14:sldIdLst>
        </p14:section>
        <p14:section name="Verwendung in ABAP SQL" id="{9B60A7D9-D8BC-4CF5-8A9D-27822C7B67A9}">
          <p14:sldIdLst>
            <p14:sldId id="333"/>
            <p14:sldId id="334"/>
            <p14:sldId id="335"/>
            <p14:sldId id="336"/>
            <p14:sldId id="337"/>
            <p14:sldId id="338"/>
            <p14:sldId id="339"/>
            <p14:sldId id="340"/>
          </p14:sldIdLst>
        </p14:section>
        <p14:section name="Zugriffskontrolle" id="{FE100021-66B0-4768-9390-9B63D1DF53BD}">
          <p14:sldIdLst>
            <p14:sldId id="296"/>
            <p14:sldId id="341"/>
            <p14:sldId id="342"/>
            <p14:sldId id="343"/>
            <p14:sldId id="345"/>
            <p14:sldId id="346"/>
            <p14:sldId id="351"/>
            <p14:sldId id="352"/>
            <p14:sldId id="347"/>
            <p14:sldId id="348"/>
          </p14:sldIdLst>
        </p14:section>
        <p14:section name="Ergebnis" id="{56DA790E-57F0-4151-8AC0-C523E34D9347}">
          <p14:sldIdLst>
            <p14:sldId id="349"/>
          </p14:sldIdLst>
        </p14:section>
        <p14:section name="Ressourcen" id="{190EA87C-8E91-4DCA-AF0E-5140B7EBB5C9}">
          <p14:sldIdLst>
            <p14:sldId id="294"/>
            <p14:sldId id="29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7B5D51E-8A88-4D91-867C-39B8A26BCB1D}" v="275" dt="2026-08-02T09:26:39.775"/>
  </p1510:revLst>
</p1510:revInfo>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Keine Formatvorlage, Tabellenraster">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7931" autoAdjust="0"/>
    <p:restoredTop sz="75787" autoAdjust="0"/>
  </p:normalViewPr>
  <p:slideViewPr>
    <p:cSldViewPr snapToGrid="0">
      <p:cViewPr>
        <p:scale>
          <a:sx n="80" d="100"/>
          <a:sy n="80" d="100"/>
        </p:scale>
        <p:origin x="966"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microsoft.com/office/2015/10/relationships/revisionInfo" Target="revisionInfo.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chael Wegelin" userId="44f55030-522d-4388-8c84-12427b5d3861" providerId="ADAL" clId="{0C4B0DB6-929A-4816-82F8-C5CA7CCA52CE}"/>
    <pc:docChg chg="undo custSel addSld delSld modSld addSection delSection modSection">
      <pc:chgData name="Michael Wegelin" userId="44f55030-522d-4388-8c84-12427b5d3861" providerId="ADAL" clId="{0C4B0DB6-929A-4816-82F8-C5CA7CCA52CE}" dt="2026-08-02T09:27:10.194" v="13941" actId="14100"/>
      <pc:docMkLst>
        <pc:docMk/>
      </pc:docMkLst>
      <pc:sldChg chg="modSp mod">
        <pc:chgData name="Michael Wegelin" userId="44f55030-522d-4388-8c84-12427b5d3861" providerId="ADAL" clId="{0C4B0DB6-929A-4816-82F8-C5CA7CCA52CE}" dt="2026-08-01T17:24:36.986" v="9191"/>
        <pc:sldMkLst>
          <pc:docMk/>
          <pc:sldMk cId="625399248" sldId="256"/>
        </pc:sldMkLst>
        <pc:spChg chg="mod">
          <ac:chgData name="Michael Wegelin" userId="44f55030-522d-4388-8c84-12427b5d3861" providerId="ADAL" clId="{0C4B0DB6-929A-4816-82F8-C5CA7CCA52CE}" dt="2026-08-01T17:24:26.044" v="9190" actId="20577"/>
          <ac:spMkLst>
            <pc:docMk/>
            <pc:sldMk cId="625399248" sldId="256"/>
            <ac:spMk id="2" creationId="{15145329-41F4-501E-FB56-244ED2737B99}"/>
          </ac:spMkLst>
        </pc:spChg>
        <pc:spChg chg="mod">
          <ac:chgData name="Michael Wegelin" userId="44f55030-522d-4388-8c84-12427b5d3861" providerId="ADAL" clId="{0C4B0DB6-929A-4816-82F8-C5CA7CCA52CE}" dt="2026-08-01T17:24:36.986" v="9191"/>
          <ac:spMkLst>
            <pc:docMk/>
            <pc:sldMk cId="625399248" sldId="256"/>
            <ac:spMk id="3" creationId="{602C510F-AB78-3A01-3A34-CB0CE8198C66}"/>
          </ac:spMkLst>
        </pc:spChg>
      </pc:sldChg>
      <pc:sldChg chg="modSp del mod">
        <pc:chgData name="Michael Wegelin" userId="44f55030-522d-4388-8c84-12427b5d3861" providerId="ADAL" clId="{0C4B0DB6-929A-4816-82F8-C5CA7CCA52CE}" dt="2026-08-01T17:21:28.345" v="9129" actId="47"/>
        <pc:sldMkLst>
          <pc:docMk/>
          <pc:sldMk cId="4027614381" sldId="257"/>
        </pc:sldMkLst>
      </pc:sldChg>
      <pc:sldChg chg="addSp delSp modSp mod">
        <pc:chgData name="Michael Wegelin" userId="44f55030-522d-4388-8c84-12427b5d3861" providerId="ADAL" clId="{0C4B0DB6-929A-4816-82F8-C5CA7CCA52CE}" dt="2026-08-01T20:51:31.405" v="11403" actId="20577"/>
        <pc:sldMkLst>
          <pc:docMk/>
          <pc:sldMk cId="105356027" sldId="294"/>
        </pc:sldMkLst>
        <pc:spChg chg="mod">
          <ac:chgData name="Michael Wegelin" userId="44f55030-522d-4388-8c84-12427b5d3861" providerId="ADAL" clId="{0C4B0DB6-929A-4816-82F8-C5CA7CCA52CE}" dt="2026-07-18T10:40:32.327" v="8119" actId="20577"/>
          <ac:spMkLst>
            <pc:docMk/>
            <pc:sldMk cId="105356027" sldId="294"/>
            <ac:spMk id="2" creationId="{CBF6B1C0-6498-9094-D941-19528FEE3EE4}"/>
          </ac:spMkLst>
        </pc:spChg>
        <pc:spChg chg="mod">
          <ac:chgData name="Michael Wegelin" userId="44f55030-522d-4388-8c84-12427b5d3861" providerId="ADAL" clId="{0C4B0DB6-929A-4816-82F8-C5CA7CCA52CE}" dt="2026-08-01T20:51:31.405" v="11403" actId="20577"/>
          <ac:spMkLst>
            <pc:docMk/>
            <pc:sldMk cId="105356027" sldId="294"/>
            <ac:spMk id="3" creationId="{414A8D02-C361-E8AE-D92B-53E118F8360A}"/>
          </ac:spMkLst>
        </pc:spChg>
        <pc:picChg chg="add del mod">
          <ac:chgData name="Michael Wegelin" userId="44f55030-522d-4388-8c84-12427b5d3861" providerId="ADAL" clId="{0C4B0DB6-929A-4816-82F8-C5CA7CCA52CE}" dt="2026-08-01T20:49:00.112" v="11178" actId="478"/>
          <ac:picMkLst>
            <pc:docMk/>
            <pc:sldMk cId="105356027" sldId="294"/>
            <ac:picMk id="4" creationId="{D0138AAC-BA09-28B4-80F1-05371A100AC0}"/>
          </ac:picMkLst>
        </pc:picChg>
        <pc:picChg chg="add del mod">
          <ac:chgData name="Michael Wegelin" userId="44f55030-522d-4388-8c84-12427b5d3861" providerId="ADAL" clId="{0C4B0DB6-929A-4816-82F8-C5CA7CCA52CE}" dt="2026-08-01T20:48:57.614" v="11177" actId="478"/>
          <ac:picMkLst>
            <pc:docMk/>
            <pc:sldMk cId="105356027" sldId="294"/>
            <ac:picMk id="5" creationId="{BFB05B43-0033-C353-2311-B4897A98D9A1}"/>
          </ac:picMkLst>
        </pc:picChg>
        <pc:picChg chg="add mod">
          <ac:chgData name="Michael Wegelin" userId="44f55030-522d-4388-8c84-12427b5d3861" providerId="ADAL" clId="{0C4B0DB6-929A-4816-82F8-C5CA7CCA52CE}" dt="2026-08-01T20:49:29.168" v="11185" actId="1076"/>
          <ac:picMkLst>
            <pc:docMk/>
            <pc:sldMk cId="105356027" sldId="294"/>
            <ac:picMk id="6" creationId="{9BAE3DBD-B303-D270-8BE6-7DD896F40DDB}"/>
          </ac:picMkLst>
        </pc:picChg>
      </pc:sldChg>
      <pc:sldChg chg="addSp delSp modSp add del mod chgLayout modNotesTx">
        <pc:chgData name="Michael Wegelin" userId="44f55030-522d-4388-8c84-12427b5d3861" providerId="ADAL" clId="{0C4B0DB6-929A-4816-82F8-C5CA7CCA52CE}" dt="2026-08-02T08:21:24.892" v="12166" actId="20577"/>
        <pc:sldMkLst>
          <pc:docMk/>
          <pc:sldMk cId="3016523917" sldId="296"/>
        </pc:sldMkLst>
        <pc:spChg chg="mod ord">
          <ac:chgData name="Michael Wegelin" userId="44f55030-522d-4388-8c84-12427b5d3861" providerId="ADAL" clId="{0C4B0DB6-929A-4816-82F8-C5CA7CCA52CE}" dt="2026-08-02T08:10:59.007" v="11408" actId="700"/>
          <ac:spMkLst>
            <pc:docMk/>
            <pc:sldMk cId="3016523917" sldId="296"/>
            <ac:spMk id="2" creationId="{A7EB7305-6FD2-396C-85BA-9CD528EF74AE}"/>
          </ac:spMkLst>
        </pc:spChg>
        <pc:spChg chg="mod ord">
          <ac:chgData name="Michael Wegelin" userId="44f55030-522d-4388-8c84-12427b5d3861" providerId="ADAL" clId="{0C4B0DB6-929A-4816-82F8-C5CA7CCA52CE}" dt="2026-08-02T08:12:57.637" v="11436" actId="1076"/>
          <ac:spMkLst>
            <pc:docMk/>
            <pc:sldMk cId="3016523917" sldId="296"/>
            <ac:spMk id="43" creationId="{BA80DE2C-1B58-6DC9-C63D-9E0A3F4163F6}"/>
          </ac:spMkLst>
        </pc:spChg>
        <pc:picChg chg="add del mod">
          <ac:chgData name="Michael Wegelin" userId="44f55030-522d-4388-8c84-12427b5d3861" providerId="ADAL" clId="{0C4B0DB6-929A-4816-82F8-C5CA7CCA52CE}" dt="2026-08-02T08:11:45.904" v="11414" actId="478"/>
          <ac:picMkLst>
            <pc:docMk/>
            <pc:sldMk cId="3016523917" sldId="296"/>
            <ac:picMk id="3" creationId="{B4A59F99-75BF-A1F2-3327-278065B6520F}"/>
          </ac:picMkLst>
        </pc:picChg>
        <pc:picChg chg="add del mod">
          <ac:chgData name="Michael Wegelin" userId="44f55030-522d-4388-8c84-12427b5d3861" providerId="ADAL" clId="{0C4B0DB6-929A-4816-82F8-C5CA7CCA52CE}" dt="2026-08-02T08:16:19.235" v="11844" actId="478"/>
          <ac:picMkLst>
            <pc:docMk/>
            <pc:sldMk cId="3016523917" sldId="296"/>
            <ac:picMk id="4" creationId="{ACFE36F9-8A4A-17E6-48F1-F4BB631A8DFF}"/>
          </ac:picMkLst>
        </pc:picChg>
        <pc:picChg chg="add del mod">
          <ac:chgData name="Michael Wegelin" userId="44f55030-522d-4388-8c84-12427b5d3861" providerId="ADAL" clId="{0C4B0DB6-929A-4816-82F8-C5CA7CCA52CE}" dt="2026-08-02T08:19:31.441" v="11869" actId="478"/>
          <ac:picMkLst>
            <pc:docMk/>
            <pc:sldMk cId="3016523917" sldId="296"/>
            <ac:picMk id="5" creationId="{42B0C113-45F2-CA90-2524-65E20C9278C0}"/>
          </ac:picMkLst>
        </pc:picChg>
        <pc:picChg chg="add mod">
          <ac:chgData name="Michael Wegelin" userId="44f55030-522d-4388-8c84-12427b5d3861" providerId="ADAL" clId="{0C4B0DB6-929A-4816-82F8-C5CA7CCA52CE}" dt="2026-08-02T08:19:38.908" v="11872" actId="1076"/>
          <ac:picMkLst>
            <pc:docMk/>
            <pc:sldMk cId="3016523917" sldId="296"/>
            <ac:picMk id="6" creationId="{0D16E52A-9E7D-C204-6819-55FC832D4BFC}"/>
          </ac:picMkLst>
        </pc:picChg>
        <pc:picChg chg="del">
          <ac:chgData name="Michael Wegelin" userId="44f55030-522d-4388-8c84-12427b5d3861" providerId="ADAL" clId="{0C4B0DB6-929A-4816-82F8-C5CA7CCA52CE}" dt="2026-08-02T08:10:53.986" v="11407" actId="478"/>
          <ac:picMkLst>
            <pc:docMk/>
            <pc:sldMk cId="3016523917" sldId="296"/>
            <ac:picMk id="2050" creationId="{C9252BB2-273D-B9FF-75C9-E2C3495E3716}"/>
          </ac:picMkLst>
        </pc:picChg>
      </pc:sldChg>
      <pc:sldChg chg="addSp delSp modSp add del mod">
        <pc:chgData name="Michael Wegelin" userId="44f55030-522d-4388-8c84-12427b5d3861" providerId="ADAL" clId="{0C4B0DB6-929A-4816-82F8-C5CA7CCA52CE}" dt="2026-08-02T09:27:10.194" v="13941" actId="14100"/>
        <pc:sldMkLst>
          <pc:docMk/>
          <pc:sldMk cId="3685061495" sldId="297"/>
        </pc:sldMkLst>
        <pc:spChg chg="mod">
          <ac:chgData name="Michael Wegelin" userId="44f55030-522d-4388-8c84-12427b5d3861" providerId="ADAL" clId="{0C4B0DB6-929A-4816-82F8-C5CA7CCA52CE}" dt="2026-08-02T09:26:39.775" v="13937" actId="20577"/>
          <ac:spMkLst>
            <pc:docMk/>
            <pc:sldMk cId="3685061495" sldId="297"/>
            <ac:spMk id="3" creationId="{9B7F34D7-59AD-384C-9508-3FF4807BDAED}"/>
          </ac:spMkLst>
        </pc:spChg>
        <pc:picChg chg="add mod">
          <ac:chgData name="Michael Wegelin" userId="44f55030-522d-4388-8c84-12427b5d3861" providerId="ADAL" clId="{0C4B0DB6-929A-4816-82F8-C5CA7CCA52CE}" dt="2026-08-02T09:27:10.194" v="13941" actId="14100"/>
          <ac:picMkLst>
            <pc:docMk/>
            <pc:sldMk cId="3685061495" sldId="297"/>
            <ac:picMk id="5" creationId="{A512F91C-CDB1-72E7-609C-3DB9A3E98FF2}"/>
          </ac:picMkLst>
        </pc:picChg>
        <pc:picChg chg="add del mod">
          <ac:chgData name="Michael Wegelin" userId="44f55030-522d-4388-8c84-12427b5d3861" providerId="ADAL" clId="{0C4B0DB6-929A-4816-82F8-C5CA7CCA52CE}" dt="2026-08-02T09:27:01.582" v="13938" actId="478"/>
          <ac:picMkLst>
            <pc:docMk/>
            <pc:sldMk cId="3685061495" sldId="297"/>
            <ac:picMk id="6" creationId="{62C87CBB-230E-0DDD-8A96-AB7E573FD22D}"/>
          </ac:picMkLst>
        </pc:picChg>
      </pc:sldChg>
      <pc:sldChg chg="modSp new del mod">
        <pc:chgData name="Michael Wegelin" userId="44f55030-522d-4388-8c84-12427b5d3861" providerId="ADAL" clId="{0C4B0DB6-929A-4816-82F8-C5CA7CCA52CE}" dt="2026-08-01T17:21:28.345" v="9129" actId="47"/>
        <pc:sldMkLst>
          <pc:docMk/>
          <pc:sldMk cId="1851586795" sldId="298"/>
        </pc:sldMkLst>
      </pc:sldChg>
      <pc:sldChg chg="addSp delSp modSp new mod modClrScheme chgLayout modNotesTx">
        <pc:chgData name="Michael Wegelin" userId="44f55030-522d-4388-8c84-12427b5d3861" providerId="ADAL" clId="{0C4B0DB6-929A-4816-82F8-C5CA7CCA52CE}" dt="2026-08-01T17:27:01.451" v="9411" actId="20577"/>
        <pc:sldMkLst>
          <pc:docMk/>
          <pc:sldMk cId="2578804583" sldId="298"/>
        </pc:sldMkLst>
        <pc:spChg chg="del mod ord">
          <ac:chgData name="Michael Wegelin" userId="44f55030-522d-4388-8c84-12427b5d3861" providerId="ADAL" clId="{0C4B0DB6-929A-4816-82F8-C5CA7CCA52CE}" dt="2026-08-01T17:23:47.219" v="9145" actId="700"/>
          <ac:spMkLst>
            <pc:docMk/>
            <pc:sldMk cId="2578804583" sldId="298"/>
            <ac:spMk id="2" creationId="{900BCE34-EE4C-FC1E-30EF-2FFA01CB58BB}"/>
          </ac:spMkLst>
        </pc:spChg>
        <pc:spChg chg="del mod ord">
          <ac:chgData name="Michael Wegelin" userId="44f55030-522d-4388-8c84-12427b5d3861" providerId="ADAL" clId="{0C4B0DB6-929A-4816-82F8-C5CA7CCA52CE}" dt="2026-08-01T17:23:47.219" v="9145" actId="700"/>
          <ac:spMkLst>
            <pc:docMk/>
            <pc:sldMk cId="2578804583" sldId="298"/>
            <ac:spMk id="3" creationId="{F1CE6380-2C6C-508B-CD42-A79C4E472E8B}"/>
          </ac:spMkLst>
        </pc:spChg>
        <pc:spChg chg="add mod ord">
          <ac:chgData name="Michael Wegelin" userId="44f55030-522d-4388-8c84-12427b5d3861" providerId="ADAL" clId="{0C4B0DB6-929A-4816-82F8-C5CA7CCA52CE}" dt="2026-08-01T17:26:24.419" v="9246" actId="20577"/>
          <ac:spMkLst>
            <pc:docMk/>
            <pc:sldMk cId="2578804583" sldId="298"/>
            <ac:spMk id="4" creationId="{EFADA1E8-AC5F-1BA7-2DB9-FF684ED6E5D9}"/>
          </ac:spMkLst>
        </pc:spChg>
        <pc:spChg chg="add mod ord">
          <ac:chgData name="Michael Wegelin" userId="44f55030-522d-4388-8c84-12427b5d3861" providerId="ADAL" clId="{0C4B0DB6-929A-4816-82F8-C5CA7CCA52CE}" dt="2026-08-01T17:27:01.451" v="9411" actId="20577"/>
          <ac:spMkLst>
            <pc:docMk/>
            <pc:sldMk cId="2578804583" sldId="298"/>
            <ac:spMk id="5" creationId="{E0CC596D-566C-A44C-5FDD-BCE18BC98293}"/>
          </ac:spMkLst>
        </pc:spChg>
      </pc:sldChg>
      <pc:sldChg chg="addSp delSp modSp new del mod modNotesTx">
        <pc:chgData name="Michael Wegelin" userId="44f55030-522d-4388-8c84-12427b5d3861" providerId="ADAL" clId="{0C4B0DB6-929A-4816-82F8-C5CA7CCA52CE}" dt="2026-08-01T17:21:28.345" v="9129" actId="47"/>
        <pc:sldMkLst>
          <pc:docMk/>
          <pc:sldMk cId="2787776985" sldId="299"/>
        </pc:sldMkLst>
      </pc:sldChg>
      <pc:sldChg chg="addSp delSp modSp new mod modClrScheme chgLayout modNotesTx">
        <pc:chgData name="Michael Wegelin" userId="44f55030-522d-4388-8c84-12427b5d3861" providerId="ADAL" clId="{0C4B0DB6-929A-4816-82F8-C5CA7CCA52CE}" dt="2026-08-01T17:33:06.736" v="9455" actId="20577"/>
        <pc:sldMkLst>
          <pc:docMk/>
          <pc:sldMk cId="3000914736" sldId="299"/>
        </pc:sldMkLst>
        <pc:spChg chg="mod ord">
          <ac:chgData name="Michael Wegelin" userId="44f55030-522d-4388-8c84-12427b5d3861" providerId="ADAL" clId="{0C4B0DB6-929A-4816-82F8-C5CA7CCA52CE}" dt="2026-08-01T17:29:19.477" v="9435" actId="700"/>
          <ac:spMkLst>
            <pc:docMk/>
            <pc:sldMk cId="3000914736" sldId="299"/>
            <ac:spMk id="2" creationId="{F0F9BF34-28E8-3607-1AC8-D62629D7C28C}"/>
          </ac:spMkLst>
        </pc:spChg>
        <pc:spChg chg="del mod ord">
          <ac:chgData name="Michael Wegelin" userId="44f55030-522d-4388-8c84-12427b5d3861" providerId="ADAL" clId="{0C4B0DB6-929A-4816-82F8-C5CA7CCA52CE}" dt="2026-08-01T17:29:19.477" v="9435" actId="700"/>
          <ac:spMkLst>
            <pc:docMk/>
            <pc:sldMk cId="3000914736" sldId="299"/>
            <ac:spMk id="3" creationId="{2F34A4DF-9B4A-2EE9-41A9-33D15F5374DD}"/>
          </ac:spMkLst>
        </pc:spChg>
        <pc:spChg chg="add mod ord">
          <ac:chgData name="Michael Wegelin" userId="44f55030-522d-4388-8c84-12427b5d3861" providerId="ADAL" clId="{0C4B0DB6-929A-4816-82F8-C5CA7CCA52CE}" dt="2026-08-01T17:29:41.884" v="9437" actId="5793"/>
          <ac:spMkLst>
            <pc:docMk/>
            <pc:sldMk cId="3000914736" sldId="299"/>
            <ac:spMk id="4" creationId="{F4A997D5-79B5-C6B1-BDFA-45B1D563284E}"/>
          </ac:spMkLst>
        </pc:spChg>
        <pc:spChg chg="add del mod ord">
          <ac:chgData name="Michael Wegelin" userId="44f55030-522d-4388-8c84-12427b5d3861" providerId="ADAL" clId="{0C4B0DB6-929A-4816-82F8-C5CA7CCA52CE}" dt="2026-08-01T17:32:04.585" v="9438" actId="22"/>
          <ac:spMkLst>
            <pc:docMk/>
            <pc:sldMk cId="3000914736" sldId="299"/>
            <ac:spMk id="5" creationId="{29D5CBAF-DC87-DD3B-1E29-8070CD61F8AD}"/>
          </ac:spMkLst>
        </pc:spChg>
        <pc:picChg chg="add mod ord">
          <ac:chgData name="Michael Wegelin" userId="44f55030-522d-4388-8c84-12427b5d3861" providerId="ADAL" clId="{0C4B0DB6-929A-4816-82F8-C5CA7CCA52CE}" dt="2026-08-01T17:32:15.172" v="9440" actId="14100"/>
          <ac:picMkLst>
            <pc:docMk/>
            <pc:sldMk cId="3000914736" sldId="299"/>
            <ac:picMk id="7" creationId="{1C68CC3A-FC11-8846-ABED-647CD54806DA}"/>
          </ac:picMkLst>
        </pc:picChg>
      </pc:sldChg>
      <pc:sldChg chg="modSp new del mod">
        <pc:chgData name="Michael Wegelin" userId="44f55030-522d-4388-8c84-12427b5d3861" providerId="ADAL" clId="{0C4B0DB6-929A-4816-82F8-C5CA7CCA52CE}" dt="2026-08-01T17:21:28.345" v="9129" actId="47"/>
        <pc:sldMkLst>
          <pc:docMk/>
          <pc:sldMk cId="556855924" sldId="300"/>
        </pc:sldMkLst>
      </pc:sldChg>
      <pc:sldChg chg="addSp delSp modSp new mod modNotesTx">
        <pc:chgData name="Michael Wegelin" userId="44f55030-522d-4388-8c84-12427b5d3861" providerId="ADAL" clId="{0C4B0DB6-929A-4816-82F8-C5CA7CCA52CE}" dt="2026-08-01T17:36:16.405" v="9482" actId="2711"/>
        <pc:sldMkLst>
          <pc:docMk/>
          <pc:sldMk cId="3534322273" sldId="300"/>
        </pc:sldMkLst>
        <pc:spChg chg="mod">
          <ac:chgData name="Michael Wegelin" userId="44f55030-522d-4388-8c84-12427b5d3861" providerId="ADAL" clId="{0C4B0DB6-929A-4816-82F8-C5CA7CCA52CE}" dt="2026-08-01T17:33:31.903" v="9456"/>
          <ac:spMkLst>
            <pc:docMk/>
            <pc:sldMk cId="3534322273" sldId="300"/>
            <ac:spMk id="2" creationId="{B015783C-A561-2FA9-40EF-059AE078A960}"/>
          </ac:spMkLst>
        </pc:spChg>
        <pc:spChg chg="del">
          <ac:chgData name="Michael Wegelin" userId="44f55030-522d-4388-8c84-12427b5d3861" providerId="ADAL" clId="{0C4B0DB6-929A-4816-82F8-C5CA7CCA52CE}" dt="2026-08-01T17:34:21.767" v="9460" actId="3680"/>
          <ac:spMkLst>
            <pc:docMk/>
            <pc:sldMk cId="3534322273" sldId="300"/>
            <ac:spMk id="3" creationId="{C3707601-4A9B-0667-60B0-C3C55A243116}"/>
          </ac:spMkLst>
        </pc:spChg>
        <pc:spChg chg="add del">
          <ac:chgData name="Michael Wegelin" userId="44f55030-522d-4388-8c84-12427b5d3861" providerId="ADAL" clId="{0C4B0DB6-929A-4816-82F8-C5CA7CCA52CE}" dt="2026-08-01T17:34:29.736" v="9462" actId="22"/>
          <ac:spMkLst>
            <pc:docMk/>
            <pc:sldMk cId="3534322273" sldId="300"/>
            <ac:spMk id="6" creationId="{50BC705F-389F-E191-31AC-F1EBC12C54E1}"/>
          </ac:spMkLst>
        </pc:spChg>
        <pc:spChg chg="add mod">
          <ac:chgData name="Michael Wegelin" userId="44f55030-522d-4388-8c84-12427b5d3861" providerId="ADAL" clId="{0C4B0DB6-929A-4816-82F8-C5CA7CCA52CE}" dt="2026-08-01T17:35:59.430" v="9480" actId="403"/>
          <ac:spMkLst>
            <pc:docMk/>
            <pc:sldMk cId="3534322273" sldId="300"/>
            <ac:spMk id="8" creationId="{0C5417F0-5A23-B298-5AA4-1083855DE2EE}"/>
          </ac:spMkLst>
        </pc:spChg>
        <pc:graphicFrameChg chg="add mod ord modGraphic">
          <ac:chgData name="Michael Wegelin" userId="44f55030-522d-4388-8c84-12427b5d3861" providerId="ADAL" clId="{0C4B0DB6-929A-4816-82F8-C5CA7CCA52CE}" dt="2026-08-01T17:36:16.405" v="9482" actId="2711"/>
          <ac:graphicFrameMkLst>
            <pc:docMk/>
            <pc:sldMk cId="3534322273" sldId="300"/>
            <ac:graphicFrameMk id="4" creationId="{B63DD7A9-8649-DF15-CE4C-94709DEB7C4F}"/>
          </ac:graphicFrameMkLst>
        </pc:graphicFrameChg>
      </pc:sldChg>
      <pc:sldChg chg="modSp new del mod">
        <pc:chgData name="Michael Wegelin" userId="44f55030-522d-4388-8c84-12427b5d3861" providerId="ADAL" clId="{0C4B0DB6-929A-4816-82F8-C5CA7CCA52CE}" dt="2026-08-01T17:21:28.345" v="9129" actId="47"/>
        <pc:sldMkLst>
          <pc:docMk/>
          <pc:sldMk cId="2289674864" sldId="301"/>
        </pc:sldMkLst>
      </pc:sldChg>
      <pc:sldChg chg="addSp delSp modSp new mod modNotesTx">
        <pc:chgData name="Michael Wegelin" userId="44f55030-522d-4388-8c84-12427b5d3861" providerId="ADAL" clId="{0C4B0DB6-929A-4816-82F8-C5CA7CCA52CE}" dt="2026-08-01T17:47:18.842" v="9492" actId="6549"/>
        <pc:sldMkLst>
          <pc:docMk/>
          <pc:sldMk cId="3079381358" sldId="301"/>
        </pc:sldMkLst>
        <pc:spChg chg="mod">
          <ac:chgData name="Michael Wegelin" userId="44f55030-522d-4388-8c84-12427b5d3861" providerId="ADAL" clId="{0C4B0DB6-929A-4816-82F8-C5CA7CCA52CE}" dt="2026-08-01T17:36:32.086" v="9485"/>
          <ac:spMkLst>
            <pc:docMk/>
            <pc:sldMk cId="3079381358" sldId="301"/>
            <ac:spMk id="2" creationId="{A34EFD91-959C-8CD5-5FAB-5A8267BBCC6B}"/>
          </ac:spMkLst>
        </pc:spChg>
        <pc:spChg chg="del">
          <ac:chgData name="Michael Wegelin" userId="44f55030-522d-4388-8c84-12427b5d3861" providerId="ADAL" clId="{0C4B0DB6-929A-4816-82F8-C5CA7CCA52CE}" dt="2026-08-01T17:46:55.865" v="9491" actId="22"/>
          <ac:spMkLst>
            <pc:docMk/>
            <pc:sldMk cId="3079381358" sldId="301"/>
            <ac:spMk id="3" creationId="{B1321636-E137-806D-66BB-07FD312A8D3D}"/>
          </ac:spMkLst>
        </pc:spChg>
        <pc:spChg chg="add del">
          <ac:chgData name="Michael Wegelin" userId="44f55030-522d-4388-8c84-12427b5d3861" providerId="ADAL" clId="{0C4B0DB6-929A-4816-82F8-C5CA7CCA52CE}" dt="2026-08-01T17:36:30.648" v="9484" actId="22"/>
          <ac:spMkLst>
            <pc:docMk/>
            <pc:sldMk cId="3079381358" sldId="301"/>
            <ac:spMk id="5" creationId="{DD2C9D9E-F243-B766-A488-5621FBE3CD19}"/>
          </ac:spMkLst>
        </pc:spChg>
        <pc:picChg chg="add mod ord">
          <ac:chgData name="Michael Wegelin" userId="44f55030-522d-4388-8c84-12427b5d3861" providerId="ADAL" clId="{0C4B0DB6-929A-4816-82F8-C5CA7CCA52CE}" dt="2026-08-01T17:46:55.865" v="9491" actId="22"/>
          <ac:picMkLst>
            <pc:docMk/>
            <pc:sldMk cId="3079381358" sldId="301"/>
            <ac:picMk id="7" creationId="{62863CF1-B738-1FBC-B668-278159CD33BB}"/>
          </ac:picMkLst>
        </pc:picChg>
      </pc:sldChg>
      <pc:sldChg chg="modSp new del mod">
        <pc:chgData name="Michael Wegelin" userId="44f55030-522d-4388-8c84-12427b5d3861" providerId="ADAL" clId="{0C4B0DB6-929A-4816-82F8-C5CA7CCA52CE}" dt="2026-08-01T17:21:28.345" v="9129" actId="47"/>
        <pc:sldMkLst>
          <pc:docMk/>
          <pc:sldMk cId="3937789194" sldId="302"/>
        </pc:sldMkLst>
      </pc:sldChg>
      <pc:sldChg chg="modSp new mod modNotesTx">
        <pc:chgData name="Michael Wegelin" userId="44f55030-522d-4388-8c84-12427b5d3861" providerId="ADAL" clId="{0C4B0DB6-929A-4816-82F8-C5CA7CCA52CE}" dt="2026-08-01T17:48:53.517" v="9504" actId="12"/>
        <pc:sldMkLst>
          <pc:docMk/>
          <pc:sldMk cId="4031968825" sldId="302"/>
        </pc:sldMkLst>
        <pc:spChg chg="mod">
          <ac:chgData name="Michael Wegelin" userId="44f55030-522d-4388-8c84-12427b5d3861" providerId="ADAL" clId="{0C4B0DB6-929A-4816-82F8-C5CA7CCA52CE}" dt="2026-08-01T17:47:50.915" v="9493"/>
          <ac:spMkLst>
            <pc:docMk/>
            <pc:sldMk cId="4031968825" sldId="302"/>
            <ac:spMk id="2" creationId="{CC2FE50D-F20B-9E61-493A-14F2042B106B}"/>
          </ac:spMkLst>
        </pc:spChg>
        <pc:spChg chg="mod">
          <ac:chgData name="Michael Wegelin" userId="44f55030-522d-4388-8c84-12427b5d3861" providerId="ADAL" clId="{0C4B0DB6-929A-4816-82F8-C5CA7CCA52CE}" dt="2026-08-01T17:48:53.517" v="9504" actId="12"/>
          <ac:spMkLst>
            <pc:docMk/>
            <pc:sldMk cId="4031968825" sldId="302"/>
            <ac:spMk id="3" creationId="{FE519DBA-23A4-0D4A-A4BC-682A889B2BA6}"/>
          </ac:spMkLst>
        </pc:spChg>
      </pc:sldChg>
      <pc:sldChg chg="modSp new mod modNotesTx">
        <pc:chgData name="Michael Wegelin" userId="44f55030-522d-4388-8c84-12427b5d3861" providerId="ADAL" clId="{0C4B0DB6-929A-4816-82F8-C5CA7CCA52CE}" dt="2026-08-01T17:54:51.911" v="9528" actId="6549"/>
        <pc:sldMkLst>
          <pc:docMk/>
          <pc:sldMk cId="1719347554" sldId="303"/>
        </pc:sldMkLst>
        <pc:spChg chg="mod">
          <ac:chgData name="Michael Wegelin" userId="44f55030-522d-4388-8c84-12427b5d3861" providerId="ADAL" clId="{0C4B0DB6-929A-4816-82F8-C5CA7CCA52CE}" dt="2026-08-01T17:49:16.772" v="9505"/>
          <ac:spMkLst>
            <pc:docMk/>
            <pc:sldMk cId="1719347554" sldId="303"/>
            <ac:spMk id="2" creationId="{4B579598-B238-35DE-6607-5786F678DA63}"/>
          </ac:spMkLst>
        </pc:spChg>
        <pc:spChg chg="mod">
          <ac:chgData name="Michael Wegelin" userId="44f55030-522d-4388-8c84-12427b5d3861" providerId="ADAL" clId="{0C4B0DB6-929A-4816-82F8-C5CA7CCA52CE}" dt="2026-08-01T17:50:54.350" v="9518" actId="2711"/>
          <ac:spMkLst>
            <pc:docMk/>
            <pc:sldMk cId="1719347554" sldId="303"/>
            <ac:spMk id="3" creationId="{B83BE80A-6E11-CA9D-BD2C-BD08D8FF7D48}"/>
          </ac:spMkLst>
        </pc:spChg>
      </pc:sldChg>
      <pc:sldChg chg="addSp delSp modSp new del mod modClrScheme chgLayout modNotesTx">
        <pc:chgData name="Michael Wegelin" userId="44f55030-522d-4388-8c84-12427b5d3861" providerId="ADAL" clId="{0C4B0DB6-929A-4816-82F8-C5CA7CCA52CE}" dt="2026-08-01T17:21:28.345" v="9129" actId="47"/>
        <pc:sldMkLst>
          <pc:docMk/>
          <pc:sldMk cId="1139813251" sldId="304"/>
        </pc:sldMkLst>
      </pc:sldChg>
      <pc:sldChg chg="addSp delSp modSp new mod modClrScheme chgLayout modNotesTx">
        <pc:chgData name="Michael Wegelin" userId="44f55030-522d-4388-8c84-12427b5d3861" providerId="ADAL" clId="{0C4B0DB6-929A-4816-82F8-C5CA7CCA52CE}" dt="2026-08-02T09:13:34.092" v="13915" actId="1076"/>
        <pc:sldMkLst>
          <pc:docMk/>
          <pc:sldMk cId="1202443913" sldId="304"/>
        </pc:sldMkLst>
        <pc:spChg chg="mod ord">
          <ac:chgData name="Michael Wegelin" userId="44f55030-522d-4388-8c84-12427b5d3861" providerId="ADAL" clId="{0C4B0DB6-929A-4816-82F8-C5CA7CCA52CE}" dt="2026-08-01T17:55:32.169" v="9531" actId="700"/>
          <ac:spMkLst>
            <pc:docMk/>
            <pc:sldMk cId="1202443913" sldId="304"/>
            <ac:spMk id="2" creationId="{E0656BBB-2851-24F8-9DF7-BAFD26241E9E}"/>
          </ac:spMkLst>
        </pc:spChg>
        <pc:spChg chg="del mod ord">
          <ac:chgData name="Michael Wegelin" userId="44f55030-522d-4388-8c84-12427b5d3861" providerId="ADAL" clId="{0C4B0DB6-929A-4816-82F8-C5CA7CCA52CE}" dt="2026-08-01T17:55:32.169" v="9531" actId="700"/>
          <ac:spMkLst>
            <pc:docMk/>
            <pc:sldMk cId="1202443913" sldId="304"/>
            <ac:spMk id="3" creationId="{0F9BD7D8-139A-D29E-4697-BC1655AA2915}"/>
          </ac:spMkLst>
        </pc:spChg>
        <pc:spChg chg="add mod ord">
          <ac:chgData name="Michael Wegelin" userId="44f55030-522d-4388-8c84-12427b5d3861" providerId="ADAL" clId="{0C4B0DB6-929A-4816-82F8-C5CA7CCA52CE}" dt="2026-08-01T17:55:47.320" v="9535" actId="5793"/>
          <ac:spMkLst>
            <pc:docMk/>
            <pc:sldMk cId="1202443913" sldId="304"/>
            <ac:spMk id="4" creationId="{D4626FBF-5D2C-56C6-4AA7-EF8E92238F9A}"/>
          </ac:spMkLst>
        </pc:spChg>
        <pc:spChg chg="add del mod ord">
          <ac:chgData name="Michael Wegelin" userId="44f55030-522d-4388-8c84-12427b5d3861" providerId="ADAL" clId="{0C4B0DB6-929A-4816-82F8-C5CA7CCA52CE}" dt="2026-08-01T17:57:15.259" v="9536" actId="22"/>
          <ac:spMkLst>
            <pc:docMk/>
            <pc:sldMk cId="1202443913" sldId="304"/>
            <ac:spMk id="5" creationId="{F502E966-9986-0C62-4D98-E114F18270C3}"/>
          </ac:spMkLst>
        </pc:spChg>
        <pc:spChg chg="add del mod">
          <ac:chgData name="Michael Wegelin" userId="44f55030-522d-4388-8c84-12427b5d3861" providerId="ADAL" clId="{0C4B0DB6-929A-4816-82F8-C5CA7CCA52CE}" dt="2026-08-02T09:13:29.362" v="13914" actId="22"/>
          <ac:spMkLst>
            <pc:docMk/>
            <pc:sldMk cId="1202443913" sldId="304"/>
            <ac:spMk id="9" creationId="{49CFAF3E-D704-813C-F8EA-3210EBE19655}"/>
          </ac:spMkLst>
        </pc:spChg>
        <pc:picChg chg="add del mod ord">
          <ac:chgData name="Michael Wegelin" userId="44f55030-522d-4388-8c84-12427b5d3861" providerId="ADAL" clId="{0C4B0DB6-929A-4816-82F8-C5CA7CCA52CE}" dt="2026-08-02T09:13:18.370" v="13909" actId="478"/>
          <ac:picMkLst>
            <pc:docMk/>
            <pc:sldMk cId="1202443913" sldId="304"/>
            <ac:picMk id="7" creationId="{BE2BBD37-3273-706A-6FB1-DEAB1587CFB7}"/>
          </ac:picMkLst>
        </pc:picChg>
        <pc:picChg chg="add del mod">
          <ac:chgData name="Michael Wegelin" userId="44f55030-522d-4388-8c84-12427b5d3861" providerId="ADAL" clId="{0C4B0DB6-929A-4816-82F8-C5CA7CCA52CE}" dt="2026-08-02T09:13:25.681" v="13913" actId="22"/>
          <ac:picMkLst>
            <pc:docMk/>
            <pc:sldMk cId="1202443913" sldId="304"/>
            <ac:picMk id="11" creationId="{86DA7035-BE90-C4F5-CE75-7F7BED5C25B8}"/>
          </ac:picMkLst>
        </pc:picChg>
        <pc:picChg chg="add mod ord">
          <ac:chgData name="Michael Wegelin" userId="44f55030-522d-4388-8c84-12427b5d3861" providerId="ADAL" clId="{0C4B0DB6-929A-4816-82F8-C5CA7CCA52CE}" dt="2026-08-02T09:13:34.092" v="13915" actId="1076"/>
          <ac:picMkLst>
            <pc:docMk/>
            <pc:sldMk cId="1202443913" sldId="304"/>
            <ac:picMk id="13" creationId="{8AD75F14-6742-F165-FD42-20413DF19F75}"/>
          </ac:picMkLst>
        </pc:picChg>
      </pc:sldChg>
      <pc:sldChg chg="addSp delSp modSp new mod modClrScheme chgLayout modNotesTx">
        <pc:chgData name="Michael Wegelin" userId="44f55030-522d-4388-8c84-12427b5d3861" providerId="ADAL" clId="{0C4B0DB6-929A-4816-82F8-C5CA7CCA52CE}" dt="2026-08-01T17:28:47.585" v="9433" actId="20577"/>
        <pc:sldMkLst>
          <pc:docMk/>
          <pc:sldMk cId="1384603498" sldId="305"/>
        </pc:sldMkLst>
        <pc:spChg chg="mod ord">
          <ac:chgData name="Michael Wegelin" userId="44f55030-522d-4388-8c84-12427b5d3861" providerId="ADAL" clId="{0C4B0DB6-929A-4816-82F8-C5CA7CCA52CE}" dt="2026-08-01T17:27:36.019" v="9413" actId="700"/>
          <ac:spMkLst>
            <pc:docMk/>
            <pc:sldMk cId="1384603498" sldId="305"/>
            <ac:spMk id="2" creationId="{E0EA6CD4-A995-4470-5365-444BEE6BDC70}"/>
          </ac:spMkLst>
        </pc:spChg>
        <pc:spChg chg="del mod ord">
          <ac:chgData name="Michael Wegelin" userId="44f55030-522d-4388-8c84-12427b5d3861" providerId="ADAL" clId="{0C4B0DB6-929A-4816-82F8-C5CA7CCA52CE}" dt="2026-08-01T17:27:36.019" v="9413" actId="700"/>
          <ac:spMkLst>
            <pc:docMk/>
            <pc:sldMk cId="1384603498" sldId="305"/>
            <ac:spMk id="3" creationId="{4967E66C-A5F8-1E7A-9CE0-9E44B099CF2B}"/>
          </ac:spMkLst>
        </pc:spChg>
        <pc:spChg chg="add mod ord">
          <ac:chgData name="Michael Wegelin" userId="44f55030-522d-4388-8c84-12427b5d3861" providerId="ADAL" clId="{0C4B0DB6-929A-4816-82F8-C5CA7CCA52CE}" dt="2026-08-01T17:28:03.044" v="9425" actId="21"/>
          <ac:spMkLst>
            <pc:docMk/>
            <pc:sldMk cId="1384603498" sldId="305"/>
            <ac:spMk id="4" creationId="{E1519B0D-BAA7-B081-0111-6286EADD95CC}"/>
          </ac:spMkLst>
        </pc:spChg>
        <pc:spChg chg="add mod ord">
          <ac:chgData name="Michael Wegelin" userId="44f55030-522d-4388-8c84-12427b5d3861" providerId="ADAL" clId="{0C4B0DB6-929A-4816-82F8-C5CA7CCA52CE}" dt="2026-08-01T17:27:55.387" v="9424" actId="5793"/>
          <ac:spMkLst>
            <pc:docMk/>
            <pc:sldMk cId="1384603498" sldId="305"/>
            <ac:spMk id="5" creationId="{52C230A6-ADC7-451D-EF2C-3A91084A4FF3}"/>
          </ac:spMkLst>
        </pc:spChg>
        <pc:spChg chg="add mod">
          <ac:chgData name="Michael Wegelin" userId="44f55030-522d-4388-8c84-12427b5d3861" providerId="ADAL" clId="{0C4B0DB6-929A-4816-82F8-C5CA7CCA52CE}" dt="2026-08-01T17:28:24.628" v="9430" actId="13926"/>
          <ac:spMkLst>
            <pc:docMk/>
            <pc:sldMk cId="1384603498" sldId="305"/>
            <ac:spMk id="7" creationId="{3779BB50-4619-4492-8B33-F903438A548A}"/>
          </ac:spMkLst>
        </pc:spChg>
      </pc:sldChg>
      <pc:sldChg chg="addSp delSp modSp new del mod modAnim modNotes modNotesTx">
        <pc:chgData name="Michael Wegelin" userId="44f55030-522d-4388-8c84-12427b5d3861" providerId="ADAL" clId="{0C4B0DB6-929A-4816-82F8-C5CA7CCA52CE}" dt="2026-08-01T17:21:28.345" v="9129" actId="47"/>
        <pc:sldMkLst>
          <pc:docMk/>
          <pc:sldMk cId="3036363925" sldId="305"/>
        </pc:sldMkLst>
      </pc:sldChg>
      <pc:sldChg chg="addSp delSp modSp new del mod modClrScheme chgLayout modNotes modNotesTx">
        <pc:chgData name="Michael Wegelin" userId="44f55030-522d-4388-8c84-12427b5d3861" providerId="ADAL" clId="{0C4B0DB6-929A-4816-82F8-C5CA7CCA52CE}" dt="2026-08-01T17:21:28.345" v="9129" actId="47"/>
        <pc:sldMkLst>
          <pc:docMk/>
          <pc:sldMk cId="958959980" sldId="306"/>
        </pc:sldMkLst>
      </pc:sldChg>
      <pc:sldChg chg="addSp delSp modSp new mod modNotesTx">
        <pc:chgData name="Michael Wegelin" userId="44f55030-522d-4388-8c84-12427b5d3861" providerId="ADAL" clId="{0C4B0DB6-929A-4816-82F8-C5CA7CCA52CE}" dt="2026-08-02T09:13:50.908" v="13917" actId="22"/>
        <pc:sldMkLst>
          <pc:docMk/>
          <pc:sldMk cId="1786074709" sldId="306"/>
        </pc:sldMkLst>
        <pc:spChg chg="mod">
          <ac:chgData name="Michael Wegelin" userId="44f55030-522d-4388-8c84-12427b5d3861" providerId="ADAL" clId="{0C4B0DB6-929A-4816-82F8-C5CA7CCA52CE}" dt="2026-08-01T18:03:55.072" v="9547"/>
          <ac:spMkLst>
            <pc:docMk/>
            <pc:sldMk cId="1786074709" sldId="306"/>
            <ac:spMk id="2" creationId="{B1EB9375-D421-5090-A976-9B4BAD95E735}"/>
          </ac:spMkLst>
        </pc:spChg>
        <pc:spChg chg="mod">
          <ac:chgData name="Michael Wegelin" userId="44f55030-522d-4388-8c84-12427b5d3861" providerId="ADAL" clId="{0C4B0DB6-929A-4816-82F8-C5CA7CCA52CE}" dt="2026-08-01T18:04:09.092" v="9549" actId="5793"/>
          <ac:spMkLst>
            <pc:docMk/>
            <pc:sldMk cId="1786074709" sldId="306"/>
            <ac:spMk id="3" creationId="{1B0AF2AD-1957-51D3-2AA3-C509E8043677}"/>
          </ac:spMkLst>
        </pc:spChg>
        <pc:spChg chg="del">
          <ac:chgData name="Michael Wegelin" userId="44f55030-522d-4388-8c84-12427b5d3861" providerId="ADAL" clId="{0C4B0DB6-929A-4816-82F8-C5CA7CCA52CE}" dt="2026-08-01T18:04:31.736" v="9550" actId="22"/>
          <ac:spMkLst>
            <pc:docMk/>
            <pc:sldMk cId="1786074709" sldId="306"/>
            <ac:spMk id="4" creationId="{3842066C-6539-E555-18FD-F3AD39903D2D}"/>
          </ac:spMkLst>
        </pc:spChg>
        <pc:spChg chg="add del mod">
          <ac:chgData name="Michael Wegelin" userId="44f55030-522d-4388-8c84-12427b5d3861" providerId="ADAL" clId="{0C4B0DB6-929A-4816-82F8-C5CA7CCA52CE}" dt="2026-08-02T09:13:50.908" v="13917" actId="22"/>
          <ac:spMkLst>
            <pc:docMk/>
            <pc:sldMk cId="1786074709" sldId="306"/>
            <ac:spMk id="8" creationId="{379C498F-7B09-978D-0EA4-C1DDA1E28358}"/>
          </ac:spMkLst>
        </pc:spChg>
        <pc:picChg chg="add del mod ord">
          <ac:chgData name="Michael Wegelin" userId="44f55030-522d-4388-8c84-12427b5d3861" providerId="ADAL" clId="{0C4B0DB6-929A-4816-82F8-C5CA7CCA52CE}" dt="2026-08-02T09:13:45.592" v="13916" actId="478"/>
          <ac:picMkLst>
            <pc:docMk/>
            <pc:sldMk cId="1786074709" sldId="306"/>
            <ac:picMk id="6" creationId="{EFBF817A-D106-3D9C-2304-BAB9253A3325}"/>
          </ac:picMkLst>
        </pc:picChg>
        <pc:picChg chg="add mod ord">
          <ac:chgData name="Michael Wegelin" userId="44f55030-522d-4388-8c84-12427b5d3861" providerId="ADAL" clId="{0C4B0DB6-929A-4816-82F8-C5CA7CCA52CE}" dt="2026-08-02T09:13:50.908" v="13917" actId="22"/>
          <ac:picMkLst>
            <pc:docMk/>
            <pc:sldMk cId="1786074709" sldId="306"/>
            <ac:picMk id="10" creationId="{0DCF7B6C-8B89-F7B7-93DB-1E1C0A3F4A42}"/>
          </ac:picMkLst>
        </pc:picChg>
      </pc:sldChg>
      <pc:sldChg chg="addSp delSp modSp new del mod modNotes modNotesTx">
        <pc:chgData name="Michael Wegelin" userId="44f55030-522d-4388-8c84-12427b5d3861" providerId="ADAL" clId="{0C4B0DB6-929A-4816-82F8-C5CA7CCA52CE}" dt="2026-08-01T17:21:28.345" v="9129" actId="47"/>
        <pc:sldMkLst>
          <pc:docMk/>
          <pc:sldMk cId="1706649063" sldId="307"/>
        </pc:sldMkLst>
      </pc:sldChg>
      <pc:sldChg chg="addSp delSp modSp new mod modNotesTx">
        <pc:chgData name="Michael Wegelin" userId="44f55030-522d-4388-8c84-12427b5d3861" providerId="ADAL" clId="{0C4B0DB6-929A-4816-82F8-C5CA7CCA52CE}" dt="2026-08-01T18:09:12.346" v="9616" actId="20577"/>
        <pc:sldMkLst>
          <pc:docMk/>
          <pc:sldMk cId="3846200388" sldId="307"/>
        </pc:sldMkLst>
        <pc:spChg chg="mod">
          <ac:chgData name="Michael Wegelin" userId="44f55030-522d-4388-8c84-12427b5d3861" providerId="ADAL" clId="{0C4B0DB6-929A-4816-82F8-C5CA7CCA52CE}" dt="2026-08-01T18:07:21.207" v="9572"/>
          <ac:spMkLst>
            <pc:docMk/>
            <pc:sldMk cId="3846200388" sldId="307"/>
            <ac:spMk id="2" creationId="{D9A91B33-DB69-37F2-98BA-660F9A319AC2}"/>
          </ac:spMkLst>
        </pc:spChg>
        <pc:spChg chg="mod">
          <ac:chgData name="Michael Wegelin" userId="44f55030-522d-4388-8c84-12427b5d3861" providerId="ADAL" clId="{0C4B0DB6-929A-4816-82F8-C5CA7CCA52CE}" dt="2026-08-01T18:07:35.622" v="9574" actId="5793"/>
          <ac:spMkLst>
            <pc:docMk/>
            <pc:sldMk cId="3846200388" sldId="307"/>
            <ac:spMk id="3" creationId="{286CB198-8E0A-24F2-9F0C-3271688E06E7}"/>
          </ac:spMkLst>
        </pc:spChg>
        <pc:spChg chg="del">
          <ac:chgData name="Michael Wegelin" userId="44f55030-522d-4388-8c84-12427b5d3861" providerId="ADAL" clId="{0C4B0DB6-929A-4816-82F8-C5CA7CCA52CE}" dt="2026-08-01T18:07:49.181" v="9575" actId="3680"/>
          <ac:spMkLst>
            <pc:docMk/>
            <pc:sldMk cId="3846200388" sldId="307"/>
            <ac:spMk id="4" creationId="{70FA730A-245A-F6F7-ED85-E153FBD4AB31}"/>
          </ac:spMkLst>
        </pc:spChg>
        <pc:graphicFrameChg chg="add mod ord modGraphic">
          <ac:chgData name="Michael Wegelin" userId="44f55030-522d-4388-8c84-12427b5d3861" providerId="ADAL" clId="{0C4B0DB6-929A-4816-82F8-C5CA7CCA52CE}" dt="2026-08-01T18:08:50.535" v="9612"/>
          <ac:graphicFrameMkLst>
            <pc:docMk/>
            <pc:sldMk cId="3846200388" sldId="307"/>
            <ac:graphicFrameMk id="5" creationId="{F9AA36D5-163B-4E1F-F3FD-C05B2FFCA97F}"/>
          </ac:graphicFrameMkLst>
        </pc:graphicFrameChg>
      </pc:sldChg>
      <pc:sldChg chg="addSp delSp modSp new mod modClrScheme chgLayout modNotesTx">
        <pc:chgData name="Michael Wegelin" userId="44f55030-522d-4388-8c84-12427b5d3861" providerId="ADAL" clId="{0C4B0DB6-929A-4816-82F8-C5CA7CCA52CE}" dt="2026-08-01T18:11:17.503" v="9634" actId="2711"/>
        <pc:sldMkLst>
          <pc:docMk/>
          <pc:sldMk cId="2430094325" sldId="308"/>
        </pc:sldMkLst>
        <pc:spChg chg="mod ord">
          <ac:chgData name="Michael Wegelin" userId="44f55030-522d-4388-8c84-12427b5d3861" providerId="ADAL" clId="{0C4B0DB6-929A-4816-82F8-C5CA7CCA52CE}" dt="2026-08-01T18:11:17.503" v="9634" actId="2711"/>
          <ac:spMkLst>
            <pc:docMk/>
            <pc:sldMk cId="2430094325" sldId="308"/>
            <ac:spMk id="2" creationId="{0B380A63-A6C9-5A66-58DE-FB3D40C8C8A7}"/>
          </ac:spMkLst>
        </pc:spChg>
        <pc:spChg chg="mod ord">
          <ac:chgData name="Michael Wegelin" userId="44f55030-522d-4388-8c84-12427b5d3861" providerId="ADAL" clId="{0C4B0DB6-929A-4816-82F8-C5CA7CCA52CE}" dt="2026-08-01T18:10:50.639" v="9627" actId="27636"/>
          <ac:spMkLst>
            <pc:docMk/>
            <pc:sldMk cId="2430094325" sldId="308"/>
            <ac:spMk id="3" creationId="{CD24B78F-99BF-1DC9-C157-E97D916ED510}"/>
          </ac:spMkLst>
        </pc:spChg>
        <pc:spChg chg="del mod">
          <ac:chgData name="Michael Wegelin" userId="44f55030-522d-4388-8c84-12427b5d3861" providerId="ADAL" clId="{0C4B0DB6-929A-4816-82F8-C5CA7CCA52CE}" dt="2026-08-01T18:10:50.615" v="9626" actId="700"/>
          <ac:spMkLst>
            <pc:docMk/>
            <pc:sldMk cId="2430094325" sldId="308"/>
            <ac:spMk id="4" creationId="{1B327A35-53E6-5ED1-DF97-5FD69D541F91}"/>
          </ac:spMkLst>
        </pc:spChg>
        <pc:spChg chg="add mod">
          <ac:chgData name="Michael Wegelin" userId="44f55030-522d-4388-8c84-12427b5d3861" providerId="ADAL" clId="{0C4B0DB6-929A-4816-82F8-C5CA7CCA52CE}" dt="2026-08-01T18:11:10.844" v="9633" actId="13926"/>
          <ac:spMkLst>
            <pc:docMk/>
            <pc:sldMk cId="2430094325" sldId="308"/>
            <ac:spMk id="6" creationId="{BEC6E517-D85E-C3EF-D858-6189C423FE05}"/>
          </ac:spMkLst>
        </pc:spChg>
      </pc:sldChg>
      <pc:sldChg chg="addSp delSp modSp new del mod modNotesTx">
        <pc:chgData name="Michael Wegelin" userId="44f55030-522d-4388-8c84-12427b5d3861" providerId="ADAL" clId="{0C4B0DB6-929A-4816-82F8-C5CA7CCA52CE}" dt="2026-08-01T17:21:28.345" v="9129" actId="47"/>
        <pc:sldMkLst>
          <pc:docMk/>
          <pc:sldMk cId="2568817202" sldId="308"/>
        </pc:sldMkLst>
      </pc:sldChg>
      <pc:sldChg chg="addSp delSp modSp new del mod modNotesTx">
        <pc:chgData name="Michael Wegelin" userId="44f55030-522d-4388-8c84-12427b5d3861" providerId="ADAL" clId="{0C4B0DB6-929A-4816-82F8-C5CA7CCA52CE}" dt="2026-08-01T17:21:28.345" v="9129" actId="47"/>
        <pc:sldMkLst>
          <pc:docMk/>
          <pc:sldMk cId="3105315853" sldId="309"/>
        </pc:sldMkLst>
      </pc:sldChg>
      <pc:sldChg chg="addSp delSp modSp new mod modNotesTx">
        <pc:chgData name="Michael Wegelin" userId="44f55030-522d-4388-8c84-12427b5d3861" providerId="ADAL" clId="{0C4B0DB6-929A-4816-82F8-C5CA7CCA52CE}" dt="2026-08-02T09:14:56.693" v="13925" actId="14100"/>
        <pc:sldMkLst>
          <pc:docMk/>
          <pc:sldMk cId="3590692247" sldId="309"/>
        </pc:sldMkLst>
        <pc:spChg chg="mod">
          <ac:chgData name="Michael Wegelin" userId="44f55030-522d-4388-8c84-12427b5d3861" providerId="ADAL" clId="{0C4B0DB6-929A-4816-82F8-C5CA7CCA52CE}" dt="2026-08-01T18:11:35.924" v="9635"/>
          <ac:spMkLst>
            <pc:docMk/>
            <pc:sldMk cId="3590692247" sldId="309"/>
            <ac:spMk id="2" creationId="{1D55B0ED-6E39-3BE0-5D3A-D47AE06FA3F0}"/>
          </ac:spMkLst>
        </pc:spChg>
        <pc:spChg chg="mod">
          <ac:chgData name="Michael Wegelin" userId="44f55030-522d-4388-8c84-12427b5d3861" providerId="ADAL" clId="{0C4B0DB6-929A-4816-82F8-C5CA7CCA52CE}" dt="2026-08-01T18:12:58.836" v="9643" actId="5793"/>
          <ac:spMkLst>
            <pc:docMk/>
            <pc:sldMk cId="3590692247" sldId="309"/>
            <ac:spMk id="3" creationId="{A08DEB7C-7981-7F07-B55B-98B18D849253}"/>
          </ac:spMkLst>
        </pc:spChg>
        <pc:picChg chg="add del mod">
          <ac:chgData name="Michael Wegelin" userId="44f55030-522d-4388-8c84-12427b5d3861" providerId="ADAL" clId="{0C4B0DB6-929A-4816-82F8-C5CA7CCA52CE}" dt="2026-08-02T09:14:38.775" v="13920" actId="478"/>
          <ac:picMkLst>
            <pc:docMk/>
            <pc:sldMk cId="3590692247" sldId="309"/>
            <ac:picMk id="6" creationId="{3C469680-0BE4-707E-07C1-8869E98E8E97}"/>
          </ac:picMkLst>
        </pc:picChg>
        <pc:picChg chg="add mod">
          <ac:chgData name="Michael Wegelin" userId="44f55030-522d-4388-8c84-12427b5d3861" providerId="ADAL" clId="{0C4B0DB6-929A-4816-82F8-C5CA7CCA52CE}" dt="2026-08-01T18:15:38.404" v="9651" actId="1076"/>
          <ac:picMkLst>
            <pc:docMk/>
            <pc:sldMk cId="3590692247" sldId="309"/>
            <ac:picMk id="8" creationId="{DAF9FB5E-9D73-1277-CDF8-FB495A9FC66C}"/>
          </ac:picMkLst>
        </pc:picChg>
        <pc:picChg chg="add mod">
          <ac:chgData name="Michael Wegelin" userId="44f55030-522d-4388-8c84-12427b5d3861" providerId="ADAL" clId="{0C4B0DB6-929A-4816-82F8-C5CA7CCA52CE}" dt="2026-08-02T09:14:56.693" v="13925" actId="14100"/>
          <ac:picMkLst>
            <pc:docMk/>
            <pc:sldMk cId="3590692247" sldId="309"/>
            <ac:picMk id="10" creationId="{26D30E99-B1C5-694D-1B19-C4EF55D5FE57}"/>
          </ac:picMkLst>
        </pc:picChg>
      </pc:sldChg>
      <pc:sldChg chg="addSp delSp modSp new del mod modNotesTx">
        <pc:chgData name="Michael Wegelin" userId="44f55030-522d-4388-8c84-12427b5d3861" providerId="ADAL" clId="{0C4B0DB6-929A-4816-82F8-C5CA7CCA52CE}" dt="2026-08-01T17:21:28.345" v="9129" actId="47"/>
        <pc:sldMkLst>
          <pc:docMk/>
          <pc:sldMk cId="76652011" sldId="310"/>
        </pc:sldMkLst>
      </pc:sldChg>
      <pc:sldChg chg="addSp delSp modSp new mod modClrScheme chgLayout modNotesTx">
        <pc:chgData name="Michael Wegelin" userId="44f55030-522d-4388-8c84-12427b5d3861" providerId="ADAL" clId="{0C4B0DB6-929A-4816-82F8-C5CA7CCA52CE}" dt="2026-08-01T18:19:03.272" v="9679" actId="14734"/>
        <pc:sldMkLst>
          <pc:docMk/>
          <pc:sldMk cId="1000559714" sldId="310"/>
        </pc:sldMkLst>
        <pc:spChg chg="mod ord">
          <ac:chgData name="Michael Wegelin" userId="44f55030-522d-4388-8c84-12427b5d3861" providerId="ADAL" clId="{0C4B0DB6-929A-4816-82F8-C5CA7CCA52CE}" dt="2026-08-01T18:16:41.872" v="9657" actId="700"/>
          <ac:spMkLst>
            <pc:docMk/>
            <pc:sldMk cId="1000559714" sldId="310"/>
            <ac:spMk id="2" creationId="{A22C8286-7624-1828-DDA2-0DFB42C154BC}"/>
          </ac:spMkLst>
        </pc:spChg>
        <pc:spChg chg="del mod ord">
          <ac:chgData name="Michael Wegelin" userId="44f55030-522d-4388-8c84-12427b5d3861" providerId="ADAL" clId="{0C4B0DB6-929A-4816-82F8-C5CA7CCA52CE}" dt="2026-08-01T18:16:41.872" v="9657" actId="700"/>
          <ac:spMkLst>
            <pc:docMk/>
            <pc:sldMk cId="1000559714" sldId="310"/>
            <ac:spMk id="3" creationId="{20DBCEB1-225D-DC6F-5940-03E56018F0FF}"/>
          </ac:spMkLst>
        </pc:spChg>
        <pc:spChg chg="del">
          <ac:chgData name="Michael Wegelin" userId="44f55030-522d-4388-8c84-12427b5d3861" providerId="ADAL" clId="{0C4B0DB6-929A-4816-82F8-C5CA7CCA52CE}" dt="2026-08-01T18:16:41.872" v="9657" actId="700"/>
          <ac:spMkLst>
            <pc:docMk/>
            <pc:sldMk cId="1000559714" sldId="310"/>
            <ac:spMk id="4" creationId="{7E5E2B57-A206-AC95-3E39-4ED861BF5A40}"/>
          </ac:spMkLst>
        </pc:spChg>
        <pc:spChg chg="add del mod ord">
          <ac:chgData name="Michael Wegelin" userId="44f55030-522d-4388-8c84-12427b5d3861" providerId="ADAL" clId="{0C4B0DB6-929A-4816-82F8-C5CA7CCA52CE}" dt="2026-08-01T18:16:51.422" v="9658" actId="3680"/>
          <ac:spMkLst>
            <pc:docMk/>
            <pc:sldMk cId="1000559714" sldId="310"/>
            <ac:spMk id="5" creationId="{337690D3-E394-5E61-5004-8EB99CAE2DAB}"/>
          </ac:spMkLst>
        </pc:spChg>
        <pc:graphicFrameChg chg="add mod ord modGraphic">
          <ac:chgData name="Michael Wegelin" userId="44f55030-522d-4388-8c84-12427b5d3861" providerId="ADAL" clId="{0C4B0DB6-929A-4816-82F8-C5CA7CCA52CE}" dt="2026-08-01T18:19:03.272" v="9679" actId="14734"/>
          <ac:graphicFrameMkLst>
            <pc:docMk/>
            <pc:sldMk cId="1000559714" sldId="310"/>
            <ac:graphicFrameMk id="6" creationId="{A80394FA-4A6A-8D75-F6A4-CF5DD90B3A20}"/>
          </ac:graphicFrameMkLst>
        </pc:graphicFrameChg>
      </pc:sldChg>
      <pc:sldChg chg="addSp delSp modSp new del mod modClrScheme chgLayout modNotesTx">
        <pc:chgData name="Michael Wegelin" userId="44f55030-522d-4388-8c84-12427b5d3861" providerId="ADAL" clId="{0C4B0DB6-929A-4816-82F8-C5CA7CCA52CE}" dt="2026-08-01T17:21:28.345" v="9129" actId="47"/>
        <pc:sldMkLst>
          <pc:docMk/>
          <pc:sldMk cId="705404882" sldId="311"/>
        </pc:sldMkLst>
      </pc:sldChg>
      <pc:sldChg chg="addSp delSp modSp new mod modClrScheme chgLayout modNotesTx">
        <pc:chgData name="Michael Wegelin" userId="44f55030-522d-4388-8c84-12427b5d3861" providerId="ADAL" clId="{0C4B0DB6-929A-4816-82F8-C5CA7CCA52CE}" dt="2026-08-02T09:15:53.642" v="13929" actId="14100"/>
        <pc:sldMkLst>
          <pc:docMk/>
          <pc:sldMk cId="4215782900" sldId="311"/>
        </pc:sldMkLst>
        <pc:spChg chg="mod ord">
          <ac:chgData name="Michael Wegelin" userId="44f55030-522d-4388-8c84-12427b5d3861" providerId="ADAL" clId="{0C4B0DB6-929A-4816-82F8-C5CA7CCA52CE}" dt="2026-08-01T18:20:54.653" v="9687" actId="700"/>
          <ac:spMkLst>
            <pc:docMk/>
            <pc:sldMk cId="4215782900" sldId="311"/>
            <ac:spMk id="2" creationId="{CFA65658-A075-8870-CAA5-B26175956961}"/>
          </ac:spMkLst>
        </pc:spChg>
        <pc:spChg chg="del mod ord">
          <ac:chgData name="Michael Wegelin" userId="44f55030-522d-4388-8c84-12427b5d3861" providerId="ADAL" clId="{0C4B0DB6-929A-4816-82F8-C5CA7CCA52CE}" dt="2026-08-01T18:20:34.289" v="9686" actId="700"/>
          <ac:spMkLst>
            <pc:docMk/>
            <pc:sldMk cId="4215782900" sldId="311"/>
            <ac:spMk id="3" creationId="{5736E981-8779-3C01-F593-9817DFE02F94}"/>
          </ac:spMkLst>
        </pc:spChg>
        <pc:spChg chg="del">
          <ac:chgData name="Michael Wegelin" userId="44f55030-522d-4388-8c84-12427b5d3861" providerId="ADAL" clId="{0C4B0DB6-929A-4816-82F8-C5CA7CCA52CE}" dt="2026-08-01T18:20:34.289" v="9686" actId="700"/>
          <ac:spMkLst>
            <pc:docMk/>
            <pc:sldMk cId="4215782900" sldId="311"/>
            <ac:spMk id="4" creationId="{BCDE9CE2-746E-76C9-0183-63E491180480}"/>
          </ac:spMkLst>
        </pc:spChg>
        <pc:spChg chg="add del mod ord">
          <ac:chgData name="Michael Wegelin" userId="44f55030-522d-4388-8c84-12427b5d3861" providerId="ADAL" clId="{0C4B0DB6-929A-4816-82F8-C5CA7CCA52CE}" dt="2026-08-01T18:20:54.653" v="9687" actId="700"/>
          <ac:spMkLst>
            <pc:docMk/>
            <pc:sldMk cId="4215782900" sldId="311"/>
            <ac:spMk id="5" creationId="{0F156494-E941-6BA1-288B-985A44D71FE4}"/>
          </ac:spMkLst>
        </pc:spChg>
        <pc:spChg chg="add mod ord">
          <ac:chgData name="Michael Wegelin" userId="44f55030-522d-4388-8c84-12427b5d3861" providerId="ADAL" clId="{0C4B0DB6-929A-4816-82F8-C5CA7CCA52CE}" dt="2026-08-01T18:21:30.179" v="9700" actId="5793"/>
          <ac:spMkLst>
            <pc:docMk/>
            <pc:sldMk cId="4215782900" sldId="311"/>
            <ac:spMk id="6" creationId="{BF4FFC50-8951-75CD-57FA-A643817E7385}"/>
          </ac:spMkLst>
        </pc:spChg>
        <pc:spChg chg="add del mod ord">
          <ac:chgData name="Michael Wegelin" userId="44f55030-522d-4388-8c84-12427b5d3861" providerId="ADAL" clId="{0C4B0DB6-929A-4816-82F8-C5CA7CCA52CE}" dt="2026-08-01T18:22:34.470" v="9701" actId="22"/>
          <ac:spMkLst>
            <pc:docMk/>
            <pc:sldMk cId="4215782900" sldId="311"/>
            <ac:spMk id="7" creationId="{7D87C0D7-22F5-29E4-1902-0D465C62E699}"/>
          </ac:spMkLst>
        </pc:spChg>
        <pc:spChg chg="add del mod">
          <ac:chgData name="Michael Wegelin" userId="44f55030-522d-4388-8c84-12427b5d3861" providerId="ADAL" clId="{0C4B0DB6-929A-4816-82F8-C5CA7CCA52CE}" dt="2026-08-02T09:15:42.926" v="13927" actId="22"/>
          <ac:spMkLst>
            <pc:docMk/>
            <pc:sldMk cId="4215782900" sldId="311"/>
            <ac:spMk id="11" creationId="{37F39571-13F2-15C0-A963-16D57D75B992}"/>
          </ac:spMkLst>
        </pc:spChg>
        <pc:picChg chg="add del mod ord">
          <ac:chgData name="Michael Wegelin" userId="44f55030-522d-4388-8c84-12427b5d3861" providerId="ADAL" clId="{0C4B0DB6-929A-4816-82F8-C5CA7CCA52CE}" dt="2026-08-02T09:15:38.411" v="13926" actId="478"/>
          <ac:picMkLst>
            <pc:docMk/>
            <pc:sldMk cId="4215782900" sldId="311"/>
            <ac:picMk id="9" creationId="{F6572DD3-7B83-A980-AE42-B64F5E3C1B99}"/>
          </ac:picMkLst>
        </pc:picChg>
        <pc:picChg chg="add mod ord">
          <ac:chgData name="Michael Wegelin" userId="44f55030-522d-4388-8c84-12427b5d3861" providerId="ADAL" clId="{0C4B0DB6-929A-4816-82F8-C5CA7CCA52CE}" dt="2026-08-02T09:15:53.642" v="13929" actId="14100"/>
          <ac:picMkLst>
            <pc:docMk/>
            <pc:sldMk cId="4215782900" sldId="311"/>
            <ac:picMk id="13" creationId="{656D7772-6921-91EB-D4C5-BE2BA3964B2C}"/>
          </ac:picMkLst>
        </pc:picChg>
      </pc:sldChg>
      <pc:sldChg chg="delSp modSp new mod modClrScheme chgLayout modNotesTx">
        <pc:chgData name="Michael Wegelin" userId="44f55030-522d-4388-8c84-12427b5d3861" providerId="ADAL" clId="{0C4B0DB6-929A-4816-82F8-C5CA7CCA52CE}" dt="2026-08-01T18:27:39.978" v="9716" actId="6549"/>
        <pc:sldMkLst>
          <pc:docMk/>
          <pc:sldMk cId="942489814" sldId="312"/>
        </pc:sldMkLst>
        <pc:spChg chg="mod ord">
          <ac:chgData name="Michael Wegelin" userId="44f55030-522d-4388-8c84-12427b5d3861" providerId="ADAL" clId="{0C4B0DB6-929A-4816-82F8-C5CA7CCA52CE}" dt="2026-08-01T18:24:18.836" v="9710" actId="700"/>
          <ac:spMkLst>
            <pc:docMk/>
            <pc:sldMk cId="942489814" sldId="312"/>
            <ac:spMk id="2" creationId="{5A1C4F15-23AE-6AC2-6FC7-95499BF7294E}"/>
          </ac:spMkLst>
        </pc:spChg>
        <pc:spChg chg="mod ord">
          <ac:chgData name="Michael Wegelin" userId="44f55030-522d-4388-8c84-12427b5d3861" providerId="ADAL" clId="{0C4B0DB6-929A-4816-82F8-C5CA7CCA52CE}" dt="2026-08-01T18:24:18.836" v="9710" actId="700"/>
          <ac:spMkLst>
            <pc:docMk/>
            <pc:sldMk cId="942489814" sldId="312"/>
            <ac:spMk id="3" creationId="{C234D5C7-E846-55C3-48D1-EE70061A48E7}"/>
          </ac:spMkLst>
        </pc:spChg>
        <pc:spChg chg="del">
          <ac:chgData name="Michael Wegelin" userId="44f55030-522d-4388-8c84-12427b5d3861" providerId="ADAL" clId="{0C4B0DB6-929A-4816-82F8-C5CA7CCA52CE}" dt="2026-08-01T18:24:18.836" v="9710" actId="700"/>
          <ac:spMkLst>
            <pc:docMk/>
            <pc:sldMk cId="942489814" sldId="312"/>
            <ac:spMk id="4" creationId="{EC37645C-266A-7EC1-7A21-F75D7D1CB5F0}"/>
          </ac:spMkLst>
        </pc:spChg>
      </pc:sldChg>
      <pc:sldChg chg="addSp delSp modSp new del mod modClrScheme chgLayout">
        <pc:chgData name="Michael Wegelin" userId="44f55030-522d-4388-8c84-12427b5d3861" providerId="ADAL" clId="{0C4B0DB6-929A-4816-82F8-C5CA7CCA52CE}" dt="2026-08-01T17:21:28.345" v="9129" actId="47"/>
        <pc:sldMkLst>
          <pc:docMk/>
          <pc:sldMk cId="2010216560" sldId="313"/>
        </pc:sldMkLst>
      </pc:sldChg>
      <pc:sldChg chg="addSp delSp modSp new mod modClrScheme chgLayout modNotesTx">
        <pc:chgData name="Michael Wegelin" userId="44f55030-522d-4388-8c84-12427b5d3861" providerId="ADAL" clId="{0C4B0DB6-929A-4816-82F8-C5CA7CCA52CE}" dt="2026-08-01T18:31:55.689" v="9734" actId="6549"/>
        <pc:sldMkLst>
          <pc:docMk/>
          <pc:sldMk cId="2877870535" sldId="313"/>
        </pc:sldMkLst>
        <pc:spChg chg="mod ord">
          <ac:chgData name="Michael Wegelin" userId="44f55030-522d-4388-8c84-12427b5d3861" providerId="ADAL" clId="{0C4B0DB6-929A-4816-82F8-C5CA7CCA52CE}" dt="2026-08-01T18:31:23.421" v="9726" actId="700"/>
          <ac:spMkLst>
            <pc:docMk/>
            <pc:sldMk cId="2877870535" sldId="313"/>
            <ac:spMk id="2" creationId="{7D9753CE-2A6C-54A8-DDFA-F68065C615C4}"/>
          </ac:spMkLst>
        </pc:spChg>
        <pc:spChg chg="mod ord">
          <ac:chgData name="Michael Wegelin" userId="44f55030-522d-4388-8c84-12427b5d3861" providerId="ADAL" clId="{0C4B0DB6-929A-4816-82F8-C5CA7CCA52CE}" dt="2026-08-01T18:31:23.444" v="9727" actId="27636"/>
          <ac:spMkLst>
            <pc:docMk/>
            <pc:sldMk cId="2877870535" sldId="313"/>
            <ac:spMk id="3" creationId="{AE8C12F3-A6AB-4636-2341-4D24FDBAB6B9}"/>
          </ac:spMkLst>
        </pc:spChg>
        <pc:spChg chg="del mod">
          <ac:chgData name="Michael Wegelin" userId="44f55030-522d-4388-8c84-12427b5d3861" providerId="ADAL" clId="{0C4B0DB6-929A-4816-82F8-C5CA7CCA52CE}" dt="2026-08-01T18:31:23.421" v="9726" actId="700"/>
          <ac:spMkLst>
            <pc:docMk/>
            <pc:sldMk cId="2877870535" sldId="313"/>
            <ac:spMk id="4" creationId="{C4C79E26-B127-A672-1DF3-D3220F6651BC}"/>
          </ac:spMkLst>
        </pc:spChg>
        <pc:spChg chg="add mod">
          <ac:chgData name="Michael Wegelin" userId="44f55030-522d-4388-8c84-12427b5d3861" providerId="ADAL" clId="{0C4B0DB6-929A-4816-82F8-C5CA7CCA52CE}" dt="2026-08-01T18:31:40.192" v="9732" actId="13926"/>
          <ac:spMkLst>
            <pc:docMk/>
            <pc:sldMk cId="2877870535" sldId="313"/>
            <ac:spMk id="6" creationId="{87517C1F-B93C-9DE8-23B0-9E3935EB754A}"/>
          </ac:spMkLst>
        </pc:spChg>
      </pc:sldChg>
      <pc:sldChg chg="new del">
        <pc:chgData name="Michael Wegelin" userId="44f55030-522d-4388-8c84-12427b5d3861" providerId="ADAL" clId="{0C4B0DB6-929A-4816-82F8-C5CA7CCA52CE}" dt="2026-08-01T18:32:21.586" v="9735" actId="47"/>
        <pc:sldMkLst>
          <pc:docMk/>
          <pc:sldMk cId="3333880199" sldId="314"/>
        </pc:sldMkLst>
      </pc:sldChg>
      <pc:sldChg chg="addSp delSp modSp add mod modNotesTx">
        <pc:chgData name="Michael Wegelin" userId="44f55030-522d-4388-8c84-12427b5d3861" providerId="ADAL" clId="{0C4B0DB6-929A-4816-82F8-C5CA7CCA52CE}" dt="2026-08-02T09:14:04.126" v="13919" actId="22"/>
        <pc:sldMkLst>
          <pc:docMk/>
          <pc:sldMk cId="2953263833" sldId="315"/>
        </pc:sldMkLst>
        <pc:spChg chg="mod">
          <ac:chgData name="Michael Wegelin" userId="44f55030-522d-4388-8c84-12427b5d3861" providerId="ADAL" clId="{0C4B0DB6-929A-4816-82F8-C5CA7CCA52CE}" dt="2026-08-01T18:05:44.670" v="9557"/>
          <ac:spMkLst>
            <pc:docMk/>
            <pc:sldMk cId="2953263833" sldId="315"/>
            <ac:spMk id="2" creationId="{4E0F01AB-C162-DE15-FBA0-462E3A86364E}"/>
          </ac:spMkLst>
        </pc:spChg>
        <pc:spChg chg="mod">
          <ac:chgData name="Michael Wegelin" userId="44f55030-522d-4388-8c84-12427b5d3861" providerId="ADAL" clId="{0C4B0DB6-929A-4816-82F8-C5CA7CCA52CE}" dt="2026-08-01T18:05:58.034" v="9559" actId="5793"/>
          <ac:spMkLst>
            <pc:docMk/>
            <pc:sldMk cId="2953263833" sldId="315"/>
            <ac:spMk id="3" creationId="{546E1A31-ECDF-012F-8EDE-CEAB7C3C461B}"/>
          </ac:spMkLst>
        </pc:spChg>
        <pc:spChg chg="add mod">
          <ac:chgData name="Michael Wegelin" userId="44f55030-522d-4388-8c84-12427b5d3861" providerId="ADAL" clId="{0C4B0DB6-929A-4816-82F8-C5CA7CCA52CE}" dt="2026-08-01T18:06:56.686" v="9571" actId="1036"/>
          <ac:spMkLst>
            <pc:docMk/>
            <pc:sldMk cId="2953263833" sldId="315"/>
            <ac:spMk id="5" creationId="{F63DA366-2743-B446-2A68-E4E82C847657}"/>
          </ac:spMkLst>
        </pc:spChg>
        <pc:spChg chg="add del mod">
          <ac:chgData name="Michael Wegelin" userId="44f55030-522d-4388-8c84-12427b5d3861" providerId="ADAL" clId="{0C4B0DB6-929A-4816-82F8-C5CA7CCA52CE}" dt="2026-08-02T09:14:04.126" v="13919" actId="22"/>
          <ac:spMkLst>
            <pc:docMk/>
            <pc:sldMk cId="2953263833" sldId="315"/>
            <ac:spMk id="8" creationId="{417FF911-0DBC-4EA8-75C7-A446E21F074A}"/>
          </ac:spMkLst>
        </pc:spChg>
        <pc:picChg chg="del">
          <ac:chgData name="Michael Wegelin" userId="44f55030-522d-4388-8c84-12427b5d3861" providerId="ADAL" clId="{0C4B0DB6-929A-4816-82F8-C5CA7CCA52CE}" dt="2026-08-02T09:13:59.930" v="13918" actId="478"/>
          <ac:picMkLst>
            <pc:docMk/>
            <pc:sldMk cId="2953263833" sldId="315"/>
            <ac:picMk id="6" creationId="{6B8D3DEA-0681-E1B5-44FC-A9893B7AFE8C}"/>
          </ac:picMkLst>
        </pc:picChg>
        <pc:picChg chg="add mod ord">
          <ac:chgData name="Michael Wegelin" userId="44f55030-522d-4388-8c84-12427b5d3861" providerId="ADAL" clId="{0C4B0DB6-929A-4816-82F8-C5CA7CCA52CE}" dt="2026-08-02T09:14:04.126" v="13919" actId="22"/>
          <ac:picMkLst>
            <pc:docMk/>
            <pc:sldMk cId="2953263833" sldId="315"/>
            <ac:picMk id="10" creationId="{1224BFE9-EC9D-C03C-9A32-93CD6A9C9CFE}"/>
          </ac:picMkLst>
        </pc:picChg>
      </pc:sldChg>
      <pc:sldChg chg="addSp delSp modSp new del mod modClrScheme chgLayout">
        <pc:chgData name="Michael Wegelin" userId="44f55030-522d-4388-8c84-12427b5d3861" providerId="ADAL" clId="{0C4B0DB6-929A-4816-82F8-C5CA7CCA52CE}" dt="2026-08-01T17:21:28.345" v="9129" actId="47"/>
        <pc:sldMkLst>
          <pc:docMk/>
          <pc:sldMk cId="1734360669" sldId="316"/>
        </pc:sldMkLst>
      </pc:sldChg>
      <pc:sldChg chg="addSp delSp modSp new mod modClrScheme chgLayout modNotesTx">
        <pc:chgData name="Michael Wegelin" userId="44f55030-522d-4388-8c84-12427b5d3861" providerId="ADAL" clId="{0C4B0DB6-929A-4816-82F8-C5CA7CCA52CE}" dt="2026-08-01T19:00:45.604" v="9862" actId="13926"/>
        <pc:sldMkLst>
          <pc:docMk/>
          <pc:sldMk cId="3918775705" sldId="316"/>
        </pc:sldMkLst>
        <pc:spChg chg="mod ord">
          <ac:chgData name="Michael Wegelin" userId="44f55030-522d-4388-8c84-12427b5d3861" providerId="ADAL" clId="{0C4B0DB6-929A-4816-82F8-C5CA7CCA52CE}" dt="2026-08-01T18:57:34.687" v="9804" actId="700"/>
          <ac:spMkLst>
            <pc:docMk/>
            <pc:sldMk cId="3918775705" sldId="316"/>
            <ac:spMk id="2" creationId="{8B57C6F4-C563-F695-0EA9-678C5F77A2E2}"/>
          </ac:spMkLst>
        </pc:spChg>
        <pc:spChg chg="mod ord">
          <ac:chgData name="Michael Wegelin" userId="44f55030-522d-4388-8c84-12427b5d3861" providerId="ADAL" clId="{0C4B0DB6-929A-4816-82F8-C5CA7CCA52CE}" dt="2026-08-01T18:58:47.337" v="9830" actId="27636"/>
          <ac:spMkLst>
            <pc:docMk/>
            <pc:sldMk cId="3918775705" sldId="316"/>
            <ac:spMk id="3" creationId="{7865B9CC-0960-E184-91F3-3BC28AC4B07F}"/>
          </ac:spMkLst>
        </pc:spChg>
        <pc:spChg chg="add del">
          <ac:chgData name="Michael Wegelin" userId="44f55030-522d-4388-8c84-12427b5d3861" providerId="ADAL" clId="{0C4B0DB6-929A-4816-82F8-C5CA7CCA52CE}" dt="2026-08-01T18:54:15.941" v="9747" actId="22"/>
          <ac:spMkLst>
            <pc:docMk/>
            <pc:sldMk cId="3918775705" sldId="316"/>
            <ac:spMk id="5" creationId="{9C274AC5-BA98-584D-DFF8-DC8B1DF54D00}"/>
          </ac:spMkLst>
        </pc:spChg>
        <pc:spChg chg="add mod ord">
          <ac:chgData name="Michael Wegelin" userId="44f55030-522d-4388-8c84-12427b5d3861" providerId="ADAL" clId="{0C4B0DB6-929A-4816-82F8-C5CA7CCA52CE}" dt="2026-08-01T19:00:15.453" v="9855" actId="20577"/>
          <ac:spMkLst>
            <pc:docMk/>
            <pc:sldMk cId="3918775705" sldId="316"/>
            <ac:spMk id="6" creationId="{8EB0F5CF-B46F-023E-9B87-8D547E59B74C}"/>
          </ac:spMkLst>
        </pc:spChg>
        <pc:spChg chg="add mod">
          <ac:chgData name="Michael Wegelin" userId="44f55030-522d-4388-8c84-12427b5d3861" providerId="ADAL" clId="{0C4B0DB6-929A-4816-82F8-C5CA7CCA52CE}" dt="2026-08-01T19:00:45.604" v="9862" actId="13926"/>
          <ac:spMkLst>
            <pc:docMk/>
            <pc:sldMk cId="3918775705" sldId="316"/>
            <ac:spMk id="8" creationId="{A635A3EB-7AD2-DBD0-CC58-28F4A824A2BE}"/>
          </ac:spMkLst>
        </pc:spChg>
      </pc:sldChg>
      <pc:sldChg chg="addSp delSp modSp new mod modClrScheme chgLayout modNotesTx">
        <pc:chgData name="Michael Wegelin" userId="44f55030-522d-4388-8c84-12427b5d3861" providerId="ADAL" clId="{0C4B0DB6-929A-4816-82F8-C5CA7CCA52CE}" dt="2026-08-02T09:16:37.994" v="13933" actId="14100"/>
        <pc:sldMkLst>
          <pc:docMk/>
          <pc:sldMk cId="564526553" sldId="317"/>
        </pc:sldMkLst>
        <pc:spChg chg="mod ord">
          <ac:chgData name="Michael Wegelin" userId="44f55030-522d-4388-8c84-12427b5d3861" providerId="ADAL" clId="{0C4B0DB6-929A-4816-82F8-C5CA7CCA52CE}" dt="2026-08-01T19:01:10.237" v="9864" actId="700"/>
          <ac:spMkLst>
            <pc:docMk/>
            <pc:sldMk cId="564526553" sldId="317"/>
            <ac:spMk id="2" creationId="{C4AEA8CC-A5BF-C3BE-C194-2ABBB7CD10C9}"/>
          </ac:spMkLst>
        </pc:spChg>
        <pc:spChg chg="del mod ord">
          <ac:chgData name="Michael Wegelin" userId="44f55030-522d-4388-8c84-12427b5d3861" providerId="ADAL" clId="{0C4B0DB6-929A-4816-82F8-C5CA7CCA52CE}" dt="2026-08-01T19:01:10.237" v="9864" actId="700"/>
          <ac:spMkLst>
            <pc:docMk/>
            <pc:sldMk cId="564526553" sldId="317"/>
            <ac:spMk id="3" creationId="{2512362C-95F5-3024-7F8C-F3E38EBF9916}"/>
          </ac:spMkLst>
        </pc:spChg>
        <pc:spChg chg="add mod ord">
          <ac:chgData name="Michael Wegelin" userId="44f55030-522d-4388-8c84-12427b5d3861" providerId="ADAL" clId="{0C4B0DB6-929A-4816-82F8-C5CA7CCA52CE}" dt="2026-08-01T19:01:16.803" v="9866" actId="5793"/>
          <ac:spMkLst>
            <pc:docMk/>
            <pc:sldMk cId="564526553" sldId="317"/>
            <ac:spMk id="4" creationId="{DCA40AAE-1400-0003-DF59-14584950693C}"/>
          </ac:spMkLst>
        </pc:spChg>
        <pc:spChg chg="add del mod ord">
          <ac:chgData name="Michael Wegelin" userId="44f55030-522d-4388-8c84-12427b5d3861" providerId="ADAL" clId="{0C4B0DB6-929A-4816-82F8-C5CA7CCA52CE}" dt="2026-08-01T19:02:59.770" v="9874" actId="3680"/>
          <ac:spMkLst>
            <pc:docMk/>
            <pc:sldMk cId="564526553" sldId="317"/>
            <ac:spMk id="5" creationId="{66788342-ED03-DEEE-0F63-361E8EB0E26F}"/>
          </ac:spMkLst>
        </pc:spChg>
        <pc:graphicFrameChg chg="add mod ord modGraphic">
          <ac:chgData name="Michael Wegelin" userId="44f55030-522d-4388-8c84-12427b5d3861" providerId="ADAL" clId="{0C4B0DB6-929A-4816-82F8-C5CA7CCA52CE}" dt="2026-08-01T19:04:48.521" v="9946"/>
          <ac:graphicFrameMkLst>
            <pc:docMk/>
            <pc:sldMk cId="564526553" sldId="317"/>
            <ac:graphicFrameMk id="8" creationId="{0DF1E038-0D2E-E004-6488-3C51D032A768}"/>
          </ac:graphicFrameMkLst>
        </pc:graphicFrameChg>
        <pc:picChg chg="add del mod">
          <ac:chgData name="Michael Wegelin" userId="44f55030-522d-4388-8c84-12427b5d3861" providerId="ADAL" clId="{0C4B0DB6-929A-4816-82F8-C5CA7CCA52CE}" dt="2026-08-02T09:16:27.475" v="13930" actId="478"/>
          <ac:picMkLst>
            <pc:docMk/>
            <pc:sldMk cId="564526553" sldId="317"/>
            <ac:picMk id="7" creationId="{6145AD3F-701C-816D-A74C-3ED04F20D909}"/>
          </ac:picMkLst>
        </pc:picChg>
        <pc:picChg chg="add mod">
          <ac:chgData name="Michael Wegelin" userId="44f55030-522d-4388-8c84-12427b5d3861" providerId="ADAL" clId="{0C4B0DB6-929A-4816-82F8-C5CA7CCA52CE}" dt="2026-08-02T09:16:37.994" v="13933" actId="14100"/>
          <ac:picMkLst>
            <pc:docMk/>
            <pc:sldMk cId="564526553" sldId="317"/>
            <ac:picMk id="10" creationId="{6229E48D-3278-EB41-6684-C0E9AF64D729}"/>
          </ac:picMkLst>
        </pc:picChg>
      </pc:sldChg>
      <pc:sldChg chg="addSp modSp new del mod modNotesTx">
        <pc:chgData name="Michael Wegelin" userId="44f55030-522d-4388-8c84-12427b5d3861" providerId="ADAL" clId="{0C4B0DB6-929A-4816-82F8-C5CA7CCA52CE}" dt="2026-08-01T17:21:28.345" v="9129" actId="47"/>
        <pc:sldMkLst>
          <pc:docMk/>
          <pc:sldMk cId="2866364378" sldId="317"/>
        </pc:sldMkLst>
      </pc:sldChg>
      <pc:sldChg chg="addSp delSp modSp new del mod modNotesTx">
        <pc:chgData name="Michael Wegelin" userId="44f55030-522d-4388-8c84-12427b5d3861" providerId="ADAL" clId="{0C4B0DB6-929A-4816-82F8-C5CA7CCA52CE}" dt="2026-08-01T17:21:28.345" v="9129" actId="47"/>
        <pc:sldMkLst>
          <pc:docMk/>
          <pc:sldMk cId="1251469143" sldId="318"/>
        </pc:sldMkLst>
      </pc:sldChg>
      <pc:sldChg chg="addSp delSp modSp new mod modNotesTx">
        <pc:chgData name="Michael Wegelin" userId="44f55030-522d-4388-8c84-12427b5d3861" providerId="ADAL" clId="{0C4B0DB6-929A-4816-82F8-C5CA7CCA52CE}" dt="2026-08-01T19:10:11.488" v="10060" actId="6549"/>
        <pc:sldMkLst>
          <pc:docMk/>
          <pc:sldMk cId="3083365034" sldId="318"/>
        </pc:sldMkLst>
        <pc:spChg chg="mod">
          <ac:chgData name="Michael Wegelin" userId="44f55030-522d-4388-8c84-12427b5d3861" providerId="ADAL" clId="{0C4B0DB6-929A-4816-82F8-C5CA7CCA52CE}" dt="2026-08-01T19:05:04.253" v="9948"/>
          <ac:spMkLst>
            <pc:docMk/>
            <pc:sldMk cId="3083365034" sldId="318"/>
            <ac:spMk id="2" creationId="{1AB6D1BB-F57C-87A0-D045-D7983992888B}"/>
          </ac:spMkLst>
        </pc:spChg>
        <pc:spChg chg="del">
          <ac:chgData name="Michael Wegelin" userId="44f55030-522d-4388-8c84-12427b5d3861" providerId="ADAL" clId="{0C4B0DB6-929A-4816-82F8-C5CA7CCA52CE}" dt="2026-08-01T19:06:21.279" v="9971" actId="3680"/>
          <ac:spMkLst>
            <pc:docMk/>
            <pc:sldMk cId="3083365034" sldId="318"/>
            <ac:spMk id="3" creationId="{8C83457E-F5F4-E0BB-8F68-E068A84F88CD}"/>
          </ac:spMkLst>
        </pc:spChg>
        <pc:graphicFrameChg chg="add mod ord modGraphic">
          <ac:chgData name="Michael Wegelin" userId="44f55030-522d-4388-8c84-12427b5d3861" providerId="ADAL" clId="{0C4B0DB6-929A-4816-82F8-C5CA7CCA52CE}" dt="2026-08-01T19:10:11.488" v="10060" actId="6549"/>
          <ac:graphicFrameMkLst>
            <pc:docMk/>
            <pc:sldMk cId="3083365034" sldId="318"/>
            <ac:graphicFrameMk id="4" creationId="{DC3E2098-1C7B-C94E-EC78-8BFD6AE7AB6A}"/>
          </ac:graphicFrameMkLst>
        </pc:graphicFrameChg>
      </pc:sldChg>
      <pc:sldChg chg="addSp delSp modSp new del mod modNotesTx">
        <pc:chgData name="Michael Wegelin" userId="44f55030-522d-4388-8c84-12427b5d3861" providerId="ADAL" clId="{0C4B0DB6-929A-4816-82F8-C5CA7CCA52CE}" dt="2026-08-01T17:21:28.345" v="9129" actId="47"/>
        <pc:sldMkLst>
          <pc:docMk/>
          <pc:sldMk cId="1370097499" sldId="319"/>
        </pc:sldMkLst>
      </pc:sldChg>
      <pc:sldChg chg="modSp new mod modNotesTx">
        <pc:chgData name="Michael Wegelin" userId="44f55030-522d-4388-8c84-12427b5d3861" providerId="ADAL" clId="{0C4B0DB6-929A-4816-82F8-C5CA7CCA52CE}" dt="2026-08-01T19:14:10.005" v="10320" actId="2711"/>
        <pc:sldMkLst>
          <pc:docMk/>
          <pc:sldMk cId="3722143606" sldId="319"/>
        </pc:sldMkLst>
        <pc:spChg chg="mod">
          <ac:chgData name="Michael Wegelin" userId="44f55030-522d-4388-8c84-12427b5d3861" providerId="ADAL" clId="{0C4B0DB6-929A-4816-82F8-C5CA7CCA52CE}" dt="2026-08-01T19:10:44.705" v="10061"/>
          <ac:spMkLst>
            <pc:docMk/>
            <pc:sldMk cId="3722143606" sldId="319"/>
            <ac:spMk id="2" creationId="{E9ABCBA5-FF4F-DA9C-C7C0-E3107F19D87D}"/>
          </ac:spMkLst>
        </pc:spChg>
        <pc:spChg chg="mod">
          <ac:chgData name="Michael Wegelin" userId="44f55030-522d-4388-8c84-12427b5d3861" providerId="ADAL" clId="{0C4B0DB6-929A-4816-82F8-C5CA7CCA52CE}" dt="2026-08-01T19:14:10.005" v="10320" actId="2711"/>
          <ac:spMkLst>
            <pc:docMk/>
            <pc:sldMk cId="3722143606" sldId="319"/>
            <ac:spMk id="3" creationId="{5E863A97-ED92-9C17-A87D-F3505129C294}"/>
          </ac:spMkLst>
        </pc:spChg>
      </pc:sldChg>
      <pc:sldChg chg="addSp delSp modSp new del mod modNotesTx">
        <pc:chgData name="Michael Wegelin" userId="44f55030-522d-4388-8c84-12427b5d3861" providerId="ADAL" clId="{0C4B0DB6-929A-4816-82F8-C5CA7CCA52CE}" dt="2026-08-01T17:21:28.345" v="9129" actId="47"/>
        <pc:sldMkLst>
          <pc:docMk/>
          <pc:sldMk cId="2222251723" sldId="320"/>
        </pc:sldMkLst>
      </pc:sldChg>
      <pc:sldChg chg="modSp new mod modNotesTx">
        <pc:chgData name="Michael Wegelin" userId="44f55030-522d-4388-8c84-12427b5d3861" providerId="ADAL" clId="{0C4B0DB6-929A-4816-82F8-C5CA7CCA52CE}" dt="2026-08-01T19:15:23.987" v="10328" actId="2711"/>
        <pc:sldMkLst>
          <pc:docMk/>
          <pc:sldMk cId="3824499322" sldId="320"/>
        </pc:sldMkLst>
        <pc:spChg chg="mod">
          <ac:chgData name="Michael Wegelin" userId="44f55030-522d-4388-8c84-12427b5d3861" providerId="ADAL" clId="{0C4B0DB6-929A-4816-82F8-C5CA7CCA52CE}" dt="2026-08-01T19:14:24.063" v="10321"/>
          <ac:spMkLst>
            <pc:docMk/>
            <pc:sldMk cId="3824499322" sldId="320"/>
            <ac:spMk id="2" creationId="{0B1BE67D-C168-39FD-9D6D-D65713DC33D4}"/>
          </ac:spMkLst>
        </pc:spChg>
        <pc:spChg chg="mod">
          <ac:chgData name="Michael Wegelin" userId="44f55030-522d-4388-8c84-12427b5d3861" providerId="ADAL" clId="{0C4B0DB6-929A-4816-82F8-C5CA7CCA52CE}" dt="2026-08-01T19:15:23.987" v="10328" actId="2711"/>
          <ac:spMkLst>
            <pc:docMk/>
            <pc:sldMk cId="3824499322" sldId="320"/>
            <ac:spMk id="3" creationId="{DE9F1AFE-BA50-97CE-0DAA-0ECD331758C7}"/>
          </ac:spMkLst>
        </pc:spChg>
      </pc:sldChg>
      <pc:sldChg chg="addSp delSp modSp new mod modNotesTx">
        <pc:chgData name="Michael Wegelin" userId="44f55030-522d-4388-8c84-12427b5d3861" providerId="ADAL" clId="{0C4B0DB6-929A-4816-82F8-C5CA7CCA52CE}" dt="2026-08-01T19:18:07.489" v="10389" actId="2711"/>
        <pc:sldMkLst>
          <pc:docMk/>
          <pc:sldMk cId="2314962445" sldId="321"/>
        </pc:sldMkLst>
        <pc:spChg chg="mod">
          <ac:chgData name="Michael Wegelin" userId="44f55030-522d-4388-8c84-12427b5d3861" providerId="ADAL" clId="{0C4B0DB6-929A-4816-82F8-C5CA7CCA52CE}" dt="2026-08-01T19:15:41.501" v="10329"/>
          <ac:spMkLst>
            <pc:docMk/>
            <pc:sldMk cId="2314962445" sldId="321"/>
            <ac:spMk id="2" creationId="{DA02EA81-9422-38F6-49EB-D7BD3AD190ED}"/>
          </ac:spMkLst>
        </pc:spChg>
        <pc:spChg chg="del">
          <ac:chgData name="Michael Wegelin" userId="44f55030-522d-4388-8c84-12427b5d3861" providerId="ADAL" clId="{0C4B0DB6-929A-4816-82F8-C5CA7CCA52CE}" dt="2026-08-01T19:17:01.230" v="10352" actId="3680"/>
          <ac:spMkLst>
            <pc:docMk/>
            <pc:sldMk cId="2314962445" sldId="321"/>
            <ac:spMk id="3" creationId="{8799F75F-5F43-F347-316E-66C11AA225BD}"/>
          </ac:spMkLst>
        </pc:spChg>
        <pc:graphicFrameChg chg="add mod ord modGraphic">
          <ac:chgData name="Michael Wegelin" userId="44f55030-522d-4388-8c84-12427b5d3861" providerId="ADAL" clId="{0C4B0DB6-929A-4816-82F8-C5CA7CCA52CE}" dt="2026-08-01T19:18:07.489" v="10389" actId="2711"/>
          <ac:graphicFrameMkLst>
            <pc:docMk/>
            <pc:sldMk cId="2314962445" sldId="321"/>
            <ac:graphicFrameMk id="4" creationId="{3FE5F0E0-4A5C-EE2E-7DB8-277AC39AB4CF}"/>
          </ac:graphicFrameMkLst>
        </pc:graphicFrameChg>
      </pc:sldChg>
      <pc:sldChg chg="addSp delSp modSp new del mod modClrScheme chgLayout modNotesTx">
        <pc:chgData name="Michael Wegelin" userId="44f55030-522d-4388-8c84-12427b5d3861" providerId="ADAL" clId="{0C4B0DB6-929A-4816-82F8-C5CA7CCA52CE}" dt="2026-08-01T17:21:28.345" v="9129" actId="47"/>
        <pc:sldMkLst>
          <pc:docMk/>
          <pc:sldMk cId="3217971232" sldId="321"/>
        </pc:sldMkLst>
      </pc:sldChg>
      <pc:sldChg chg="addSp delSp modSp new del mod modNotesTx">
        <pc:chgData name="Michael Wegelin" userId="44f55030-522d-4388-8c84-12427b5d3861" providerId="ADAL" clId="{0C4B0DB6-929A-4816-82F8-C5CA7CCA52CE}" dt="2026-08-01T17:21:28.345" v="9129" actId="47"/>
        <pc:sldMkLst>
          <pc:docMk/>
          <pc:sldMk cId="2763851061" sldId="322"/>
        </pc:sldMkLst>
      </pc:sldChg>
      <pc:sldChg chg="modSp new mod modNotesTx">
        <pc:chgData name="Michael Wegelin" userId="44f55030-522d-4388-8c84-12427b5d3861" providerId="ADAL" clId="{0C4B0DB6-929A-4816-82F8-C5CA7CCA52CE}" dt="2026-08-01T19:20:57.688" v="10405" actId="20577"/>
        <pc:sldMkLst>
          <pc:docMk/>
          <pc:sldMk cId="3911283029" sldId="322"/>
        </pc:sldMkLst>
        <pc:spChg chg="mod">
          <ac:chgData name="Michael Wegelin" userId="44f55030-522d-4388-8c84-12427b5d3861" providerId="ADAL" clId="{0C4B0DB6-929A-4816-82F8-C5CA7CCA52CE}" dt="2026-08-01T19:19:37.251" v="10390"/>
          <ac:spMkLst>
            <pc:docMk/>
            <pc:sldMk cId="3911283029" sldId="322"/>
            <ac:spMk id="2" creationId="{3A5ABEC6-3CB4-AFFA-BFF5-9C99611F6C1E}"/>
          </ac:spMkLst>
        </pc:spChg>
        <pc:spChg chg="mod">
          <ac:chgData name="Michael Wegelin" userId="44f55030-522d-4388-8c84-12427b5d3861" providerId="ADAL" clId="{0C4B0DB6-929A-4816-82F8-C5CA7CCA52CE}" dt="2026-08-01T19:20:57.688" v="10405" actId="20577"/>
          <ac:spMkLst>
            <pc:docMk/>
            <pc:sldMk cId="3911283029" sldId="322"/>
            <ac:spMk id="3" creationId="{633C5C67-F1A7-7D89-7123-9CA8B49465FC}"/>
          </ac:spMkLst>
        </pc:spChg>
      </pc:sldChg>
      <pc:sldChg chg="modSp new mod modNotesTx">
        <pc:chgData name="Michael Wegelin" userId="44f55030-522d-4388-8c84-12427b5d3861" providerId="ADAL" clId="{0C4B0DB6-929A-4816-82F8-C5CA7CCA52CE}" dt="2026-08-01T19:28:24.427" v="10451" actId="20577"/>
        <pc:sldMkLst>
          <pc:docMk/>
          <pc:sldMk cId="303445976" sldId="323"/>
        </pc:sldMkLst>
        <pc:spChg chg="mod">
          <ac:chgData name="Michael Wegelin" userId="44f55030-522d-4388-8c84-12427b5d3861" providerId="ADAL" clId="{0C4B0DB6-929A-4816-82F8-C5CA7CCA52CE}" dt="2026-08-01T19:21:24.421" v="10406"/>
          <ac:spMkLst>
            <pc:docMk/>
            <pc:sldMk cId="303445976" sldId="323"/>
            <ac:spMk id="2" creationId="{FEF70D10-22A9-9E3F-F82E-41FD1495E491}"/>
          </ac:spMkLst>
        </pc:spChg>
        <pc:spChg chg="mod">
          <ac:chgData name="Michael Wegelin" userId="44f55030-522d-4388-8c84-12427b5d3861" providerId="ADAL" clId="{0C4B0DB6-929A-4816-82F8-C5CA7CCA52CE}" dt="2026-08-01T19:22:47.888" v="10427" actId="27636"/>
          <ac:spMkLst>
            <pc:docMk/>
            <pc:sldMk cId="303445976" sldId="323"/>
            <ac:spMk id="3" creationId="{FE80FFF8-C3A1-EACD-F144-921165734C57}"/>
          </ac:spMkLst>
        </pc:spChg>
      </pc:sldChg>
      <pc:sldChg chg="addSp delSp modSp new del mod modNotesTx">
        <pc:chgData name="Michael Wegelin" userId="44f55030-522d-4388-8c84-12427b5d3861" providerId="ADAL" clId="{0C4B0DB6-929A-4816-82F8-C5CA7CCA52CE}" dt="2026-08-01T17:21:28.345" v="9129" actId="47"/>
        <pc:sldMkLst>
          <pc:docMk/>
          <pc:sldMk cId="4046140684" sldId="323"/>
        </pc:sldMkLst>
      </pc:sldChg>
      <pc:sldChg chg="modSp new mod modNotesTx">
        <pc:chgData name="Michael Wegelin" userId="44f55030-522d-4388-8c84-12427b5d3861" providerId="ADAL" clId="{0C4B0DB6-929A-4816-82F8-C5CA7CCA52CE}" dt="2026-08-01T19:28:57.039" v="10453" actId="5793"/>
        <pc:sldMkLst>
          <pc:docMk/>
          <pc:sldMk cId="1024400351" sldId="324"/>
        </pc:sldMkLst>
        <pc:spChg chg="mod">
          <ac:chgData name="Michael Wegelin" userId="44f55030-522d-4388-8c84-12427b5d3861" providerId="ADAL" clId="{0C4B0DB6-929A-4816-82F8-C5CA7CCA52CE}" dt="2026-08-01T19:23:32.605" v="10430"/>
          <ac:spMkLst>
            <pc:docMk/>
            <pc:sldMk cId="1024400351" sldId="324"/>
            <ac:spMk id="2" creationId="{27B6BC8F-4DB4-22BE-6C1C-2CC99FAB08C9}"/>
          </ac:spMkLst>
        </pc:spChg>
        <pc:spChg chg="mod">
          <ac:chgData name="Michael Wegelin" userId="44f55030-522d-4388-8c84-12427b5d3861" providerId="ADAL" clId="{0C4B0DB6-929A-4816-82F8-C5CA7CCA52CE}" dt="2026-08-01T19:28:57.039" v="10453" actId="5793"/>
          <ac:spMkLst>
            <pc:docMk/>
            <pc:sldMk cId="1024400351" sldId="324"/>
            <ac:spMk id="3" creationId="{5E9B3ED6-A8C3-A489-CF74-FDF1D758839F}"/>
          </ac:spMkLst>
        </pc:spChg>
      </pc:sldChg>
      <pc:sldChg chg="addSp delSp modSp new del mod">
        <pc:chgData name="Michael Wegelin" userId="44f55030-522d-4388-8c84-12427b5d3861" providerId="ADAL" clId="{0C4B0DB6-929A-4816-82F8-C5CA7CCA52CE}" dt="2026-08-01T17:21:28.345" v="9129" actId="47"/>
        <pc:sldMkLst>
          <pc:docMk/>
          <pc:sldMk cId="2909216296" sldId="324"/>
        </pc:sldMkLst>
      </pc:sldChg>
      <pc:sldChg chg="new del">
        <pc:chgData name="Michael Wegelin" userId="44f55030-522d-4388-8c84-12427b5d3861" providerId="ADAL" clId="{0C4B0DB6-929A-4816-82F8-C5CA7CCA52CE}" dt="2026-08-01T19:29:25.487" v="10454" actId="47"/>
        <pc:sldMkLst>
          <pc:docMk/>
          <pc:sldMk cId="391747608" sldId="325"/>
        </pc:sldMkLst>
      </pc:sldChg>
      <pc:sldChg chg="addSp modSp new mod modNotesTx">
        <pc:chgData name="Michael Wegelin" userId="44f55030-522d-4388-8c84-12427b5d3861" providerId="ADAL" clId="{0C4B0DB6-929A-4816-82F8-C5CA7CCA52CE}" dt="2026-08-01T19:35:27.269" v="10534" actId="13926"/>
        <pc:sldMkLst>
          <pc:docMk/>
          <pc:sldMk cId="3056736286" sldId="325"/>
        </pc:sldMkLst>
        <pc:spChg chg="mod">
          <ac:chgData name="Michael Wegelin" userId="44f55030-522d-4388-8c84-12427b5d3861" providerId="ADAL" clId="{0C4B0DB6-929A-4816-82F8-C5CA7CCA52CE}" dt="2026-08-01T19:32:00.499" v="10464"/>
          <ac:spMkLst>
            <pc:docMk/>
            <pc:sldMk cId="3056736286" sldId="325"/>
            <ac:spMk id="2" creationId="{57275B67-AC4E-980C-45FD-8556304DDCB2}"/>
          </ac:spMkLst>
        </pc:spChg>
        <pc:spChg chg="mod">
          <ac:chgData name="Michael Wegelin" userId="44f55030-522d-4388-8c84-12427b5d3861" providerId="ADAL" clId="{0C4B0DB6-929A-4816-82F8-C5CA7CCA52CE}" dt="2026-08-01T19:34:51.074" v="10527" actId="27636"/>
          <ac:spMkLst>
            <pc:docMk/>
            <pc:sldMk cId="3056736286" sldId="325"/>
            <ac:spMk id="3" creationId="{BC625217-B303-BC2F-9F63-014BD4FB7FFC}"/>
          </ac:spMkLst>
        </pc:spChg>
        <pc:spChg chg="add mod">
          <ac:chgData name="Michael Wegelin" userId="44f55030-522d-4388-8c84-12427b5d3861" providerId="ADAL" clId="{0C4B0DB6-929A-4816-82F8-C5CA7CCA52CE}" dt="2026-08-01T19:35:27.269" v="10534" actId="13926"/>
          <ac:spMkLst>
            <pc:docMk/>
            <pc:sldMk cId="3056736286" sldId="325"/>
            <ac:spMk id="5" creationId="{B6AFAC5E-BF20-6A33-510C-0F91E8621AB1}"/>
          </ac:spMkLst>
        </pc:spChg>
      </pc:sldChg>
      <pc:sldChg chg="modSp add del mod">
        <pc:chgData name="Michael Wegelin" userId="44f55030-522d-4388-8c84-12427b5d3861" providerId="ADAL" clId="{0C4B0DB6-929A-4816-82F8-C5CA7CCA52CE}" dt="2026-08-01T17:21:28.345" v="9129" actId="47"/>
        <pc:sldMkLst>
          <pc:docMk/>
          <pc:sldMk cId="4062687435" sldId="325"/>
        </pc:sldMkLst>
      </pc:sldChg>
      <pc:sldChg chg="addSp delSp modSp new mod modClrScheme chgLayout modNotesTx">
        <pc:chgData name="Michael Wegelin" userId="44f55030-522d-4388-8c84-12427b5d3861" providerId="ADAL" clId="{0C4B0DB6-929A-4816-82F8-C5CA7CCA52CE}" dt="2026-08-01T19:37:52.555" v="10551" actId="6549"/>
        <pc:sldMkLst>
          <pc:docMk/>
          <pc:sldMk cId="1061056418" sldId="326"/>
        </pc:sldMkLst>
        <pc:spChg chg="mod ord">
          <ac:chgData name="Michael Wegelin" userId="44f55030-522d-4388-8c84-12427b5d3861" providerId="ADAL" clId="{0C4B0DB6-929A-4816-82F8-C5CA7CCA52CE}" dt="2026-08-01T19:36:23.064" v="10540" actId="700"/>
          <ac:spMkLst>
            <pc:docMk/>
            <pc:sldMk cId="1061056418" sldId="326"/>
            <ac:spMk id="2" creationId="{4DC7CDAA-4357-43EC-6871-122AE015C81F}"/>
          </ac:spMkLst>
        </pc:spChg>
        <pc:spChg chg="del mod ord">
          <ac:chgData name="Michael Wegelin" userId="44f55030-522d-4388-8c84-12427b5d3861" providerId="ADAL" clId="{0C4B0DB6-929A-4816-82F8-C5CA7CCA52CE}" dt="2026-08-01T19:36:23.064" v="10540" actId="700"/>
          <ac:spMkLst>
            <pc:docMk/>
            <pc:sldMk cId="1061056418" sldId="326"/>
            <ac:spMk id="3" creationId="{7C10E872-68AF-F1BF-7ADF-9071AB428894}"/>
          </ac:spMkLst>
        </pc:spChg>
        <pc:spChg chg="add mod ord">
          <ac:chgData name="Michael Wegelin" userId="44f55030-522d-4388-8c84-12427b5d3861" providerId="ADAL" clId="{0C4B0DB6-929A-4816-82F8-C5CA7CCA52CE}" dt="2026-08-01T19:37:52.555" v="10551" actId="6549"/>
          <ac:spMkLst>
            <pc:docMk/>
            <pc:sldMk cId="1061056418" sldId="326"/>
            <ac:spMk id="4" creationId="{2E7D4C80-636A-C25D-B82C-727541B19EE7}"/>
          </ac:spMkLst>
        </pc:spChg>
        <pc:spChg chg="add mod ord">
          <ac:chgData name="Michael Wegelin" userId="44f55030-522d-4388-8c84-12427b5d3861" providerId="ADAL" clId="{0C4B0DB6-929A-4816-82F8-C5CA7CCA52CE}" dt="2026-08-01T19:37:40.747" v="10549" actId="14100"/>
          <ac:spMkLst>
            <pc:docMk/>
            <pc:sldMk cId="1061056418" sldId="326"/>
            <ac:spMk id="5" creationId="{6BB398F2-3C0C-AB80-2CC2-0D3699D17719}"/>
          </ac:spMkLst>
        </pc:spChg>
      </pc:sldChg>
      <pc:sldChg chg="addSp delSp modSp new del mod modClrScheme chgLayout modNotesTx">
        <pc:chgData name="Michael Wegelin" userId="44f55030-522d-4388-8c84-12427b5d3861" providerId="ADAL" clId="{0C4B0DB6-929A-4816-82F8-C5CA7CCA52CE}" dt="2026-08-01T17:21:28.345" v="9129" actId="47"/>
        <pc:sldMkLst>
          <pc:docMk/>
          <pc:sldMk cId="2898720239" sldId="326"/>
        </pc:sldMkLst>
      </pc:sldChg>
      <pc:sldChg chg="addSp delSp modSp new del mod modClrScheme chgLayout modNotesTx">
        <pc:chgData name="Michael Wegelin" userId="44f55030-522d-4388-8c84-12427b5d3861" providerId="ADAL" clId="{0C4B0DB6-929A-4816-82F8-C5CA7CCA52CE}" dt="2026-08-01T17:21:28.345" v="9129" actId="47"/>
        <pc:sldMkLst>
          <pc:docMk/>
          <pc:sldMk cId="567670923" sldId="327"/>
        </pc:sldMkLst>
      </pc:sldChg>
      <pc:sldChg chg="addSp delSp modSp new mod modNotesTx">
        <pc:chgData name="Michael Wegelin" userId="44f55030-522d-4388-8c84-12427b5d3861" providerId="ADAL" clId="{0C4B0DB6-929A-4816-82F8-C5CA7CCA52CE}" dt="2026-08-01T19:40:42.595" v="10578"/>
        <pc:sldMkLst>
          <pc:docMk/>
          <pc:sldMk cId="2425236672" sldId="327"/>
        </pc:sldMkLst>
        <pc:spChg chg="mod">
          <ac:chgData name="Michael Wegelin" userId="44f55030-522d-4388-8c84-12427b5d3861" providerId="ADAL" clId="{0C4B0DB6-929A-4816-82F8-C5CA7CCA52CE}" dt="2026-08-01T19:40:00.048" v="10572" actId="20577"/>
          <ac:spMkLst>
            <pc:docMk/>
            <pc:sldMk cId="2425236672" sldId="327"/>
            <ac:spMk id="2" creationId="{2CE2D75E-44EB-06E1-7E8C-6155491ECB81}"/>
          </ac:spMkLst>
        </pc:spChg>
        <pc:spChg chg="del">
          <ac:chgData name="Michael Wegelin" userId="44f55030-522d-4388-8c84-12427b5d3861" providerId="ADAL" clId="{0C4B0DB6-929A-4816-82F8-C5CA7CCA52CE}" dt="2026-08-01T19:39:16.324" v="10557" actId="3680"/>
          <ac:spMkLst>
            <pc:docMk/>
            <pc:sldMk cId="2425236672" sldId="327"/>
            <ac:spMk id="3" creationId="{46DB9AE1-9D9A-4BAC-613F-A482E7AC3011}"/>
          </ac:spMkLst>
        </pc:spChg>
        <pc:graphicFrameChg chg="add mod ord modGraphic">
          <ac:chgData name="Michael Wegelin" userId="44f55030-522d-4388-8c84-12427b5d3861" providerId="ADAL" clId="{0C4B0DB6-929A-4816-82F8-C5CA7CCA52CE}" dt="2026-08-01T19:40:42.595" v="10578"/>
          <ac:graphicFrameMkLst>
            <pc:docMk/>
            <pc:sldMk cId="2425236672" sldId="327"/>
            <ac:graphicFrameMk id="4" creationId="{EBC26723-47C5-1EF8-BDF8-5AAD54B63D46}"/>
          </ac:graphicFrameMkLst>
        </pc:graphicFrameChg>
      </pc:sldChg>
      <pc:sldChg chg="addSp delSp modSp new mod modNotesTx">
        <pc:chgData name="Michael Wegelin" userId="44f55030-522d-4388-8c84-12427b5d3861" providerId="ADAL" clId="{0C4B0DB6-929A-4816-82F8-C5CA7CCA52CE}" dt="2026-08-01T19:48:40.208" v="10589" actId="1076"/>
        <pc:sldMkLst>
          <pc:docMk/>
          <pc:sldMk cId="1702214743" sldId="328"/>
        </pc:sldMkLst>
        <pc:spChg chg="mod">
          <ac:chgData name="Michael Wegelin" userId="44f55030-522d-4388-8c84-12427b5d3861" providerId="ADAL" clId="{0C4B0DB6-929A-4816-82F8-C5CA7CCA52CE}" dt="2026-08-01T19:41:08.655" v="10579"/>
          <ac:spMkLst>
            <pc:docMk/>
            <pc:sldMk cId="1702214743" sldId="328"/>
            <ac:spMk id="2" creationId="{27A47547-D599-4926-043F-086F22D25020}"/>
          </ac:spMkLst>
        </pc:spChg>
        <pc:spChg chg="del">
          <ac:chgData name="Michael Wegelin" userId="44f55030-522d-4388-8c84-12427b5d3861" providerId="ADAL" clId="{0C4B0DB6-929A-4816-82F8-C5CA7CCA52CE}" dt="2026-08-01T19:47:21.871" v="10580" actId="22"/>
          <ac:spMkLst>
            <pc:docMk/>
            <pc:sldMk cId="1702214743" sldId="328"/>
            <ac:spMk id="3" creationId="{4BAB220B-1F49-99F9-C6E8-014A215EA0B0}"/>
          </ac:spMkLst>
        </pc:spChg>
        <pc:picChg chg="add mod ord">
          <ac:chgData name="Michael Wegelin" userId="44f55030-522d-4388-8c84-12427b5d3861" providerId="ADAL" clId="{0C4B0DB6-929A-4816-82F8-C5CA7CCA52CE}" dt="2026-08-01T19:48:40.208" v="10589" actId="1076"/>
          <ac:picMkLst>
            <pc:docMk/>
            <pc:sldMk cId="1702214743" sldId="328"/>
            <ac:picMk id="5" creationId="{DAFDD6E3-2F83-9949-F880-59C6889138C1}"/>
          </ac:picMkLst>
        </pc:picChg>
      </pc:sldChg>
      <pc:sldChg chg="addSp delSp modSp new del mod modClrScheme chgLayout modNotesTx">
        <pc:chgData name="Michael Wegelin" userId="44f55030-522d-4388-8c84-12427b5d3861" providerId="ADAL" clId="{0C4B0DB6-929A-4816-82F8-C5CA7CCA52CE}" dt="2026-08-01T17:21:28.345" v="9129" actId="47"/>
        <pc:sldMkLst>
          <pc:docMk/>
          <pc:sldMk cId="3095180939" sldId="328"/>
        </pc:sldMkLst>
      </pc:sldChg>
      <pc:sldChg chg="addSp delSp modSp new del mod modNotesTx">
        <pc:chgData name="Michael Wegelin" userId="44f55030-522d-4388-8c84-12427b5d3861" providerId="ADAL" clId="{0C4B0DB6-929A-4816-82F8-C5CA7CCA52CE}" dt="2026-08-01T17:21:28.345" v="9129" actId="47"/>
        <pc:sldMkLst>
          <pc:docMk/>
          <pc:sldMk cId="814477695" sldId="329"/>
        </pc:sldMkLst>
      </pc:sldChg>
      <pc:sldChg chg="modSp new mod modNotesTx">
        <pc:chgData name="Michael Wegelin" userId="44f55030-522d-4388-8c84-12427b5d3861" providerId="ADAL" clId="{0C4B0DB6-929A-4816-82F8-C5CA7CCA52CE}" dt="2026-08-01T19:51:40.238" v="10621" actId="2711"/>
        <pc:sldMkLst>
          <pc:docMk/>
          <pc:sldMk cId="1924473154" sldId="329"/>
        </pc:sldMkLst>
        <pc:spChg chg="mod">
          <ac:chgData name="Michael Wegelin" userId="44f55030-522d-4388-8c84-12427b5d3861" providerId="ADAL" clId="{0C4B0DB6-929A-4816-82F8-C5CA7CCA52CE}" dt="2026-08-01T19:48:46.971" v="10590"/>
          <ac:spMkLst>
            <pc:docMk/>
            <pc:sldMk cId="1924473154" sldId="329"/>
            <ac:spMk id="2" creationId="{BBD7EF4D-378D-BCC3-2E1D-F1B71EF35716}"/>
          </ac:spMkLst>
        </pc:spChg>
        <pc:spChg chg="mod">
          <ac:chgData name="Michael Wegelin" userId="44f55030-522d-4388-8c84-12427b5d3861" providerId="ADAL" clId="{0C4B0DB6-929A-4816-82F8-C5CA7CCA52CE}" dt="2026-08-01T19:51:40.238" v="10621" actId="2711"/>
          <ac:spMkLst>
            <pc:docMk/>
            <pc:sldMk cId="1924473154" sldId="329"/>
            <ac:spMk id="3" creationId="{19AC016E-87B9-3A16-FB20-248922BBE767}"/>
          </ac:spMkLst>
        </pc:spChg>
      </pc:sldChg>
      <pc:sldChg chg="modSp new mod modNotesTx">
        <pc:chgData name="Michael Wegelin" userId="44f55030-522d-4388-8c84-12427b5d3861" providerId="ADAL" clId="{0C4B0DB6-929A-4816-82F8-C5CA7CCA52CE}" dt="2026-08-01T19:53:54.941" v="10643" actId="2711"/>
        <pc:sldMkLst>
          <pc:docMk/>
          <pc:sldMk cId="496699501" sldId="330"/>
        </pc:sldMkLst>
        <pc:spChg chg="mod">
          <ac:chgData name="Michael Wegelin" userId="44f55030-522d-4388-8c84-12427b5d3861" providerId="ADAL" clId="{0C4B0DB6-929A-4816-82F8-C5CA7CCA52CE}" dt="2026-08-01T19:52:16.871" v="10623" actId="20577"/>
          <ac:spMkLst>
            <pc:docMk/>
            <pc:sldMk cId="496699501" sldId="330"/>
            <ac:spMk id="2" creationId="{D975ADF2-A75C-9991-BED2-E91DA9B90DCC}"/>
          </ac:spMkLst>
        </pc:spChg>
        <pc:spChg chg="mod">
          <ac:chgData name="Michael Wegelin" userId="44f55030-522d-4388-8c84-12427b5d3861" providerId="ADAL" clId="{0C4B0DB6-929A-4816-82F8-C5CA7CCA52CE}" dt="2026-08-01T19:53:54.941" v="10643" actId="2711"/>
          <ac:spMkLst>
            <pc:docMk/>
            <pc:sldMk cId="496699501" sldId="330"/>
            <ac:spMk id="3" creationId="{506EA0E3-881D-3D48-C4B8-7BD17BFA442E}"/>
          </ac:spMkLst>
        </pc:spChg>
      </pc:sldChg>
      <pc:sldChg chg="addSp delSp modSp new del mod modClrScheme chgLayout modNotesTx">
        <pc:chgData name="Michael Wegelin" userId="44f55030-522d-4388-8c84-12427b5d3861" providerId="ADAL" clId="{0C4B0DB6-929A-4816-82F8-C5CA7CCA52CE}" dt="2026-08-01T17:21:28.345" v="9129" actId="47"/>
        <pc:sldMkLst>
          <pc:docMk/>
          <pc:sldMk cId="3625680758" sldId="330"/>
        </pc:sldMkLst>
      </pc:sldChg>
      <pc:sldChg chg="addSp delSp modSp new del mod modNotesTx">
        <pc:chgData name="Michael Wegelin" userId="44f55030-522d-4388-8c84-12427b5d3861" providerId="ADAL" clId="{0C4B0DB6-929A-4816-82F8-C5CA7CCA52CE}" dt="2026-08-01T17:21:28.345" v="9129" actId="47"/>
        <pc:sldMkLst>
          <pc:docMk/>
          <pc:sldMk cId="3583392239" sldId="331"/>
        </pc:sldMkLst>
      </pc:sldChg>
      <pc:sldChg chg="addSp delSp modSp new mod modClrScheme chgLayout modNotesTx">
        <pc:chgData name="Michael Wegelin" userId="44f55030-522d-4388-8c84-12427b5d3861" providerId="ADAL" clId="{0C4B0DB6-929A-4816-82F8-C5CA7CCA52CE}" dt="2026-08-01T20:07:30.591" v="10702" actId="6549"/>
        <pc:sldMkLst>
          <pc:docMk/>
          <pc:sldMk cId="3624203023" sldId="331"/>
        </pc:sldMkLst>
        <pc:spChg chg="mod ord">
          <ac:chgData name="Michael Wegelin" userId="44f55030-522d-4388-8c84-12427b5d3861" providerId="ADAL" clId="{0C4B0DB6-929A-4816-82F8-C5CA7CCA52CE}" dt="2026-08-01T19:54:19.538" v="10645" actId="700"/>
          <ac:spMkLst>
            <pc:docMk/>
            <pc:sldMk cId="3624203023" sldId="331"/>
            <ac:spMk id="2" creationId="{E984D3A1-0680-718A-087C-DD7B3D9D88CB}"/>
          </ac:spMkLst>
        </pc:spChg>
        <pc:spChg chg="del mod ord">
          <ac:chgData name="Michael Wegelin" userId="44f55030-522d-4388-8c84-12427b5d3861" providerId="ADAL" clId="{0C4B0DB6-929A-4816-82F8-C5CA7CCA52CE}" dt="2026-08-01T19:54:19.538" v="10645" actId="700"/>
          <ac:spMkLst>
            <pc:docMk/>
            <pc:sldMk cId="3624203023" sldId="331"/>
            <ac:spMk id="3" creationId="{806C0121-41DC-CB50-1A79-E8291C5AF169}"/>
          </ac:spMkLst>
        </pc:spChg>
        <pc:spChg chg="add mod ord">
          <ac:chgData name="Michael Wegelin" userId="44f55030-522d-4388-8c84-12427b5d3861" providerId="ADAL" clId="{0C4B0DB6-929A-4816-82F8-C5CA7CCA52CE}" dt="2026-08-01T19:56:07.921" v="10672" actId="27636"/>
          <ac:spMkLst>
            <pc:docMk/>
            <pc:sldMk cId="3624203023" sldId="331"/>
            <ac:spMk id="4" creationId="{745FBF88-9456-FB47-8385-D9818ADD3C97}"/>
          </ac:spMkLst>
        </pc:spChg>
        <pc:spChg chg="add mod ord">
          <ac:chgData name="Michael Wegelin" userId="44f55030-522d-4388-8c84-12427b5d3861" providerId="ADAL" clId="{0C4B0DB6-929A-4816-82F8-C5CA7CCA52CE}" dt="2026-08-01T19:56:10.895" v="10675" actId="20577"/>
          <ac:spMkLst>
            <pc:docMk/>
            <pc:sldMk cId="3624203023" sldId="331"/>
            <ac:spMk id="5" creationId="{F0FCAA13-E027-49B6-1B6B-DF68C1929AF5}"/>
          </ac:spMkLst>
        </pc:spChg>
      </pc:sldChg>
      <pc:sldChg chg="addSp delSp modSp new del mod modClrScheme chgLayout">
        <pc:chgData name="Michael Wegelin" userId="44f55030-522d-4388-8c84-12427b5d3861" providerId="ADAL" clId="{0C4B0DB6-929A-4816-82F8-C5CA7CCA52CE}" dt="2026-08-01T17:21:28.345" v="9129" actId="47"/>
        <pc:sldMkLst>
          <pc:docMk/>
          <pc:sldMk cId="1851723347" sldId="332"/>
        </pc:sldMkLst>
      </pc:sldChg>
      <pc:sldChg chg="addSp delSp modSp new mod modClrScheme chgLayout modNotesTx">
        <pc:chgData name="Michael Wegelin" userId="44f55030-522d-4388-8c84-12427b5d3861" providerId="ADAL" clId="{0C4B0DB6-929A-4816-82F8-C5CA7CCA52CE}" dt="2026-08-01T19:58:41.121" v="10693" actId="22"/>
        <pc:sldMkLst>
          <pc:docMk/>
          <pc:sldMk cId="2806977590" sldId="332"/>
        </pc:sldMkLst>
        <pc:spChg chg="mod ord">
          <ac:chgData name="Michael Wegelin" userId="44f55030-522d-4388-8c84-12427b5d3861" providerId="ADAL" clId="{0C4B0DB6-929A-4816-82F8-C5CA7CCA52CE}" dt="2026-08-01T19:57:43.067" v="10684" actId="700"/>
          <ac:spMkLst>
            <pc:docMk/>
            <pc:sldMk cId="2806977590" sldId="332"/>
            <ac:spMk id="2" creationId="{B7A9B892-5E39-D941-9B0E-8CE28B6ACB33}"/>
          </ac:spMkLst>
        </pc:spChg>
        <pc:spChg chg="del mod ord">
          <ac:chgData name="Michael Wegelin" userId="44f55030-522d-4388-8c84-12427b5d3861" providerId="ADAL" clId="{0C4B0DB6-929A-4816-82F8-C5CA7CCA52CE}" dt="2026-08-01T19:57:43.067" v="10684" actId="700"/>
          <ac:spMkLst>
            <pc:docMk/>
            <pc:sldMk cId="2806977590" sldId="332"/>
            <ac:spMk id="3" creationId="{304433DF-D11B-8015-3DBA-5E3127367CED}"/>
          </ac:spMkLst>
        </pc:spChg>
        <pc:spChg chg="add del mod ord">
          <ac:chgData name="Michael Wegelin" userId="44f55030-522d-4388-8c84-12427b5d3861" providerId="ADAL" clId="{0C4B0DB6-929A-4816-82F8-C5CA7CCA52CE}" dt="2026-08-01T19:58:41.121" v="10693" actId="22"/>
          <ac:spMkLst>
            <pc:docMk/>
            <pc:sldMk cId="2806977590" sldId="332"/>
            <ac:spMk id="4" creationId="{748B3093-C2B3-07E1-D187-2B2B502BF9A6}"/>
          </ac:spMkLst>
        </pc:spChg>
        <pc:spChg chg="add mod ord">
          <ac:chgData name="Michael Wegelin" userId="44f55030-522d-4388-8c84-12427b5d3861" providerId="ADAL" clId="{0C4B0DB6-929A-4816-82F8-C5CA7CCA52CE}" dt="2026-08-01T19:57:54.388" v="10688" actId="5793"/>
          <ac:spMkLst>
            <pc:docMk/>
            <pc:sldMk cId="2806977590" sldId="332"/>
            <ac:spMk id="5" creationId="{7DD1F9BA-5BB2-43BB-C7F9-0B8CC668CD09}"/>
          </ac:spMkLst>
        </pc:spChg>
        <pc:picChg chg="add del mod ord">
          <ac:chgData name="Michael Wegelin" userId="44f55030-522d-4388-8c84-12427b5d3861" providerId="ADAL" clId="{0C4B0DB6-929A-4816-82F8-C5CA7CCA52CE}" dt="2026-08-01T19:58:17.627" v="10690" actId="22"/>
          <ac:picMkLst>
            <pc:docMk/>
            <pc:sldMk cId="2806977590" sldId="332"/>
            <ac:picMk id="7" creationId="{D265E850-3067-5AB1-3B52-64B826864CCB}"/>
          </ac:picMkLst>
        </pc:picChg>
        <pc:picChg chg="add del mod ord">
          <ac:chgData name="Michael Wegelin" userId="44f55030-522d-4388-8c84-12427b5d3861" providerId="ADAL" clId="{0C4B0DB6-929A-4816-82F8-C5CA7CCA52CE}" dt="2026-08-01T19:58:30.255" v="10692" actId="22"/>
          <ac:picMkLst>
            <pc:docMk/>
            <pc:sldMk cId="2806977590" sldId="332"/>
            <ac:picMk id="9" creationId="{1852D543-F97F-5D6D-AFC0-BBD57FAF4A4C}"/>
          </ac:picMkLst>
        </pc:picChg>
        <pc:picChg chg="add mod ord">
          <ac:chgData name="Michael Wegelin" userId="44f55030-522d-4388-8c84-12427b5d3861" providerId="ADAL" clId="{0C4B0DB6-929A-4816-82F8-C5CA7CCA52CE}" dt="2026-08-01T19:58:41.121" v="10693" actId="22"/>
          <ac:picMkLst>
            <pc:docMk/>
            <pc:sldMk cId="2806977590" sldId="332"/>
            <ac:picMk id="11" creationId="{53848E1C-7D83-D549-E60B-14A48B2A7433}"/>
          </ac:picMkLst>
        </pc:picChg>
      </pc:sldChg>
      <pc:sldChg chg="modSp new mod modNotesTx">
        <pc:chgData name="Michael Wegelin" userId="44f55030-522d-4388-8c84-12427b5d3861" providerId="ADAL" clId="{0C4B0DB6-929A-4816-82F8-C5CA7CCA52CE}" dt="2026-08-01T20:14:42.945" v="10753" actId="20577"/>
        <pc:sldMkLst>
          <pc:docMk/>
          <pc:sldMk cId="26745810" sldId="333"/>
        </pc:sldMkLst>
        <pc:spChg chg="mod">
          <ac:chgData name="Michael Wegelin" userId="44f55030-522d-4388-8c84-12427b5d3861" providerId="ADAL" clId="{0C4B0DB6-929A-4816-82F8-C5CA7CCA52CE}" dt="2026-08-01T20:13:00.090" v="10713"/>
          <ac:spMkLst>
            <pc:docMk/>
            <pc:sldMk cId="26745810" sldId="333"/>
            <ac:spMk id="2" creationId="{09E5BA42-F76F-9C07-4922-DE1C862303BC}"/>
          </ac:spMkLst>
        </pc:spChg>
        <pc:spChg chg="mod">
          <ac:chgData name="Michael Wegelin" userId="44f55030-522d-4388-8c84-12427b5d3861" providerId="ADAL" clId="{0C4B0DB6-929A-4816-82F8-C5CA7CCA52CE}" dt="2026-08-01T20:14:42.945" v="10753" actId="20577"/>
          <ac:spMkLst>
            <pc:docMk/>
            <pc:sldMk cId="26745810" sldId="333"/>
            <ac:spMk id="3" creationId="{0E740861-1A0A-C963-1993-A3DB40AEF1B1}"/>
          </ac:spMkLst>
        </pc:spChg>
        <pc:spChg chg="mod">
          <ac:chgData name="Michael Wegelin" userId="44f55030-522d-4388-8c84-12427b5d3861" providerId="ADAL" clId="{0C4B0DB6-929A-4816-82F8-C5CA7CCA52CE}" dt="2026-08-01T20:14:40.644" v="10745" actId="27636"/>
          <ac:spMkLst>
            <pc:docMk/>
            <pc:sldMk cId="26745810" sldId="333"/>
            <ac:spMk id="4" creationId="{52E43F70-22B0-F820-ACF1-9BF3794A31BB}"/>
          </ac:spMkLst>
        </pc:spChg>
      </pc:sldChg>
      <pc:sldChg chg="new del">
        <pc:chgData name="Michael Wegelin" userId="44f55030-522d-4388-8c84-12427b5d3861" providerId="ADAL" clId="{0C4B0DB6-929A-4816-82F8-C5CA7CCA52CE}" dt="2026-08-01T19:58:52.905" v="10694" actId="47"/>
        <pc:sldMkLst>
          <pc:docMk/>
          <pc:sldMk cId="655602973" sldId="333"/>
        </pc:sldMkLst>
      </pc:sldChg>
      <pc:sldChg chg="modSp new del mod">
        <pc:chgData name="Michael Wegelin" userId="44f55030-522d-4388-8c84-12427b5d3861" providerId="ADAL" clId="{0C4B0DB6-929A-4816-82F8-C5CA7CCA52CE}" dt="2026-08-01T17:21:28.345" v="9129" actId="47"/>
        <pc:sldMkLst>
          <pc:docMk/>
          <pc:sldMk cId="3897287336" sldId="333"/>
        </pc:sldMkLst>
      </pc:sldChg>
      <pc:sldChg chg="addSp delSp modSp new mod modClrScheme chgLayout modNotesTx">
        <pc:chgData name="Michael Wegelin" userId="44f55030-522d-4388-8c84-12427b5d3861" providerId="ADAL" clId="{0C4B0DB6-929A-4816-82F8-C5CA7CCA52CE}" dt="2026-08-01T20:17:27.606" v="10772" actId="2711"/>
        <pc:sldMkLst>
          <pc:docMk/>
          <pc:sldMk cId="362061278" sldId="334"/>
        </pc:sldMkLst>
        <pc:spChg chg="mod ord">
          <ac:chgData name="Michael Wegelin" userId="44f55030-522d-4388-8c84-12427b5d3861" providerId="ADAL" clId="{0C4B0DB6-929A-4816-82F8-C5CA7CCA52CE}" dt="2026-08-01T20:15:59.855" v="10759" actId="700"/>
          <ac:spMkLst>
            <pc:docMk/>
            <pc:sldMk cId="362061278" sldId="334"/>
            <ac:spMk id="2" creationId="{27637D4A-7EB5-0483-6893-C667DFEF0251}"/>
          </ac:spMkLst>
        </pc:spChg>
        <pc:spChg chg="del mod ord">
          <ac:chgData name="Michael Wegelin" userId="44f55030-522d-4388-8c84-12427b5d3861" providerId="ADAL" clId="{0C4B0DB6-929A-4816-82F8-C5CA7CCA52CE}" dt="2026-08-01T20:15:59.855" v="10759" actId="700"/>
          <ac:spMkLst>
            <pc:docMk/>
            <pc:sldMk cId="362061278" sldId="334"/>
            <ac:spMk id="3" creationId="{D241340E-3B86-C8F8-1247-F1E3B19CFD75}"/>
          </ac:spMkLst>
        </pc:spChg>
        <pc:spChg chg="del">
          <ac:chgData name="Michael Wegelin" userId="44f55030-522d-4388-8c84-12427b5d3861" providerId="ADAL" clId="{0C4B0DB6-929A-4816-82F8-C5CA7CCA52CE}" dt="2026-08-01T20:15:59.855" v="10759" actId="700"/>
          <ac:spMkLst>
            <pc:docMk/>
            <pc:sldMk cId="362061278" sldId="334"/>
            <ac:spMk id="4" creationId="{F9FE678C-9531-BD1D-1FE2-22835EE1F271}"/>
          </ac:spMkLst>
        </pc:spChg>
        <pc:spChg chg="add del mod ord">
          <ac:chgData name="Michael Wegelin" userId="44f55030-522d-4388-8c84-12427b5d3861" providerId="ADAL" clId="{0C4B0DB6-929A-4816-82F8-C5CA7CCA52CE}" dt="2026-08-01T20:16:11.743" v="10760" actId="3680"/>
          <ac:spMkLst>
            <pc:docMk/>
            <pc:sldMk cId="362061278" sldId="334"/>
            <ac:spMk id="5" creationId="{12AA61BC-D28C-E8CF-4D4A-369B2B4921F9}"/>
          </ac:spMkLst>
        </pc:spChg>
        <pc:graphicFrameChg chg="add mod ord modGraphic">
          <ac:chgData name="Michael Wegelin" userId="44f55030-522d-4388-8c84-12427b5d3861" providerId="ADAL" clId="{0C4B0DB6-929A-4816-82F8-C5CA7CCA52CE}" dt="2026-08-01T20:17:27.606" v="10772" actId="2711"/>
          <ac:graphicFrameMkLst>
            <pc:docMk/>
            <pc:sldMk cId="362061278" sldId="334"/>
            <ac:graphicFrameMk id="6" creationId="{0BC80BF9-6F35-C3C9-EB96-A871CE6E7617}"/>
          </ac:graphicFrameMkLst>
        </pc:graphicFrameChg>
      </pc:sldChg>
      <pc:sldChg chg="addSp delSp modSp new del mod">
        <pc:chgData name="Michael Wegelin" userId="44f55030-522d-4388-8c84-12427b5d3861" providerId="ADAL" clId="{0C4B0DB6-929A-4816-82F8-C5CA7CCA52CE}" dt="2026-08-01T17:21:28.345" v="9129" actId="47"/>
        <pc:sldMkLst>
          <pc:docMk/>
          <pc:sldMk cId="1442612127" sldId="334"/>
        </pc:sldMkLst>
      </pc:sldChg>
      <pc:sldChg chg="addSp delSp modSp new del mod">
        <pc:chgData name="Michael Wegelin" userId="44f55030-522d-4388-8c84-12427b5d3861" providerId="ADAL" clId="{0C4B0DB6-929A-4816-82F8-C5CA7CCA52CE}" dt="2026-08-01T17:21:28.345" v="9129" actId="47"/>
        <pc:sldMkLst>
          <pc:docMk/>
          <pc:sldMk cId="2281398434" sldId="335"/>
        </pc:sldMkLst>
      </pc:sldChg>
      <pc:sldChg chg="addSp delSp modSp new mod modClrScheme chgLayout modNotesTx">
        <pc:chgData name="Michael Wegelin" userId="44f55030-522d-4388-8c84-12427b5d3861" providerId="ADAL" clId="{0C4B0DB6-929A-4816-82F8-C5CA7CCA52CE}" dt="2026-08-01T20:19:41.125" v="10822" actId="20577"/>
        <pc:sldMkLst>
          <pc:docMk/>
          <pc:sldMk cId="2552200460" sldId="335"/>
        </pc:sldMkLst>
        <pc:spChg chg="mod ord">
          <ac:chgData name="Michael Wegelin" userId="44f55030-522d-4388-8c84-12427b5d3861" providerId="ADAL" clId="{0C4B0DB6-929A-4816-82F8-C5CA7CCA52CE}" dt="2026-08-01T20:18:34.088" v="10779" actId="700"/>
          <ac:spMkLst>
            <pc:docMk/>
            <pc:sldMk cId="2552200460" sldId="335"/>
            <ac:spMk id="2" creationId="{A5E3988D-90D0-11B9-1AE9-B2221410FF1D}"/>
          </ac:spMkLst>
        </pc:spChg>
        <pc:spChg chg="del mod ord">
          <ac:chgData name="Michael Wegelin" userId="44f55030-522d-4388-8c84-12427b5d3861" providerId="ADAL" clId="{0C4B0DB6-929A-4816-82F8-C5CA7CCA52CE}" dt="2026-08-01T20:18:34.088" v="10779" actId="700"/>
          <ac:spMkLst>
            <pc:docMk/>
            <pc:sldMk cId="2552200460" sldId="335"/>
            <ac:spMk id="3" creationId="{4D998481-2530-081E-0C05-96A0D7E85150}"/>
          </ac:spMkLst>
        </pc:spChg>
        <pc:spChg chg="del">
          <ac:chgData name="Michael Wegelin" userId="44f55030-522d-4388-8c84-12427b5d3861" providerId="ADAL" clId="{0C4B0DB6-929A-4816-82F8-C5CA7CCA52CE}" dt="2026-08-01T20:18:34.088" v="10779" actId="700"/>
          <ac:spMkLst>
            <pc:docMk/>
            <pc:sldMk cId="2552200460" sldId="335"/>
            <ac:spMk id="4" creationId="{2D7B4F21-721C-17F3-9C52-082EFB5D062C}"/>
          </ac:spMkLst>
        </pc:spChg>
        <pc:spChg chg="add mod ord">
          <ac:chgData name="Michael Wegelin" userId="44f55030-522d-4388-8c84-12427b5d3861" providerId="ADAL" clId="{0C4B0DB6-929A-4816-82F8-C5CA7CCA52CE}" dt="2026-08-01T20:19:41.125" v="10822" actId="20577"/>
          <ac:spMkLst>
            <pc:docMk/>
            <pc:sldMk cId="2552200460" sldId="335"/>
            <ac:spMk id="5" creationId="{2701D090-1451-B9AB-AD02-479A0D79DE50}"/>
          </ac:spMkLst>
        </pc:spChg>
      </pc:sldChg>
      <pc:sldChg chg="modSp new mod modNotesTx">
        <pc:chgData name="Michael Wegelin" userId="44f55030-522d-4388-8c84-12427b5d3861" providerId="ADAL" clId="{0C4B0DB6-929A-4816-82F8-C5CA7CCA52CE}" dt="2026-08-01T20:23:47.857" v="10933" actId="20577"/>
        <pc:sldMkLst>
          <pc:docMk/>
          <pc:sldMk cId="242195655" sldId="336"/>
        </pc:sldMkLst>
        <pc:spChg chg="mod">
          <ac:chgData name="Michael Wegelin" userId="44f55030-522d-4388-8c84-12427b5d3861" providerId="ADAL" clId="{0C4B0DB6-929A-4816-82F8-C5CA7CCA52CE}" dt="2026-08-01T20:20:17.431" v="10823"/>
          <ac:spMkLst>
            <pc:docMk/>
            <pc:sldMk cId="242195655" sldId="336"/>
            <ac:spMk id="2" creationId="{B1F08B32-5923-4D86-856E-7C916E480848}"/>
          </ac:spMkLst>
        </pc:spChg>
        <pc:spChg chg="mod">
          <ac:chgData name="Michael Wegelin" userId="44f55030-522d-4388-8c84-12427b5d3861" providerId="ADAL" clId="{0C4B0DB6-929A-4816-82F8-C5CA7CCA52CE}" dt="2026-08-01T20:22:12.722" v="10863" actId="20577"/>
          <ac:spMkLst>
            <pc:docMk/>
            <pc:sldMk cId="242195655" sldId="336"/>
            <ac:spMk id="3" creationId="{E28AB40B-0733-1122-4E41-704BB7B366DD}"/>
          </ac:spMkLst>
        </pc:spChg>
        <pc:spChg chg="mod">
          <ac:chgData name="Michael Wegelin" userId="44f55030-522d-4388-8c84-12427b5d3861" providerId="ADAL" clId="{0C4B0DB6-929A-4816-82F8-C5CA7CCA52CE}" dt="2026-08-01T20:23:47.857" v="10933" actId="20577"/>
          <ac:spMkLst>
            <pc:docMk/>
            <pc:sldMk cId="242195655" sldId="336"/>
            <ac:spMk id="4" creationId="{4F6B4822-D136-86D9-5702-B4D3C0E76C1A}"/>
          </ac:spMkLst>
        </pc:spChg>
      </pc:sldChg>
      <pc:sldChg chg="addSp delSp modSp new del mod">
        <pc:chgData name="Michael Wegelin" userId="44f55030-522d-4388-8c84-12427b5d3861" providerId="ADAL" clId="{0C4B0DB6-929A-4816-82F8-C5CA7CCA52CE}" dt="2026-08-01T17:21:28.345" v="9129" actId="47"/>
        <pc:sldMkLst>
          <pc:docMk/>
          <pc:sldMk cId="3673402823" sldId="336"/>
        </pc:sldMkLst>
      </pc:sldChg>
      <pc:sldChg chg="delSp modSp new mod modClrScheme chgLayout modNotesTx">
        <pc:chgData name="Michael Wegelin" userId="44f55030-522d-4388-8c84-12427b5d3861" providerId="ADAL" clId="{0C4B0DB6-929A-4816-82F8-C5CA7CCA52CE}" dt="2026-08-01T20:26:04.575" v="10988" actId="20577"/>
        <pc:sldMkLst>
          <pc:docMk/>
          <pc:sldMk cId="2412011783" sldId="337"/>
        </pc:sldMkLst>
        <pc:spChg chg="mod ord">
          <ac:chgData name="Michael Wegelin" userId="44f55030-522d-4388-8c84-12427b5d3861" providerId="ADAL" clId="{0C4B0DB6-929A-4816-82F8-C5CA7CCA52CE}" dt="2026-08-01T20:25:26.106" v="10943" actId="700"/>
          <ac:spMkLst>
            <pc:docMk/>
            <pc:sldMk cId="2412011783" sldId="337"/>
            <ac:spMk id="2" creationId="{6BE707B9-E11C-AB59-F8D3-EF02441B3EA4}"/>
          </ac:spMkLst>
        </pc:spChg>
        <pc:spChg chg="mod ord">
          <ac:chgData name="Michael Wegelin" userId="44f55030-522d-4388-8c84-12427b5d3861" providerId="ADAL" clId="{0C4B0DB6-929A-4816-82F8-C5CA7CCA52CE}" dt="2026-08-01T20:26:04.575" v="10988" actId="20577"/>
          <ac:spMkLst>
            <pc:docMk/>
            <pc:sldMk cId="2412011783" sldId="337"/>
            <ac:spMk id="3" creationId="{A3B56729-F884-856A-79BD-4FD3A772FC91}"/>
          </ac:spMkLst>
        </pc:spChg>
        <pc:spChg chg="del">
          <ac:chgData name="Michael Wegelin" userId="44f55030-522d-4388-8c84-12427b5d3861" providerId="ADAL" clId="{0C4B0DB6-929A-4816-82F8-C5CA7CCA52CE}" dt="2026-08-01T20:25:26.106" v="10943" actId="700"/>
          <ac:spMkLst>
            <pc:docMk/>
            <pc:sldMk cId="2412011783" sldId="337"/>
            <ac:spMk id="4" creationId="{A92B1D8B-D9AE-9251-D470-6E23567F20E8}"/>
          </ac:spMkLst>
        </pc:spChg>
      </pc:sldChg>
      <pc:sldChg chg="addSp delSp modSp new del mod modClrScheme chgLayout modNotesTx">
        <pc:chgData name="Michael Wegelin" userId="44f55030-522d-4388-8c84-12427b5d3861" providerId="ADAL" clId="{0C4B0DB6-929A-4816-82F8-C5CA7CCA52CE}" dt="2026-08-01T17:21:28.345" v="9129" actId="47"/>
        <pc:sldMkLst>
          <pc:docMk/>
          <pc:sldMk cId="3472441082" sldId="337"/>
        </pc:sldMkLst>
      </pc:sldChg>
      <pc:sldChg chg="addSp delSp modSp new del mod modNotesTx">
        <pc:chgData name="Michael Wegelin" userId="44f55030-522d-4388-8c84-12427b5d3861" providerId="ADAL" clId="{0C4B0DB6-929A-4816-82F8-C5CA7CCA52CE}" dt="2026-08-01T17:21:28.345" v="9129" actId="47"/>
        <pc:sldMkLst>
          <pc:docMk/>
          <pc:sldMk cId="1521123073" sldId="338"/>
        </pc:sldMkLst>
      </pc:sldChg>
      <pc:sldChg chg="modSp new mod modNotesTx">
        <pc:chgData name="Michael Wegelin" userId="44f55030-522d-4388-8c84-12427b5d3861" providerId="ADAL" clId="{0C4B0DB6-929A-4816-82F8-C5CA7CCA52CE}" dt="2026-08-01T20:29:55.815" v="11094" actId="20577"/>
        <pc:sldMkLst>
          <pc:docMk/>
          <pc:sldMk cId="4167221087" sldId="338"/>
        </pc:sldMkLst>
        <pc:spChg chg="mod">
          <ac:chgData name="Michael Wegelin" userId="44f55030-522d-4388-8c84-12427b5d3861" providerId="ADAL" clId="{0C4B0DB6-929A-4816-82F8-C5CA7CCA52CE}" dt="2026-08-01T20:26:45.132" v="10989"/>
          <ac:spMkLst>
            <pc:docMk/>
            <pc:sldMk cId="4167221087" sldId="338"/>
            <ac:spMk id="2" creationId="{C8BD3785-A9EF-BE37-06C2-BC003D12E317}"/>
          </ac:spMkLst>
        </pc:spChg>
        <pc:spChg chg="mod">
          <ac:chgData name="Michael Wegelin" userId="44f55030-522d-4388-8c84-12427b5d3861" providerId="ADAL" clId="{0C4B0DB6-929A-4816-82F8-C5CA7CCA52CE}" dt="2026-08-01T20:28:15.209" v="11029" actId="20577"/>
          <ac:spMkLst>
            <pc:docMk/>
            <pc:sldMk cId="4167221087" sldId="338"/>
            <ac:spMk id="3" creationId="{7AFE551F-902F-3514-37EF-4CEF8A171F55}"/>
          </ac:spMkLst>
        </pc:spChg>
        <pc:spChg chg="mod">
          <ac:chgData name="Michael Wegelin" userId="44f55030-522d-4388-8c84-12427b5d3861" providerId="ADAL" clId="{0C4B0DB6-929A-4816-82F8-C5CA7CCA52CE}" dt="2026-08-01T20:29:55.815" v="11094" actId="20577"/>
          <ac:spMkLst>
            <pc:docMk/>
            <pc:sldMk cId="4167221087" sldId="338"/>
            <ac:spMk id="4" creationId="{AD6D8598-4EA0-EFDA-2C4E-EDE8813BC21B}"/>
          </ac:spMkLst>
        </pc:spChg>
      </pc:sldChg>
      <pc:sldChg chg="addSp delSp modSp new mod modClrScheme chgLayout modNotesTx">
        <pc:chgData name="Michael Wegelin" userId="44f55030-522d-4388-8c84-12427b5d3861" providerId="ADAL" clId="{0C4B0DB6-929A-4816-82F8-C5CA7CCA52CE}" dt="2026-08-01T20:45:31.290" v="11166" actId="20577"/>
        <pc:sldMkLst>
          <pc:docMk/>
          <pc:sldMk cId="642762028" sldId="339"/>
        </pc:sldMkLst>
        <pc:spChg chg="mod ord">
          <ac:chgData name="Michael Wegelin" userId="44f55030-522d-4388-8c84-12427b5d3861" providerId="ADAL" clId="{0C4B0DB6-929A-4816-82F8-C5CA7CCA52CE}" dt="2026-08-01T20:30:59.403" v="11099" actId="700"/>
          <ac:spMkLst>
            <pc:docMk/>
            <pc:sldMk cId="642762028" sldId="339"/>
            <ac:spMk id="2" creationId="{D57337B9-EDC7-66AC-B164-4EF455A070E3}"/>
          </ac:spMkLst>
        </pc:spChg>
        <pc:spChg chg="del mod ord">
          <ac:chgData name="Michael Wegelin" userId="44f55030-522d-4388-8c84-12427b5d3861" providerId="ADAL" clId="{0C4B0DB6-929A-4816-82F8-C5CA7CCA52CE}" dt="2026-08-01T20:30:59.403" v="11099" actId="700"/>
          <ac:spMkLst>
            <pc:docMk/>
            <pc:sldMk cId="642762028" sldId="339"/>
            <ac:spMk id="3" creationId="{D84ED14D-9CF9-BE56-854D-4D9322191419}"/>
          </ac:spMkLst>
        </pc:spChg>
        <pc:spChg chg="del">
          <ac:chgData name="Michael Wegelin" userId="44f55030-522d-4388-8c84-12427b5d3861" providerId="ADAL" clId="{0C4B0DB6-929A-4816-82F8-C5CA7CCA52CE}" dt="2026-08-01T20:30:59.403" v="11099" actId="700"/>
          <ac:spMkLst>
            <pc:docMk/>
            <pc:sldMk cId="642762028" sldId="339"/>
            <ac:spMk id="4" creationId="{1E7A423C-9051-30D2-AA19-47A61445FC06}"/>
          </ac:spMkLst>
        </pc:spChg>
        <pc:spChg chg="add mod ord">
          <ac:chgData name="Michael Wegelin" userId="44f55030-522d-4388-8c84-12427b5d3861" providerId="ADAL" clId="{0C4B0DB6-929A-4816-82F8-C5CA7CCA52CE}" dt="2026-08-01T20:31:48.705" v="11114" actId="2711"/>
          <ac:spMkLst>
            <pc:docMk/>
            <pc:sldMk cId="642762028" sldId="339"/>
            <ac:spMk id="5" creationId="{3D3B9901-D527-AA9A-EF33-40649A8F34F1}"/>
          </ac:spMkLst>
        </pc:spChg>
      </pc:sldChg>
      <pc:sldChg chg="addSp delSp modSp new del mod modNotesTx">
        <pc:chgData name="Michael Wegelin" userId="44f55030-522d-4388-8c84-12427b5d3861" providerId="ADAL" clId="{0C4B0DB6-929A-4816-82F8-C5CA7CCA52CE}" dt="2026-08-01T17:21:28.345" v="9129" actId="47"/>
        <pc:sldMkLst>
          <pc:docMk/>
          <pc:sldMk cId="1998687934" sldId="339"/>
        </pc:sldMkLst>
      </pc:sldChg>
      <pc:sldChg chg="addSp delSp modSp new del mod modClrScheme chgLayout modNotesTx">
        <pc:chgData name="Michael Wegelin" userId="44f55030-522d-4388-8c84-12427b5d3861" providerId="ADAL" clId="{0C4B0DB6-929A-4816-82F8-C5CA7CCA52CE}" dt="2026-08-01T17:21:28.345" v="9129" actId="47"/>
        <pc:sldMkLst>
          <pc:docMk/>
          <pc:sldMk cId="863162445" sldId="340"/>
        </pc:sldMkLst>
      </pc:sldChg>
      <pc:sldChg chg="addSp delSp modSp new mod modClrScheme chgLayout modNotesTx">
        <pc:chgData name="Michael Wegelin" userId="44f55030-522d-4388-8c84-12427b5d3861" providerId="ADAL" clId="{0C4B0DB6-929A-4816-82F8-C5CA7CCA52CE}" dt="2026-08-01T20:38:05.241" v="11122" actId="5793"/>
        <pc:sldMkLst>
          <pc:docMk/>
          <pc:sldMk cId="2783509770" sldId="340"/>
        </pc:sldMkLst>
        <pc:spChg chg="mod ord">
          <ac:chgData name="Michael Wegelin" userId="44f55030-522d-4388-8c84-12427b5d3861" providerId="ADAL" clId="{0C4B0DB6-929A-4816-82F8-C5CA7CCA52CE}" dt="2026-08-01T20:38:00.454" v="11120" actId="700"/>
          <ac:spMkLst>
            <pc:docMk/>
            <pc:sldMk cId="2783509770" sldId="340"/>
            <ac:spMk id="2" creationId="{DE8089EC-E59F-2CA0-C492-E19F7B2DF9CD}"/>
          </ac:spMkLst>
        </pc:spChg>
        <pc:spChg chg="del mod ord">
          <ac:chgData name="Michael Wegelin" userId="44f55030-522d-4388-8c84-12427b5d3861" providerId="ADAL" clId="{0C4B0DB6-929A-4816-82F8-C5CA7CCA52CE}" dt="2026-08-01T20:38:00.454" v="11120" actId="700"/>
          <ac:spMkLst>
            <pc:docMk/>
            <pc:sldMk cId="2783509770" sldId="340"/>
            <ac:spMk id="3" creationId="{DFD7679E-A4D7-DEE0-AB3C-B7C76E9BB11B}"/>
          </ac:spMkLst>
        </pc:spChg>
        <pc:spChg chg="del">
          <ac:chgData name="Michael Wegelin" userId="44f55030-522d-4388-8c84-12427b5d3861" providerId="ADAL" clId="{0C4B0DB6-929A-4816-82F8-C5CA7CCA52CE}" dt="2026-08-01T20:38:00.454" v="11120" actId="700"/>
          <ac:spMkLst>
            <pc:docMk/>
            <pc:sldMk cId="2783509770" sldId="340"/>
            <ac:spMk id="4" creationId="{2181552B-E6AE-7155-6507-76058739A0AD}"/>
          </ac:spMkLst>
        </pc:spChg>
        <pc:spChg chg="add mod ord">
          <ac:chgData name="Michael Wegelin" userId="44f55030-522d-4388-8c84-12427b5d3861" providerId="ADAL" clId="{0C4B0DB6-929A-4816-82F8-C5CA7CCA52CE}" dt="2026-08-01T20:38:05.241" v="11122" actId="5793"/>
          <ac:spMkLst>
            <pc:docMk/>
            <pc:sldMk cId="2783509770" sldId="340"/>
            <ac:spMk id="5" creationId="{D0E12C2B-2F64-F86E-5CEB-4185E6682C53}"/>
          </ac:spMkLst>
        </pc:spChg>
      </pc:sldChg>
      <pc:sldChg chg="addSp delSp modSp new mod modClrScheme chgLayout modNotesTx">
        <pc:chgData name="Michael Wegelin" userId="44f55030-522d-4388-8c84-12427b5d3861" providerId="ADAL" clId="{0C4B0DB6-929A-4816-82F8-C5CA7CCA52CE}" dt="2026-08-02T08:37:03.800" v="12688" actId="22"/>
        <pc:sldMkLst>
          <pc:docMk/>
          <pc:sldMk cId="993787136" sldId="341"/>
        </pc:sldMkLst>
        <pc:spChg chg="mod ord">
          <ac:chgData name="Michael Wegelin" userId="44f55030-522d-4388-8c84-12427b5d3861" providerId="ADAL" clId="{0C4B0DB6-929A-4816-82F8-C5CA7CCA52CE}" dt="2026-08-02T08:36:01.958" v="12686" actId="700"/>
          <ac:spMkLst>
            <pc:docMk/>
            <pc:sldMk cId="993787136" sldId="341"/>
            <ac:spMk id="2" creationId="{FFC96C06-1755-2C19-B287-314D8C87D4F5}"/>
          </ac:spMkLst>
        </pc:spChg>
        <pc:spChg chg="del mod ord">
          <ac:chgData name="Michael Wegelin" userId="44f55030-522d-4388-8c84-12427b5d3861" providerId="ADAL" clId="{0C4B0DB6-929A-4816-82F8-C5CA7CCA52CE}" dt="2026-08-02T08:36:01.958" v="12686" actId="700"/>
          <ac:spMkLst>
            <pc:docMk/>
            <pc:sldMk cId="993787136" sldId="341"/>
            <ac:spMk id="3" creationId="{8DCAA46B-D158-48B7-7E2E-6679743D218A}"/>
          </ac:spMkLst>
        </pc:spChg>
        <pc:spChg chg="add del mod ord">
          <ac:chgData name="Michael Wegelin" userId="44f55030-522d-4388-8c84-12427b5d3861" providerId="ADAL" clId="{0C4B0DB6-929A-4816-82F8-C5CA7CCA52CE}" dt="2026-08-02T08:36:05.191" v="12687" actId="22"/>
          <ac:spMkLst>
            <pc:docMk/>
            <pc:sldMk cId="993787136" sldId="341"/>
            <ac:spMk id="4" creationId="{E2A07114-32AF-16D3-4E9F-30D5F66F70EE}"/>
          </ac:spMkLst>
        </pc:spChg>
        <pc:spChg chg="add del mod ord">
          <ac:chgData name="Michael Wegelin" userId="44f55030-522d-4388-8c84-12427b5d3861" providerId="ADAL" clId="{0C4B0DB6-929A-4816-82F8-C5CA7CCA52CE}" dt="2026-08-02T08:37:03.800" v="12688" actId="22"/>
          <ac:spMkLst>
            <pc:docMk/>
            <pc:sldMk cId="993787136" sldId="341"/>
            <ac:spMk id="5" creationId="{9E06B356-BCA9-7670-649E-53DC2918BE26}"/>
          </ac:spMkLst>
        </pc:spChg>
        <pc:picChg chg="add mod ord">
          <ac:chgData name="Michael Wegelin" userId="44f55030-522d-4388-8c84-12427b5d3861" providerId="ADAL" clId="{0C4B0DB6-929A-4816-82F8-C5CA7CCA52CE}" dt="2026-08-02T08:36:05.191" v="12687" actId="22"/>
          <ac:picMkLst>
            <pc:docMk/>
            <pc:sldMk cId="993787136" sldId="341"/>
            <ac:picMk id="7" creationId="{0C76B58D-2FC7-9DC6-1B1B-327247CF900F}"/>
          </ac:picMkLst>
        </pc:picChg>
        <pc:picChg chg="add mod ord">
          <ac:chgData name="Michael Wegelin" userId="44f55030-522d-4388-8c84-12427b5d3861" providerId="ADAL" clId="{0C4B0DB6-929A-4816-82F8-C5CA7CCA52CE}" dt="2026-08-02T08:37:03.800" v="12688" actId="22"/>
          <ac:picMkLst>
            <pc:docMk/>
            <pc:sldMk cId="993787136" sldId="341"/>
            <ac:picMk id="9" creationId="{81A0A8CC-7AF0-9024-2EA0-A08167C0CD87}"/>
          </ac:picMkLst>
        </pc:picChg>
      </pc:sldChg>
      <pc:sldChg chg="new del">
        <pc:chgData name="Michael Wegelin" userId="44f55030-522d-4388-8c84-12427b5d3861" providerId="ADAL" clId="{0C4B0DB6-929A-4816-82F8-C5CA7CCA52CE}" dt="2026-08-01T20:38:10.504" v="11123" actId="47"/>
        <pc:sldMkLst>
          <pc:docMk/>
          <pc:sldMk cId="2744352328" sldId="341"/>
        </pc:sldMkLst>
      </pc:sldChg>
      <pc:sldChg chg="addSp delSp modSp new del mod modClrScheme chgLayout modNotesTx">
        <pc:chgData name="Michael Wegelin" userId="44f55030-522d-4388-8c84-12427b5d3861" providerId="ADAL" clId="{0C4B0DB6-929A-4816-82F8-C5CA7CCA52CE}" dt="2026-08-01T17:21:28.345" v="9129" actId="47"/>
        <pc:sldMkLst>
          <pc:docMk/>
          <pc:sldMk cId="4093221604" sldId="341"/>
        </pc:sldMkLst>
      </pc:sldChg>
      <pc:sldChg chg="addSp delSp modSp new mod modClrScheme chgLayout modNotesTx">
        <pc:chgData name="Michael Wegelin" userId="44f55030-522d-4388-8c84-12427b5d3861" providerId="ADAL" clId="{0C4B0DB6-929A-4816-82F8-C5CA7CCA52CE}" dt="2026-08-02T08:45:05.992" v="13035" actId="1076"/>
        <pc:sldMkLst>
          <pc:docMk/>
          <pc:sldMk cId="1416885596" sldId="342"/>
        </pc:sldMkLst>
        <pc:spChg chg="mod ord">
          <ac:chgData name="Michael Wegelin" userId="44f55030-522d-4388-8c84-12427b5d3861" providerId="ADAL" clId="{0C4B0DB6-929A-4816-82F8-C5CA7CCA52CE}" dt="2026-08-02T08:42:06.975" v="12710" actId="20577"/>
          <ac:spMkLst>
            <pc:docMk/>
            <pc:sldMk cId="1416885596" sldId="342"/>
            <ac:spMk id="2" creationId="{7A9E5D21-899D-DA78-1B68-FB168E917BE6}"/>
          </ac:spMkLst>
        </pc:spChg>
        <pc:spChg chg="del mod ord">
          <ac:chgData name="Michael Wegelin" userId="44f55030-522d-4388-8c84-12427b5d3861" providerId="ADAL" clId="{0C4B0DB6-929A-4816-82F8-C5CA7CCA52CE}" dt="2026-08-02T08:41:53.741" v="12689" actId="700"/>
          <ac:spMkLst>
            <pc:docMk/>
            <pc:sldMk cId="1416885596" sldId="342"/>
            <ac:spMk id="3" creationId="{82784BE5-8298-495C-FD1E-AF41BFEA2CD6}"/>
          </ac:spMkLst>
        </pc:spChg>
        <pc:spChg chg="add del mod ord">
          <ac:chgData name="Michael Wegelin" userId="44f55030-522d-4388-8c84-12427b5d3861" providerId="ADAL" clId="{0C4B0DB6-929A-4816-82F8-C5CA7CCA52CE}" dt="2026-08-02T08:41:57.808" v="12690" actId="22"/>
          <ac:spMkLst>
            <pc:docMk/>
            <pc:sldMk cId="1416885596" sldId="342"/>
            <ac:spMk id="4" creationId="{DD3AC30D-749E-7422-6697-A23680BD6BAB}"/>
          </ac:spMkLst>
        </pc:spChg>
        <pc:spChg chg="add del mod ord">
          <ac:chgData name="Michael Wegelin" userId="44f55030-522d-4388-8c84-12427b5d3861" providerId="ADAL" clId="{0C4B0DB6-929A-4816-82F8-C5CA7CCA52CE}" dt="2026-08-02T08:44:05.727" v="13031" actId="22"/>
          <ac:spMkLst>
            <pc:docMk/>
            <pc:sldMk cId="1416885596" sldId="342"/>
            <ac:spMk id="5" creationId="{B36EF50F-0D83-E6CA-3BF1-22E4ACFB5A76}"/>
          </ac:spMkLst>
        </pc:spChg>
        <pc:spChg chg="add del mod">
          <ac:chgData name="Michael Wegelin" userId="44f55030-522d-4388-8c84-12427b5d3861" providerId="ADAL" clId="{0C4B0DB6-929A-4816-82F8-C5CA7CCA52CE}" dt="2026-08-02T08:44:53.158" v="13034" actId="22"/>
          <ac:spMkLst>
            <pc:docMk/>
            <pc:sldMk cId="1416885596" sldId="342"/>
            <ac:spMk id="11" creationId="{E1E8D57B-88D3-4778-A192-5DC85683EB5D}"/>
          </ac:spMkLst>
        </pc:spChg>
        <pc:picChg chg="add del mod ord">
          <ac:chgData name="Michael Wegelin" userId="44f55030-522d-4388-8c84-12427b5d3861" providerId="ADAL" clId="{0C4B0DB6-929A-4816-82F8-C5CA7CCA52CE}" dt="2026-08-02T08:44:50.116" v="13033" actId="478"/>
          <ac:picMkLst>
            <pc:docMk/>
            <pc:sldMk cId="1416885596" sldId="342"/>
            <ac:picMk id="7" creationId="{6C49E061-16D8-FE7B-A4A1-AA7C51ED4AD4}"/>
          </ac:picMkLst>
        </pc:picChg>
        <pc:picChg chg="add mod ord">
          <ac:chgData name="Michael Wegelin" userId="44f55030-522d-4388-8c84-12427b5d3861" providerId="ADAL" clId="{0C4B0DB6-929A-4816-82F8-C5CA7CCA52CE}" dt="2026-08-02T08:45:05.992" v="13035" actId="1076"/>
          <ac:picMkLst>
            <pc:docMk/>
            <pc:sldMk cId="1416885596" sldId="342"/>
            <ac:picMk id="9" creationId="{284FED11-745A-771D-EC68-65EDD34041C2}"/>
          </ac:picMkLst>
        </pc:picChg>
        <pc:picChg chg="add mod ord">
          <ac:chgData name="Michael Wegelin" userId="44f55030-522d-4388-8c84-12427b5d3861" providerId="ADAL" clId="{0C4B0DB6-929A-4816-82F8-C5CA7CCA52CE}" dt="2026-08-02T08:44:53.158" v="13034" actId="22"/>
          <ac:picMkLst>
            <pc:docMk/>
            <pc:sldMk cId="1416885596" sldId="342"/>
            <ac:picMk id="13" creationId="{B33F2CCA-8062-D201-9CE3-277E3BD03517}"/>
          </ac:picMkLst>
        </pc:picChg>
      </pc:sldChg>
      <pc:sldChg chg="new del">
        <pc:chgData name="Michael Wegelin" userId="44f55030-522d-4388-8c84-12427b5d3861" providerId="ADAL" clId="{0C4B0DB6-929A-4816-82F8-C5CA7CCA52CE}" dt="2026-08-01T20:38:11.783" v="11124" actId="47"/>
        <pc:sldMkLst>
          <pc:docMk/>
          <pc:sldMk cId="1940937188" sldId="342"/>
        </pc:sldMkLst>
      </pc:sldChg>
      <pc:sldChg chg="addSp delSp modSp new del mod modClrScheme chgLayout modNotesTx">
        <pc:chgData name="Michael Wegelin" userId="44f55030-522d-4388-8c84-12427b5d3861" providerId="ADAL" clId="{0C4B0DB6-929A-4816-82F8-C5CA7CCA52CE}" dt="2026-08-01T17:21:28.345" v="9129" actId="47"/>
        <pc:sldMkLst>
          <pc:docMk/>
          <pc:sldMk cId="3797747019" sldId="342"/>
        </pc:sldMkLst>
      </pc:sldChg>
      <pc:sldChg chg="addSp delSp modSp new mod modNotesTx">
        <pc:chgData name="Michael Wegelin" userId="44f55030-522d-4388-8c84-12427b5d3861" providerId="ADAL" clId="{0C4B0DB6-929A-4816-82F8-C5CA7CCA52CE}" dt="2026-08-02T08:47:47.108" v="13178" actId="22"/>
        <pc:sldMkLst>
          <pc:docMk/>
          <pc:sldMk cId="1212541957" sldId="343"/>
        </pc:sldMkLst>
        <pc:spChg chg="mod">
          <ac:chgData name="Michael Wegelin" userId="44f55030-522d-4388-8c84-12427b5d3861" providerId="ADAL" clId="{0C4B0DB6-929A-4816-82F8-C5CA7CCA52CE}" dt="2026-08-02T08:45:23.744" v="13049" actId="20577"/>
          <ac:spMkLst>
            <pc:docMk/>
            <pc:sldMk cId="1212541957" sldId="343"/>
            <ac:spMk id="2" creationId="{21FD3564-91EF-C755-BF3A-8BB04DED9653}"/>
          </ac:spMkLst>
        </pc:spChg>
        <pc:spChg chg="del">
          <ac:chgData name="Michael Wegelin" userId="44f55030-522d-4388-8c84-12427b5d3861" providerId="ADAL" clId="{0C4B0DB6-929A-4816-82F8-C5CA7CCA52CE}" dt="2026-08-02T08:47:47.108" v="13178" actId="22"/>
          <ac:spMkLst>
            <pc:docMk/>
            <pc:sldMk cId="1212541957" sldId="343"/>
            <ac:spMk id="3" creationId="{00DB744F-20C9-BE73-CD77-3A096BB8161A}"/>
          </ac:spMkLst>
        </pc:spChg>
        <pc:picChg chg="add mod ord">
          <ac:chgData name="Michael Wegelin" userId="44f55030-522d-4388-8c84-12427b5d3861" providerId="ADAL" clId="{0C4B0DB6-929A-4816-82F8-C5CA7CCA52CE}" dt="2026-08-02T08:47:47.108" v="13178" actId="22"/>
          <ac:picMkLst>
            <pc:docMk/>
            <pc:sldMk cId="1212541957" sldId="343"/>
            <ac:picMk id="5" creationId="{00CF4B16-4CBB-10F3-9EF3-07FA3D3BE144}"/>
          </ac:picMkLst>
        </pc:picChg>
      </pc:sldChg>
      <pc:sldChg chg="addSp delSp modSp new del mod modClrScheme chgLayout modNotesTx">
        <pc:chgData name="Michael Wegelin" userId="44f55030-522d-4388-8c84-12427b5d3861" providerId="ADAL" clId="{0C4B0DB6-929A-4816-82F8-C5CA7CCA52CE}" dt="2026-08-01T17:21:28.345" v="9129" actId="47"/>
        <pc:sldMkLst>
          <pc:docMk/>
          <pc:sldMk cId="3401524948" sldId="343"/>
        </pc:sldMkLst>
      </pc:sldChg>
      <pc:sldChg chg="addSp delSp modSp new del mod modNotesTx">
        <pc:chgData name="Michael Wegelin" userId="44f55030-522d-4388-8c84-12427b5d3861" providerId="ADAL" clId="{0C4B0DB6-929A-4816-82F8-C5CA7CCA52CE}" dt="2026-08-01T17:21:28.345" v="9129" actId="47"/>
        <pc:sldMkLst>
          <pc:docMk/>
          <pc:sldMk cId="457029551" sldId="344"/>
        </pc:sldMkLst>
      </pc:sldChg>
      <pc:sldChg chg="modSp new del mod">
        <pc:chgData name="Michael Wegelin" userId="44f55030-522d-4388-8c84-12427b5d3861" providerId="ADAL" clId="{0C4B0DB6-929A-4816-82F8-C5CA7CCA52CE}" dt="2026-08-02T08:47:52.250" v="13179" actId="47"/>
        <pc:sldMkLst>
          <pc:docMk/>
          <pc:sldMk cId="3075856634" sldId="344"/>
        </pc:sldMkLst>
        <pc:spChg chg="mod">
          <ac:chgData name="Michael Wegelin" userId="44f55030-522d-4388-8c84-12427b5d3861" providerId="ADAL" clId="{0C4B0DB6-929A-4816-82F8-C5CA7CCA52CE}" dt="2026-08-02T08:26:33.126" v="12625" actId="20577"/>
          <ac:spMkLst>
            <pc:docMk/>
            <pc:sldMk cId="3075856634" sldId="344"/>
            <ac:spMk id="2" creationId="{FB680C33-819A-E74E-3A70-809A47C4DF76}"/>
          </ac:spMkLst>
        </pc:spChg>
      </pc:sldChg>
      <pc:sldChg chg="addSp delSp modSp new mod modNotesTx">
        <pc:chgData name="Michael Wegelin" userId="44f55030-522d-4388-8c84-12427b5d3861" providerId="ADAL" clId="{0C4B0DB6-929A-4816-82F8-C5CA7CCA52CE}" dt="2026-08-02T08:50:12.025" v="13302" actId="20577"/>
        <pc:sldMkLst>
          <pc:docMk/>
          <pc:sldMk cId="165571724" sldId="345"/>
        </pc:sldMkLst>
        <pc:spChg chg="mod">
          <ac:chgData name="Michael Wegelin" userId="44f55030-522d-4388-8c84-12427b5d3861" providerId="ADAL" clId="{0C4B0DB6-929A-4816-82F8-C5CA7CCA52CE}" dt="2026-08-02T08:27:15.657" v="12646" actId="20577"/>
          <ac:spMkLst>
            <pc:docMk/>
            <pc:sldMk cId="165571724" sldId="345"/>
            <ac:spMk id="2" creationId="{68BB8490-C3B1-EA13-8773-33230F238FF8}"/>
          </ac:spMkLst>
        </pc:spChg>
        <pc:spChg chg="del">
          <ac:chgData name="Michael Wegelin" userId="44f55030-522d-4388-8c84-12427b5d3861" providerId="ADAL" clId="{0C4B0DB6-929A-4816-82F8-C5CA7CCA52CE}" dt="2026-08-02T08:49:33.125" v="13180" actId="22"/>
          <ac:spMkLst>
            <pc:docMk/>
            <pc:sldMk cId="165571724" sldId="345"/>
            <ac:spMk id="3" creationId="{D760FE51-F9BC-C8CC-FFE2-1BC2E039E72E}"/>
          </ac:spMkLst>
        </pc:spChg>
        <pc:picChg chg="add mod ord">
          <ac:chgData name="Michael Wegelin" userId="44f55030-522d-4388-8c84-12427b5d3861" providerId="ADAL" clId="{0C4B0DB6-929A-4816-82F8-C5CA7CCA52CE}" dt="2026-08-02T08:49:33.125" v="13180" actId="22"/>
          <ac:picMkLst>
            <pc:docMk/>
            <pc:sldMk cId="165571724" sldId="345"/>
            <ac:picMk id="5" creationId="{2D4634D8-47A0-2D47-C62B-EE883F6DC1BE}"/>
          </ac:picMkLst>
        </pc:picChg>
      </pc:sldChg>
      <pc:sldChg chg="addSp delSp modSp new del mod modNotesTx">
        <pc:chgData name="Michael Wegelin" userId="44f55030-522d-4388-8c84-12427b5d3861" providerId="ADAL" clId="{0C4B0DB6-929A-4816-82F8-C5CA7CCA52CE}" dt="2026-08-01T17:21:28.345" v="9129" actId="47"/>
        <pc:sldMkLst>
          <pc:docMk/>
          <pc:sldMk cId="2232570020" sldId="345"/>
        </pc:sldMkLst>
      </pc:sldChg>
      <pc:sldChg chg="addSp delSp modSp new del mod modNotesTx">
        <pc:chgData name="Michael Wegelin" userId="44f55030-522d-4388-8c84-12427b5d3861" providerId="ADAL" clId="{0C4B0DB6-929A-4816-82F8-C5CA7CCA52CE}" dt="2026-08-01T17:21:28.345" v="9129" actId="47"/>
        <pc:sldMkLst>
          <pc:docMk/>
          <pc:sldMk cId="2778023927" sldId="346"/>
        </pc:sldMkLst>
      </pc:sldChg>
      <pc:sldChg chg="modSp new mod modNotesTx">
        <pc:chgData name="Michael Wegelin" userId="44f55030-522d-4388-8c84-12427b5d3861" providerId="ADAL" clId="{0C4B0DB6-929A-4816-82F8-C5CA7CCA52CE}" dt="2026-08-02T08:53:21.509" v="13542" actId="13926"/>
        <pc:sldMkLst>
          <pc:docMk/>
          <pc:sldMk cId="4141588579" sldId="346"/>
        </pc:sldMkLst>
        <pc:spChg chg="mod">
          <ac:chgData name="Michael Wegelin" userId="44f55030-522d-4388-8c84-12427b5d3861" providerId="ADAL" clId="{0C4B0DB6-929A-4816-82F8-C5CA7CCA52CE}" dt="2026-08-02T08:50:42.325" v="13303"/>
          <ac:spMkLst>
            <pc:docMk/>
            <pc:sldMk cId="4141588579" sldId="346"/>
            <ac:spMk id="2" creationId="{BB12C664-E34C-17C6-CF85-12CFFCF3154F}"/>
          </ac:spMkLst>
        </pc:spChg>
        <pc:spChg chg="mod">
          <ac:chgData name="Michael Wegelin" userId="44f55030-522d-4388-8c84-12427b5d3861" providerId="ADAL" clId="{0C4B0DB6-929A-4816-82F8-C5CA7CCA52CE}" dt="2026-08-02T08:53:21.509" v="13542" actId="13926"/>
          <ac:spMkLst>
            <pc:docMk/>
            <pc:sldMk cId="4141588579" sldId="346"/>
            <ac:spMk id="3" creationId="{2B78BA25-2BA2-5044-1945-CC47CAE9D7D6}"/>
          </ac:spMkLst>
        </pc:spChg>
      </pc:sldChg>
      <pc:sldChg chg="modSp new mod modNotesTx">
        <pc:chgData name="Michael Wegelin" userId="44f55030-522d-4388-8c84-12427b5d3861" providerId="ADAL" clId="{0C4B0DB6-929A-4816-82F8-C5CA7CCA52CE}" dt="2026-08-02T09:00:34.563" v="13906" actId="13926"/>
        <pc:sldMkLst>
          <pc:docMk/>
          <pc:sldMk cId="251070278" sldId="347"/>
        </pc:sldMkLst>
        <pc:spChg chg="mod">
          <ac:chgData name="Michael Wegelin" userId="44f55030-522d-4388-8c84-12427b5d3861" providerId="ADAL" clId="{0C4B0DB6-929A-4816-82F8-C5CA7CCA52CE}" dt="2026-08-02T08:30:04.307" v="12652"/>
          <ac:spMkLst>
            <pc:docMk/>
            <pc:sldMk cId="251070278" sldId="347"/>
            <ac:spMk id="2" creationId="{5939BEA9-D06E-8887-62B7-F6D6877D8012}"/>
          </ac:spMkLst>
        </pc:spChg>
        <pc:spChg chg="mod">
          <ac:chgData name="Michael Wegelin" userId="44f55030-522d-4388-8c84-12427b5d3861" providerId="ADAL" clId="{0C4B0DB6-929A-4816-82F8-C5CA7CCA52CE}" dt="2026-08-02T09:00:34.563" v="13906" actId="13926"/>
          <ac:spMkLst>
            <pc:docMk/>
            <pc:sldMk cId="251070278" sldId="347"/>
            <ac:spMk id="3" creationId="{54EC6823-1DCF-ADC6-8E23-F659292290AF}"/>
          </ac:spMkLst>
        </pc:spChg>
      </pc:sldChg>
      <pc:sldChg chg="addSp modSp new del mod modNotesTx">
        <pc:chgData name="Michael Wegelin" userId="44f55030-522d-4388-8c84-12427b5d3861" providerId="ADAL" clId="{0C4B0DB6-929A-4816-82F8-C5CA7CCA52CE}" dt="2026-08-01T17:21:28.345" v="9129" actId="47"/>
        <pc:sldMkLst>
          <pc:docMk/>
          <pc:sldMk cId="2231044611" sldId="347"/>
        </pc:sldMkLst>
      </pc:sldChg>
      <pc:sldChg chg="modSp new mod">
        <pc:chgData name="Michael Wegelin" userId="44f55030-522d-4388-8c84-12427b5d3861" providerId="ADAL" clId="{0C4B0DB6-929A-4816-82F8-C5CA7CCA52CE}" dt="2026-08-02T08:32:11.744" v="12673" actId="20577"/>
        <pc:sldMkLst>
          <pc:docMk/>
          <pc:sldMk cId="2007765496" sldId="348"/>
        </pc:sldMkLst>
        <pc:spChg chg="mod">
          <ac:chgData name="Michael Wegelin" userId="44f55030-522d-4388-8c84-12427b5d3861" providerId="ADAL" clId="{0C4B0DB6-929A-4816-82F8-C5CA7CCA52CE}" dt="2026-08-02T08:31:04.421" v="12658" actId="20577"/>
          <ac:spMkLst>
            <pc:docMk/>
            <pc:sldMk cId="2007765496" sldId="348"/>
            <ac:spMk id="2" creationId="{DEB5FFC7-38A2-5D55-3C22-86573CA2B41D}"/>
          </ac:spMkLst>
        </pc:spChg>
        <pc:spChg chg="mod">
          <ac:chgData name="Michael Wegelin" userId="44f55030-522d-4388-8c84-12427b5d3861" providerId="ADAL" clId="{0C4B0DB6-929A-4816-82F8-C5CA7CCA52CE}" dt="2026-08-02T08:32:11.744" v="12673" actId="20577"/>
          <ac:spMkLst>
            <pc:docMk/>
            <pc:sldMk cId="2007765496" sldId="348"/>
            <ac:spMk id="3" creationId="{885653E1-0BCD-59EC-DDA4-0D43125824C3}"/>
          </ac:spMkLst>
        </pc:spChg>
      </pc:sldChg>
      <pc:sldChg chg="addSp delSp modSp new del mod modNotesTx">
        <pc:chgData name="Michael Wegelin" userId="44f55030-522d-4388-8c84-12427b5d3861" providerId="ADAL" clId="{0C4B0DB6-929A-4816-82F8-C5CA7CCA52CE}" dt="2026-08-01T17:21:28.345" v="9129" actId="47"/>
        <pc:sldMkLst>
          <pc:docMk/>
          <pc:sldMk cId="2720849901" sldId="348"/>
        </pc:sldMkLst>
      </pc:sldChg>
      <pc:sldChg chg="addSp delSp modSp new del mod modNotesTx">
        <pc:chgData name="Michael Wegelin" userId="44f55030-522d-4388-8c84-12427b5d3861" providerId="ADAL" clId="{0C4B0DB6-929A-4816-82F8-C5CA7CCA52CE}" dt="2026-08-01T17:21:28.345" v="9129" actId="47"/>
        <pc:sldMkLst>
          <pc:docMk/>
          <pc:sldMk cId="2797204975" sldId="349"/>
        </pc:sldMkLst>
      </pc:sldChg>
      <pc:sldChg chg="addSp delSp modSp new mod modNotesTx">
        <pc:chgData name="Michael Wegelin" userId="44f55030-522d-4388-8c84-12427b5d3861" providerId="ADAL" clId="{0C4B0DB6-929A-4816-82F8-C5CA7CCA52CE}" dt="2026-08-02T09:04:30.268" v="13908" actId="22"/>
        <pc:sldMkLst>
          <pc:docMk/>
          <pc:sldMk cId="2805873464" sldId="349"/>
        </pc:sldMkLst>
        <pc:spChg chg="mod">
          <ac:chgData name="Michael Wegelin" userId="44f55030-522d-4388-8c84-12427b5d3861" providerId="ADAL" clId="{0C4B0DB6-929A-4816-82F8-C5CA7CCA52CE}" dt="2026-08-02T08:32:36.341" v="12681" actId="20577"/>
          <ac:spMkLst>
            <pc:docMk/>
            <pc:sldMk cId="2805873464" sldId="349"/>
            <ac:spMk id="2" creationId="{EFFF32E0-CFCD-1455-23E1-382245A7AD6C}"/>
          </ac:spMkLst>
        </pc:spChg>
        <pc:spChg chg="del">
          <ac:chgData name="Michael Wegelin" userId="44f55030-522d-4388-8c84-12427b5d3861" providerId="ADAL" clId="{0C4B0DB6-929A-4816-82F8-C5CA7CCA52CE}" dt="2026-08-02T09:04:30.268" v="13908" actId="22"/>
          <ac:spMkLst>
            <pc:docMk/>
            <pc:sldMk cId="2805873464" sldId="349"/>
            <ac:spMk id="3" creationId="{D7C1267E-8E3A-48BE-0483-3F7D49E7C2F1}"/>
          </ac:spMkLst>
        </pc:spChg>
        <pc:picChg chg="add mod ord">
          <ac:chgData name="Michael Wegelin" userId="44f55030-522d-4388-8c84-12427b5d3861" providerId="ADAL" clId="{0C4B0DB6-929A-4816-82F8-C5CA7CCA52CE}" dt="2026-08-02T09:04:30.268" v="13908" actId="22"/>
          <ac:picMkLst>
            <pc:docMk/>
            <pc:sldMk cId="2805873464" sldId="349"/>
            <ac:picMk id="5" creationId="{65536FCC-3EA8-F233-7DA2-F963597F8544}"/>
          </ac:picMkLst>
        </pc:picChg>
      </pc:sldChg>
      <pc:sldChg chg="new del">
        <pc:chgData name="Michael Wegelin" userId="44f55030-522d-4388-8c84-12427b5d3861" providerId="ADAL" clId="{0C4B0DB6-929A-4816-82F8-C5CA7CCA52CE}" dt="2026-08-02T09:00:46.992" v="13907" actId="47"/>
        <pc:sldMkLst>
          <pc:docMk/>
          <pc:sldMk cId="482966712" sldId="350"/>
        </pc:sldMkLst>
      </pc:sldChg>
      <pc:sldChg chg="addSp delSp modSp new del mod modNotesTx">
        <pc:chgData name="Michael Wegelin" userId="44f55030-522d-4388-8c84-12427b5d3861" providerId="ADAL" clId="{0C4B0DB6-929A-4816-82F8-C5CA7CCA52CE}" dt="2026-08-01T17:21:28.345" v="9129" actId="47"/>
        <pc:sldMkLst>
          <pc:docMk/>
          <pc:sldMk cId="2985608935" sldId="350"/>
        </pc:sldMkLst>
      </pc:sldChg>
      <pc:sldChg chg="addSp delSp modSp new del mod chgLayout modNotesTx">
        <pc:chgData name="Michael Wegelin" userId="44f55030-522d-4388-8c84-12427b5d3861" providerId="ADAL" clId="{0C4B0DB6-929A-4816-82F8-C5CA7CCA52CE}" dt="2026-08-01T17:21:28.345" v="9129" actId="47"/>
        <pc:sldMkLst>
          <pc:docMk/>
          <pc:sldMk cId="407944480" sldId="351"/>
        </pc:sldMkLst>
      </pc:sldChg>
      <pc:sldChg chg="addSp modSp new mod modNotesTx">
        <pc:chgData name="Michael Wegelin" userId="44f55030-522d-4388-8c84-12427b5d3861" providerId="ADAL" clId="{0C4B0DB6-929A-4816-82F8-C5CA7CCA52CE}" dt="2026-08-02T08:56:31.462" v="13641"/>
        <pc:sldMkLst>
          <pc:docMk/>
          <pc:sldMk cId="3053824072" sldId="351"/>
        </pc:sldMkLst>
        <pc:spChg chg="mod">
          <ac:chgData name="Michael Wegelin" userId="44f55030-522d-4388-8c84-12427b5d3861" providerId="ADAL" clId="{0C4B0DB6-929A-4816-82F8-C5CA7CCA52CE}" dt="2026-08-02T08:53:48.075" v="13582" actId="20577"/>
          <ac:spMkLst>
            <pc:docMk/>
            <pc:sldMk cId="3053824072" sldId="351"/>
            <ac:spMk id="2" creationId="{4B0B298E-E59A-9D54-2AA1-8ABF45DF08F3}"/>
          </ac:spMkLst>
        </pc:spChg>
        <pc:spChg chg="mod">
          <ac:chgData name="Michael Wegelin" userId="44f55030-522d-4388-8c84-12427b5d3861" providerId="ADAL" clId="{0C4B0DB6-929A-4816-82F8-C5CA7CCA52CE}" dt="2026-08-02T08:55:02.239" v="13613" actId="20577"/>
          <ac:spMkLst>
            <pc:docMk/>
            <pc:sldMk cId="3053824072" sldId="351"/>
            <ac:spMk id="3" creationId="{70D19636-8A28-5303-D8F8-8680DB1E1E60}"/>
          </ac:spMkLst>
        </pc:spChg>
        <pc:graphicFrameChg chg="add mod modGraphic">
          <ac:chgData name="Michael Wegelin" userId="44f55030-522d-4388-8c84-12427b5d3861" providerId="ADAL" clId="{0C4B0DB6-929A-4816-82F8-C5CA7CCA52CE}" dt="2026-08-02T08:56:31.462" v="13641"/>
          <ac:graphicFrameMkLst>
            <pc:docMk/>
            <pc:sldMk cId="3053824072" sldId="351"/>
            <ac:graphicFrameMk id="4" creationId="{04FF0CAB-1199-D606-756A-90D70A1AF065}"/>
          </ac:graphicFrameMkLst>
        </pc:graphicFrameChg>
      </pc:sldChg>
      <pc:sldChg chg="add del">
        <pc:chgData name="Michael Wegelin" userId="44f55030-522d-4388-8c84-12427b5d3861" providerId="ADAL" clId="{0C4B0DB6-929A-4816-82F8-C5CA7CCA52CE}" dt="2026-08-02T08:12:39.384" v="11434" actId="47"/>
        <pc:sldMkLst>
          <pc:docMk/>
          <pc:sldMk cId="4022345178" sldId="351"/>
        </pc:sldMkLst>
      </pc:sldChg>
      <pc:sldChg chg="addSp delSp modSp new del mod modNotesTx">
        <pc:chgData name="Michael Wegelin" userId="44f55030-522d-4388-8c84-12427b5d3861" providerId="ADAL" clId="{0C4B0DB6-929A-4816-82F8-C5CA7CCA52CE}" dt="2026-08-01T17:21:28.345" v="9129" actId="47"/>
        <pc:sldMkLst>
          <pc:docMk/>
          <pc:sldMk cId="2466281277" sldId="352"/>
        </pc:sldMkLst>
      </pc:sldChg>
      <pc:sldChg chg="modSp new mod">
        <pc:chgData name="Michael Wegelin" userId="44f55030-522d-4388-8c84-12427b5d3861" providerId="ADAL" clId="{0C4B0DB6-929A-4816-82F8-C5CA7CCA52CE}" dt="2026-08-02T08:59:37.609" v="13897" actId="20577"/>
        <pc:sldMkLst>
          <pc:docMk/>
          <pc:sldMk cId="3270638657" sldId="352"/>
        </pc:sldMkLst>
        <pc:spChg chg="mod">
          <ac:chgData name="Michael Wegelin" userId="44f55030-522d-4388-8c84-12427b5d3861" providerId="ADAL" clId="{0C4B0DB6-929A-4816-82F8-C5CA7CCA52CE}" dt="2026-08-02T08:56:55.875" v="13692" actId="20577"/>
          <ac:spMkLst>
            <pc:docMk/>
            <pc:sldMk cId="3270638657" sldId="352"/>
            <ac:spMk id="2" creationId="{F3718C2B-03B7-8032-D148-116E0A76B87C}"/>
          </ac:spMkLst>
        </pc:spChg>
        <pc:spChg chg="mod">
          <ac:chgData name="Michael Wegelin" userId="44f55030-522d-4388-8c84-12427b5d3861" providerId="ADAL" clId="{0C4B0DB6-929A-4816-82F8-C5CA7CCA52CE}" dt="2026-08-02T08:59:37.609" v="13897" actId="20577"/>
          <ac:spMkLst>
            <pc:docMk/>
            <pc:sldMk cId="3270638657" sldId="352"/>
            <ac:spMk id="3" creationId="{9BB50074-1300-AAAF-6D96-8EE7586EC2D0}"/>
          </ac:spMkLst>
        </pc:spChg>
      </pc:sldChg>
      <pc:sldChg chg="addSp modSp new del mod modNotesTx">
        <pc:chgData name="Michael Wegelin" userId="44f55030-522d-4388-8c84-12427b5d3861" providerId="ADAL" clId="{0C4B0DB6-929A-4816-82F8-C5CA7CCA52CE}" dt="2026-08-01T17:21:28.345" v="9129" actId="47"/>
        <pc:sldMkLst>
          <pc:docMk/>
          <pc:sldMk cId="1576183792" sldId="353"/>
        </pc:sldMkLst>
      </pc:sldChg>
      <pc:sldChg chg="addSp delSp modSp new del mod modNotesTx">
        <pc:chgData name="Michael Wegelin" userId="44f55030-522d-4388-8c84-12427b5d3861" providerId="ADAL" clId="{0C4B0DB6-929A-4816-82F8-C5CA7CCA52CE}" dt="2026-08-01T17:21:28.345" v="9129" actId="47"/>
        <pc:sldMkLst>
          <pc:docMk/>
          <pc:sldMk cId="776938220" sldId="354"/>
        </pc:sldMkLst>
      </pc:sldChg>
      <pc:sldChg chg="addSp modSp new del mod modNotesTx">
        <pc:chgData name="Michael Wegelin" userId="44f55030-522d-4388-8c84-12427b5d3861" providerId="ADAL" clId="{0C4B0DB6-929A-4816-82F8-C5CA7CCA52CE}" dt="2026-08-01T17:21:28.345" v="9129" actId="47"/>
        <pc:sldMkLst>
          <pc:docMk/>
          <pc:sldMk cId="2291511553" sldId="355"/>
        </pc:sldMkLst>
      </pc:sldChg>
      <pc:sldChg chg="addSp modSp new del mod modNotesTx">
        <pc:chgData name="Michael Wegelin" userId="44f55030-522d-4388-8c84-12427b5d3861" providerId="ADAL" clId="{0C4B0DB6-929A-4816-82F8-C5CA7CCA52CE}" dt="2026-08-01T17:21:28.345" v="9129" actId="47"/>
        <pc:sldMkLst>
          <pc:docMk/>
          <pc:sldMk cId="3152464777" sldId="356"/>
        </pc:sldMkLst>
      </pc:sldChg>
      <pc:sldChg chg="addSp delSp modSp new del mod modNotesTx">
        <pc:chgData name="Michael Wegelin" userId="44f55030-522d-4388-8c84-12427b5d3861" providerId="ADAL" clId="{0C4B0DB6-929A-4816-82F8-C5CA7CCA52CE}" dt="2026-08-01T17:21:28.345" v="9129" actId="47"/>
        <pc:sldMkLst>
          <pc:docMk/>
          <pc:sldMk cId="830952241" sldId="357"/>
        </pc:sldMkLst>
      </pc:sldChg>
      <pc:sldChg chg="addSp delSp modSp new del mod modClrScheme chgLayout modNotesTx">
        <pc:chgData name="Michael Wegelin" userId="44f55030-522d-4388-8c84-12427b5d3861" providerId="ADAL" clId="{0C4B0DB6-929A-4816-82F8-C5CA7CCA52CE}" dt="2026-08-01T17:21:28.345" v="9129" actId="47"/>
        <pc:sldMkLst>
          <pc:docMk/>
          <pc:sldMk cId="2146744465" sldId="358"/>
        </pc:sldMkLst>
      </pc:sldChg>
      <pc:sldChg chg="addSp delSp modSp new del mod modNotesTx">
        <pc:chgData name="Michael Wegelin" userId="44f55030-522d-4388-8c84-12427b5d3861" providerId="ADAL" clId="{0C4B0DB6-929A-4816-82F8-C5CA7CCA52CE}" dt="2026-08-01T17:21:28.345" v="9129" actId="47"/>
        <pc:sldMkLst>
          <pc:docMk/>
          <pc:sldMk cId="3548732369" sldId="359"/>
        </pc:sldMkLst>
      </pc:sldChg>
      <pc:sldChg chg="addSp delSp modSp new del mod modNotesTx">
        <pc:chgData name="Michael Wegelin" userId="44f55030-522d-4388-8c84-12427b5d3861" providerId="ADAL" clId="{0C4B0DB6-929A-4816-82F8-C5CA7CCA52CE}" dt="2026-08-01T17:21:28.345" v="9129" actId="47"/>
        <pc:sldMkLst>
          <pc:docMk/>
          <pc:sldMk cId="1940656148" sldId="360"/>
        </pc:sldMkLst>
      </pc:sldChg>
      <pc:sldChg chg="addSp modSp new del mod modNotesTx">
        <pc:chgData name="Michael Wegelin" userId="44f55030-522d-4388-8c84-12427b5d3861" providerId="ADAL" clId="{0C4B0DB6-929A-4816-82F8-C5CA7CCA52CE}" dt="2026-08-01T17:21:28.345" v="9129" actId="47"/>
        <pc:sldMkLst>
          <pc:docMk/>
          <pc:sldMk cId="3789807145" sldId="361"/>
        </pc:sldMkLst>
      </pc:sldChg>
      <pc:sldChg chg="addSp modSp new del mod modNotesTx">
        <pc:chgData name="Michael Wegelin" userId="44f55030-522d-4388-8c84-12427b5d3861" providerId="ADAL" clId="{0C4B0DB6-929A-4816-82F8-C5CA7CCA52CE}" dt="2026-08-01T17:21:28.345" v="9129" actId="47"/>
        <pc:sldMkLst>
          <pc:docMk/>
          <pc:sldMk cId="1839797413" sldId="362"/>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dirty="0"/>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1631E49-3ADF-4A64-8B32-5D33D9E563E5}" type="datetimeFigureOut">
              <a:rPr lang="de-DE" smtClean="0"/>
              <a:t>01.08.2026</a:t>
            </a:fld>
            <a:endParaRPr lang="de-DE" dirty="0"/>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dirty="0"/>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dirty="0"/>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9475E6B-8EF9-407D-AAC9-FC0EA114427C}" type="slidenum">
              <a:rPr lang="de-DE" smtClean="0"/>
              <a:t>‹Nr.›</a:t>
            </a:fld>
            <a:endParaRPr lang="de-DE" dirty="0"/>
          </a:p>
        </p:txBody>
      </p:sp>
    </p:spTree>
    <p:extLst>
      <p:ext uri="{BB962C8B-B14F-4D97-AF65-F5344CB8AC3E}">
        <p14:creationId xmlns:p14="http://schemas.microsoft.com/office/powerpoint/2010/main" val="16566465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Willkommen zum ersten Teil unserer Kursreihe über ABAP Core Data Services.</a:t>
            </a:r>
          </a:p>
          <a:p>
            <a:endParaRPr lang="de-DE" dirty="0"/>
          </a:p>
          <a:p>
            <a:r>
              <a:rPr lang="de-DE" dirty="0"/>
              <a:t>In diesem Teil beschäftigen wir uns mit dem Fundament: den CDS View </a:t>
            </a:r>
            <a:r>
              <a:rPr lang="de-DE" dirty="0" err="1"/>
              <a:t>Entities</a:t>
            </a:r>
            <a:r>
              <a:rPr lang="de-DE" dirty="0"/>
              <a:t>. Wir beginnen ganz bewusst mit einer einzelnen Datenbanktabelle und entwickeln daraus im Verlauf des Kurses ein kleines, verbundenes Datenmodell.</a:t>
            </a:r>
          </a:p>
          <a:p>
            <a:endParaRPr lang="de-DE" dirty="0"/>
          </a:p>
          <a:p>
            <a:r>
              <a:rPr lang="de-DE" dirty="0"/>
              <a:t>Dabei geht es nicht nur um eine andere Schreibweise für SQL-Abfragen. CDS View </a:t>
            </a:r>
            <a:r>
              <a:rPr lang="de-DE" dirty="0" err="1"/>
              <a:t>Entities</a:t>
            </a:r>
            <a:r>
              <a:rPr lang="de-DE" dirty="0"/>
              <a:t> erlauben uns, die fachliche Bedeutung der Daten direkt im Datenmodell auszudrücken. Dazu gehören verständliche Feldnamen, Datentypen und Metadaten ebenso wie Beziehungen zwischen Aufträgen, Kunden, Positionen und Produkten.</a:t>
            </a:r>
          </a:p>
          <a:p>
            <a:endParaRPr lang="de-DE" dirty="0"/>
          </a:p>
          <a:p>
            <a:r>
              <a:rPr lang="de-DE" dirty="0"/>
              <a:t>Am Ende des heutigen Kurses werden wir dieses Datenmodell aus ABAP heraus verwenden und den Zugriff darauf durch eine CDS-Zugriffskontrolle einschränken.</a:t>
            </a:r>
          </a:p>
          <a:p>
            <a:endParaRPr lang="de-DE" dirty="0"/>
          </a:p>
          <a:p>
            <a:r>
              <a:rPr lang="de-DE" dirty="0"/>
              <a:t>Der Kurs besteht aus kurzen Erklärungsabschnitten und sechs Live-Coding-Blöcken. Sie sehen also nicht nur fertigen Code, sondern auch, wie die einzelnen Entwicklungsobjekte in den ABAP Development Tools entstehen und miteinander verbunden werden.</a:t>
            </a:r>
          </a:p>
          <a:p>
            <a:endParaRPr lang="de-DE" dirty="0"/>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2</a:t>
            </a:fld>
            <a:endParaRPr lang="de-DE" dirty="0"/>
          </a:p>
        </p:txBody>
      </p:sp>
    </p:spTree>
    <p:extLst>
      <p:ext uri="{BB962C8B-B14F-4D97-AF65-F5344CB8AC3E}">
        <p14:creationId xmlns:p14="http://schemas.microsoft.com/office/powerpoint/2010/main" val="22368978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Unsere Ausgangsdaten liegen in relationalen Datenbanktabellen. Diese Tabellen sind zunächst technisch geprägt. Sie definieren, welche Daten gespeichert werden, welche Datentypen verwendet werden und aus welchen Feldern der Schlüssel besteht.</a:t>
            </a:r>
          </a:p>
          <a:p>
            <a:endParaRPr lang="de-DE" dirty="0"/>
          </a:p>
          <a:p>
            <a:r>
              <a:rPr lang="de-DE" dirty="0"/>
              <a:t>Für eine Anwendung reicht das häufig nicht aus. Die Anwendung möchte beispielsweise nicht nur eine Kundennummer anzeigen, sondern auch den Namen des Kunden. Sie benötigt vielleicht einen berechneten Auftragswert, eine verständliche Bezeichnung für einen Status oder die Information, welche Währung zu einem Betrag gehört.</a:t>
            </a:r>
          </a:p>
          <a:p>
            <a:endParaRPr lang="de-DE" dirty="0"/>
          </a:p>
          <a:p>
            <a:r>
              <a:rPr lang="de-DE" dirty="0"/>
              <a:t>Außerdem sollen Beziehungen nicht in jeder Anwendung erneut programmiert werden. Wenn ein Auftrag zu einem Kunden gehört, dann ist diese Beziehung Bestandteil unseres fachlichen Datenmodells.</a:t>
            </a:r>
          </a:p>
          <a:p>
            <a:endParaRPr lang="de-DE" dirty="0"/>
          </a:p>
          <a:p>
            <a:r>
              <a:rPr lang="de-DE" dirty="0"/>
              <a:t>CDS View </a:t>
            </a:r>
            <a:r>
              <a:rPr lang="de-DE" dirty="0" err="1"/>
              <a:t>Entities</a:t>
            </a:r>
            <a:r>
              <a:rPr lang="de-DE" dirty="0"/>
              <a:t> bilden eine zusätzliche Schicht über den Datenbanktabellen. Diese Schicht bereitet Daten für unterschiedliche Verbraucher auf: für ABAP-Code, Services, Fiori-Elements-Anwendungen oder analytische Szenarien.</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3</a:t>
            </a:fld>
            <a:endParaRPr lang="de-DE" dirty="0"/>
          </a:p>
        </p:txBody>
      </p:sp>
    </p:spTree>
    <p:extLst>
      <p:ext uri="{BB962C8B-B14F-4D97-AF65-F5344CB8AC3E}">
        <p14:creationId xmlns:p14="http://schemas.microsoft.com/office/powerpoint/2010/main" val="14523273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Eine CDS View Entity beschreibt deklarativ, welche Daten wir benötigen und wie diese Daten strukturiert sein sollen.</a:t>
            </a:r>
          </a:p>
          <a:p>
            <a:endParaRPr lang="de-DE" dirty="0"/>
          </a:p>
          <a:p>
            <a:r>
              <a:rPr lang="de-DE" dirty="0"/>
              <a:t>Deklarativ bedeutet: Wir beschreiben das gewünschte Ergebnis. Wir programmieren keinen Ablauf, der Datensätze einzeln liest und verarbeitet. Das ABAP-System und die Datenbank kümmern sich um die Ausführung.</a:t>
            </a:r>
          </a:p>
          <a:p>
            <a:endParaRPr lang="de-DE" dirty="0"/>
          </a:p>
          <a:p>
            <a:r>
              <a:rPr lang="de-DE" dirty="0"/>
              <a:t>Die Datenquelle kann zunächst eine einzelne Datenbanktabelle sein. Später können auch andere CDS View </a:t>
            </a:r>
            <a:r>
              <a:rPr lang="de-DE" dirty="0" err="1"/>
              <a:t>Entities</a:t>
            </a:r>
            <a:r>
              <a:rPr lang="de-DE" dirty="0"/>
              <a:t> als Quelle dienen. Wir können Daten filtern, Werte berechnen, mehrere Quellen zusammenführen und Beziehungen zwischen Views modellieren.</a:t>
            </a:r>
          </a:p>
          <a:p>
            <a:endParaRPr lang="de-DE" dirty="0"/>
          </a:p>
          <a:p>
            <a:r>
              <a:rPr lang="de-DE" dirty="0"/>
              <a:t>Eine CDS View Entity ist ein eigenständiges Repository-Objekt. Andere CDS Views und ABAP-Programme können sie über ihren Namen verwenden.</a:t>
            </a:r>
          </a:p>
          <a:p>
            <a:endParaRPr lang="de-DE" dirty="0"/>
          </a:p>
          <a:p>
            <a:r>
              <a:rPr lang="de-DE" dirty="0"/>
              <a:t>Das kleine Beispiel auf der Folie zeigt bereits die wesentlichen Bestandteile: einen Namen, eine Datenquelle und eine Elementliste. Die technischen Feldnamen der Tabelle werden dabei in fachlich besser lesbare Namen übersetzt.</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4</a:t>
            </a:fld>
            <a:endParaRPr lang="de-DE" dirty="0"/>
          </a:p>
        </p:txBody>
      </p:sp>
    </p:spTree>
    <p:extLst>
      <p:ext uri="{BB962C8B-B14F-4D97-AF65-F5344CB8AC3E}">
        <p14:creationId xmlns:p14="http://schemas.microsoft.com/office/powerpoint/2010/main" val="22816675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In vorhandenen SAP-Systemen werden Sie neben CDS View </a:t>
            </a:r>
            <a:r>
              <a:rPr lang="de-DE" dirty="0" err="1"/>
              <a:t>Entities</a:t>
            </a:r>
            <a:r>
              <a:rPr lang="de-DE" dirty="0"/>
              <a:t> auch klassische CDS Views finden. Klassische Views beginnen mit </a:t>
            </a:r>
            <a:r>
              <a:rPr lang="de-DE" sz="1200" kern="1200" dirty="0" err="1">
                <a:solidFill>
                  <a:schemeClr val="tx1"/>
                </a:solidFill>
                <a:latin typeface="+mn-lt"/>
                <a:ea typeface="+mn-ea"/>
                <a:cs typeface="+mn-cs"/>
              </a:rPr>
              <a:t>define</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view</a:t>
            </a:r>
            <a:r>
              <a:rPr lang="de-DE" dirty="0"/>
              <a:t> und benötigen mit </a:t>
            </a:r>
            <a:r>
              <a:rPr lang="de-DE" sz="1200" kern="1200" dirty="0">
                <a:solidFill>
                  <a:schemeClr val="tx1"/>
                </a:solidFill>
                <a:latin typeface="+mn-lt"/>
                <a:ea typeface="+mn-ea"/>
                <a:cs typeface="+mn-cs"/>
              </a:rPr>
              <a:t>@AbapCatalog.sqlViewName</a:t>
            </a:r>
            <a:r>
              <a:rPr lang="de-DE" dirty="0"/>
              <a:t> zusätzlich einen technischen Namen für eine SQL View.</a:t>
            </a:r>
          </a:p>
          <a:p>
            <a:endParaRPr lang="de-DE" dirty="0"/>
          </a:p>
          <a:p>
            <a:r>
              <a:rPr lang="de-DE" dirty="0"/>
              <a:t>Die neuere CDS View Entity beginnt dagegen mit </a:t>
            </a:r>
            <a:r>
              <a:rPr lang="de-DE" sz="1200" kern="1200" dirty="0" err="1">
                <a:solidFill>
                  <a:schemeClr val="tx1"/>
                </a:solidFill>
                <a:latin typeface="+mn-lt"/>
                <a:ea typeface="+mn-ea"/>
                <a:cs typeface="+mn-cs"/>
              </a:rPr>
              <a:t>define</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view</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entity</a:t>
            </a:r>
            <a:r>
              <a:rPr lang="de-DE" dirty="0"/>
              <a:t>. Eine separate SQL-View-Angabe ist nicht mehr erforderlich. Aktivierung und Abhängigkeitsverwaltung wurden ebenfalls verbessert.</a:t>
            </a:r>
          </a:p>
          <a:p>
            <a:endParaRPr lang="de-DE" dirty="0"/>
          </a:p>
          <a:p>
            <a:r>
              <a:rPr lang="de-DE" dirty="0"/>
              <a:t>Wichtig ist, dass sich Beispiele für klassische CDS Views nicht immer unverändert auf View </a:t>
            </a:r>
            <a:r>
              <a:rPr lang="de-DE" dirty="0" err="1"/>
              <a:t>Entities</a:t>
            </a:r>
            <a:r>
              <a:rPr lang="de-DE" dirty="0"/>
              <a:t> übertragen lassen. Manche Annotationen oder Syntaxvarianten sind dort nicht zulässig oder werden anders verwendet.</a:t>
            </a:r>
          </a:p>
          <a:p>
            <a:endParaRPr lang="de-DE" dirty="0"/>
          </a:p>
          <a:p>
            <a:r>
              <a:rPr lang="de-DE" dirty="0"/>
              <a:t>In diesem Kurs konzentrieren wir uns konsequent auf CDS View </a:t>
            </a:r>
            <a:r>
              <a:rPr lang="de-DE" dirty="0" err="1"/>
              <a:t>Entities</a:t>
            </a:r>
            <a:r>
              <a:rPr lang="de-DE" dirty="0"/>
              <a:t>. Das ist das Modell, das wir für neue ABAP-Cloud-Entwicklungen verwenden.</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5</a:t>
            </a:fld>
            <a:endParaRPr lang="de-DE" dirty="0"/>
          </a:p>
        </p:txBody>
      </p:sp>
    </p:spTree>
    <p:extLst>
      <p:ext uri="{BB962C8B-B14F-4D97-AF65-F5344CB8AC3E}">
        <p14:creationId xmlns:p14="http://schemas.microsoft.com/office/powerpoint/2010/main" val="6357698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Für alle drei Kursteile verwenden wir dasselbe kleine Vertriebsmodell.</a:t>
            </a:r>
          </a:p>
          <a:p>
            <a:endParaRPr lang="de-DE" dirty="0"/>
          </a:p>
          <a:p>
            <a:r>
              <a:rPr lang="de-DE" dirty="0"/>
              <a:t>Ein Kunde kann mehrere Aufträge besitzen. Ein Auftrag besteht aus mehreren Positionen. Jede Position verweist auf ein Produkt, und jedes Produkt gehört zu einer Produktkategorie.</a:t>
            </a:r>
          </a:p>
          <a:p>
            <a:endParaRPr lang="de-DE" dirty="0"/>
          </a:p>
          <a:p>
            <a:r>
              <a:rPr lang="de-DE" dirty="0"/>
              <a:t>Bei den Produktkategorien gibt es außerdem eine Beziehung zur übergeordneten Kategorie. Diese selbstreferenzierende Beziehung werden wir im dritten Kursteil für eine Hierarchie verwenden.</a:t>
            </a:r>
          </a:p>
          <a:p>
            <a:endParaRPr lang="de-DE" dirty="0"/>
          </a:p>
          <a:p>
            <a:r>
              <a:rPr lang="de-DE" dirty="0"/>
              <a:t>Das Modell ist bewusst klein genug, um es während des Live-</a:t>
            </a:r>
            <a:r>
              <a:rPr lang="de-DE" dirty="0" err="1"/>
              <a:t>Codings</a:t>
            </a:r>
            <a:r>
              <a:rPr lang="de-DE" dirty="0"/>
              <a:t> zu überblicken. Gleichzeitig bietet es genügend Möglichkeiten für die späteren Themen: Assoziationen, Berechnungen, Aggregationen, Zugriffskontrolle, Fiori Elements und analytische Anwendungen.</a:t>
            </a:r>
          </a:p>
          <a:p>
            <a:endParaRPr lang="de-DE" dirty="0"/>
          </a:p>
          <a:p>
            <a:r>
              <a:rPr lang="de-DE" dirty="0"/>
              <a:t>Die Tabellen und Beispieldaten sind bereits vorbereitet. Die CDS-Schicht entwickeln wir heute schrittweise darauf.</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6</a:t>
            </a:fld>
            <a:endParaRPr lang="de-DE" dirty="0"/>
          </a:p>
        </p:txBody>
      </p:sp>
    </p:spTree>
    <p:extLst>
      <p:ext uri="{BB962C8B-B14F-4D97-AF65-F5344CB8AC3E}">
        <p14:creationId xmlns:p14="http://schemas.microsoft.com/office/powerpoint/2010/main" val="9351837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Wir beginnen gleich mit der einfachsten möglichen View: einer Sicht auf die Auftragstabelle.</a:t>
            </a:r>
          </a:p>
          <a:p>
            <a:endParaRPr lang="de-DE" dirty="0"/>
          </a:p>
          <a:p>
            <a:r>
              <a:rPr lang="de-DE" dirty="0"/>
              <a:t>Im zweiten Live-Coding ergänzen wir berechnete Elemente und Metadaten. Anschließend führen wir die Beziehungen ein. Zunächst verbinden wir den Auftrag mit seinem Kunden, danach Auftrag, Position und Produkt.</a:t>
            </a:r>
          </a:p>
          <a:p>
            <a:endParaRPr lang="de-DE" dirty="0"/>
          </a:p>
          <a:p>
            <a:r>
              <a:rPr lang="de-DE" dirty="0"/>
              <a:t>Das verbundene Modell lesen wir dann mit ABAP SQL. Zum Abschluss kommt die Zugriffskontrolle hinzu. Damit können wir beispielsweise dafür sorgen, dass ein Benutzer nur die Aufträge einer bestimmten Verkaufsorganisation sieht.</a:t>
            </a:r>
          </a:p>
          <a:p>
            <a:endParaRPr lang="de-DE" dirty="0"/>
          </a:p>
          <a:p>
            <a:r>
              <a:rPr lang="de-DE" dirty="0"/>
              <a:t>Jeder Live-Coding-Block erzeugt einen funktionsfähigen Zwischenstand. Wir können das Ergebnis daher unmittelbar in der Data Preview oder mit ABAP-Code prüfen.</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7</a:t>
            </a:fld>
            <a:endParaRPr lang="de-DE" dirty="0"/>
          </a:p>
        </p:txBody>
      </p:sp>
    </p:spTree>
    <p:extLst>
      <p:ext uri="{BB962C8B-B14F-4D97-AF65-F5344CB8AC3E}">
        <p14:creationId xmlns:p14="http://schemas.microsoft.com/office/powerpoint/2010/main" val="11075025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Wir erstellen nun unsere erste CDS View Entity.</a:t>
            </a:r>
          </a:p>
          <a:p>
            <a:endParaRPr lang="de-DE" dirty="0"/>
          </a:p>
          <a:p>
            <a:r>
              <a:rPr lang="de-DE" dirty="0"/>
              <a:t>Als Datenquelle verwenden wir die Tabelle </a:t>
            </a:r>
            <a:r>
              <a:rPr lang="de-DE" sz="1200" kern="1200" dirty="0">
                <a:solidFill>
                  <a:schemeClr val="tx1"/>
                </a:solidFill>
                <a:latin typeface="+mn-lt"/>
                <a:ea typeface="+mn-ea"/>
                <a:cs typeface="+mn-cs"/>
              </a:rPr>
              <a:t>ZCDS_ORDER</a:t>
            </a:r>
            <a:r>
              <a:rPr lang="de-DE" dirty="0"/>
              <a:t>. Die neue View Entity erhält den Namen </a:t>
            </a:r>
            <a:r>
              <a:rPr lang="de-DE" sz="1200" kern="1200" dirty="0" err="1">
                <a:solidFill>
                  <a:schemeClr val="tx1"/>
                </a:solidFill>
                <a:latin typeface="+mn-lt"/>
                <a:ea typeface="+mn-ea"/>
                <a:cs typeface="+mn-cs"/>
              </a:rPr>
              <a:t>ZI_CDSOrder</a:t>
            </a:r>
            <a:r>
              <a:rPr lang="de-DE" dirty="0"/>
              <a:t>. Das Präfix </a:t>
            </a:r>
            <a:r>
              <a:rPr lang="de-DE" sz="1200" kern="1200" dirty="0">
                <a:solidFill>
                  <a:schemeClr val="tx1"/>
                </a:solidFill>
                <a:latin typeface="+mn-lt"/>
                <a:ea typeface="+mn-ea"/>
                <a:cs typeface="+mn-cs"/>
              </a:rPr>
              <a:t>ZI</a:t>
            </a:r>
            <a:r>
              <a:rPr lang="de-DE" dirty="0"/>
              <a:t> steht in unserem Beispiel für eine interne beziehungsweise Interface View.</a:t>
            </a:r>
          </a:p>
          <a:p>
            <a:endParaRPr lang="de-DE" dirty="0"/>
          </a:p>
          <a:p>
            <a:r>
              <a:rPr lang="de-DE" dirty="0"/>
              <a:t>Wir übernehmen zunächst alle fachlich relevanten Felder der Auftragstabelle. Die technischen Feldnamen ersetzen wir durch Namen in </a:t>
            </a:r>
            <a:r>
              <a:rPr lang="de-DE" dirty="0" err="1"/>
              <a:t>CamelCase</a:t>
            </a:r>
            <a:r>
              <a:rPr lang="de-DE" dirty="0"/>
              <a:t>. Außerdem kennzeichnen wir den fachlichen Schlüssel der View.</a:t>
            </a:r>
          </a:p>
          <a:p>
            <a:endParaRPr lang="de-DE" dirty="0"/>
          </a:p>
          <a:p>
            <a:r>
              <a:rPr lang="de-DE" dirty="0"/>
              <a:t>Nach der Aktivierung testen wir die View mit der Data Preview. Dabei prüfen wir nicht nur, ob Daten angezeigt werden, sondern auch, ob Schlüssel, Feldnamen und Datentypen so erscheinen, wie wir sie modelliert haben.</a:t>
            </a:r>
          </a:p>
          <a:p>
            <a:endParaRPr lang="de-DE" b="1" dirty="0"/>
          </a:p>
          <a:p>
            <a:r>
              <a:rPr lang="de-DE" b="1" dirty="0"/>
              <a:t>Demoskript: Live-Coding 1</a:t>
            </a:r>
          </a:p>
          <a:p>
            <a:r>
              <a:rPr lang="de-DE" b="1" dirty="0"/>
              <a:t>1. Ausgangstabelle ansehen – ca. 3 Minuten</a:t>
            </a:r>
          </a:p>
          <a:p>
            <a:r>
              <a:rPr lang="de-DE" dirty="0"/>
              <a:t>In ADT das Paket öffnen:</a:t>
            </a:r>
          </a:p>
          <a:p>
            <a:pPr rtl="0"/>
            <a:r>
              <a:rPr lang="de-DE" sz="1200" kern="1200" dirty="0">
                <a:solidFill>
                  <a:schemeClr val="tx1"/>
                </a:solidFill>
                <a:latin typeface="+mn-lt"/>
                <a:ea typeface="+mn-ea"/>
                <a:cs typeface="+mn-cs"/>
              </a:rPr>
              <a:t>ZCDS_WORKSHOP</a:t>
            </a:r>
          </a:p>
          <a:p>
            <a:r>
              <a:rPr lang="de-DE" dirty="0"/>
              <a:t>Unter </a:t>
            </a:r>
            <a:r>
              <a:rPr lang="de-DE" b="1" dirty="0"/>
              <a:t>Dictionary → Database Tables</a:t>
            </a:r>
            <a:r>
              <a:rPr lang="de-DE" dirty="0"/>
              <a:t> die Tabelle öffnen:</a:t>
            </a:r>
          </a:p>
          <a:p>
            <a:pPr rtl="0"/>
            <a:r>
              <a:rPr lang="de-DE" sz="1200" kern="1200" dirty="0">
                <a:solidFill>
                  <a:schemeClr val="tx1"/>
                </a:solidFill>
                <a:latin typeface="+mn-lt"/>
                <a:ea typeface="+mn-ea"/>
                <a:cs typeface="+mn-cs"/>
              </a:rPr>
              <a:t>ZCDS_ORDER</a:t>
            </a:r>
          </a:p>
          <a:p>
            <a:r>
              <a:rPr lang="de-DE" dirty="0"/>
              <a:t>Kurz auf die Definition eingehen:</a:t>
            </a:r>
          </a:p>
          <a:p>
            <a:pPr rtl="0"/>
            <a:r>
              <a:rPr lang="de-DE" sz="1200" kern="1200" dirty="0" err="1">
                <a:solidFill>
                  <a:schemeClr val="tx1"/>
                </a:solidFill>
                <a:latin typeface="+mn-lt"/>
                <a:ea typeface="+mn-ea"/>
                <a:cs typeface="+mn-cs"/>
              </a:rPr>
              <a:t>define</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table</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zcds_order</a:t>
            </a:r>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key</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client</a:t>
            </a:r>
            <a:r>
              <a:rPr lang="de-DE" sz="1200" kern="1200" dirty="0">
                <a:solidFill>
                  <a:schemeClr val="tx1"/>
                </a:solidFill>
                <a:latin typeface="+mn-lt"/>
                <a:ea typeface="+mn-ea"/>
                <a:cs typeface="+mn-cs"/>
              </a:rPr>
              <a:t>             : </a:t>
            </a:r>
            <a:r>
              <a:rPr lang="de-DE" sz="1200" kern="1200" dirty="0" err="1">
                <a:solidFill>
                  <a:schemeClr val="tx1"/>
                </a:solidFill>
                <a:latin typeface="+mn-lt"/>
                <a:ea typeface="+mn-ea"/>
                <a:cs typeface="+mn-cs"/>
              </a:rPr>
              <a:t>abap.clnt</a:t>
            </a:r>
            <a:r>
              <a:rPr lang="de-DE" sz="1200" kern="1200" dirty="0">
                <a:solidFill>
                  <a:schemeClr val="tx1"/>
                </a:solidFill>
                <a:latin typeface="+mn-lt"/>
                <a:ea typeface="+mn-ea"/>
                <a:cs typeface="+mn-cs"/>
              </a:rPr>
              <a:t> not null;</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key</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order_id</a:t>
            </a:r>
            <a:r>
              <a:rPr lang="de-DE" sz="1200" kern="1200" dirty="0">
                <a:solidFill>
                  <a:schemeClr val="tx1"/>
                </a:solidFill>
                <a:latin typeface="+mn-lt"/>
                <a:ea typeface="+mn-ea"/>
                <a:cs typeface="+mn-cs"/>
              </a:rPr>
              <a:t>           : </a:t>
            </a:r>
            <a:r>
              <a:rPr lang="de-DE" sz="1200" kern="1200" dirty="0" err="1">
                <a:solidFill>
                  <a:schemeClr val="tx1"/>
                </a:solidFill>
                <a:latin typeface="+mn-lt"/>
                <a:ea typeface="+mn-ea"/>
                <a:cs typeface="+mn-cs"/>
              </a:rPr>
              <a:t>abap.char</a:t>
            </a:r>
            <a:r>
              <a:rPr lang="de-DE" sz="1200" kern="1200" dirty="0">
                <a:solidFill>
                  <a:schemeClr val="tx1"/>
                </a:solidFill>
                <a:latin typeface="+mn-lt"/>
                <a:ea typeface="+mn-ea"/>
                <a:cs typeface="+mn-cs"/>
              </a:rPr>
              <a:t>(10) not null;</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customer_id</a:t>
            </a:r>
            <a:r>
              <a:rPr lang="de-DE" sz="1200" kern="1200" dirty="0">
                <a:solidFill>
                  <a:schemeClr val="tx1"/>
                </a:solidFill>
                <a:latin typeface="+mn-lt"/>
                <a:ea typeface="+mn-ea"/>
                <a:cs typeface="+mn-cs"/>
              </a:rPr>
              <a:t>        : </a:t>
            </a:r>
            <a:r>
              <a:rPr lang="de-DE" sz="1200" kern="1200" dirty="0" err="1">
                <a:solidFill>
                  <a:schemeClr val="tx1"/>
                </a:solidFill>
                <a:latin typeface="+mn-lt"/>
                <a:ea typeface="+mn-ea"/>
                <a:cs typeface="+mn-cs"/>
              </a:rPr>
              <a:t>abap.char</a:t>
            </a:r>
            <a:r>
              <a:rPr lang="de-DE" sz="1200" kern="1200" dirty="0">
                <a:solidFill>
                  <a:schemeClr val="tx1"/>
                </a:solidFill>
                <a:latin typeface="+mn-lt"/>
                <a:ea typeface="+mn-ea"/>
                <a:cs typeface="+mn-cs"/>
              </a:rPr>
              <a:t>(10);</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order_date</a:t>
            </a:r>
            <a:r>
              <a:rPr lang="de-DE" sz="1200" kern="1200" dirty="0">
                <a:solidFill>
                  <a:schemeClr val="tx1"/>
                </a:solidFill>
                <a:latin typeface="+mn-lt"/>
                <a:ea typeface="+mn-ea"/>
                <a:cs typeface="+mn-cs"/>
              </a:rPr>
              <a:t>         : </a:t>
            </a:r>
            <a:r>
              <a:rPr lang="de-DE" sz="1200" kern="1200" dirty="0" err="1">
                <a:solidFill>
                  <a:schemeClr val="tx1"/>
                </a:solidFill>
                <a:latin typeface="+mn-lt"/>
                <a:ea typeface="+mn-ea"/>
                <a:cs typeface="+mn-cs"/>
              </a:rPr>
              <a:t>abap.dats</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requested_date</a:t>
            </a:r>
            <a:r>
              <a:rPr lang="de-DE" sz="1200" kern="1200" dirty="0">
                <a:solidFill>
                  <a:schemeClr val="tx1"/>
                </a:solidFill>
                <a:latin typeface="+mn-lt"/>
                <a:ea typeface="+mn-ea"/>
                <a:cs typeface="+mn-cs"/>
              </a:rPr>
              <a:t>     : </a:t>
            </a:r>
            <a:r>
              <a:rPr lang="de-DE" sz="1200" kern="1200" dirty="0" err="1">
                <a:solidFill>
                  <a:schemeClr val="tx1"/>
                </a:solidFill>
                <a:latin typeface="+mn-lt"/>
                <a:ea typeface="+mn-ea"/>
                <a:cs typeface="+mn-cs"/>
              </a:rPr>
              <a:t>abap.dats</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order_type</a:t>
            </a:r>
            <a:r>
              <a:rPr lang="de-DE" sz="1200" kern="1200" dirty="0">
                <a:solidFill>
                  <a:schemeClr val="tx1"/>
                </a:solidFill>
                <a:latin typeface="+mn-lt"/>
                <a:ea typeface="+mn-ea"/>
                <a:cs typeface="+mn-cs"/>
              </a:rPr>
              <a:t>         : </a:t>
            </a:r>
            <a:r>
              <a:rPr lang="de-DE" sz="1200" kern="1200" dirty="0" err="1">
                <a:solidFill>
                  <a:schemeClr val="tx1"/>
                </a:solidFill>
                <a:latin typeface="+mn-lt"/>
                <a:ea typeface="+mn-ea"/>
                <a:cs typeface="+mn-cs"/>
              </a:rPr>
              <a:t>abap.char</a:t>
            </a:r>
            <a:r>
              <a:rPr lang="de-DE" sz="1200" kern="1200" dirty="0">
                <a:solidFill>
                  <a:schemeClr val="tx1"/>
                </a:solidFill>
                <a:latin typeface="+mn-lt"/>
                <a:ea typeface="+mn-ea"/>
                <a:cs typeface="+mn-cs"/>
              </a:rPr>
              <a:t>(1);</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order_status</a:t>
            </a:r>
            <a:r>
              <a:rPr lang="de-DE" sz="1200" kern="1200" dirty="0">
                <a:solidFill>
                  <a:schemeClr val="tx1"/>
                </a:solidFill>
                <a:latin typeface="+mn-lt"/>
                <a:ea typeface="+mn-ea"/>
                <a:cs typeface="+mn-cs"/>
              </a:rPr>
              <a:t>       : </a:t>
            </a:r>
            <a:r>
              <a:rPr lang="de-DE" sz="1200" kern="1200" dirty="0" err="1">
                <a:solidFill>
                  <a:schemeClr val="tx1"/>
                </a:solidFill>
                <a:latin typeface="+mn-lt"/>
                <a:ea typeface="+mn-ea"/>
                <a:cs typeface="+mn-cs"/>
              </a:rPr>
              <a:t>abap.char</a:t>
            </a:r>
            <a:r>
              <a:rPr lang="de-DE" sz="1200" kern="1200" dirty="0">
                <a:solidFill>
                  <a:schemeClr val="tx1"/>
                </a:solidFill>
                <a:latin typeface="+mn-lt"/>
                <a:ea typeface="+mn-ea"/>
                <a:cs typeface="+mn-cs"/>
              </a:rPr>
              <a:t>(1);</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sales_organization</a:t>
            </a:r>
            <a:r>
              <a:rPr lang="de-DE" sz="1200" kern="1200" dirty="0">
                <a:solidFill>
                  <a:schemeClr val="tx1"/>
                </a:solidFill>
                <a:latin typeface="+mn-lt"/>
                <a:ea typeface="+mn-ea"/>
                <a:cs typeface="+mn-cs"/>
              </a:rPr>
              <a:t> : </a:t>
            </a:r>
            <a:r>
              <a:rPr lang="de-DE" sz="1200" kern="1200" dirty="0" err="1">
                <a:solidFill>
                  <a:schemeClr val="tx1"/>
                </a:solidFill>
                <a:latin typeface="+mn-lt"/>
                <a:ea typeface="+mn-ea"/>
                <a:cs typeface="+mn-cs"/>
              </a:rPr>
              <a:t>abap.char</a:t>
            </a:r>
            <a:r>
              <a:rPr lang="de-DE" sz="1200" kern="1200" dirty="0">
                <a:solidFill>
                  <a:schemeClr val="tx1"/>
                </a:solidFill>
                <a:latin typeface="+mn-lt"/>
                <a:ea typeface="+mn-ea"/>
                <a:cs typeface="+mn-cs"/>
              </a:rPr>
              <a:t>(4);</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currency_code</a:t>
            </a:r>
            <a:r>
              <a:rPr lang="de-DE" sz="1200" kern="1200" dirty="0">
                <a:solidFill>
                  <a:schemeClr val="tx1"/>
                </a:solidFill>
                <a:latin typeface="+mn-lt"/>
                <a:ea typeface="+mn-ea"/>
                <a:cs typeface="+mn-cs"/>
              </a:rPr>
              <a:t>      : </a:t>
            </a:r>
            <a:r>
              <a:rPr lang="de-DE" sz="1200" kern="1200" dirty="0" err="1">
                <a:solidFill>
                  <a:schemeClr val="tx1"/>
                </a:solidFill>
                <a:latin typeface="+mn-lt"/>
                <a:ea typeface="+mn-ea"/>
                <a:cs typeface="+mn-cs"/>
              </a:rPr>
              <a:t>abap.cuky</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a:t>
            </a:r>
          </a:p>
          <a:p>
            <a:endParaRPr lang="de-DE" b="1" dirty="0"/>
          </a:p>
          <a:p>
            <a:r>
              <a:rPr lang="de-DE" b="1" dirty="0"/>
              <a:t>Erläuterungen während der Demo</a:t>
            </a:r>
          </a:p>
          <a:p>
            <a:pPr lvl="0"/>
            <a:r>
              <a:rPr lang="de-DE" sz="1200" kern="1200" dirty="0" err="1">
                <a:solidFill>
                  <a:schemeClr val="tx1"/>
                </a:solidFill>
                <a:latin typeface="+mn-lt"/>
                <a:ea typeface="+mn-ea"/>
                <a:cs typeface="+mn-cs"/>
              </a:rPr>
              <a:t>client</a:t>
            </a:r>
            <a:r>
              <a:rPr lang="de-DE" dirty="0"/>
              <a:t> und </a:t>
            </a:r>
            <a:r>
              <a:rPr lang="de-DE" sz="1200" kern="1200" dirty="0" err="1">
                <a:solidFill>
                  <a:schemeClr val="tx1"/>
                </a:solidFill>
                <a:latin typeface="+mn-lt"/>
                <a:ea typeface="+mn-ea"/>
                <a:cs typeface="+mn-cs"/>
              </a:rPr>
              <a:t>order_id</a:t>
            </a:r>
            <a:r>
              <a:rPr lang="de-DE" dirty="0"/>
              <a:t> bilden den technischen Tabellenschlüssel. </a:t>
            </a:r>
          </a:p>
          <a:p>
            <a:pPr lvl="0"/>
            <a:r>
              <a:rPr lang="de-DE" dirty="0"/>
              <a:t>Das Mandantenfeld wird in der CDS View Entity nicht ausdrücklich benötigt. </a:t>
            </a:r>
          </a:p>
          <a:p>
            <a:pPr lvl="0"/>
            <a:r>
              <a:rPr lang="de-DE" dirty="0"/>
              <a:t>Die Mandantenbehandlung erfolgt durch das ABAP-System. </a:t>
            </a:r>
          </a:p>
          <a:p>
            <a:pPr lvl="0"/>
            <a:r>
              <a:rPr lang="de-DE" sz="1200" kern="1200" dirty="0" err="1">
                <a:solidFill>
                  <a:schemeClr val="tx1"/>
                </a:solidFill>
                <a:latin typeface="+mn-lt"/>
                <a:ea typeface="+mn-ea"/>
                <a:cs typeface="+mn-cs"/>
              </a:rPr>
              <a:t>order_id</a:t>
            </a:r>
            <a:r>
              <a:rPr lang="de-DE" dirty="0"/>
              <a:t> wird zum fachlichen Schlüssel der View. </a:t>
            </a:r>
          </a:p>
          <a:p>
            <a:pPr lvl="0"/>
            <a:r>
              <a:rPr lang="de-DE" dirty="0"/>
              <a:t>Die Tabelle enthält bewusst nur Fremdschlüsselwerte, noch keine Beziehungen zu anderen CDS Views. </a:t>
            </a:r>
          </a:p>
          <a:p>
            <a:r>
              <a:rPr lang="de-DE" dirty="0"/>
              <a:t>Anschließend über das Kontextmenü der Tabelle die </a:t>
            </a:r>
            <a:r>
              <a:rPr lang="de-DE" b="1" dirty="0"/>
              <a:t>Data Preview</a:t>
            </a:r>
            <a:r>
              <a:rPr lang="de-DE" dirty="0"/>
              <a:t> öffnen.</a:t>
            </a:r>
          </a:p>
          <a:p>
            <a:endParaRPr lang="de-DE" b="1" dirty="0"/>
          </a:p>
          <a:p>
            <a:r>
              <a:rPr lang="de-DE" b="1" dirty="0"/>
              <a:t>Moderationshinweis</a:t>
            </a:r>
          </a:p>
          <a:p>
            <a:r>
              <a:rPr lang="de-DE" dirty="0"/>
              <a:t>Noch nicht über Statusbezeichnungen oder Kundenname sprechen. Genau diese Unzulänglichkeiten des Tabellenzugriffs motivieren die folgenden Ausbaustufen.</a:t>
            </a:r>
          </a:p>
          <a:p>
            <a:br>
              <a:rPr lang="de-DE" dirty="0"/>
            </a:br>
            <a:endParaRPr lang="de-DE" dirty="0"/>
          </a:p>
          <a:p>
            <a:r>
              <a:rPr lang="de-DE" b="1" dirty="0"/>
              <a:t>2. Data Definition anlegen – ca. 3 Minuten</a:t>
            </a:r>
          </a:p>
          <a:p>
            <a:r>
              <a:rPr lang="de-DE" dirty="0"/>
              <a:t>Kontextmenü auf dem Paket:</a:t>
            </a:r>
          </a:p>
          <a:p>
            <a:pPr rtl="0"/>
            <a:r>
              <a:rPr lang="de-DE" sz="1200" kern="1200" dirty="0">
                <a:solidFill>
                  <a:schemeClr val="tx1"/>
                </a:solidFill>
                <a:latin typeface="+mn-lt"/>
                <a:ea typeface="+mn-ea"/>
                <a:cs typeface="+mn-cs"/>
              </a:rPr>
              <a:t>New → Other ABAP Repository </a:t>
            </a:r>
            <a:r>
              <a:rPr lang="de-DE" sz="1200" kern="1200" dirty="0" err="1">
                <a:solidFill>
                  <a:schemeClr val="tx1"/>
                </a:solidFill>
                <a:latin typeface="+mn-lt"/>
                <a:ea typeface="+mn-ea"/>
                <a:cs typeface="+mn-cs"/>
              </a:rPr>
              <a:t>Object</a:t>
            </a:r>
            <a:endParaRPr lang="de-DE" sz="1200" kern="1200" dirty="0">
              <a:solidFill>
                <a:schemeClr val="tx1"/>
              </a:solidFill>
              <a:latin typeface="+mn-lt"/>
              <a:ea typeface="+mn-ea"/>
              <a:cs typeface="+mn-cs"/>
            </a:endParaRPr>
          </a:p>
          <a:p>
            <a:r>
              <a:rPr lang="de-DE" dirty="0"/>
              <a:t>Nach folgendem Objekttyp suchen:</a:t>
            </a:r>
          </a:p>
          <a:p>
            <a:pPr rtl="0"/>
            <a:r>
              <a:rPr lang="de-DE" sz="1200" kern="1200" dirty="0">
                <a:solidFill>
                  <a:schemeClr val="tx1"/>
                </a:solidFill>
                <a:latin typeface="+mn-lt"/>
                <a:ea typeface="+mn-ea"/>
                <a:cs typeface="+mn-cs"/>
              </a:rPr>
              <a:t>Data Definition</a:t>
            </a:r>
          </a:p>
          <a:p>
            <a:r>
              <a:rPr lang="de-DE" dirty="0"/>
              <a:t>Eingaben:</a:t>
            </a:r>
          </a:p>
          <a:p>
            <a:pPr rtl="0"/>
            <a:r>
              <a:rPr lang="de-DE" sz="1200" kern="1200" dirty="0">
                <a:solidFill>
                  <a:schemeClr val="tx1"/>
                </a:solidFill>
                <a:latin typeface="+mn-lt"/>
                <a:ea typeface="+mn-ea"/>
                <a:cs typeface="+mn-cs"/>
              </a:rPr>
              <a:t>Name:        ZI_CDSORDER</a:t>
            </a:r>
          </a:p>
          <a:p>
            <a:pPr rtl="0"/>
            <a:r>
              <a:rPr lang="de-DE" sz="1200" kern="1200" dirty="0">
                <a:solidFill>
                  <a:schemeClr val="tx1"/>
                </a:solidFill>
                <a:latin typeface="+mn-lt"/>
                <a:ea typeface="+mn-ea"/>
                <a:cs typeface="+mn-cs"/>
              </a:rPr>
              <a:t>Description: CDS Workshop: Aufträge</a:t>
            </a:r>
          </a:p>
          <a:p>
            <a:pPr rtl="0"/>
            <a:r>
              <a:rPr lang="de-DE" sz="1200" kern="1200" dirty="0">
                <a:solidFill>
                  <a:schemeClr val="tx1"/>
                </a:solidFill>
                <a:latin typeface="+mn-lt"/>
                <a:ea typeface="+mn-ea"/>
                <a:cs typeface="+mn-cs"/>
              </a:rPr>
              <a:t>Package:     ZCDS_WORKSHOP</a:t>
            </a:r>
          </a:p>
          <a:p>
            <a:r>
              <a:rPr lang="de-DE" dirty="0"/>
              <a:t>Passenden Transportauftrag auswählen.</a:t>
            </a:r>
          </a:p>
          <a:p>
            <a:r>
              <a:rPr lang="de-DE" dirty="0"/>
              <a:t>Falls ADT eine Vorlage anbietet:</a:t>
            </a:r>
          </a:p>
          <a:p>
            <a:pPr rtl="0"/>
            <a:r>
              <a:rPr lang="de-DE" sz="1200" kern="1200" dirty="0">
                <a:solidFill>
                  <a:schemeClr val="tx1"/>
                </a:solidFill>
                <a:latin typeface="+mn-lt"/>
                <a:ea typeface="+mn-ea"/>
                <a:cs typeface="+mn-cs"/>
              </a:rPr>
              <a:t>Define View Entity</a:t>
            </a:r>
          </a:p>
          <a:p>
            <a:r>
              <a:rPr lang="de-DE" b="1" dirty="0"/>
              <a:t>Erläuterungen während der Demo</a:t>
            </a:r>
          </a:p>
          <a:p>
            <a:r>
              <a:rPr lang="de-DE" dirty="0"/>
              <a:t>Eine </a:t>
            </a:r>
            <a:r>
              <a:rPr lang="de-DE" b="1" dirty="0"/>
              <a:t>Data Definition</a:t>
            </a:r>
            <a:r>
              <a:rPr lang="de-DE" dirty="0"/>
              <a:t> ist das Repository-Objekt. Darin definieren wir eine CDS View Entity.</a:t>
            </a:r>
          </a:p>
          <a:p>
            <a:r>
              <a:rPr lang="de-DE" dirty="0"/>
              <a:t>Der Name wird im Repository üblicherweise in Großbuchstaben angezeigt. Im CDS-Quelltext verwenden wir zur besseren Lesbarkeit:</a:t>
            </a:r>
          </a:p>
          <a:p>
            <a:pPr rtl="0"/>
            <a:r>
              <a:rPr lang="de-DE" sz="1200" kern="1200" dirty="0" err="1">
                <a:solidFill>
                  <a:schemeClr val="tx1"/>
                </a:solidFill>
                <a:latin typeface="+mn-lt"/>
                <a:ea typeface="+mn-ea"/>
                <a:cs typeface="+mn-cs"/>
              </a:rPr>
              <a:t>ZI_CDSOrder</a:t>
            </a:r>
            <a:endParaRPr lang="de-DE" sz="1200" kern="1200" dirty="0">
              <a:solidFill>
                <a:schemeClr val="tx1"/>
              </a:solidFill>
              <a:latin typeface="+mn-lt"/>
              <a:ea typeface="+mn-ea"/>
              <a:cs typeface="+mn-cs"/>
            </a:endParaRPr>
          </a:p>
          <a:p>
            <a:r>
              <a:rPr lang="de-DE" dirty="0"/>
              <a:t>ABAP-Namen sind nicht </a:t>
            </a:r>
            <a:r>
              <a:rPr lang="de-DE" dirty="0" err="1"/>
              <a:t>case</a:t>
            </a:r>
            <a:r>
              <a:rPr lang="de-DE" dirty="0"/>
              <a:t>-sensitive.</a:t>
            </a:r>
          </a:p>
          <a:p>
            <a:br>
              <a:rPr lang="de-DE" dirty="0"/>
            </a:br>
            <a:endParaRPr lang="de-DE" dirty="0"/>
          </a:p>
          <a:p>
            <a:r>
              <a:rPr lang="de-DE" b="1" dirty="0"/>
              <a:t>3. Minimale View Entity schreiben – ca. 5 Minuten</a:t>
            </a:r>
          </a:p>
          <a:p>
            <a:r>
              <a:rPr lang="de-DE" dirty="0"/>
              <a:t>Zunächst nur den kleinsten funktionsfähigen Stand eingeben:</a:t>
            </a:r>
          </a:p>
          <a:p>
            <a:pPr rtl="0"/>
            <a:r>
              <a:rPr lang="de-DE" sz="1200" kern="1200" dirty="0">
                <a:solidFill>
                  <a:schemeClr val="tx1"/>
                </a:solidFill>
                <a:latin typeface="+mn-lt"/>
                <a:ea typeface="+mn-ea"/>
                <a:cs typeface="+mn-cs"/>
              </a:rPr>
              <a:t>@EndUserText.label: 'CDS Workshop: Aufträge'</a:t>
            </a:r>
          </a:p>
          <a:p>
            <a:pPr rtl="0"/>
            <a:r>
              <a:rPr lang="de-DE" sz="1200" kern="1200" dirty="0">
                <a:solidFill>
                  <a:schemeClr val="tx1"/>
                </a:solidFill>
                <a:latin typeface="+mn-lt"/>
                <a:ea typeface="+mn-ea"/>
                <a:cs typeface="+mn-cs"/>
              </a:rPr>
              <a:t>@AccessControl.authorizationCheck: #NOT_REQUIRED</a:t>
            </a:r>
          </a:p>
          <a:p>
            <a:pPr rtl="0"/>
            <a:r>
              <a:rPr lang="de-DE" sz="1200" kern="1200" dirty="0" err="1">
                <a:solidFill>
                  <a:schemeClr val="tx1"/>
                </a:solidFill>
                <a:latin typeface="+mn-lt"/>
                <a:ea typeface="+mn-ea"/>
                <a:cs typeface="+mn-cs"/>
              </a:rPr>
              <a:t>define</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view</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entity</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ZI_CDSOrder</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as </a:t>
            </a:r>
            <a:r>
              <a:rPr lang="de-DE" sz="1200" kern="1200" dirty="0" err="1">
                <a:solidFill>
                  <a:schemeClr val="tx1"/>
                </a:solidFill>
                <a:latin typeface="+mn-lt"/>
                <a:ea typeface="+mn-ea"/>
                <a:cs typeface="+mn-cs"/>
              </a:rPr>
              <a:t>select</a:t>
            </a:r>
            <a:r>
              <a:rPr lang="de-DE" sz="1200" kern="1200" dirty="0">
                <a:solidFill>
                  <a:schemeClr val="tx1"/>
                </a:solidFill>
                <a:latin typeface="+mn-lt"/>
                <a:ea typeface="+mn-ea"/>
                <a:cs typeface="+mn-cs"/>
              </a:rPr>
              <a:t> from </a:t>
            </a:r>
            <a:r>
              <a:rPr lang="de-DE" sz="1200" kern="1200" dirty="0" err="1">
                <a:solidFill>
                  <a:schemeClr val="tx1"/>
                </a:solidFill>
                <a:latin typeface="+mn-lt"/>
                <a:ea typeface="+mn-ea"/>
                <a:cs typeface="+mn-cs"/>
              </a:rPr>
              <a:t>zcds_order</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key</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order_id</a:t>
            </a:r>
            <a:r>
              <a:rPr lang="de-DE" sz="1200" kern="1200" dirty="0">
                <a:solidFill>
                  <a:schemeClr val="tx1"/>
                </a:solidFill>
                <a:latin typeface="+mn-lt"/>
                <a:ea typeface="+mn-ea"/>
                <a:cs typeface="+mn-cs"/>
              </a:rPr>
              <a:t> as </a:t>
            </a:r>
            <a:r>
              <a:rPr lang="de-DE" sz="1200" kern="1200" dirty="0" err="1">
                <a:solidFill>
                  <a:schemeClr val="tx1"/>
                </a:solidFill>
                <a:latin typeface="+mn-lt"/>
                <a:ea typeface="+mn-ea"/>
                <a:cs typeface="+mn-cs"/>
              </a:rPr>
              <a:t>OrderId</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a:t>
            </a:r>
          </a:p>
          <a:p>
            <a:r>
              <a:rPr lang="de-DE" b="1" dirty="0"/>
              <a:t>Während des Tippens erläutern</a:t>
            </a:r>
          </a:p>
          <a:p>
            <a:pPr rtl="0"/>
            <a:r>
              <a:rPr lang="de-DE" sz="1200" kern="1200" dirty="0">
                <a:solidFill>
                  <a:schemeClr val="tx1"/>
                </a:solidFill>
                <a:latin typeface="+mn-lt"/>
                <a:ea typeface="+mn-ea"/>
                <a:cs typeface="+mn-cs"/>
              </a:rPr>
              <a:t>@EndUserText.label</a:t>
            </a:r>
          </a:p>
          <a:p>
            <a:r>
              <a:rPr lang="de-DE" dirty="0"/>
              <a:t>liefert eine sprachabhängige Beschreibung der View.</a:t>
            </a:r>
          </a:p>
          <a:p>
            <a:pPr rtl="0"/>
            <a:r>
              <a:rPr lang="de-DE" sz="1200" kern="1200" dirty="0">
                <a:solidFill>
                  <a:schemeClr val="tx1"/>
                </a:solidFill>
                <a:latin typeface="+mn-lt"/>
                <a:ea typeface="+mn-ea"/>
                <a:cs typeface="+mn-cs"/>
              </a:rPr>
              <a:t>@AccessControl.authorizationCheck: #NOT_REQUIRED</a:t>
            </a:r>
          </a:p>
          <a:p>
            <a:r>
              <a:rPr lang="de-DE" dirty="0"/>
              <a:t>legt fest, dass für diese View derzeit keine CDS-Zugriffskontrolle erforderlich ist. Im letzten Abschnitt des Kurses werden wir diese Entscheidung ändern.</a:t>
            </a:r>
          </a:p>
          <a:p>
            <a:pPr rtl="0"/>
            <a:r>
              <a:rPr lang="de-DE" sz="1200" kern="1200" dirty="0" err="1">
                <a:solidFill>
                  <a:schemeClr val="tx1"/>
                </a:solidFill>
                <a:latin typeface="+mn-lt"/>
                <a:ea typeface="+mn-ea"/>
                <a:cs typeface="+mn-cs"/>
              </a:rPr>
              <a:t>define</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view</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entity</a:t>
            </a:r>
            <a:endParaRPr lang="de-DE" sz="1200" kern="1200" dirty="0">
              <a:solidFill>
                <a:schemeClr val="tx1"/>
              </a:solidFill>
              <a:latin typeface="+mn-lt"/>
              <a:ea typeface="+mn-ea"/>
              <a:cs typeface="+mn-cs"/>
            </a:endParaRPr>
          </a:p>
          <a:p>
            <a:r>
              <a:rPr lang="de-DE" dirty="0"/>
              <a:t>definiert die moderne Form einer CDS View.</a:t>
            </a:r>
          </a:p>
          <a:p>
            <a:pPr rtl="0"/>
            <a:r>
              <a:rPr lang="de-DE" sz="1200" kern="1200" dirty="0">
                <a:solidFill>
                  <a:schemeClr val="tx1"/>
                </a:solidFill>
                <a:latin typeface="+mn-lt"/>
                <a:ea typeface="+mn-ea"/>
                <a:cs typeface="+mn-cs"/>
              </a:rPr>
              <a:t>as </a:t>
            </a:r>
            <a:r>
              <a:rPr lang="de-DE" sz="1200" kern="1200" dirty="0" err="1">
                <a:solidFill>
                  <a:schemeClr val="tx1"/>
                </a:solidFill>
                <a:latin typeface="+mn-lt"/>
                <a:ea typeface="+mn-ea"/>
                <a:cs typeface="+mn-cs"/>
              </a:rPr>
              <a:t>select</a:t>
            </a:r>
            <a:r>
              <a:rPr lang="de-DE" sz="1200" kern="1200" dirty="0">
                <a:solidFill>
                  <a:schemeClr val="tx1"/>
                </a:solidFill>
                <a:latin typeface="+mn-lt"/>
                <a:ea typeface="+mn-ea"/>
                <a:cs typeface="+mn-cs"/>
              </a:rPr>
              <a:t> from </a:t>
            </a:r>
            <a:r>
              <a:rPr lang="de-DE" sz="1200" kern="1200" dirty="0" err="1">
                <a:solidFill>
                  <a:schemeClr val="tx1"/>
                </a:solidFill>
                <a:latin typeface="+mn-lt"/>
                <a:ea typeface="+mn-ea"/>
                <a:cs typeface="+mn-cs"/>
              </a:rPr>
              <a:t>zcds_order</a:t>
            </a:r>
            <a:endParaRPr lang="de-DE" sz="1200" kern="1200" dirty="0">
              <a:solidFill>
                <a:schemeClr val="tx1"/>
              </a:solidFill>
              <a:latin typeface="+mn-lt"/>
              <a:ea typeface="+mn-ea"/>
              <a:cs typeface="+mn-cs"/>
            </a:endParaRPr>
          </a:p>
          <a:p>
            <a:r>
              <a:rPr lang="de-DE" dirty="0"/>
              <a:t>legt die Datenquelle fest.</a:t>
            </a:r>
          </a:p>
          <a:p>
            <a:pPr rtl="0"/>
            <a:r>
              <a:rPr lang="de-DE" sz="1200" kern="1200" dirty="0" err="1">
                <a:solidFill>
                  <a:schemeClr val="tx1"/>
                </a:solidFill>
                <a:latin typeface="+mn-lt"/>
                <a:ea typeface="+mn-ea"/>
                <a:cs typeface="+mn-cs"/>
              </a:rPr>
              <a:t>key</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order_id</a:t>
            </a:r>
            <a:r>
              <a:rPr lang="de-DE" sz="1200" kern="1200" dirty="0">
                <a:solidFill>
                  <a:schemeClr val="tx1"/>
                </a:solidFill>
                <a:latin typeface="+mn-lt"/>
                <a:ea typeface="+mn-ea"/>
                <a:cs typeface="+mn-cs"/>
              </a:rPr>
              <a:t> as </a:t>
            </a:r>
            <a:r>
              <a:rPr lang="de-DE" sz="1200" kern="1200" dirty="0" err="1">
                <a:solidFill>
                  <a:schemeClr val="tx1"/>
                </a:solidFill>
                <a:latin typeface="+mn-lt"/>
                <a:ea typeface="+mn-ea"/>
                <a:cs typeface="+mn-cs"/>
              </a:rPr>
              <a:t>OrderId</a:t>
            </a:r>
            <a:endParaRPr lang="de-DE" sz="1200" kern="1200" dirty="0">
              <a:solidFill>
                <a:schemeClr val="tx1"/>
              </a:solidFill>
              <a:latin typeface="+mn-lt"/>
              <a:ea typeface="+mn-ea"/>
              <a:cs typeface="+mn-cs"/>
            </a:endParaRPr>
          </a:p>
          <a:p>
            <a:r>
              <a:rPr lang="de-DE" dirty="0"/>
              <a:t>übernimmt </a:t>
            </a:r>
            <a:r>
              <a:rPr lang="de-DE" sz="1200" kern="1200" dirty="0" err="1">
                <a:solidFill>
                  <a:schemeClr val="tx1"/>
                </a:solidFill>
                <a:latin typeface="+mn-lt"/>
                <a:ea typeface="+mn-ea"/>
                <a:cs typeface="+mn-cs"/>
              </a:rPr>
              <a:t>order_id</a:t>
            </a:r>
            <a:r>
              <a:rPr lang="de-DE" dirty="0"/>
              <a:t>, kennzeichnet es als Schlüssel der View und gibt dem Element den Namen </a:t>
            </a:r>
            <a:r>
              <a:rPr lang="de-DE" sz="1200" kern="1200" dirty="0" err="1">
                <a:solidFill>
                  <a:schemeClr val="tx1"/>
                </a:solidFill>
                <a:latin typeface="+mn-lt"/>
                <a:ea typeface="+mn-ea"/>
                <a:cs typeface="+mn-cs"/>
              </a:rPr>
              <a:t>OrderId</a:t>
            </a:r>
            <a:r>
              <a:rPr lang="de-DE" dirty="0"/>
              <a:t>.</a:t>
            </a:r>
          </a:p>
          <a:p>
            <a:r>
              <a:rPr lang="de-DE" b="1" dirty="0"/>
              <a:t>Wichtiger Hinweis im Vortrag</a:t>
            </a:r>
          </a:p>
          <a:p>
            <a:r>
              <a:rPr lang="de-DE" dirty="0"/>
              <a:t>Der mit </a:t>
            </a:r>
            <a:r>
              <a:rPr lang="de-DE" sz="1200" kern="1200" dirty="0" err="1">
                <a:solidFill>
                  <a:schemeClr val="tx1"/>
                </a:solidFill>
                <a:latin typeface="+mn-lt"/>
                <a:ea typeface="+mn-ea"/>
                <a:cs typeface="+mn-cs"/>
              </a:rPr>
              <a:t>key</a:t>
            </a:r>
            <a:r>
              <a:rPr lang="de-DE" dirty="0"/>
              <a:t> definierte CDS-Schlüssel erzeugt keinen zusätzlichen Datenbankschlüssel. Er beschreibt die erwartete Eindeutigkeit im Ergebnis der View.</a:t>
            </a:r>
          </a:p>
          <a:p>
            <a:r>
              <a:rPr lang="de-DE" dirty="0"/>
              <a:t>Jetzt aktivieren:</a:t>
            </a:r>
          </a:p>
          <a:p>
            <a:pPr rtl="0"/>
            <a:r>
              <a:rPr lang="de-DE" sz="1200" kern="1200" dirty="0">
                <a:solidFill>
                  <a:schemeClr val="tx1"/>
                </a:solidFill>
                <a:latin typeface="+mn-lt"/>
                <a:ea typeface="+mn-ea"/>
                <a:cs typeface="+mn-cs"/>
              </a:rPr>
              <a:t>Ctrl+F3</a:t>
            </a:r>
          </a:p>
          <a:p>
            <a:r>
              <a:rPr lang="de-DE" dirty="0"/>
              <a:t>Danach kurz auf die erfolgreiche Aktivierung hinweisen.</a:t>
            </a:r>
          </a:p>
          <a:p>
            <a:br>
              <a:rPr lang="de-DE" dirty="0"/>
            </a:br>
            <a:r>
              <a:rPr lang="de-DE" b="1" dirty="0"/>
              <a:t>4. Erste Data Preview – ca. 2 Minuten</a:t>
            </a:r>
          </a:p>
          <a:p>
            <a:r>
              <a:rPr lang="de-DE" dirty="0"/>
              <a:t>Die View im Project Explorer markieren und öffnen:</a:t>
            </a:r>
          </a:p>
          <a:p>
            <a:pPr rtl="0"/>
            <a:r>
              <a:rPr lang="de-DE" sz="1200" kern="1200" dirty="0">
                <a:solidFill>
                  <a:schemeClr val="tx1"/>
                </a:solidFill>
                <a:latin typeface="+mn-lt"/>
                <a:ea typeface="+mn-ea"/>
                <a:cs typeface="+mn-cs"/>
              </a:rPr>
              <a:t>Open With → Data Preview</a:t>
            </a:r>
          </a:p>
          <a:p>
            <a:r>
              <a:rPr lang="de-DE" dirty="0"/>
              <a:t>Alternativ je nach ADT-Version:</a:t>
            </a:r>
          </a:p>
          <a:p>
            <a:pPr rtl="0"/>
            <a:r>
              <a:rPr lang="de-DE" sz="1200" kern="1200" dirty="0">
                <a:solidFill>
                  <a:schemeClr val="tx1"/>
                </a:solidFill>
                <a:latin typeface="+mn-lt"/>
                <a:ea typeface="+mn-ea"/>
                <a:cs typeface="+mn-cs"/>
              </a:rPr>
              <a:t>F8</a:t>
            </a:r>
          </a:p>
          <a:p>
            <a:r>
              <a:rPr lang="de-DE" dirty="0"/>
              <a:t>Zu sehen ist zunächst nur:</a:t>
            </a:r>
          </a:p>
          <a:p>
            <a:pPr rtl="0"/>
            <a:r>
              <a:rPr lang="de-DE" sz="1200" kern="1200" dirty="0" err="1">
                <a:solidFill>
                  <a:schemeClr val="tx1"/>
                </a:solidFill>
                <a:latin typeface="+mn-lt"/>
                <a:ea typeface="+mn-ea"/>
                <a:cs typeface="+mn-cs"/>
              </a:rPr>
              <a:t>OrderId</a:t>
            </a:r>
            <a:endParaRPr lang="de-DE" sz="1200" kern="1200" dirty="0">
              <a:solidFill>
                <a:schemeClr val="tx1"/>
              </a:solidFill>
              <a:latin typeface="+mn-lt"/>
              <a:ea typeface="+mn-ea"/>
              <a:cs typeface="+mn-cs"/>
            </a:endParaRPr>
          </a:p>
          <a:p>
            <a:r>
              <a:rPr lang="de-DE" dirty="0"/>
              <a:t>mit den sechs Aufträgen.</a:t>
            </a:r>
          </a:p>
          <a:p>
            <a:r>
              <a:rPr lang="de-DE" b="1" dirty="0"/>
              <a:t>Sprechtext während der Demo</a:t>
            </a:r>
          </a:p>
          <a:p>
            <a:r>
              <a:rPr lang="de-DE" dirty="0"/>
              <a:t>Wir haben bereits eine verwendbare CDS View Entity. Sie liest ausschließlich die Auftragsnummern aus der Tabelle.</a:t>
            </a:r>
          </a:p>
          <a:p>
            <a:r>
              <a:rPr lang="de-DE" dirty="0"/>
              <a:t>Das Ergebnis ist noch nicht besonders nützlich. Der kleine Zwischenstand zeigt aber, dass eine View Entity nicht erst dann aktivierbar ist, wenn das gesamte Datenmodell fertig ist. Wir können sie schrittweise entwickeln und nach jeder Änderung testen.</a:t>
            </a:r>
          </a:p>
          <a:p>
            <a:br>
              <a:rPr lang="de-DE" dirty="0"/>
            </a:br>
            <a:endParaRPr lang="de-DE" dirty="0"/>
          </a:p>
          <a:p>
            <a:r>
              <a:rPr lang="de-DE" b="1" dirty="0"/>
              <a:t>5. Weitere Elemente und Aliase ergänzen – ca. 5 Minuten</a:t>
            </a:r>
          </a:p>
          <a:p>
            <a:r>
              <a:rPr lang="de-DE" dirty="0"/>
              <a:t>Die Elementliste vervollständigen:</a:t>
            </a:r>
          </a:p>
          <a:p>
            <a:pPr rtl="0"/>
            <a:r>
              <a:rPr lang="de-DE" sz="1200" kern="1200" dirty="0">
                <a:solidFill>
                  <a:schemeClr val="tx1"/>
                </a:solidFill>
                <a:latin typeface="+mn-lt"/>
                <a:ea typeface="+mn-ea"/>
                <a:cs typeface="+mn-cs"/>
              </a:rPr>
              <a:t>@EndUserText.label: 'CDS Workshop: Aufträge'</a:t>
            </a:r>
          </a:p>
          <a:p>
            <a:pPr rtl="0"/>
            <a:r>
              <a:rPr lang="de-DE" sz="1200" kern="1200" dirty="0">
                <a:solidFill>
                  <a:schemeClr val="tx1"/>
                </a:solidFill>
                <a:latin typeface="+mn-lt"/>
                <a:ea typeface="+mn-ea"/>
                <a:cs typeface="+mn-cs"/>
              </a:rPr>
              <a:t>@AccessControl.authorizationCheck: #NOT_REQUIRED</a:t>
            </a:r>
          </a:p>
          <a:p>
            <a:pPr rtl="0"/>
            <a:r>
              <a:rPr lang="de-DE" sz="1200" kern="1200" dirty="0" err="1">
                <a:solidFill>
                  <a:schemeClr val="tx1"/>
                </a:solidFill>
                <a:latin typeface="+mn-lt"/>
                <a:ea typeface="+mn-ea"/>
                <a:cs typeface="+mn-cs"/>
              </a:rPr>
              <a:t>define</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view</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entity</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ZI_CDSOrder</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as </a:t>
            </a:r>
            <a:r>
              <a:rPr lang="de-DE" sz="1200" kern="1200" dirty="0" err="1">
                <a:solidFill>
                  <a:schemeClr val="tx1"/>
                </a:solidFill>
                <a:latin typeface="+mn-lt"/>
                <a:ea typeface="+mn-ea"/>
                <a:cs typeface="+mn-cs"/>
              </a:rPr>
              <a:t>select</a:t>
            </a:r>
            <a:r>
              <a:rPr lang="de-DE" sz="1200" kern="1200" dirty="0">
                <a:solidFill>
                  <a:schemeClr val="tx1"/>
                </a:solidFill>
                <a:latin typeface="+mn-lt"/>
                <a:ea typeface="+mn-ea"/>
                <a:cs typeface="+mn-cs"/>
              </a:rPr>
              <a:t> from </a:t>
            </a:r>
            <a:r>
              <a:rPr lang="de-DE" sz="1200" kern="1200" dirty="0" err="1">
                <a:solidFill>
                  <a:schemeClr val="tx1"/>
                </a:solidFill>
                <a:latin typeface="+mn-lt"/>
                <a:ea typeface="+mn-ea"/>
                <a:cs typeface="+mn-cs"/>
              </a:rPr>
              <a:t>zcds_order</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key</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order_id</a:t>
            </a:r>
            <a:r>
              <a:rPr lang="de-DE" sz="1200" kern="1200" dirty="0">
                <a:solidFill>
                  <a:schemeClr val="tx1"/>
                </a:solidFill>
                <a:latin typeface="+mn-lt"/>
                <a:ea typeface="+mn-ea"/>
                <a:cs typeface="+mn-cs"/>
              </a:rPr>
              <a:t>           as </a:t>
            </a:r>
            <a:r>
              <a:rPr lang="de-DE" sz="1200" kern="1200" dirty="0" err="1">
                <a:solidFill>
                  <a:schemeClr val="tx1"/>
                </a:solidFill>
                <a:latin typeface="+mn-lt"/>
                <a:ea typeface="+mn-ea"/>
                <a:cs typeface="+mn-cs"/>
              </a:rPr>
              <a:t>OrderId</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customer_id</a:t>
            </a:r>
            <a:r>
              <a:rPr lang="de-DE" sz="1200" kern="1200" dirty="0">
                <a:solidFill>
                  <a:schemeClr val="tx1"/>
                </a:solidFill>
                <a:latin typeface="+mn-lt"/>
                <a:ea typeface="+mn-ea"/>
                <a:cs typeface="+mn-cs"/>
              </a:rPr>
              <a:t>        as </a:t>
            </a:r>
            <a:r>
              <a:rPr lang="de-DE" sz="1200" kern="1200" dirty="0" err="1">
                <a:solidFill>
                  <a:schemeClr val="tx1"/>
                </a:solidFill>
                <a:latin typeface="+mn-lt"/>
                <a:ea typeface="+mn-ea"/>
                <a:cs typeface="+mn-cs"/>
              </a:rPr>
              <a:t>CustomerId</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order_date</a:t>
            </a:r>
            <a:r>
              <a:rPr lang="de-DE" sz="1200" kern="1200" dirty="0">
                <a:solidFill>
                  <a:schemeClr val="tx1"/>
                </a:solidFill>
                <a:latin typeface="+mn-lt"/>
                <a:ea typeface="+mn-ea"/>
                <a:cs typeface="+mn-cs"/>
              </a:rPr>
              <a:t>         as </a:t>
            </a:r>
            <a:r>
              <a:rPr lang="de-DE" sz="1200" kern="1200" dirty="0" err="1">
                <a:solidFill>
                  <a:schemeClr val="tx1"/>
                </a:solidFill>
                <a:latin typeface="+mn-lt"/>
                <a:ea typeface="+mn-ea"/>
                <a:cs typeface="+mn-cs"/>
              </a:rPr>
              <a:t>OrderDate</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requested_date</a:t>
            </a:r>
            <a:r>
              <a:rPr lang="de-DE" sz="1200" kern="1200" dirty="0">
                <a:solidFill>
                  <a:schemeClr val="tx1"/>
                </a:solidFill>
                <a:latin typeface="+mn-lt"/>
                <a:ea typeface="+mn-ea"/>
                <a:cs typeface="+mn-cs"/>
              </a:rPr>
              <a:t>     as </a:t>
            </a:r>
            <a:r>
              <a:rPr lang="de-DE" sz="1200" kern="1200" dirty="0" err="1">
                <a:solidFill>
                  <a:schemeClr val="tx1"/>
                </a:solidFill>
                <a:latin typeface="+mn-lt"/>
                <a:ea typeface="+mn-ea"/>
                <a:cs typeface="+mn-cs"/>
              </a:rPr>
              <a:t>RequestedDate</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order_type</a:t>
            </a:r>
            <a:r>
              <a:rPr lang="de-DE" sz="1200" kern="1200" dirty="0">
                <a:solidFill>
                  <a:schemeClr val="tx1"/>
                </a:solidFill>
                <a:latin typeface="+mn-lt"/>
                <a:ea typeface="+mn-ea"/>
                <a:cs typeface="+mn-cs"/>
              </a:rPr>
              <a:t>         as </a:t>
            </a:r>
            <a:r>
              <a:rPr lang="de-DE" sz="1200" kern="1200" dirty="0" err="1">
                <a:solidFill>
                  <a:schemeClr val="tx1"/>
                </a:solidFill>
                <a:latin typeface="+mn-lt"/>
                <a:ea typeface="+mn-ea"/>
                <a:cs typeface="+mn-cs"/>
              </a:rPr>
              <a:t>OrderType</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order_status</a:t>
            </a:r>
            <a:r>
              <a:rPr lang="de-DE" sz="1200" kern="1200" dirty="0">
                <a:solidFill>
                  <a:schemeClr val="tx1"/>
                </a:solidFill>
                <a:latin typeface="+mn-lt"/>
                <a:ea typeface="+mn-ea"/>
                <a:cs typeface="+mn-cs"/>
              </a:rPr>
              <a:t>       as </a:t>
            </a:r>
            <a:r>
              <a:rPr lang="de-DE" sz="1200" kern="1200" dirty="0" err="1">
                <a:solidFill>
                  <a:schemeClr val="tx1"/>
                </a:solidFill>
                <a:latin typeface="+mn-lt"/>
                <a:ea typeface="+mn-ea"/>
                <a:cs typeface="+mn-cs"/>
              </a:rPr>
              <a:t>OrderStatus</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sales_organization</a:t>
            </a:r>
            <a:r>
              <a:rPr lang="de-DE" sz="1200" kern="1200" dirty="0">
                <a:solidFill>
                  <a:schemeClr val="tx1"/>
                </a:solidFill>
                <a:latin typeface="+mn-lt"/>
                <a:ea typeface="+mn-ea"/>
                <a:cs typeface="+mn-cs"/>
              </a:rPr>
              <a:t> as </a:t>
            </a:r>
            <a:r>
              <a:rPr lang="de-DE" sz="1200" kern="1200" dirty="0" err="1">
                <a:solidFill>
                  <a:schemeClr val="tx1"/>
                </a:solidFill>
                <a:latin typeface="+mn-lt"/>
                <a:ea typeface="+mn-ea"/>
                <a:cs typeface="+mn-cs"/>
              </a:rPr>
              <a:t>SalesOrganization</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currency_code</a:t>
            </a:r>
            <a:r>
              <a:rPr lang="de-DE" sz="1200" kern="1200" dirty="0">
                <a:solidFill>
                  <a:schemeClr val="tx1"/>
                </a:solidFill>
                <a:latin typeface="+mn-lt"/>
                <a:ea typeface="+mn-ea"/>
                <a:cs typeface="+mn-cs"/>
              </a:rPr>
              <a:t>      as </a:t>
            </a:r>
            <a:r>
              <a:rPr lang="de-DE" sz="1200" kern="1200" dirty="0" err="1">
                <a:solidFill>
                  <a:schemeClr val="tx1"/>
                </a:solidFill>
                <a:latin typeface="+mn-lt"/>
                <a:ea typeface="+mn-ea"/>
                <a:cs typeface="+mn-cs"/>
              </a:rPr>
              <a:t>CurrencyCode</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a:t>
            </a:r>
          </a:p>
          <a:p>
            <a:r>
              <a:rPr lang="de-DE" dirty="0"/>
              <a:t>Erneut aktivieren:</a:t>
            </a:r>
          </a:p>
          <a:p>
            <a:pPr rtl="0"/>
            <a:r>
              <a:rPr lang="de-DE" sz="1200" kern="1200" dirty="0">
                <a:solidFill>
                  <a:schemeClr val="tx1"/>
                </a:solidFill>
                <a:latin typeface="+mn-lt"/>
                <a:ea typeface="+mn-ea"/>
                <a:cs typeface="+mn-cs"/>
              </a:rPr>
              <a:t>Ctrl+F3</a:t>
            </a:r>
          </a:p>
          <a:p>
            <a:r>
              <a:rPr lang="de-DE" b="1" dirty="0"/>
              <a:t>Erläuterungen während der Demo</a:t>
            </a:r>
          </a:p>
          <a:p>
            <a:pPr lvl="0"/>
            <a:r>
              <a:rPr lang="de-DE" dirty="0"/>
              <a:t>Die Kommata trennen die Elemente der Projektion. </a:t>
            </a:r>
          </a:p>
          <a:p>
            <a:pPr lvl="0"/>
            <a:r>
              <a:rPr lang="de-DE" sz="1200" kern="1200" dirty="0">
                <a:solidFill>
                  <a:schemeClr val="tx1"/>
                </a:solidFill>
                <a:latin typeface="+mn-lt"/>
                <a:ea typeface="+mn-ea"/>
                <a:cs typeface="+mn-cs"/>
              </a:rPr>
              <a:t>as</a:t>
            </a:r>
            <a:r>
              <a:rPr lang="de-DE" dirty="0"/>
              <a:t> vergibt einen Alias für ein Element. </a:t>
            </a:r>
          </a:p>
          <a:p>
            <a:pPr lvl="0"/>
            <a:r>
              <a:rPr lang="de-DE" dirty="0"/>
              <a:t>Die Aliase gehören zur öffentlichen Schnittstelle der View. </a:t>
            </a:r>
          </a:p>
          <a:p>
            <a:pPr lvl="0"/>
            <a:r>
              <a:rPr lang="de-DE" dirty="0"/>
              <a:t>Verbraucher verwenden später </a:t>
            </a:r>
            <a:r>
              <a:rPr lang="de-DE" sz="1200" kern="1200" dirty="0" err="1">
                <a:solidFill>
                  <a:schemeClr val="tx1"/>
                </a:solidFill>
                <a:latin typeface="+mn-lt"/>
                <a:ea typeface="+mn-ea"/>
                <a:cs typeface="+mn-cs"/>
              </a:rPr>
              <a:t>OrderId</a:t>
            </a:r>
            <a:r>
              <a:rPr lang="de-DE" dirty="0"/>
              <a:t> und nicht mehr </a:t>
            </a:r>
            <a:r>
              <a:rPr lang="de-DE" sz="1200" kern="1200" dirty="0" err="1">
                <a:solidFill>
                  <a:schemeClr val="tx1"/>
                </a:solidFill>
                <a:latin typeface="+mn-lt"/>
                <a:ea typeface="+mn-ea"/>
                <a:cs typeface="+mn-cs"/>
              </a:rPr>
              <a:t>order_id</a:t>
            </a:r>
            <a:r>
              <a:rPr lang="de-DE" dirty="0"/>
              <a:t>. </a:t>
            </a:r>
          </a:p>
          <a:p>
            <a:pPr lvl="0"/>
            <a:r>
              <a:rPr lang="de-DE" dirty="0"/>
              <a:t>Änderungen an Elementnamen können daher Auswirkungen auf abhängige Objekte haben. </a:t>
            </a:r>
          </a:p>
          <a:p>
            <a:pPr lvl="0"/>
            <a:r>
              <a:rPr lang="de-DE" sz="1200" kern="1200" dirty="0" err="1">
                <a:solidFill>
                  <a:schemeClr val="tx1"/>
                </a:solidFill>
                <a:latin typeface="+mn-lt"/>
                <a:ea typeface="+mn-ea"/>
                <a:cs typeface="+mn-cs"/>
              </a:rPr>
              <a:t>CurrencyCode</a:t>
            </a:r>
            <a:r>
              <a:rPr lang="de-DE" dirty="0"/>
              <a:t> ist momentan ein normales Element. </a:t>
            </a:r>
          </a:p>
          <a:p>
            <a:pPr lvl="0"/>
            <a:r>
              <a:rPr lang="de-DE" dirty="0"/>
              <a:t>Eine Währungsbeziehung benötigen wir erst, wenn die View auch einen Betrag enthält. </a:t>
            </a:r>
          </a:p>
          <a:p>
            <a:r>
              <a:rPr lang="de-DE" b="1" dirty="0"/>
              <a:t>Optionaler ADT-Hinweis</a:t>
            </a:r>
          </a:p>
          <a:p>
            <a:r>
              <a:rPr lang="de-DE" dirty="0"/>
              <a:t>Mit der Inhaltshilfe kann man die verfügbaren Felder der Datenquelle einfügen:</a:t>
            </a:r>
          </a:p>
          <a:p>
            <a:pPr rtl="0"/>
            <a:r>
              <a:rPr lang="de-DE" sz="1200" kern="1200" dirty="0" err="1">
                <a:solidFill>
                  <a:schemeClr val="tx1"/>
                </a:solidFill>
                <a:latin typeface="+mn-lt"/>
                <a:ea typeface="+mn-ea"/>
                <a:cs typeface="+mn-cs"/>
              </a:rPr>
              <a:t>Ctrl+Space</a:t>
            </a:r>
            <a:endParaRPr lang="de-DE" sz="1200" kern="1200" dirty="0">
              <a:solidFill>
                <a:schemeClr val="tx1"/>
              </a:solidFill>
              <a:latin typeface="+mn-lt"/>
              <a:ea typeface="+mn-ea"/>
              <a:cs typeface="+mn-cs"/>
            </a:endParaRPr>
          </a:p>
          <a:p>
            <a:r>
              <a:rPr lang="de-DE" dirty="0"/>
              <a:t>Das ist während des Live-</a:t>
            </a:r>
            <a:r>
              <a:rPr lang="de-DE" dirty="0" err="1"/>
              <a:t>Codings</a:t>
            </a:r>
            <a:r>
              <a:rPr lang="de-DE" dirty="0"/>
              <a:t> nützlich und reduziert Tippfehler.</a:t>
            </a:r>
          </a:p>
          <a:p>
            <a:br>
              <a:rPr lang="de-DE" dirty="0"/>
            </a:br>
            <a:endParaRPr lang="de-DE" dirty="0"/>
          </a:p>
          <a:p>
            <a:r>
              <a:rPr lang="de-DE" b="1" dirty="0"/>
              <a:t>6. Ergebnis prüfen – ca. 2 Minuten</a:t>
            </a:r>
          </a:p>
          <a:p>
            <a:r>
              <a:rPr lang="de-DE" dirty="0"/>
              <a:t>Data Preview erneut öffnen oder aktualisieren.</a:t>
            </a:r>
          </a:p>
          <a:p>
            <a:r>
              <a:rPr lang="de-DE" dirty="0"/>
              <a:t>Prüfen:</a:t>
            </a:r>
          </a:p>
          <a:p>
            <a:pPr lvl="0"/>
            <a:r>
              <a:rPr lang="de-DE" dirty="0"/>
              <a:t>sechs Datensätze vorhanden </a:t>
            </a:r>
          </a:p>
          <a:p>
            <a:pPr lvl="0"/>
            <a:r>
              <a:rPr lang="de-DE" dirty="0"/>
              <a:t>fachliche Feldnamen werden angezeigt </a:t>
            </a:r>
          </a:p>
          <a:p>
            <a:pPr lvl="0"/>
            <a:r>
              <a:rPr lang="de-DE" sz="1200" kern="1200" dirty="0" err="1">
                <a:solidFill>
                  <a:schemeClr val="tx1"/>
                </a:solidFill>
                <a:latin typeface="+mn-lt"/>
                <a:ea typeface="+mn-ea"/>
                <a:cs typeface="+mn-cs"/>
              </a:rPr>
              <a:t>OrderId</a:t>
            </a:r>
            <a:r>
              <a:rPr lang="de-DE" dirty="0"/>
              <a:t> ist als Schlüssel definiert </a:t>
            </a:r>
          </a:p>
          <a:p>
            <a:pPr lvl="0"/>
            <a:r>
              <a:rPr lang="de-DE" dirty="0"/>
              <a:t>Datumsfelder besitzen weiterhin ihren passenden ABAP-Typ </a:t>
            </a:r>
          </a:p>
          <a:p>
            <a:pPr lvl="0"/>
            <a:r>
              <a:rPr lang="de-DE" dirty="0"/>
              <a:t>das Mandantenfeld wird nicht exponiert </a:t>
            </a:r>
          </a:p>
          <a:p>
            <a:br>
              <a:rPr lang="de-DE" dirty="0"/>
            </a:br>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8</a:t>
            </a:fld>
            <a:endParaRPr lang="de-DE" dirty="0"/>
          </a:p>
        </p:txBody>
      </p:sp>
    </p:spTree>
    <p:extLst>
      <p:ext uri="{BB962C8B-B14F-4D97-AF65-F5344CB8AC3E}">
        <p14:creationId xmlns:p14="http://schemas.microsoft.com/office/powerpoint/2010/main" val="222314267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b="1" dirty="0"/>
              <a:t>Folie 8 – Zwischenstand: Unsere erste View Entity</a:t>
            </a:r>
          </a:p>
          <a:p>
            <a:r>
              <a:rPr lang="de-DE" dirty="0"/>
              <a:t>Erreicht:</a:t>
            </a:r>
          </a:p>
          <a:p>
            <a:pPr lvl="0"/>
            <a:r>
              <a:rPr lang="de-DE" dirty="0"/>
              <a:t>Datenquelle ausgewählt </a:t>
            </a:r>
          </a:p>
          <a:p>
            <a:pPr lvl="0"/>
            <a:r>
              <a:rPr lang="de-DE" dirty="0"/>
              <a:t>Elemente projiziert </a:t>
            </a:r>
          </a:p>
          <a:p>
            <a:pPr lvl="0"/>
            <a:r>
              <a:rPr lang="de-DE" dirty="0"/>
              <a:t>Schlüssel gekennzeichnet </a:t>
            </a:r>
          </a:p>
          <a:p>
            <a:pPr lvl="0"/>
            <a:r>
              <a:rPr lang="de-DE" dirty="0"/>
              <a:t>technische Feldnamen ersetzt </a:t>
            </a:r>
          </a:p>
          <a:p>
            <a:pPr lvl="0"/>
            <a:r>
              <a:rPr lang="de-DE" dirty="0"/>
              <a:t>Ergebnis in ADT geprüft </a:t>
            </a:r>
          </a:p>
          <a:p>
            <a:r>
              <a:rPr lang="de-DE" b="1" dirty="0"/>
              <a:t>Sprechertext</a:t>
            </a:r>
          </a:p>
          <a:p>
            <a:r>
              <a:rPr lang="de-DE" dirty="0"/>
              <a:t>Damit steht unser erster Entwicklungsstand.</a:t>
            </a:r>
          </a:p>
          <a:p>
            <a:r>
              <a:rPr lang="de-DE" dirty="0"/>
              <a:t>Die View Entity kapselt den Zugriff auf die Auftragstabelle und stellt den Verbrauchern eine stabilere, fachlich benannte Schnittstelle zur Verfügung.</a:t>
            </a:r>
          </a:p>
          <a:p>
            <a:r>
              <a:rPr lang="de-DE" dirty="0"/>
              <a:t>Noch liefert sie allerdings fast dieselben Informationen wie die Tabelle. Der Kundenname fehlt, Status und Auftragsart bestehen nur aus einzelnen Buchstaben, und berechnete Informationen gibt es ebenfalls noch nicht.</a:t>
            </a:r>
          </a:p>
          <a:p>
            <a:r>
              <a:rPr lang="de-DE" dirty="0"/>
              <a:t>Im nächsten Abschnitt schauen wir uns die Bestandteile der Definition genauer an. Anschließend erweitern wir die View um Ausdrücke, zusätzliche Metadaten und besser verständliche Werte.</a:t>
            </a:r>
          </a:p>
          <a:p>
            <a:r>
              <a:rPr lang="de-DE" b="1" dirty="0"/>
              <a:t>Regieplan für die ersten 35 Minuten</a:t>
            </a:r>
          </a:p>
          <a:p>
            <a:r>
              <a:rPr lang="de-DE" dirty="0"/>
              <a:t>Zeit</a:t>
            </a:r>
          </a:p>
          <a:p>
            <a:r>
              <a:rPr lang="de-DE" dirty="0"/>
              <a:t>Inhalt</a:t>
            </a:r>
          </a:p>
          <a:p>
            <a:r>
              <a:rPr lang="de-DE" dirty="0"/>
              <a:t>0:00–0:02Folie 1: Begrüßung und Ziele</a:t>
            </a:r>
          </a:p>
          <a:p>
            <a:r>
              <a:rPr lang="de-DE" dirty="0"/>
              <a:t>0:02–0:05Folie 2: Warum ein Datenmodell?</a:t>
            </a:r>
          </a:p>
          <a:p>
            <a:r>
              <a:rPr lang="de-DE" dirty="0"/>
              <a:t>0:05–0:08Folie 3: Begriff CDS View Entity</a:t>
            </a:r>
          </a:p>
          <a:p>
            <a:r>
              <a:rPr lang="de-DE" dirty="0"/>
              <a:t>0:08–0:11Folie 4: Abgrenzung zur klassischen CDS View</a:t>
            </a:r>
          </a:p>
          <a:p>
            <a:r>
              <a:rPr lang="de-DE" dirty="0"/>
              <a:t>0:11–0:14Folie 5: Vertriebsmodell</a:t>
            </a:r>
          </a:p>
          <a:p>
            <a:r>
              <a:rPr lang="de-DE" dirty="0"/>
              <a:t>0:14–0:15Folie 6: Vorgehen im Kurs</a:t>
            </a:r>
          </a:p>
          <a:p>
            <a:r>
              <a:rPr lang="de-DE" dirty="0"/>
              <a:t>0:15–0:18Ausgangstabelle und Daten zeigen</a:t>
            </a:r>
          </a:p>
          <a:p>
            <a:r>
              <a:rPr lang="de-DE" dirty="0"/>
              <a:t>0:18–0:21Data Definition anlegen</a:t>
            </a:r>
          </a:p>
          <a:p>
            <a:r>
              <a:rPr lang="de-DE" dirty="0"/>
              <a:t>0:21–0:26minimale View erstellen und aktivieren</a:t>
            </a:r>
          </a:p>
          <a:p>
            <a:r>
              <a:rPr lang="de-DE" dirty="0"/>
              <a:t>0:26–0:28erste Data Preview</a:t>
            </a:r>
          </a:p>
          <a:p>
            <a:r>
              <a:rPr lang="de-DE" dirty="0"/>
              <a:t>0:28–0:33Elemente und Aliase ergänzen</a:t>
            </a:r>
          </a:p>
          <a:p>
            <a:r>
              <a:rPr lang="de-DE" dirty="0"/>
              <a:t>0:33–0:35Ergebnis prüfen und Folie 8 zusammenfassen</a:t>
            </a:r>
          </a:p>
          <a:p>
            <a:r>
              <a:rPr lang="de-DE" dirty="0"/>
              <a:t>Damit ist der Übergang zum nächsten Theorieabschnitt „Elemente, Schlüssel, Aliase und grundlegende Annotationen“ vorbereitet.</a:t>
            </a:r>
          </a:p>
          <a:p>
            <a:endParaRPr lang="de-DE" dirty="0"/>
          </a:p>
          <a:p>
            <a:endParaRPr lang="de-DE" dirty="0"/>
          </a:p>
          <a:p>
            <a:endParaRPr lang="de-DE" dirty="0"/>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9</a:t>
            </a:fld>
            <a:endParaRPr lang="de-DE" dirty="0"/>
          </a:p>
        </p:txBody>
      </p:sp>
    </p:spTree>
    <p:extLst>
      <p:ext uri="{BB962C8B-B14F-4D97-AF65-F5344CB8AC3E}">
        <p14:creationId xmlns:p14="http://schemas.microsoft.com/office/powerpoint/2010/main" val="37587689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Schauen wir uns den Entwicklungsstand aus dem ersten Live-Coding etwas genauer an.</a:t>
            </a:r>
          </a:p>
          <a:p>
            <a:endParaRPr lang="de-DE" dirty="0"/>
          </a:p>
          <a:p>
            <a:r>
              <a:rPr lang="de-DE" dirty="0"/>
              <a:t>Vor der eigentlichen Definition stehen zwei Annotationen. Annotationen beginnen mit einem </a:t>
            </a:r>
            <a:r>
              <a:rPr lang="de-DE" sz="1200" kern="1200" dirty="0">
                <a:solidFill>
                  <a:schemeClr val="tx1"/>
                </a:solidFill>
                <a:latin typeface="+mn-lt"/>
                <a:ea typeface="+mn-ea"/>
                <a:cs typeface="+mn-cs"/>
              </a:rPr>
              <a:t>@</a:t>
            </a:r>
            <a:r>
              <a:rPr lang="de-DE" dirty="0"/>
              <a:t>-Zeichen und ergänzen die View Entity um Metadaten. Sie ändern nicht zwangsläufig die gelesenen Daten, beschreiben aber beispielsweise die Bedeutung, Verwendung oder Zugriffskontrolle einer View.</a:t>
            </a:r>
          </a:p>
          <a:p>
            <a:endParaRPr lang="de-DE" dirty="0"/>
          </a:p>
          <a:p>
            <a:r>
              <a:rPr lang="de-DE" dirty="0"/>
              <a:t>Nach </a:t>
            </a:r>
            <a:r>
              <a:rPr lang="de-DE" sz="1200" kern="1200" dirty="0" err="1">
                <a:solidFill>
                  <a:schemeClr val="tx1"/>
                </a:solidFill>
                <a:latin typeface="+mn-lt"/>
                <a:ea typeface="+mn-ea"/>
                <a:cs typeface="+mn-cs"/>
              </a:rPr>
              <a:t>define</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view</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entity</a:t>
            </a:r>
            <a:r>
              <a:rPr lang="de-DE" dirty="0"/>
              <a:t> folgt der Name unseres neuen Entwicklungsobjekts. Mit </a:t>
            </a:r>
            <a:r>
              <a:rPr lang="de-DE" sz="1200" kern="1200" dirty="0">
                <a:solidFill>
                  <a:schemeClr val="tx1"/>
                </a:solidFill>
                <a:latin typeface="+mn-lt"/>
                <a:ea typeface="+mn-ea"/>
                <a:cs typeface="+mn-cs"/>
              </a:rPr>
              <a:t>as </a:t>
            </a:r>
            <a:r>
              <a:rPr lang="de-DE" sz="1200" kern="1200" dirty="0" err="1">
                <a:solidFill>
                  <a:schemeClr val="tx1"/>
                </a:solidFill>
                <a:latin typeface="+mn-lt"/>
                <a:ea typeface="+mn-ea"/>
                <a:cs typeface="+mn-cs"/>
              </a:rPr>
              <a:t>select</a:t>
            </a:r>
            <a:r>
              <a:rPr lang="de-DE" sz="1200" kern="1200" dirty="0">
                <a:solidFill>
                  <a:schemeClr val="tx1"/>
                </a:solidFill>
                <a:latin typeface="+mn-lt"/>
                <a:ea typeface="+mn-ea"/>
                <a:cs typeface="+mn-cs"/>
              </a:rPr>
              <a:t> from</a:t>
            </a:r>
            <a:r>
              <a:rPr lang="de-DE" dirty="0"/>
              <a:t> geben wir die Datenquelle an. Im Moment ist das genau eine Datenbanktabelle.</a:t>
            </a:r>
          </a:p>
          <a:p>
            <a:endParaRPr lang="de-DE" dirty="0"/>
          </a:p>
          <a:p>
            <a:r>
              <a:rPr lang="de-DE" dirty="0"/>
              <a:t>In den geschweiften Klammern steht die Elementliste. Sie bestimmt, welche Felder ein Verbraucher tatsächlich sehen kann und unter welchen Namen sie bereitgestellt werden.</a:t>
            </a:r>
          </a:p>
          <a:p>
            <a:endParaRPr lang="de-DE" dirty="0"/>
          </a:p>
          <a:p>
            <a:r>
              <a:rPr lang="de-DE" dirty="0"/>
              <a:t>Später kommen weitere Bestandteile hinzu: berechnete Elemente, Bedingungen, Assoziationen und möglicherweise mehrere Datenquellen. Der grundlegende Aufbau bleibt aber derselbe.</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10</a:t>
            </a:fld>
            <a:endParaRPr lang="de-DE" dirty="0"/>
          </a:p>
        </p:txBody>
      </p:sp>
    </p:spTree>
    <p:extLst>
      <p:ext uri="{BB962C8B-B14F-4D97-AF65-F5344CB8AC3E}">
        <p14:creationId xmlns:p14="http://schemas.microsoft.com/office/powerpoint/2010/main" val="158914618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0E7E7D-9C9E-71F7-BA31-ADF9B86AF455}"/>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C6F8AB17-249D-B26D-9147-34F52979E67D}"/>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84F8CB9E-9005-F02E-592D-3697BE570AF0}"/>
              </a:ext>
            </a:extLst>
          </p:cNvPr>
          <p:cNvSpPr>
            <a:spLocks noGrp="1"/>
          </p:cNvSpPr>
          <p:nvPr>
            <p:ph type="body" idx="1"/>
          </p:nvPr>
        </p:nvSpPr>
        <p:spPr/>
        <p:txBody>
          <a:bodyPr/>
          <a:lstStyle/>
          <a:p>
            <a:r>
              <a:rPr lang="de-DE" dirty="0"/>
              <a:t>Der Inhalt zwischen den geschweiften Klammern wird als Projektion bezeichnet. Wir projizieren ausgewählte Bestandteile der Datenquelle auf die Struktur unserer View Entity.</a:t>
            </a:r>
          </a:p>
          <a:p>
            <a:endParaRPr lang="de-DE" dirty="0"/>
          </a:p>
          <a:p>
            <a:r>
              <a:rPr lang="de-DE" dirty="0"/>
              <a:t>Dabei müssen wir nicht sämtliche Felder der Tabelle übernehmen. Insbesondere technische oder nur intern benötigte Felder können verborgen bleiben.</a:t>
            </a:r>
          </a:p>
          <a:p>
            <a:endParaRPr lang="de-DE" dirty="0"/>
          </a:p>
          <a:p>
            <a:r>
              <a:rPr lang="de-DE" dirty="0"/>
              <a:t>Das Mandantenfeld der Tabelle wird beispielsweise nicht als Element unserer View veröffentlicht. Die Mandantenbehandlung übernimmt die ABAP-Laufzeit.</a:t>
            </a:r>
          </a:p>
          <a:p>
            <a:endParaRPr lang="de-DE" dirty="0"/>
          </a:p>
          <a:p>
            <a:r>
              <a:rPr lang="de-DE" dirty="0"/>
              <a:t>Die Projektion kann außerdem Elemente umbenennen und neue Elemente durch Ausdrücke erzeugen. Später werden wir auch Assoziationen in der Projektion veröffentlichen.</a:t>
            </a:r>
          </a:p>
          <a:p>
            <a:endParaRPr lang="de-DE" dirty="0"/>
          </a:p>
          <a:p>
            <a:r>
              <a:rPr lang="de-DE" dirty="0"/>
              <a:t>Die View Entity ist damit nicht einfach eine Kopie der Datenbanktabelle. Sie definiert eine bewusst gestaltete Schnittstelle für ihre Verbraucher.</a:t>
            </a:r>
          </a:p>
        </p:txBody>
      </p:sp>
      <p:sp>
        <p:nvSpPr>
          <p:cNvPr id="4" name="Foliennummernplatzhalter 3">
            <a:extLst>
              <a:ext uri="{FF2B5EF4-FFF2-40B4-BE49-F238E27FC236}">
                <a16:creationId xmlns:a16="http://schemas.microsoft.com/office/drawing/2014/main" id="{0FF82BCA-A9FF-168F-ED91-8737E6C6F3B8}"/>
              </a:ext>
            </a:extLst>
          </p:cNvPr>
          <p:cNvSpPr>
            <a:spLocks noGrp="1"/>
          </p:cNvSpPr>
          <p:nvPr>
            <p:ph type="sldNum" sz="quarter" idx="5"/>
          </p:nvPr>
        </p:nvSpPr>
        <p:spPr/>
        <p:txBody>
          <a:bodyPr/>
          <a:lstStyle/>
          <a:p>
            <a:fld id="{E9475E6B-8EF9-407D-AAC9-FC0EA114427C}" type="slidenum">
              <a:rPr lang="de-DE" smtClean="0"/>
              <a:t>11</a:t>
            </a:fld>
            <a:endParaRPr lang="de-DE" dirty="0"/>
          </a:p>
        </p:txBody>
      </p:sp>
    </p:spTree>
    <p:extLst>
      <p:ext uri="{BB962C8B-B14F-4D97-AF65-F5344CB8AC3E}">
        <p14:creationId xmlns:p14="http://schemas.microsoft.com/office/powerpoint/2010/main" val="344627632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Mit </a:t>
            </a:r>
            <a:r>
              <a:rPr lang="de-DE" sz="1200" kern="1200" dirty="0">
                <a:solidFill>
                  <a:schemeClr val="tx1"/>
                </a:solidFill>
                <a:latin typeface="+mn-lt"/>
                <a:ea typeface="+mn-ea"/>
                <a:cs typeface="+mn-cs"/>
              </a:rPr>
              <a:t>as</a:t>
            </a:r>
            <a:r>
              <a:rPr lang="de-DE" dirty="0"/>
              <a:t> vergeben wir für ein Element einen Alias. Aus dem technischen Tabellenelement </a:t>
            </a:r>
            <a:r>
              <a:rPr lang="de-DE" sz="1200" kern="1200" dirty="0" err="1">
                <a:solidFill>
                  <a:schemeClr val="tx1"/>
                </a:solidFill>
                <a:latin typeface="+mn-lt"/>
                <a:ea typeface="+mn-ea"/>
                <a:cs typeface="+mn-cs"/>
              </a:rPr>
              <a:t>sales_organization</a:t>
            </a:r>
            <a:r>
              <a:rPr lang="de-DE" dirty="0"/>
              <a:t> wird beispielsweise das CDS-Element </a:t>
            </a:r>
            <a:r>
              <a:rPr lang="de-DE" sz="1200" kern="1200" dirty="0" err="1">
                <a:solidFill>
                  <a:schemeClr val="tx1"/>
                </a:solidFill>
                <a:latin typeface="+mn-lt"/>
                <a:ea typeface="+mn-ea"/>
                <a:cs typeface="+mn-cs"/>
              </a:rPr>
              <a:t>SalesOrganization</a:t>
            </a:r>
            <a:r>
              <a:rPr lang="de-DE" dirty="0"/>
              <a:t>.</a:t>
            </a:r>
          </a:p>
          <a:p>
            <a:endParaRPr lang="de-DE" dirty="0"/>
          </a:p>
          <a:p>
            <a:r>
              <a:rPr lang="de-DE" dirty="0"/>
              <a:t>Die Groß- und Kleinschreibung hat für die technische Namensauflösung keine Bedeutung. Die </a:t>
            </a:r>
            <a:r>
              <a:rPr lang="de-DE" dirty="0" err="1"/>
              <a:t>CamelCase</a:t>
            </a:r>
            <a:r>
              <a:rPr lang="de-DE" dirty="0"/>
              <a:t>-Schreibweise macht lange Elementnamen aber deutlich besser lesbar.</a:t>
            </a:r>
          </a:p>
          <a:p>
            <a:endParaRPr lang="de-DE" dirty="0"/>
          </a:p>
          <a:p>
            <a:r>
              <a:rPr lang="de-DE" dirty="0"/>
              <a:t>Für Verbraucher ist anschließend ausschließlich der neue Name sichtbar. Ein ABAP-Programm, das auf die View zugreift, verwendet also </a:t>
            </a:r>
            <a:r>
              <a:rPr lang="de-DE" sz="1200" kern="1200" dirty="0" err="1">
                <a:solidFill>
                  <a:schemeClr val="tx1"/>
                </a:solidFill>
                <a:latin typeface="+mn-lt"/>
                <a:ea typeface="+mn-ea"/>
                <a:cs typeface="+mn-cs"/>
              </a:rPr>
              <a:t>OrderId</a:t>
            </a:r>
            <a:r>
              <a:rPr lang="de-DE" dirty="0"/>
              <a:t> und nicht </a:t>
            </a:r>
            <a:r>
              <a:rPr lang="de-DE" sz="1200" kern="1200" dirty="0" err="1">
                <a:solidFill>
                  <a:schemeClr val="tx1"/>
                </a:solidFill>
                <a:latin typeface="+mn-lt"/>
                <a:ea typeface="+mn-ea"/>
                <a:cs typeface="+mn-cs"/>
              </a:rPr>
              <a:t>order_id</a:t>
            </a:r>
            <a:r>
              <a:rPr lang="de-DE" dirty="0"/>
              <a:t>.</a:t>
            </a:r>
          </a:p>
          <a:p>
            <a:endParaRPr lang="de-DE" dirty="0"/>
          </a:p>
          <a:p>
            <a:r>
              <a:rPr lang="de-DE" dirty="0"/>
              <a:t>Damit gehören die Aliase zur öffentlichen Schnittstelle der View Entity. Ein nachträgliches Umbenennen ist daher keine rein kosmetische Änderung. Bereits vorhandene CDS Views, ABAP-Programme oder Services können von diesem Namen abhängig sein.</a:t>
            </a:r>
          </a:p>
          <a:p>
            <a:endParaRPr lang="de-DE" dirty="0"/>
          </a:p>
          <a:p>
            <a:r>
              <a:rPr lang="de-DE" dirty="0"/>
              <a:t>Aliase sollten deshalb fachlich verständlich und über das gesamte Datenmodell hinweg konsistent gewählt werden.</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12</a:t>
            </a:fld>
            <a:endParaRPr lang="de-DE" dirty="0"/>
          </a:p>
        </p:txBody>
      </p:sp>
    </p:spTree>
    <p:extLst>
      <p:ext uri="{BB962C8B-B14F-4D97-AF65-F5344CB8AC3E}">
        <p14:creationId xmlns:p14="http://schemas.microsoft.com/office/powerpoint/2010/main" val="259334788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Vor </a:t>
            </a:r>
            <a:r>
              <a:rPr lang="de-DE" sz="1200" kern="1200" dirty="0" err="1">
                <a:solidFill>
                  <a:schemeClr val="tx1"/>
                </a:solidFill>
                <a:latin typeface="+mn-lt"/>
                <a:ea typeface="+mn-ea"/>
                <a:cs typeface="+mn-cs"/>
              </a:rPr>
              <a:t>order_id</a:t>
            </a:r>
            <a:r>
              <a:rPr lang="de-DE" dirty="0"/>
              <a:t> steht das Schlüsselwort </a:t>
            </a:r>
            <a:r>
              <a:rPr lang="de-DE" sz="1200" kern="1200" dirty="0" err="1">
                <a:solidFill>
                  <a:schemeClr val="tx1"/>
                </a:solidFill>
                <a:latin typeface="+mn-lt"/>
                <a:ea typeface="+mn-ea"/>
                <a:cs typeface="+mn-cs"/>
              </a:rPr>
              <a:t>key</a:t>
            </a:r>
            <a:r>
              <a:rPr lang="de-DE" dirty="0"/>
              <a:t>. Damit kennzeichnen wir </a:t>
            </a:r>
            <a:r>
              <a:rPr lang="de-DE" sz="1200" kern="1200" dirty="0" err="1">
                <a:solidFill>
                  <a:schemeClr val="tx1"/>
                </a:solidFill>
                <a:latin typeface="+mn-lt"/>
                <a:ea typeface="+mn-ea"/>
                <a:cs typeface="+mn-cs"/>
              </a:rPr>
              <a:t>OrderId</a:t>
            </a:r>
            <a:r>
              <a:rPr lang="de-DE" dirty="0"/>
              <a:t> als Schlüsselelement der View Entity.</a:t>
            </a:r>
          </a:p>
          <a:p>
            <a:endParaRPr lang="de-DE" dirty="0"/>
          </a:p>
          <a:p>
            <a:r>
              <a:rPr lang="de-DE" dirty="0"/>
              <a:t>Der CDS-Schlüssel ist nicht dasselbe wie der Primärschlüssel einer Datenbanktabelle. Durch die Angabe wird kein zusätzlicher Index erzeugt, und die Datenbank prüft nicht, ob das Ergebnis tatsächlich eindeutig ist.</a:t>
            </a:r>
          </a:p>
          <a:p>
            <a:endParaRPr lang="de-DE" dirty="0"/>
          </a:p>
          <a:p>
            <a:r>
              <a:rPr lang="de-DE" dirty="0"/>
              <a:t>Der Schlüssel beschreibt vielmehr die erwartete fachliche Eindeutigkeit der Datensätze. Diese Information wird unter anderem von CDS-Verbrauchern und darauf aufbauenden Frameworks verwendet.</a:t>
            </a:r>
          </a:p>
          <a:p>
            <a:endParaRPr lang="de-DE" dirty="0"/>
          </a:p>
          <a:p>
            <a:r>
              <a:rPr lang="de-DE" dirty="0"/>
              <a:t>Bei unserer aktuellen View ist die Sache einfach: Jeder Auftrag kommt in der Tabelle genau einmal vor, und </a:t>
            </a:r>
            <a:r>
              <a:rPr lang="de-DE" sz="1200" kern="1200" dirty="0" err="1">
                <a:solidFill>
                  <a:schemeClr val="tx1"/>
                </a:solidFill>
                <a:latin typeface="+mn-lt"/>
                <a:ea typeface="+mn-ea"/>
                <a:cs typeface="+mn-cs"/>
              </a:rPr>
              <a:t>order_id</a:t>
            </a:r>
            <a:r>
              <a:rPr lang="de-DE" dirty="0"/>
              <a:t> ist Teil des Tabellenschlüssels.</a:t>
            </a:r>
          </a:p>
          <a:p>
            <a:endParaRPr lang="de-DE" dirty="0"/>
          </a:p>
          <a:p>
            <a:r>
              <a:rPr lang="de-DE" dirty="0"/>
              <a:t>Sobald wir später mehrere Datenquellen kombinieren oder Daten aggregieren, müssen wir genauer prüfen, welche Elemente das Ergebnis eindeutig identifizieren. Eine falsche Schlüsseldefinition kann in nachgelagerten Anwendungen zu schwer erkennbaren Fehlern führen.</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13</a:t>
            </a:fld>
            <a:endParaRPr lang="de-DE" dirty="0"/>
          </a:p>
        </p:txBody>
      </p:sp>
    </p:spTree>
    <p:extLst>
      <p:ext uri="{BB962C8B-B14F-4D97-AF65-F5344CB8AC3E}">
        <p14:creationId xmlns:p14="http://schemas.microsoft.com/office/powerpoint/2010/main" val="381856585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Annotationen ergänzen CDS-Objekte um maschinenlesbare Metadaten.</a:t>
            </a:r>
          </a:p>
          <a:p>
            <a:endParaRPr lang="de-DE" dirty="0"/>
          </a:p>
          <a:p>
            <a:r>
              <a:rPr lang="de-DE" dirty="0"/>
              <a:t>Die Annotation </a:t>
            </a:r>
            <a:r>
              <a:rPr lang="de-DE" sz="1200" kern="1200" dirty="0" err="1">
                <a:solidFill>
                  <a:schemeClr val="tx1"/>
                </a:solidFill>
                <a:latin typeface="+mn-lt"/>
                <a:ea typeface="+mn-ea"/>
                <a:cs typeface="+mn-cs"/>
              </a:rPr>
              <a:t>EndUserText.label</a:t>
            </a:r>
            <a:r>
              <a:rPr lang="de-DE" dirty="0"/>
              <a:t> enthält eine sprachabhängige Bezeichnung. Sie kann vor der gesamten View stehen, aber auch einzelne Elemente beschreiben.</a:t>
            </a:r>
          </a:p>
          <a:p>
            <a:endParaRPr lang="de-DE" dirty="0"/>
          </a:p>
          <a:p>
            <a:r>
              <a:rPr lang="de-DE" sz="1200" kern="1200" dirty="0" err="1">
                <a:solidFill>
                  <a:schemeClr val="tx1"/>
                </a:solidFill>
                <a:latin typeface="+mn-lt"/>
                <a:ea typeface="+mn-ea"/>
                <a:cs typeface="+mn-cs"/>
              </a:rPr>
              <a:t>AccessControl.authorizationCheck</a:t>
            </a:r>
            <a:r>
              <a:rPr lang="de-DE" dirty="0"/>
              <a:t> steuert die Behandlung einer CDS-Zugriffskontrolle. Momentan steht dort </a:t>
            </a:r>
            <a:r>
              <a:rPr lang="de-DE" sz="1200" kern="1200" dirty="0">
                <a:solidFill>
                  <a:schemeClr val="tx1"/>
                </a:solidFill>
                <a:latin typeface="+mn-lt"/>
                <a:ea typeface="+mn-ea"/>
                <a:cs typeface="+mn-cs"/>
              </a:rPr>
              <a:t>NOT_REQUIRED</a:t>
            </a:r>
            <a:r>
              <a:rPr lang="de-DE" dirty="0"/>
              <a:t>, weil wir noch keine Zugriffskontrolle definiert haben. Am Ende des heutigen Kursteils ändern wir das.</a:t>
            </a:r>
          </a:p>
          <a:p>
            <a:endParaRPr lang="de-DE" dirty="0"/>
          </a:p>
          <a:p>
            <a:r>
              <a:rPr lang="de-DE" dirty="0"/>
              <a:t>Das zweite Beispiel zeigt eine semantische Annotation. Sie beschreibt, welches Währungselement zu einem Betragsfeld gehört. Solche Informationen können von Werkzeugen und Frameworks ausgewertet werden.</a:t>
            </a:r>
          </a:p>
          <a:p>
            <a:endParaRPr lang="de-DE" dirty="0"/>
          </a:p>
          <a:p>
            <a:r>
              <a:rPr lang="de-DE" dirty="0"/>
              <a:t>Wichtig ist die Position einer Annotation. Eine Annotation unmittelbar vor </a:t>
            </a:r>
            <a:r>
              <a:rPr lang="de-DE" sz="1200" kern="1200" dirty="0" err="1">
                <a:solidFill>
                  <a:schemeClr val="tx1"/>
                </a:solidFill>
                <a:latin typeface="+mn-lt"/>
                <a:ea typeface="+mn-ea"/>
                <a:cs typeface="+mn-cs"/>
              </a:rPr>
              <a:t>define</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view</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entity</a:t>
            </a:r>
            <a:r>
              <a:rPr lang="de-DE" dirty="0"/>
              <a:t> gilt für die View. Eine Annotation innerhalb der Elementliste gilt in der Regel für das unmittelbar folgende Element.</a:t>
            </a:r>
          </a:p>
          <a:p>
            <a:endParaRPr lang="de-DE" dirty="0"/>
          </a:p>
          <a:p>
            <a:r>
              <a:rPr lang="de-DE" dirty="0"/>
              <a:t>Annotationen können außerdem verschachtelte Namen besitzen. </a:t>
            </a:r>
            <a:r>
              <a:rPr lang="de-DE" sz="1200" kern="1200" dirty="0" err="1">
                <a:solidFill>
                  <a:schemeClr val="tx1"/>
                </a:solidFill>
                <a:latin typeface="+mn-lt"/>
                <a:ea typeface="+mn-ea"/>
                <a:cs typeface="+mn-cs"/>
              </a:rPr>
              <a:t>EndUserText.label</a:t>
            </a:r>
            <a:r>
              <a:rPr lang="de-DE" dirty="0"/>
              <a:t> gehört beispielsweise zum Namensraum </a:t>
            </a:r>
            <a:r>
              <a:rPr lang="de-DE" sz="1200" kern="1200" dirty="0" err="1">
                <a:solidFill>
                  <a:schemeClr val="tx1"/>
                </a:solidFill>
                <a:latin typeface="+mn-lt"/>
                <a:ea typeface="+mn-ea"/>
                <a:cs typeface="+mn-cs"/>
              </a:rPr>
              <a:t>EndUserText</a:t>
            </a:r>
            <a:r>
              <a:rPr lang="de-DE" dirty="0"/>
              <a:t>, während die Annotation für Währungsbeziehungen im Namensraum </a:t>
            </a:r>
            <a:r>
              <a:rPr lang="de-DE" sz="1200" kern="1200" dirty="0" err="1">
                <a:solidFill>
                  <a:schemeClr val="tx1"/>
                </a:solidFill>
                <a:latin typeface="+mn-lt"/>
                <a:ea typeface="+mn-ea"/>
                <a:cs typeface="+mn-cs"/>
              </a:rPr>
              <a:t>Semantics</a:t>
            </a:r>
            <a:r>
              <a:rPr lang="de-DE" dirty="0"/>
              <a:t> liegt.</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14</a:t>
            </a:fld>
            <a:endParaRPr lang="de-DE" dirty="0"/>
          </a:p>
        </p:txBody>
      </p:sp>
    </p:spTree>
    <p:extLst>
      <p:ext uri="{BB962C8B-B14F-4D97-AF65-F5344CB8AC3E}">
        <p14:creationId xmlns:p14="http://schemas.microsoft.com/office/powerpoint/2010/main" val="208336644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Nicht alle Annotationen verfolgen denselben Zweck.</a:t>
            </a:r>
          </a:p>
          <a:p>
            <a:endParaRPr lang="de-DE" dirty="0"/>
          </a:p>
          <a:p>
            <a:r>
              <a:rPr lang="de-DE" dirty="0"/>
              <a:t>Einige beschreiben grundlegende Eigenschaften des Datenmodells. Dazu gehören Bezeichnungen, Zugriffskontrolle und semantische Beziehungen zwischen Beträgen und Währungen oder Mengen und Einheiten.</a:t>
            </a:r>
          </a:p>
          <a:p>
            <a:endParaRPr lang="de-DE" dirty="0"/>
          </a:p>
          <a:p>
            <a:r>
              <a:rPr lang="de-DE" dirty="0"/>
              <a:t>Andere Annotationen richten sich an bestimmte Verbraucher. UI-Annotationen werden beispielsweise von Fiori Elements ausgewertet. Analytics-Annotationen beschreiben analytische Datenmodelle.</a:t>
            </a:r>
          </a:p>
          <a:p>
            <a:endParaRPr lang="de-DE" dirty="0"/>
          </a:p>
          <a:p>
            <a:r>
              <a:rPr lang="de-DE" dirty="0"/>
              <a:t>In diesem ersten Kursteil konzentrieren wir uns auf Annotationen, die zum grundlegenden CDS-Modell gehören. Die ausführliche Gestaltung von Fiori-Elements-Anwendungen und analytischen Views ist Inhalt des dritten Kursteils.</a:t>
            </a:r>
          </a:p>
          <a:p>
            <a:endParaRPr lang="de-DE" dirty="0"/>
          </a:p>
          <a:p>
            <a:r>
              <a:rPr lang="de-DE" dirty="0"/>
              <a:t>Diese Trennung ist wichtig: Ein Datenmodell sollte zunächst fachlich korrekt und wiederverwendbar sein. Die Gestaltung für einen bestimmten Verbraucher kann anschließend darauf aufbauen.</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15</a:t>
            </a:fld>
            <a:endParaRPr lang="de-DE" dirty="0"/>
          </a:p>
        </p:txBody>
      </p:sp>
    </p:spTree>
    <p:extLst>
      <p:ext uri="{BB962C8B-B14F-4D97-AF65-F5344CB8AC3E}">
        <p14:creationId xmlns:p14="http://schemas.microsoft.com/office/powerpoint/2010/main" val="155531817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Bisher entspricht jedes Element unserer View genau einem Feld der Datenbanktabelle. Das ist aber nicht zwingend erforderlich.</a:t>
            </a:r>
          </a:p>
          <a:p>
            <a:endParaRPr lang="de-DE" dirty="0"/>
          </a:p>
          <a:p>
            <a:r>
              <a:rPr lang="de-DE" dirty="0"/>
              <a:t>Ein Element kann auch aus einem Ausdruck entstehen. Das Beispiel übersetzt die technischen Statuswerte </a:t>
            </a:r>
            <a:r>
              <a:rPr lang="de-DE" sz="1200" kern="1200" dirty="0">
                <a:solidFill>
                  <a:schemeClr val="tx1"/>
                </a:solidFill>
                <a:latin typeface="+mn-lt"/>
                <a:ea typeface="+mn-ea"/>
                <a:cs typeface="+mn-cs"/>
              </a:rPr>
              <a:t>N</a:t>
            </a:r>
            <a:r>
              <a:rPr lang="de-DE" dirty="0"/>
              <a:t>, </a:t>
            </a:r>
            <a:r>
              <a:rPr lang="de-DE" sz="1200" kern="1200" dirty="0">
                <a:solidFill>
                  <a:schemeClr val="tx1"/>
                </a:solidFill>
                <a:latin typeface="+mn-lt"/>
                <a:ea typeface="+mn-ea"/>
                <a:cs typeface="+mn-cs"/>
              </a:rPr>
              <a:t>P</a:t>
            </a:r>
            <a:r>
              <a:rPr lang="de-DE" dirty="0"/>
              <a:t> und </a:t>
            </a:r>
            <a:r>
              <a:rPr lang="de-DE" sz="1200" kern="1200" dirty="0">
                <a:solidFill>
                  <a:schemeClr val="tx1"/>
                </a:solidFill>
                <a:latin typeface="+mn-lt"/>
                <a:ea typeface="+mn-ea"/>
                <a:cs typeface="+mn-cs"/>
              </a:rPr>
              <a:t>C</a:t>
            </a:r>
            <a:r>
              <a:rPr lang="de-DE" dirty="0"/>
              <a:t> in verständliche Texte.</a:t>
            </a:r>
          </a:p>
          <a:p>
            <a:endParaRPr lang="de-DE" dirty="0"/>
          </a:p>
          <a:p>
            <a:r>
              <a:rPr lang="de-DE" dirty="0"/>
              <a:t>Die Berechnung erfolgt bei der Ausführung der View auf der Datenbank. Das ABAP-Programm erhält bereits das aufbereitete Ergebnis.</a:t>
            </a:r>
          </a:p>
          <a:p>
            <a:endParaRPr lang="de-DE" dirty="0"/>
          </a:p>
          <a:p>
            <a:r>
              <a:rPr lang="de-DE" dirty="0"/>
              <a:t>CDS unterstützt zahlreiche weitere Ausdrücke und eingebaute Funktionen. Damit können wir Datumswerte berechnen, Zeichenketten bearbeiten, Datentypen umwandeln und Daten aggregieren.</a:t>
            </a:r>
          </a:p>
          <a:p>
            <a:endParaRPr lang="de-DE" dirty="0"/>
          </a:p>
          <a:p>
            <a:r>
              <a:rPr lang="de-DE" dirty="0"/>
              <a:t>An dieser Stelle verwenden wir zunächst nur einen einfachen </a:t>
            </a:r>
            <a:r>
              <a:rPr lang="de-DE" sz="1200" kern="1200" dirty="0">
                <a:solidFill>
                  <a:schemeClr val="tx1"/>
                </a:solidFill>
                <a:latin typeface="+mn-lt"/>
                <a:ea typeface="+mn-ea"/>
                <a:cs typeface="+mn-cs"/>
              </a:rPr>
              <a:t>CASE</a:t>
            </a:r>
            <a:r>
              <a:rPr lang="de-DE" dirty="0"/>
              <a:t>-Ausdruck. Die systematische Behandlung von SQL-Ausdrücken, Funktionen und Code </a:t>
            </a:r>
            <a:r>
              <a:rPr lang="de-DE" dirty="0" err="1"/>
              <a:t>Pushdown</a:t>
            </a:r>
            <a:r>
              <a:rPr lang="de-DE" dirty="0"/>
              <a:t> folgt im zweiten Teil der Kursreihe.</a:t>
            </a:r>
          </a:p>
          <a:p>
            <a:endParaRPr lang="de-DE" dirty="0"/>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16</a:t>
            </a:fld>
            <a:endParaRPr lang="de-DE" dirty="0"/>
          </a:p>
        </p:txBody>
      </p:sp>
    </p:spTree>
    <p:extLst>
      <p:ext uri="{BB962C8B-B14F-4D97-AF65-F5344CB8AC3E}">
        <p14:creationId xmlns:p14="http://schemas.microsoft.com/office/powerpoint/2010/main" val="366518723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Im zweiten Live-Coding bauen wir die bereits vorhandene View weiter aus.</a:t>
            </a:r>
          </a:p>
          <a:p>
            <a:endParaRPr lang="de-DE" dirty="0"/>
          </a:p>
          <a:p>
            <a:r>
              <a:rPr lang="de-DE" dirty="0"/>
              <a:t>Zunächst versehen wir wichtige Elemente mit verständlichen Beschriftungen. Anschließend ergänzen wir für Auftragsart und Auftragsstatus jeweils ein berechnetes Textelement.</a:t>
            </a:r>
          </a:p>
          <a:p>
            <a:endParaRPr lang="de-DE" dirty="0"/>
          </a:p>
          <a:p>
            <a:r>
              <a:rPr lang="de-DE" dirty="0"/>
              <a:t>Die technischen Felder </a:t>
            </a:r>
            <a:r>
              <a:rPr lang="de-DE" sz="1200" kern="1200" dirty="0" err="1">
                <a:solidFill>
                  <a:schemeClr val="tx1"/>
                </a:solidFill>
                <a:latin typeface="+mn-lt"/>
                <a:ea typeface="+mn-ea"/>
                <a:cs typeface="+mn-cs"/>
              </a:rPr>
              <a:t>OrderType</a:t>
            </a:r>
            <a:r>
              <a:rPr lang="de-DE" dirty="0"/>
              <a:t> und </a:t>
            </a:r>
            <a:r>
              <a:rPr lang="de-DE" sz="1200" kern="1200" dirty="0" err="1">
                <a:solidFill>
                  <a:schemeClr val="tx1"/>
                </a:solidFill>
                <a:latin typeface="+mn-lt"/>
                <a:ea typeface="+mn-ea"/>
                <a:cs typeface="+mn-cs"/>
              </a:rPr>
              <a:t>OrderStatus</a:t>
            </a:r>
            <a:r>
              <a:rPr lang="de-DE" dirty="0"/>
              <a:t> bleiben erhalten. Das ist bewusst so gewählt: Der technische Wert eignet sich zum Filtern oder für Programmlogik, während der Text für die Anzeige gedacht ist.</a:t>
            </a:r>
          </a:p>
          <a:p>
            <a:endParaRPr lang="de-DE" dirty="0"/>
          </a:p>
          <a:p>
            <a:r>
              <a:rPr lang="de-DE" dirty="0"/>
              <a:t>Nach jeder Änderung aktivieren wir die View und prüfen das Ergebnis. Dabei schauen wir uns sowohl die Daten als auch die Metadaten an.</a:t>
            </a:r>
          </a:p>
          <a:p>
            <a:endParaRPr lang="de-DE" dirty="0"/>
          </a:p>
          <a:p>
            <a:r>
              <a:rPr lang="de-DE" b="1" dirty="0"/>
              <a:t>Live-Coding 2: Elemente aufbereiten und berechnen</a:t>
            </a:r>
          </a:p>
          <a:p>
            <a:r>
              <a:rPr lang="de-DE" b="1" dirty="0"/>
              <a:t>Ziel und Zeitbedarf</a:t>
            </a:r>
          </a:p>
          <a:p>
            <a:r>
              <a:rPr lang="de-DE" b="1" dirty="0"/>
              <a:t>Dauer:</a:t>
            </a:r>
            <a:r>
              <a:rPr lang="de-DE" dirty="0"/>
              <a:t> etwa 25 Minuten</a:t>
            </a:r>
            <a:br>
              <a:rPr lang="de-DE" dirty="0"/>
            </a:br>
            <a:r>
              <a:rPr lang="de-DE" b="1" dirty="0"/>
              <a:t>Ausgangsstand:</a:t>
            </a:r>
            <a:r>
              <a:rPr lang="de-DE" dirty="0"/>
              <a:t> </a:t>
            </a:r>
            <a:r>
              <a:rPr lang="de-DE" sz="1200" kern="1200" dirty="0" err="1">
                <a:solidFill>
                  <a:schemeClr val="tx1"/>
                </a:solidFill>
                <a:latin typeface="+mn-lt"/>
                <a:ea typeface="+mn-ea"/>
                <a:cs typeface="+mn-cs"/>
              </a:rPr>
              <a:t>ZI_CDSOrder</a:t>
            </a:r>
            <a:r>
              <a:rPr lang="de-DE" dirty="0"/>
              <a:t> aus Live-Coding 1</a:t>
            </a:r>
            <a:br>
              <a:rPr lang="de-DE" dirty="0"/>
            </a:br>
            <a:r>
              <a:rPr lang="de-DE" b="1" dirty="0"/>
              <a:t>Ergebnis:</a:t>
            </a:r>
            <a:r>
              <a:rPr lang="de-DE" dirty="0"/>
              <a:t> beschriftete und fachlich besser lesbare Auftragsdaten</a:t>
            </a:r>
          </a:p>
          <a:p>
            <a:r>
              <a:rPr lang="de-DE" b="1" dirty="0"/>
              <a:t>1. Ausgangsstand in der Data Preview zeigen – ca. 2 Minuten</a:t>
            </a:r>
          </a:p>
          <a:p>
            <a:r>
              <a:rPr lang="de-DE" dirty="0"/>
              <a:t>Data Preview für </a:t>
            </a:r>
            <a:r>
              <a:rPr lang="de-DE" sz="1200" kern="1200" dirty="0" err="1">
                <a:solidFill>
                  <a:schemeClr val="tx1"/>
                </a:solidFill>
                <a:latin typeface="+mn-lt"/>
                <a:ea typeface="+mn-ea"/>
                <a:cs typeface="+mn-cs"/>
              </a:rPr>
              <a:t>ZI_CDSOrder</a:t>
            </a:r>
            <a:r>
              <a:rPr lang="de-DE" dirty="0"/>
              <a:t> öffnen.</a:t>
            </a:r>
          </a:p>
          <a:p>
            <a:r>
              <a:rPr lang="de-DE" dirty="0"/>
              <a:t>Auf die beiden technischen Elemente hinweisen:</a:t>
            </a:r>
          </a:p>
          <a:p>
            <a:r>
              <a:rPr lang="de-DE" dirty="0" err="1"/>
              <a:t>OrderType</a:t>
            </a:r>
            <a:endParaRPr lang="de-DE" dirty="0"/>
          </a:p>
          <a:p>
            <a:r>
              <a:rPr lang="de-DE" dirty="0" err="1"/>
              <a:t>OrderStatus</a:t>
            </a:r>
            <a:endParaRPr lang="de-DE" dirty="0"/>
          </a:p>
          <a:p>
            <a:r>
              <a:rPr lang="de-DE" dirty="0"/>
              <a:t>OC</a:t>
            </a:r>
          </a:p>
          <a:p>
            <a:r>
              <a:rPr lang="de-DE" dirty="0"/>
              <a:t>DC</a:t>
            </a:r>
          </a:p>
          <a:p>
            <a:r>
              <a:rPr lang="de-DE" dirty="0"/>
              <a:t>OP</a:t>
            </a:r>
          </a:p>
          <a:p>
            <a:r>
              <a:rPr lang="de-DE" dirty="0"/>
              <a:t>DC</a:t>
            </a:r>
          </a:p>
          <a:p>
            <a:r>
              <a:rPr lang="de-DE" dirty="0"/>
              <a:t>ON</a:t>
            </a:r>
          </a:p>
          <a:p>
            <a:r>
              <a:rPr lang="de-DE" dirty="0"/>
              <a:t>DP</a:t>
            </a:r>
          </a:p>
          <a:p>
            <a:r>
              <a:rPr lang="de-DE" b="1" dirty="0"/>
              <a:t>Begleitender Sprechtext</a:t>
            </a:r>
          </a:p>
          <a:p>
            <a:r>
              <a:rPr lang="de-DE" dirty="0"/>
              <a:t>Unsere View verwendet bereits verständliche Elementnamen. Bei den eigentlichen Werten besteht aber noch Verbesserungspotenzial.</a:t>
            </a:r>
          </a:p>
          <a:p>
            <a:r>
              <a:rPr lang="de-DE" dirty="0"/>
              <a:t>Aus </a:t>
            </a:r>
            <a:r>
              <a:rPr lang="de-DE" sz="1200" kern="1200" dirty="0" err="1">
                <a:solidFill>
                  <a:schemeClr val="tx1"/>
                </a:solidFill>
                <a:latin typeface="+mn-lt"/>
                <a:ea typeface="+mn-ea"/>
                <a:cs typeface="+mn-cs"/>
              </a:rPr>
              <a:t>OrderType</a:t>
            </a:r>
            <a:r>
              <a:rPr lang="de-DE" sz="1200" kern="1200" dirty="0">
                <a:solidFill>
                  <a:schemeClr val="tx1"/>
                </a:solidFill>
                <a:latin typeface="+mn-lt"/>
                <a:ea typeface="+mn-ea"/>
                <a:cs typeface="+mn-cs"/>
              </a:rPr>
              <a:t> = O</a:t>
            </a:r>
            <a:r>
              <a:rPr lang="de-DE" dirty="0"/>
              <a:t> lässt sich ohne zusätzliches Wissen nicht erkennen, dass es sich um einen Onlineauftrag handelt. Dasselbe gilt für die Statuswerte </a:t>
            </a:r>
            <a:r>
              <a:rPr lang="de-DE" sz="1200" kern="1200" dirty="0">
                <a:solidFill>
                  <a:schemeClr val="tx1"/>
                </a:solidFill>
                <a:latin typeface="+mn-lt"/>
                <a:ea typeface="+mn-ea"/>
                <a:cs typeface="+mn-cs"/>
              </a:rPr>
              <a:t>N</a:t>
            </a:r>
            <a:r>
              <a:rPr lang="de-DE" dirty="0"/>
              <a:t>, </a:t>
            </a:r>
            <a:r>
              <a:rPr lang="de-DE" sz="1200" kern="1200" dirty="0">
                <a:solidFill>
                  <a:schemeClr val="tx1"/>
                </a:solidFill>
                <a:latin typeface="+mn-lt"/>
                <a:ea typeface="+mn-ea"/>
                <a:cs typeface="+mn-cs"/>
              </a:rPr>
              <a:t>P</a:t>
            </a:r>
            <a:r>
              <a:rPr lang="de-DE" dirty="0"/>
              <a:t> und </a:t>
            </a:r>
            <a:r>
              <a:rPr lang="de-DE" sz="1200" kern="1200" dirty="0">
                <a:solidFill>
                  <a:schemeClr val="tx1"/>
                </a:solidFill>
                <a:latin typeface="+mn-lt"/>
                <a:ea typeface="+mn-ea"/>
                <a:cs typeface="+mn-cs"/>
              </a:rPr>
              <a:t>C</a:t>
            </a:r>
            <a:r>
              <a:rPr lang="de-DE" dirty="0"/>
              <a:t>.</a:t>
            </a:r>
          </a:p>
          <a:p>
            <a:r>
              <a:rPr lang="de-DE" dirty="0"/>
              <a:t>Wir ergänzen daher zusätzliche Texte. Die technischen Werte behalten wir bei, weil sie kürzer, sprachunabhängig und für Bedingungen besser geeignet sind.</a:t>
            </a:r>
          </a:p>
          <a:p>
            <a:br>
              <a:rPr lang="de-DE" dirty="0"/>
            </a:br>
            <a:endParaRPr lang="de-DE" dirty="0"/>
          </a:p>
          <a:p>
            <a:r>
              <a:rPr lang="de-DE" b="1" dirty="0"/>
              <a:t>2. Elementbeschriftungen ergänzen – ca. 5 Minuten</a:t>
            </a:r>
          </a:p>
          <a:p>
            <a:r>
              <a:rPr lang="de-DE" dirty="0"/>
              <a:t>Zunächst ausgewählte Elemente annotieren:</a:t>
            </a:r>
          </a:p>
          <a:p>
            <a:pPr rtl="0"/>
            <a:r>
              <a:rPr lang="de-DE" sz="1200" kern="1200" dirty="0">
                <a:solidFill>
                  <a:schemeClr val="tx1"/>
                </a:solidFill>
                <a:latin typeface="+mn-lt"/>
                <a:ea typeface="+mn-ea"/>
                <a:cs typeface="+mn-cs"/>
              </a:rPr>
              <a:t>@EndUserText.label: 'CDS Workshop: Aufträge'</a:t>
            </a:r>
          </a:p>
          <a:p>
            <a:pPr rtl="0"/>
            <a:r>
              <a:rPr lang="de-DE" sz="1200" kern="1200" dirty="0">
                <a:solidFill>
                  <a:schemeClr val="tx1"/>
                </a:solidFill>
                <a:latin typeface="+mn-lt"/>
                <a:ea typeface="+mn-ea"/>
                <a:cs typeface="+mn-cs"/>
              </a:rPr>
              <a:t>@AccessControl.authorizationCheck: #NOT_REQUIRED</a:t>
            </a:r>
          </a:p>
          <a:p>
            <a:pPr rtl="0"/>
            <a:r>
              <a:rPr lang="de-DE" sz="1200" kern="1200" dirty="0" err="1">
                <a:solidFill>
                  <a:schemeClr val="tx1"/>
                </a:solidFill>
                <a:latin typeface="+mn-lt"/>
                <a:ea typeface="+mn-ea"/>
                <a:cs typeface="+mn-cs"/>
              </a:rPr>
              <a:t>define</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view</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entity</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ZI_CDSOrder</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as </a:t>
            </a:r>
            <a:r>
              <a:rPr lang="de-DE" sz="1200" kern="1200" dirty="0" err="1">
                <a:solidFill>
                  <a:schemeClr val="tx1"/>
                </a:solidFill>
                <a:latin typeface="+mn-lt"/>
                <a:ea typeface="+mn-ea"/>
                <a:cs typeface="+mn-cs"/>
              </a:rPr>
              <a:t>select</a:t>
            </a:r>
            <a:r>
              <a:rPr lang="de-DE" sz="1200" kern="1200" dirty="0">
                <a:solidFill>
                  <a:schemeClr val="tx1"/>
                </a:solidFill>
                <a:latin typeface="+mn-lt"/>
                <a:ea typeface="+mn-ea"/>
                <a:cs typeface="+mn-cs"/>
              </a:rPr>
              <a:t> from </a:t>
            </a:r>
            <a:r>
              <a:rPr lang="de-DE" sz="1200" kern="1200" dirty="0" err="1">
                <a:solidFill>
                  <a:schemeClr val="tx1"/>
                </a:solidFill>
                <a:latin typeface="+mn-lt"/>
                <a:ea typeface="+mn-ea"/>
                <a:cs typeface="+mn-cs"/>
              </a:rPr>
              <a:t>zcds_order</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@EndUserText.label: 'Auftragsnummer'</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key</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order_id</a:t>
            </a:r>
            <a:r>
              <a:rPr lang="de-DE" sz="1200" kern="1200" dirty="0">
                <a:solidFill>
                  <a:schemeClr val="tx1"/>
                </a:solidFill>
                <a:latin typeface="+mn-lt"/>
                <a:ea typeface="+mn-ea"/>
                <a:cs typeface="+mn-cs"/>
              </a:rPr>
              <a:t>           as </a:t>
            </a:r>
            <a:r>
              <a:rPr lang="de-DE" sz="1200" kern="1200" dirty="0" err="1">
                <a:solidFill>
                  <a:schemeClr val="tx1"/>
                </a:solidFill>
                <a:latin typeface="+mn-lt"/>
                <a:ea typeface="+mn-ea"/>
                <a:cs typeface="+mn-cs"/>
              </a:rPr>
              <a:t>OrderId</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@EndUserText.label: 'Kundennummer'</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customer_id</a:t>
            </a:r>
            <a:r>
              <a:rPr lang="de-DE" sz="1200" kern="1200" dirty="0">
                <a:solidFill>
                  <a:schemeClr val="tx1"/>
                </a:solidFill>
                <a:latin typeface="+mn-lt"/>
                <a:ea typeface="+mn-ea"/>
                <a:cs typeface="+mn-cs"/>
              </a:rPr>
              <a:t>        as </a:t>
            </a:r>
            <a:r>
              <a:rPr lang="de-DE" sz="1200" kern="1200" dirty="0" err="1">
                <a:solidFill>
                  <a:schemeClr val="tx1"/>
                </a:solidFill>
                <a:latin typeface="+mn-lt"/>
                <a:ea typeface="+mn-ea"/>
                <a:cs typeface="+mn-cs"/>
              </a:rPr>
              <a:t>CustomerId</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@EndUserText.label: 'Auftragsdatum'</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order_date</a:t>
            </a:r>
            <a:r>
              <a:rPr lang="de-DE" sz="1200" kern="1200" dirty="0">
                <a:solidFill>
                  <a:schemeClr val="tx1"/>
                </a:solidFill>
                <a:latin typeface="+mn-lt"/>
                <a:ea typeface="+mn-ea"/>
                <a:cs typeface="+mn-cs"/>
              </a:rPr>
              <a:t>         as </a:t>
            </a:r>
            <a:r>
              <a:rPr lang="de-DE" sz="1200" kern="1200" dirty="0" err="1">
                <a:solidFill>
                  <a:schemeClr val="tx1"/>
                </a:solidFill>
                <a:latin typeface="+mn-lt"/>
                <a:ea typeface="+mn-ea"/>
                <a:cs typeface="+mn-cs"/>
              </a:rPr>
              <a:t>OrderDate</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@EndUserText.label: 'Wunschdatum'</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requested_date</a:t>
            </a:r>
            <a:r>
              <a:rPr lang="de-DE" sz="1200" kern="1200" dirty="0">
                <a:solidFill>
                  <a:schemeClr val="tx1"/>
                </a:solidFill>
                <a:latin typeface="+mn-lt"/>
                <a:ea typeface="+mn-ea"/>
                <a:cs typeface="+mn-cs"/>
              </a:rPr>
              <a:t>     as </a:t>
            </a:r>
            <a:r>
              <a:rPr lang="de-DE" sz="1200" kern="1200" dirty="0" err="1">
                <a:solidFill>
                  <a:schemeClr val="tx1"/>
                </a:solidFill>
                <a:latin typeface="+mn-lt"/>
                <a:ea typeface="+mn-ea"/>
                <a:cs typeface="+mn-cs"/>
              </a:rPr>
              <a:t>RequestedDate</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@EndUserText.label: 'Auftragsart'</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order_type</a:t>
            </a:r>
            <a:r>
              <a:rPr lang="de-DE" sz="1200" kern="1200" dirty="0">
                <a:solidFill>
                  <a:schemeClr val="tx1"/>
                </a:solidFill>
                <a:latin typeface="+mn-lt"/>
                <a:ea typeface="+mn-ea"/>
                <a:cs typeface="+mn-cs"/>
              </a:rPr>
              <a:t>         as </a:t>
            </a:r>
            <a:r>
              <a:rPr lang="de-DE" sz="1200" kern="1200" dirty="0" err="1">
                <a:solidFill>
                  <a:schemeClr val="tx1"/>
                </a:solidFill>
                <a:latin typeface="+mn-lt"/>
                <a:ea typeface="+mn-ea"/>
                <a:cs typeface="+mn-cs"/>
              </a:rPr>
              <a:t>OrderType</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@EndUserText.label: 'Auftragsstatus'</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order_status</a:t>
            </a:r>
            <a:r>
              <a:rPr lang="de-DE" sz="1200" kern="1200" dirty="0">
                <a:solidFill>
                  <a:schemeClr val="tx1"/>
                </a:solidFill>
                <a:latin typeface="+mn-lt"/>
                <a:ea typeface="+mn-ea"/>
                <a:cs typeface="+mn-cs"/>
              </a:rPr>
              <a:t>       as </a:t>
            </a:r>
            <a:r>
              <a:rPr lang="de-DE" sz="1200" kern="1200" dirty="0" err="1">
                <a:solidFill>
                  <a:schemeClr val="tx1"/>
                </a:solidFill>
                <a:latin typeface="+mn-lt"/>
                <a:ea typeface="+mn-ea"/>
                <a:cs typeface="+mn-cs"/>
              </a:rPr>
              <a:t>OrderStatus</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@EndUserText.label: 'Verkaufsorganisation'</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sales_organization</a:t>
            </a:r>
            <a:r>
              <a:rPr lang="de-DE" sz="1200" kern="1200" dirty="0">
                <a:solidFill>
                  <a:schemeClr val="tx1"/>
                </a:solidFill>
                <a:latin typeface="+mn-lt"/>
                <a:ea typeface="+mn-ea"/>
                <a:cs typeface="+mn-cs"/>
              </a:rPr>
              <a:t> as </a:t>
            </a:r>
            <a:r>
              <a:rPr lang="de-DE" sz="1200" kern="1200" dirty="0" err="1">
                <a:solidFill>
                  <a:schemeClr val="tx1"/>
                </a:solidFill>
                <a:latin typeface="+mn-lt"/>
                <a:ea typeface="+mn-ea"/>
                <a:cs typeface="+mn-cs"/>
              </a:rPr>
              <a:t>SalesOrganization</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@EndUserText.label: 'Währung'</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currency_code</a:t>
            </a:r>
            <a:r>
              <a:rPr lang="de-DE" sz="1200" kern="1200" dirty="0">
                <a:solidFill>
                  <a:schemeClr val="tx1"/>
                </a:solidFill>
                <a:latin typeface="+mn-lt"/>
                <a:ea typeface="+mn-ea"/>
                <a:cs typeface="+mn-cs"/>
              </a:rPr>
              <a:t>      as </a:t>
            </a:r>
            <a:r>
              <a:rPr lang="de-DE" sz="1200" kern="1200" dirty="0" err="1">
                <a:solidFill>
                  <a:schemeClr val="tx1"/>
                </a:solidFill>
                <a:latin typeface="+mn-lt"/>
                <a:ea typeface="+mn-ea"/>
                <a:cs typeface="+mn-cs"/>
              </a:rPr>
              <a:t>CurrencyCode</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a:t>
            </a:r>
          </a:p>
          <a:p>
            <a:r>
              <a:rPr lang="de-DE" dirty="0"/>
              <a:t>Aktivieren:</a:t>
            </a:r>
          </a:p>
          <a:p>
            <a:pPr rtl="0"/>
            <a:r>
              <a:rPr lang="de-DE" sz="1200" kern="1200" dirty="0">
                <a:solidFill>
                  <a:schemeClr val="tx1"/>
                </a:solidFill>
                <a:latin typeface="+mn-lt"/>
                <a:ea typeface="+mn-ea"/>
                <a:cs typeface="+mn-cs"/>
              </a:rPr>
              <a:t>Ctrl+F3</a:t>
            </a:r>
          </a:p>
          <a:p>
            <a:r>
              <a:rPr lang="de-DE" b="1" dirty="0"/>
              <a:t>Erläuterungen während der Demo</a:t>
            </a:r>
          </a:p>
          <a:p>
            <a:pPr lvl="0"/>
            <a:r>
              <a:rPr lang="de-DE" dirty="0"/>
              <a:t>Die Position der Annotation bestimmt, für welches Element sie gilt. </a:t>
            </a:r>
          </a:p>
          <a:p>
            <a:pPr lvl="0"/>
            <a:r>
              <a:rPr lang="de-DE" sz="1200" kern="1200" dirty="0">
                <a:solidFill>
                  <a:schemeClr val="tx1"/>
                </a:solidFill>
                <a:latin typeface="+mn-lt"/>
                <a:ea typeface="+mn-ea"/>
                <a:cs typeface="+mn-cs"/>
              </a:rPr>
              <a:t>@EndUserText.label</a:t>
            </a:r>
            <a:r>
              <a:rPr lang="de-DE" dirty="0"/>
              <a:t> verändert nicht die gelesenen Werte. </a:t>
            </a:r>
          </a:p>
          <a:p>
            <a:pPr lvl="0"/>
            <a:r>
              <a:rPr lang="de-DE" dirty="0"/>
              <a:t>Elementname und Beschriftung erfüllen unterschiedliche Aufgaben. </a:t>
            </a:r>
          </a:p>
          <a:p>
            <a:pPr lvl="0"/>
            <a:r>
              <a:rPr lang="de-DE" sz="1200" kern="1200" dirty="0" err="1">
                <a:solidFill>
                  <a:schemeClr val="tx1"/>
                </a:solidFill>
                <a:latin typeface="+mn-lt"/>
                <a:ea typeface="+mn-ea"/>
                <a:cs typeface="+mn-cs"/>
              </a:rPr>
              <a:t>OrderId</a:t>
            </a:r>
            <a:r>
              <a:rPr lang="de-DE" dirty="0"/>
              <a:t> ist der technische Schnittstellenname. </a:t>
            </a:r>
          </a:p>
          <a:p>
            <a:pPr lvl="0"/>
            <a:r>
              <a:rPr lang="de-DE" dirty="0"/>
              <a:t>„Auftragsnummer“ ist eine übersetzbare, benutzerorientierte Bezeichnung. </a:t>
            </a:r>
          </a:p>
          <a:p>
            <a:pPr lvl="0"/>
            <a:r>
              <a:rPr lang="de-DE" dirty="0"/>
              <a:t>Nicht jeder Verbraucher zeigt diese Beschriftung automatisch an. </a:t>
            </a:r>
          </a:p>
          <a:p>
            <a:r>
              <a:rPr lang="de-DE" b="1" dirty="0"/>
              <a:t>Optional in ADT zeigen</a:t>
            </a:r>
          </a:p>
          <a:p>
            <a:r>
              <a:rPr lang="de-DE" dirty="0"/>
              <a:t>Den Cursor auf ein Element setzen und die Elementinformationen beziehungsweise die CDS-Metadaten anzeigen.</a:t>
            </a:r>
          </a:p>
          <a:p>
            <a:r>
              <a:rPr lang="de-DE" dirty="0"/>
              <a:t>Je nach ADT-Version kann außerdem in der Data Preview erkennbar sein, ob die Beschriftungen als Spaltentexte übernommen werden.</a:t>
            </a:r>
          </a:p>
          <a:p>
            <a:r>
              <a:rPr lang="de-DE" b="1" dirty="0"/>
              <a:t>Moderationshinweis</a:t>
            </a:r>
          </a:p>
          <a:p>
            <a:r>
              <a:rPr lang="de-DE" dirty="0"/>
              <a:t>Nicht zu viel Zeit mit dem Übersetzungsprozess verbringen. Es genügt der Hinweis, dass </a:t>
            </a:r>
            <a:r>
              <a:rPr lang="de-DE" sz="1200" kern="1200" dirty="0" err="1">
                <a:solidFill>
                  <a:schemeClr val="tx1"/>
                </a:solidFill>
                <a:latin typeface="+mn-lt"/>
                <a:ea typeface="+mn-ea"/>
                <a:cs typeface="+mn-cs"/>
              </a:rPr>
              <a:t>EndUserText</a:t>
            </a:r>
            <a:r>
              <a:rPr lang="de-DE" dirty="0"/>
              <a:t> sprachabhängige Texte unterstützt. Übersetzung und Fiori-Darstellung sind nicht Gegenstand dieses Abschnitts.</a:t>
            </a:r>
          </a:p>
          <a:p>
            <a:br>
              <a:rPr lang="de-DE" dirty="0"/>
            </a:br>
            <a:endParaRPr lang="de-DE" dirty="0"/>
          </a:p>
          <a:p>
            <a:r>
              <a:rPr lang="de-DE" b="1" dirty="0"/>
              <a:t>3. Auftragsart mit </a:t>
            </a:r>
            <a:r>
              <a:rPr lang="de-DE" sz="1200" b="1" kern="1200" dirty="0">
                <a:solidFill>
                  <a:schemeClr val="tx1"/>
                </a:solidFill>
                <a:latin typeface="+mn-lt"/>
                <a:ea typeface="+mn-ea"/>
                <a:cs typeface="+mn-cs"/>
              </a:rPr>
              <a:t>CASE</a:t>
            </a:r>
            <a:r>
              <a:rPr lang="de-DE" b="1" dirty="0"/>
              <a:t> übersetzen – ca. 5 Minuten</a:t>
            </a:r>
          </a:p>
          <a:p>
            <a:r>
              <a:rPr lang="de-DE" dirty="0"/>
              <a:t>Nach </a:t>
            </a:r>
            <a:r>
              <a:rPr lang="de-DE" sz="1200" kern="1200" dirty="0" err="1">
                <a:solidFill>
                  <a:schemeClr val="tx1"/>
                </a:solidFill>
                <a:latin typeface="+mn-lt"/>
                <a:ea typeface="+mn-ea"/>
                <a:cs typeface="+mn-cs"/>
              </a:rPr>
              <a:t>OrderType</a:t>
            </a:r>
            <a:r>
              <a:rPr lang="de-DE" dirty="0"/>
              <a:t> ein neues Element einfügen:</a:t>
            </a:r>
          </a:p>
          <a:p>
            <a:pPr rtl="0"/>
            <a:r>
              <a:rPr lang="de-DE" sz="1200" kern="1200" dirty="0">
                <a:solidFill>
                  <a:schemeClr val="tx1"/>
                </a:solidFill>
                <a:latin typeface="+mn-lt"/>
                <a:ea typeface="+mn-ea"/>
                <a:cs typeface="+mn-cs"/>
              </a:rPr>
              <a:t>      @EndUserText.label: 'Bezeichnung der Auftragsart'</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case</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order_type</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when</a:t>
            </a:r>
            <a:r>
              <a:rPr lang="de-DE" sz="1200" kern="1200" dirty="0">
                <a:solidFill>
                  <a:schemeClr val="tx1"/>
                </a:solidFill>
                <a:latin typeface="+mn-lt"/>
                <a:ea typeface="+mn-ea"/>
                <a:cs typeface="+mn-cs"/>
              </a:rPr>
              <a:t> 'O' </a:t>
            </a:r>
            <a:r>
              <a:rPr lang="de-DE" sz="1200" kern="1200" dirty="0" err="1">
                <a:solidFill>
                  <a:schemeClr val="tx1"/>
                </a:solidFill>
                <a:latin typeface="+mn-lt"/>
                <a:ea typeface="+mn-ea"/>
                <a:cs typeface="+mn-cs"/>
              </a:rPr>
              <a:t>then</a:t>
            </a:r>
            <a:r>
              <a:rPr lang="de-DE" sz="1200" kern="1200" dirty="0">
                <a:solidFill>
                  <a:schemeClr val="tx1"/>
                </a:solidFill>
                <a:latin typeface="+mn-lt"/>
                <a:ea typeface="+mn-ea"/>
                <a:cs typeface="+mn-cs"/>
              </a:rPr>
              <a:t> 'Online'</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when</a:t>
            </a:r>
            <a:r>
              <a:rPr lang="de-DE" sz="1200" kern="1200" dirty="0">
                <a:solidFill>
                  <a:schemeClr val="tx1"/>
                </a:solidFill>
                <a:latin typeface="+mn-lt"/>
                <a:ea typeface="+mn-ea"/>
                <a:cs typeface="+mn-cs"/>
              </a:rPr>
              <a:t> 'D' </a:t>
            </a:r>
            <a:r>
              <a:rPr lang="de-DE" sz="1200" kern="1200" dirty="0" err="1">
                <a:solidFill>
                  <a:schemeClr val="tx1"/>
                </a:solidFill>
                <a:latin typeface="+mn-lt"/>
                <a:ea typeface="+mn-ea"/>
                <a:cs typeface="+mn-cs"/>
              </a:rPr>
              <a:t>then</a:t>
            </a:r>
            <a:r>
              <a:rPr lang="de-DE" sz="1200" kern="1200" dirty="0">
                <a:solidFill>
                  <a:schemeClr val="tx1"/>
                </a:solidFill>
                <a:latin typeface="+mn-lt"/>
                <a:ea typeface="+mn-ea"/>
                <a:cs typeface="+mn-cs"/>
              </a:rPr>
              <a:t> 'Direktvertrieb'</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else</a:t>
            </a:r>
            <a:r>
              <a:rPr lang="de-DE" sz="1200" kern="1200" dirty="0">
                <a:solidFill>
                  <a:schemeClr val="tx1"/>
                </a:solidFill>
                <a:latin typeface="+mn-lt"/>
                <a:ea typeface="+mn-ea"/>
                <a:cs typeface="+mn-cs"/>
              </a:rPr>
              <a:t> 'Unbekannt'</a:t>
            </a:r>
          </a:p>
          <a:p>
            <a:pPr rtl="0"/>
            <a:r>
              <a:rPr lang="de-DE" sz="1200" kern="1200" dirty="0">
                <a:solidFill>
                  <a:schemeClr val="tx1"/>
                </a:solidFill>
                <a:latin typeface="+mn-lt"/>
                <a:ea typeface="+mn-ea"/>
                <a:cs typeface="+mn-cs"/>
              </a:rPr>
              <a:t>      end                as </a:t>
            </a:r>
            <a:r>
              <a:rPr lang="de-DE" sz="1200" kern="1200" dirty="0" err="1">
                <a:solidFill>
                  <a:schemeClr val="tx1"/>
                </a:solidFill>
                <a:latin typeface="+mn-lt"/>
                <a:ea typeface="+mn-ea"/>
                <a:cs typeface="+mn-cs"/>
              </a:rPr>
              <a:t>OrderTypeText</a:t>
            </a:r>
            <a:r>
              <a:rPr lang="de-DE" sz="1200" kern="1200" dirty="0">
                <a:solidFill>
                  <a:schemeClr val="tx1"/>
                </a:solidFill>
                <a:latin typeface="+mn-lt"/>
                <a:ea typeface="+mn-ea"/>
                <a:cs typeface="+mn-cs"/>
              </a:rPr>
              <a:t>,</a:t>
            </a:r>
          </a:p>
          <a:p>
            <a:r>
              <a:rPr lang="de-DE" dirty="0"/>
              <a:t>Der betreffende Ausschnitt lautet anschließend:</a:t>
            </a:r>
          </a:p>
          <a:p>
            <a:pPr rtl="0"/>
            <a:r>
              <a:rPr lang="de-DE" sz="1200" kern="1200" dirty="0">
                <a:solidFill>
                  <a:schemeClr val="tx1"/>
                </a:solidFill>
                <a:latin typeface="+mn-lt"/>
                <a:ea typeface="+mn-ea"/>
                <a:cs typeface="+mn-cs"/>
              </a:rPr>
              <a:t>      @EndUserText.label: 'Auftragsart'</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order_type</a:t>
            </a:r>
            <a:r>
              <a:rPr lang="de-DE" sz="1200" kern="1200" dirty="0">
                <a:solidFill>
                  <a:schemeClr val="tx1"/>
                </a:solidFill>
                <a:latin typeface="+mn-lt"/>
                <a:ea typeface="+mn-ea"/>
                <a:cs typeface="+mn-cs"/>
              </a:rPr>
              <a:t>         as </a:t>
            </a:r>
            <a:r>
              <a:rPr lang="de-DE" sz="1200" kern="1200" dirty="0" err="1">
                <a:solidFill>
                  <a:schemeClr val="tx1"/>
                </a:solidFill>
                <a:latin typeface="+mn-lt"/>
                <a:ea typeface="+mn-ea"/>
                <a:cs typeface="+mn-cs"/>
              </a:rPr>
              <a:t>OrderType</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@EndUserText.label: 'Bezeichnung der Auftragsart'</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case</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order_type</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when</a:t>
            </a:r>
            <a:r>
              <a:rPr lang="de-DE" sz="1200" kern="1200" dirty="0">
                <a:solidFill>
                  <a:schemeClr val="tx1"/>
                </a:solidFill>
                <a:latin typeface="+mn-lt"/>
                <a:ea typeface="+mn-ea"/>
                <a:cs typeface="+mn-cs"/>
              </a:rPr>
              <a:t> 'O' </a:t>
            </a:r>
            <a:r>
              <a:rPr lang="de-DE" sz="1200" kern="1200" dirty="0" err="1">
                <a:solidFill>
                  <a:schemeClr val="tx1"/>
                </a:solidFill>
                <a:latin typeface="+mn-lt"/>
                <a:ea typeface="+mn-ea"/>
                <a:cs typeface="+mn-cs"/>
              </a:rPr>
              <a:t>then</a:t>
            </a:r>
            <a:r>
              <a:rPr lang="de-DE" sz="1200" kern="1200" dirty="0">
                <a:solidFill>
                  <a:schemeClr val="tx1"/>
                </a:solidFill>
                <a:latin typeface="+mn-lt"/>
                <a:ea typeface="+mn-ea"/>
                <a:cs typeface="+mn-cs"/>
              </a:rPr>
              <a:t> 'Online'</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when</a:t>
            </a:r>
            <a:r>
              <a:rPr lang="de-DE" sz="1200" kern="1200" dirty="0">
                <a:solidFill>
                  <a:schemeClr val="tx1"/>
                </a:solidFill>
                <a:latin typeface="+mn-lt"/>
                <a:ea typeface="+mn-ea"/>
                <a:cs typeface="+mn-cs"/>
              </a:rPr>
              <a:t> 'D' </a:t>
            </a:r>
            <a:r>
              <a:rPr lang="de-DE" sz="1200" kern="1200" dirty="0" err="1">
                <a:solidFill>
                  <a:schemeClr val="tx1"/>
                </a:solidFill>
                <a:latin typeface="+mn-lt"/>
                <a:ea typeface="+mn-ea"/>
                <a:cs typeface="+mn-cs"/>
              </a:rPr>
              <a:t>then</a:t>
            </a:r>
            <a:r>
              <a:rPr lang="de-DE" sz="1200" kern="1200" dirty="0">
                <a:solidFill>
                  <a:schemeClr val="tx1"/>
                </a:solidFill>
                <a:latin typeface="+mn-lt"/>
                <a:ea typeface="+mn-ea"/>
                <a:cs typeface="+mn-cs"/>
              </a:rPr>
              <a:t> 'Direktvertrieb'</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else</a:t>
            </a:r>
            <a:r>
              <a:rPr lang="de-DE" sz="1200" kern="1200" dirty="0">
                <a:solidFill>
                  <a:schemeClr val="tx1"/>
                </a:solidFill>
                <a:latin typeface="+mn-lt"/>
                <a:ea typeface="+mn-ea"/>
                <a:cs typeface="+mn-cs"/>
              </a:rPr>
              <a:t> 'Unbekannt'</a:t>
            </a:r>
          </a:p>
          <a:p>
            <a:pPr rtl="0"/>
            <a:r>
              <a:rPr lang="de-DE" sz="1200" kern="1200" dirty="0">
                <a:solidFill>
                  <a:schemeClr val="tx1"/>
                </a:solidFill>
                <a:latin typeface="+mn-lt"/>
                <a:ea typeface="+mn-ea"/>
                <a:cs typeface="+mn-cs"/>
              </a:rPr>
              <a:t>      end                as </a:t>
            </a:r>
            <a:r>
              <a:rPr lang="de-DE" sz="1200" kern="1200" dirty="0" err="1">
                <a:solidFill>
                  <a:schemeClr val="tx1"/>
                </a:solidFill>
                <a:latin typeface="+mn-lt"/>
                <a:ea typeface="+mn-ea"/>
                <a:cs typeface="+mn-cs"/>
              </a:rPr>
              <a:t>OrderTypeText</a:t>
            </a:r>
            <a:r>
              <a:rPr lang="de-DE" sz="1200" kern="1200" dirty="0">
                <a:solidFill>
                  <a:schemeClr val="tx1"/>
                </a:solidFill>
                <a:latin typeface="+mn-lt"/>
                <a:ea typeface="+mn-ea"/>
                <a:cs typeface="+mn-cs"/>
              </a:rPr>
              <a:t>,</a:t>
            </a:r>
          </a:p>
          <a:p>
            <a:r>
              <a:rPr lang="de-DE" dirty="0"/>
              <a:t>Aktivieren und auf mögliche Syntaxmarkierungen achten.</a:t>
            </a:r>
          </a:p>
          <a:p>
            <a:r>
              <a:rPr lang="de-DE" b="1" dirty="0"/>
              <a:t>Erläuterungen während der Demo</a:t>
            </a:r>
          </a:p>
          <a:p>
            <a:pPr lvl="0"/>
            <a:r>
              <a:rPr lang="de-DE" sz="1200" kern="1200" dirty="0">
                <a:solidFill>
                  <a:schemeClr val="tx1"/>
                </a:solidFill>
                <a:latin typeface="+mn-lt"/>
                <a:ea typeface="+mn-ea"/>
                <a:cs typeface="+mn-cs"/>
              </a:rPr>
              <a:t>CASE</a:t>
            </a:r>
            <a:r>
              <a:rPr lang="de-DE" dirty="0"/>
              <a:t> erzeugt für jeden Datensatz einen Wert. </a:t>
            </a:r>
          </a:p>
          <a:p>
            <a:pPr lvl="0"/>
            <a:r>
              <a:rPr lang="de-DE" dirty="0"/>
              <a:t>Hinter </a:t>
            </a:r>
            <a:r>
              <a:rPr lang="de-DE" sz="1200" kern="1200" dirty="0">
                <a:solidFill>
                  <a:schemeClr val="tx1"/>
                </a:solidFill>
                <a:latin typeface="+mn-lt"/>
                <a:ea typeface="+mn-ea"/>
                <a:cs typeface="+mn-cs"/>
              </a:rPr>
              <a:t>CASE</a:t>
            </a:r>
            <a:r>
              <a:rPr lang="de-DE" dirty="0"/>
              <a:t> steht das auszuwertende Feld. </a:t>
            </a:r>
          </a:p>
          <a:p>
            <a:pPr lvl="0"/>
            <a:r>
              <a:rPr lang="de-DE" dirty="0"/>
              <a:t>Die </a:t>
            </a:r>
            <a:r>
              <a:rPr lang="de-DE" sz="1200" kern="1200" dirty="0">
                <a:solidFill>
                  <a:schemeClr val="tx1"/>
                </a:solidFill>
                <a:latin typeface="+mn-lt"/>
                <a:ea typeface="+mn-ea"/>
                <a:cs typeface="+mn-cs"/>
              </a:rPr>
              <a:t>WHEN</a:t>
            </a:r>
            <a:r>
              <a:rPr lang="de-DE" dirty="0"/>
              <a:t>-Zweige ordnen technische und fachliche Werte einander zu. </a:t>
            </a:r>
          </a:p>
          <a:p>
            <a:pPr lvl="0"/>
            <a:r>
              <a:rPr lang="de-DE" sz="1200" kern="1200" dirty="0">
                <a:solidFill>
                  <a:schemeClr val="tx1"/>
                </a:solidFill>
                <a:latin typeface="+mn-lt"/>
                <a:ea typeface="+mn-ea"/>
                <a:cs typeface="+mn-cs"/>
              </a:rPr>
              <a:t>ELSE</a:t>
            </a:r>
            <a:r>
              <a:rPr lang="de-DE" dirty="0"/>
              <a:t> behandelt unerwartete oder bisher unbekannte Werte. </a:t>
            </a:r>
          </a:p>
          <a:p>
            <a:pPr lvl="0"/>
            <a:r>
              <a:rPr lang="de-DE" dirty="0"/>
              <a:t>Der gesamte Ausdruck erhält mit </a:t>
            </a:r>
            <a:r>
              <a:rPr lang="de-DE" sz="1200" kern="1200" dirty="0">
                <a:solidFill>
                  <a:schemeClr val="tx1"/>
                </a:solidFill>
                <a:latin typeface="+mn-lt"/>
                <a:ea typeface="+mn-ea"/>
                <a:cs typeface="+mn-cs"/>
              </a:rPr>
              <a:t>as </a:t>
            </a:r>
            <a:r>
              <a:rPr lang="de-DE" sz="1200" kern="1200" dirty="0" err="1">
                <a:solidFill>
                  <a:schemeClr val="tx1"/>
                </a:solidFill>
                <a:latin typeface="+mn-lt"/>
                <a:ea typeface="+mn-ea"/>
                <a:cs typeface="+mn-cs"/>
              </a:rPr>
              <a:t>OrderTypeText</a:t>
            </a:r>
            <a:r>
              <a:rPr lang="de-DE" dirty="0"/>
              <a:t> einen Elementnamen. </a:t>
            </a:r>
          </a:p>
          <a:p>
            <a:pPr lvl="0"/>
            <a:r>
              <a:rPr lang="de-DE" dirty="0"/>
              <a:t>Der Wert wird nicht in der Tabelle gespeichert. </a:t>
            </a:r>
          </a:p>
          <a:p>
            <a:pPr lvl="0"/>
            <a:r>
              <a:rPr lang="de-DE" dirty="0"/>
              <a:t>Die Berechnung erfolgt bei jedem Lesen der View. </a:t>
            </a:r>
          </a:p>
          <a:p>
            <a:r>
              <a:rPr lang="de-DE" b="1" dirty="0"/>
              <a:t>Didaktischer Hinweis</a:t>
            </a:r>
          </a:p>
          <a:p>
            <a:r>
              <a:rPr lang="de-DE" dirty="0"/>
              <a:t>Den </a:t>
            </a:r>
            <a:r>
              <a:rPr lang="de-DE" sz="1200" kern="1200" dirty="0">
                <a:solidFill>
                  <a:schemeClr val="tx1"/>
                </a:solidFill>
                <a:latin typeface="+mn-lt"/>
                <a:ea typeface="+mn-ea"/>
                <a:cs typeface="+mn-cs"/>
              </a:rPr>
              <a:t>ELSE</a:t>
            </a:r>
            <a:r>
              <a:rPr lang="de-DE" dirty="0"/>
              <a:t>-Zweig bewusst nicht weglassen. Dadurch lässt sich erklären, dass ein Datenmodell auch mit unerwarteten Daten kontrolliert umgehen sollte.</a:t>
            </a:r>
          </a:p>
          <a:p>
            <a:br>
              <a:rPr lang="de-DE" dirty="0"/>
            </a:br>
            <a:endParaRPr lang="de-DE" dirty="0"/>
          </a:p>
          <a:p>
            <a:r>
              <a:rPr lang="de-DE" b="1" dirty="0"/>
              <a:t>4. Auftragsstatus ergänzen – ca. 5 Minuten</a:t>
            </a:r>
          </a:p>
          <a:p>
            <a:r>
              <a:rPr lang="de-DE" dirty="0"/>
              <a:t>Nach </a:t>
            </a:r>
            <a:r>
              <a:rPr lang="de-DE" sz="1200" kern="1200" dirty="0" err="1">
                <a:solidFill>
                  <a:schemeClr val="tx1"/>
                </a:solidFill>
                <a:latin typeface="+mn-lt"/>
                <a:ea typeface="+mn-ea"/>
                <a:cs typeface="+mn-cs"/>
              </a:rPr>
              <a:t>OrderStatus</a:t>
            </a:r>
            <a:r>
              <a:rPr lang="de-DE" dirty="0"/>
              <a:t> das zweite berechnete Element ergänzen:</a:t>
            </a:r>
          </a:p>
          <a:p>
            <a:pPr rtl="0"/>
            <a:r>
              <a:rPr lang="de-DE" sz="1200" kern="1200" dirty="0">
                <a:solidFill>
                  <a:schemeClr val="tx1"/>
                </a:solidFill>
                <a:latin typeface="+mn-lt"/>
                <a:ea typeface="+mn-ea"/>
                <a:cs typeface="+mn-cs"/>
              </a:rPr>
              <a:t>      @EndUserText.label: 'Bezeichnung des Auftragsstatus'</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case</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order_status</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when</a:t>
            </a:r>
            <a:r>
              <a:rPr lang="de-DE" sz="1200" kern="1200" dirty="0">
                <a:solidFill>
                  <a:schemeClr val="tx1"/>
                </a:solidFill>
                <a:latin typeface="+mn-lt"/>
                <a:ea typeface="+mn-ea"/>
                <a:cs typeface="+mn-cs"/>
              </a:rPr>
              <a:t> 'N' </a:t>
            </a:r>
            <a:r>
              <a:rPr lang="de-DE" sz="1200" kern="1200" dirty="0" err="1">
                <a:solidFill>
                  <a:schemeClr val="tx1"/>
                </a:solidFill>
                <a:latin typeface="+mn-lt"/>
                <a:ea typeface="+mn-ea"/>
                <a:cs typeface="+mn-cs"/>
              </a:rPr>
              <a:t>then</a:t>
            </a:r>
            <a:r>
              <a:rPr lang="de-DE" sz="1200" kern="1200" dirty="0">
                <a:solidFill>
                  <a:schemeClr val="tx1"/>
                </a:solidFill>
                <a:latin typeface="+mn-lt"/>
                <a:ea typeface="+mn-ea"/>
                <a:cs typeface="+mn-cs"/>
              </a:rPr>
              <a:t> 'Neu'</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when</a:t>
            </a:r>
            <a:r>
              <a:rPr lang="de-DE" sz="1200" kern="1200" dirty="0">
                <a:solidFill>
                  <a:schemeClr val="tx1"/>
                </a:solidFill>
                <a:latin typeface="+mn-lt"/>
                <a:ea typeface="+mn-ea"/>
                <a:cs typeface="+mn-cs"/>
              </a:rPr>
              <a:t> 'P' </a:t>
            </a:r>
            <a:r>
              <a:rPr lang="de-DE" sz="1200" kern="1200" dirty="0" err="1">
                <a:solidFill>
                  <a:schemeClr val="tx1"/>
                </a:solidFill>
                <a:latin typeface="+mn-lt"/>
                <a:ea typeface="+mn-ea"/>
                <a:cs typeface="+mn-cs"/>
              </a:rPr>
              <a:t>then</a:t>
            </a:r>
            <a:r>
              <a:rPr lang="de-DE" sz="1200" kern="1200" dirty="0">
                <a:solidFill>
                  <a:schemeClr val="tx1"/>
                </a:solidFill>
                <a:latin typeface="+mn-lt"/>
                <a:ea typeface="+mn-ea"/>
                <a:cs typeface="+mn-cs"/>
              </a:rPr>
              <a:t> 'In Bearbeitung'</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when</a:t>
            </a:r>
            <a:r>
              <a:rPr lang="de-DE" sz="1200" kern="1200" dirty="0">
                <a:solidFill>
                  <a:schemeClr val="tx1"/>
                </a:solidFill>
                <a:latin typeface="+mn-lt"/>
                <a:ea typeface="+mn-ea"/>
                <a:cs typeface="+mn-cs"/>
              </a:rPr>
              <a:t> 'C' </a:t>
            </a:r>
            <a:r>
              <a:rPr lang="de-DE" sz="1200" kern="1200" dirty="0" err="1">
                <a:solidFill>
                  <a:schemeClr val="tx1"/>
                </a:solidFill>
                <a:latin typeface="+mn-lt"/>
                <a:ea typeface="+mn-ea"/>
                <a:cs typeface="+mn-cs"/>
              </a:rPr>
              <a:t>then</a:t>
            </a:r>
            <a:r>
              <a:rPr lang="de-DE" sz="1200" kern="1200" dirty="0">
                <a:solidFill>
                  <a:schemeClr val="tx1"/>
                </a:solidFill>
                <a:latin typeface="+mn-lt"/>
                <a:ea typeface="+mn-ea"/>
                <a:cs typeface="+mn-cs"/>
              </a:rPr>
              <a:t> 'Abgeschlossen'</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else</a:t>
            </a:r>
            <a:r>
              <a:rPr lang="de-DE" sz="1200" kern="1200" dirty="0">
                <a:solidFill>
                  <a:schemeClr val="tx1"/>
                </a:solidFill>
                <a:latin typeface="+mn-lt"/>
                <a:ea typeface="+mn-ea"/>
                <a:cs typeface="+mn-cs"/>
              </a:rPr>
              <a:t> 'Unbekannt'</a:t>
            </a:r>
          </a:p>
          <a:p>
            <a:pPr rtl="0"/>
            <a:r>
              <a:rPr lang="de-DE" sz="1200" kern="1200" dirty="0">
                <a:solidFill>
                  <a:schemeClr val="tx1"/>
                </a:solidFill>
                <a:latin typeface="+mn-lt"/>
                <a:ea typeface="+mn-ea"/>
                <a:cs typeface="+mn-cs"/>
              </a:rPr>
              <a:t>      end                as </a:t>
            </a:r>
            <a:r>
              <a:rPr lang="de-DE" sz="1200" kern="1200" dirty="0" err="1">
                <a:solidFill>
                  <a:schemeClr val="tx1"/>
                </a:solidFill>
                <a:latin typeface="+mn-lt"/>
                <a:ea typeface="+mn-ea"/>
                <a:cs typeface="+mn-cs"/>
              </a:rPr>
              <a:t>OrderStatusText</a:t>
            </a:r>
            <a:r>
              <a:rPr lang="de-DE" sz="1200" kern="1200" dirty="0">
                <a:solidFill>
                  <a:schemeClr val="tx1"/>
                </a:solidFill>
                <a:latin typeface="+mn-lt"/>
                <a:ea typeface="+mn-ea"/>
                <a:cs typeface="+mn-cs"/>
              </a:rPr>
              <a:t>,</a:t>
            </a:r>
          </a:p>
          <a:p>
            <a:r>
              <a:rPr lang="de-DE" dirty="0"/>
              <a:t>Der Ausschnitt lautet:</a:t>
            </a:r>
          </a:p>
          <a:p>
            <a:pPr rtl="0"/>
            <a:r>
              <a:rPr lang="de-DE" sz="1200" kern="1200" dirty="0">
                <a:solidFill>
                  <a:schemeClr val="tx1"/>
                </a:solidFill>
                <a:latin typeface="+mn-lt"/>
                <a:ea typeface="+mn-ea"/>
                <a:cs typeface="+mn-cs"/>
              </a:rPr>
              <a:t>      @EndUserText.label: 'Auftragsstatus'</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order_status</a:t>
            </a:r>
            <a:r>
              <a:rPr lang="de-DE" sz="1200" kern="1200" dirty="0">
                <a:solidFill>
                  <a:schemeClr val="tx1"/>
                </a:solidFill>
                <a:latin typeface="+mn-lt"/>
                <a:ea typeface="+mn-ea"/>
                <a:cs typeface="+mn-cs"/>
              </a:rPr>
              <a:t>       as </a:t>
            </a:r>
            <a:r>
              <a:rPr lang="de-DE" sz="1200" kern="1200" dirty="0" err="1">
                <a:solidFill>
                  <a:schemeClr val="tx1"/>
                </a:solidFill>
                <a:latin typeface="+mn-lt"/>
                <a:ea typeface="+mn-ea"/>
                <a:cs typeface="+mn-cs"/>
              </a:rPr>
              <a:t>OrderStatus</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@EndUserText.label: 'Bezeichnung des Auftragsstatus'</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case</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order_status</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when</a:t>
            </a:r>
            <a:r>
              <a:rPr lang="de-DE" sz="1200" kern="1200" dirty="0">
                <a:solidFill>
                  <a:schemeClr val="tx1"/>
                </a:solidFill>
                <a:latin typeface="+mn-lt"/>
                <a:ea typeface="+mn-ea"/>
                <a:cs typeface="+mn-cs"/>
              </a:rPr>
              <a:t> 'N' </a:t>
            </a:r>
            <a:r>
              <a:rPr lang="de-DE" sz="1200" kern="1200" dirty="0" err="1">
                <a:solidFill>
                  <a:schemeClr val="tx1"/>
                </a:solidFill>
                <a:latin typeface="+mn-lt"/>
                <a:ea typeface="+mn-ea"/>
                <a:cs typeface="+mn-cs"/>
              </a:rPr>
              <a:t>then</a:t>
            </a:r>
            <a:r>
              <a:rPr lang="de-DE" sz="1200" kern="1200" dirty="0">
                <a:solidFill>
                  <a:schemeClr val="tx1"/>
                </a:solidFill>
                <a:latin typeface="+mn-lt"/>
                <a:ea typeface="+mn-ea"/>
                <a:cs typeface="+mn-cs"/>
              </a:rPr>
              <a:t> 'Neu'</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when</a:t>
            </a:r>
            <a:r>
              <a:rPr lang="de-DE" sz="1200" kern="1200" dirty="0">
                <a:solidFill>
                  <a:schemeClr val="tx1"/>
                </a:solidFill>
                <a:latin typeface="+mn-lt"/>
                <a:ea typeface="+mn-ea"/>
                <a:cs typeface="+mn-cs"/>
              </a:rPr>
              <a:t> 'P' </a:t>
            </a:r>
            <a:r>
              <a:rPr lang="de-DE" sz="1200" kern="1200" dirty="0" err="1">
                <a:solidFill>
                  <a:schemeClr val="tx1"/>
                </a:solidFill>
                <a:latin typeface="+mn-lt"/>
                <a:ea typeface="+mn-ea"/>
                <a:cs typeface="+mn-cs"/>
              </a:rPr>
              <a:t>then</a:t>
            </a:r>
            <a:r>
              <a:rPr lang="de-DE" sz="1200" kern="1200" dirty="0">
                <a:solidFill>
                  <a:schemeClr val="tx1"/>
                </a:solidFill>
                <a:latin typeface="+mn-lt"/>
                <a:ea typeface="+mn-ea"/>
                <a:cs typeface="+mn-cs"/>
              </a:rPr>
              <a:t> 'In Bearbeitung'</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when</a:t>
            </a:r>
            <a:r>
              <a:rPr lang="de-DE" sz="1200" kern="1200" dirty="0">
                <a:solidFill>
                  <a:schemeClr val="tx1"/>
                </a:solidFill>
                <a:latin typeface="+mn-lt"/>
                <a:ea typeface="+mn-ea"/>
                <a:cs typeface="+mn-cs"/>
              </a:rPr>
              <a:t> 'C' </a:t>
            </a:r>
            <a:r>
              <a:rPr lang="de-DE" sz="1200" kern="1200" dirty="0" err="1">
                <a:solidFill>
                  <a:schemeClr val="tx1"/>
                </a:solidFill>
                <a:latin typeface="+mn-lt"/>
                <a:ea typeface="+mn-ea"/>
                <a:cs typeface="+mn-cs"/>
              </a:rPr>
              <a:t>then</a:t>
            </a:r>
            <a:r>
              <a:rPr lang="de-DE" sz="1200" kern="1200" dirty="0">
                <a:solidFill>
                  <a:schemeClr val="tx1"/>
                </a:solidFill>
                <a:latin typeface="+mn-lt"/>
                <a:ea typeface="+mn-ea"/>
                <a:cs typeface="+mn-cs"/>
              </a:rPr>
              <a:t> 'Abgeschlossen'</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else</a:t>
            </a:r>
            <a:r>
              <a:rPr lang="de-DE" sz="1200" kern="1200" dirty="0">
                <a:solidFill>
                  <a:schemeClr val="tx1"/>
                </a:solidFill>
                <a:latin typeface="+mn-lt"/>
                <a:ea typeface="+mn-ea"/>
                <a:cs typeface="+mn-cs"/>
              </a:rPr>
              <a:t> 'Unbekannt'</a:t>
            </a:r>
          </a:p>
          <a:p>
            <a:pPr rtl="0"/>
            <a:r>
              <a:rPr lang="de-DE" sz="1200" kern="1200" dirty="0">
                <a:solidFill>
                  <a:schemeClr val="tx1"/>
                </a:solidFill>
                <a:latin typeface="+mn-lt"/>
                <a:ea typeface="+mn-ea"/>
                <a:cs typeface="+mn-cs"/>
              </a:rPr>
              <a:t>      end                as </a:t>
            </a:r>
            <a:r>
              <a:rPr lang="de-DE" sz="1200" kern="1200" dirty="0" err="1">
                <a:solidFill>
                  <a:schemeClr val="tx1"/>
                </a:solidFill>
                <a:latin typeface="+mn-lt"/>
                <a:ea typeface="+mn-ea"/>
                <a:cs typeface="+mn-cs"/>
              </a:rPr>
              <a:t>OrderStatusText</a:t>
            </a:r>
            <a:r>
              <a:rPr lang="de-DE" sz="1200" kern="1200" dirty="0">
                <a:solidFill>
                  <a:schemeClr val="tx1"/>
                </a:solidFill>
                <a:latin typeface="+mn-lt"/>
                <a:ea typeface="+mn-ea"/>
                <a:cs typeface="+mn-cs"/>
              </a:rPr>
              <a:t>,</a:t>
            </a:r>
          </a:p>
          <a:p>
            <a:r>
              <a:rPr lang="de-DE" dirty="0"/>
              <a:t>Erneut aktivieren.</a:t>
            </a:r>
          </a:p>
          <a:p>
            <a:r>
              <a:rPr lang="de-DE" b="1" dirty="0"/>
              <a:t>Erläuterungen während der Demo</a:t>
            </a:r>
          </a:p>
          <a:p>
            <a:r>
              <a:rPr lang="de-DE" dirty="0"/>
              <a:t>Hier kann auf den Unterschied zwischen Datenmodellierung und Übersetzungstabellen hingewiesen werden:</a:t>
            </a:r>
          </a:p>
          <a:p>
            <a:pPr lvl="0"/>
            <a:r>
              <a:rPr lang="de-DE" dirty="0"/>
              <a:t>Für unser kleines, festes Beispiel ist </a:t>
            </a:r>
            <a:r>
              <a:rPr lang="de-DE" sz="1200" kern="1200" dirty="0">
                <a:solidFill>
                  <a:schemeClr val="tx1"/>
                </a:solidFill>
                <a:latin typeface="+mn-lt"/>
                <a:ea typeface="+mn-ea"/>
                <a:cs typeface="+mn-cs"/>
              </a:rPr>
              <a:t>CASE</a:t>
            </a:r>
            <a:r>
              <a:rPr lang="de-DE" dirty="0"/>
              <a:t> gut nachvollziehbar. </a:t>
            </a:r>
          </a:p>
          <a:p>
            <a:pPr lvl="0"/>
            <a:r>
              <a:rPr lang="de-DE" dirty="0"/>
              <a:t>In einer produktiven Anwendung könnten Statusbezeichnungen aus einer eigenen CDS Text View stammen. </a:t>
            </a:r>
          </a:p>
          <a:p>
            <a:pPr lvl="0"/>
            <a:r>
              <a:rPr lang="de-DE" dirty="0"/>
              <a:t>Sprachabhängige Geschäftstexte sollten nicht dauerhaft als deutsche Literale in einer wiederverwendbaren Interface View modelliert werden. </a:t>
            </a:r>
          </a:p>
          <a:p>
            <a:pPr lvl="0"/>
            <a:r>
              <a:rPr lang="de-DE" dirty="0"/>
              <a:t>Die jetzige Lösung dient als kompakter Einstieg in berechnete Elemente. </a:t>
            </a:r>
          </a:p>
          <a:p>
            <a:r>
              <a:rPr lang="de-DE" dirty="0"/>
              <a:t>Dieser Hinweis verhindert, dass das Demo-Beispiel als allgemeine Empfehlung für produktive Statusmodelle verstanden wird.</a:t>
            </a:r>
          </a:p>
          <a:p>
            <a:br>
              <a:rPr lang="de-DE" dirty="0"/>
            </a:br>
            <a:endParaRPr lang="de-DE" dirty="0"/>
          </a:p>
          <a:p>
            <a:r>
              <a:rPr lang="de-DE" b="1" dirty="0"/>
              <a:t>5. Vollständigen Entwicklungsstand aktivieren – ca. 3 Minuten</a:t>
            </a:r>
          </a:p>
          <a:p>
            <a:pPr rtl="0"/>
            <a:r>
              <a:rPr lang="de-DE" sz="1200" kern="1200" dirty="0">
                <a:solidFill>
                  <a:schemeClr val="tx1"/>
                </a:solidFill>
                <a:latin typeface="+mn-lt"/>
                <a:ea typeface="+mn-ea"/>
                <a:cs typeface="+mn-cs"/>
              </a:rPr>
              <a:t>@EndUserText.label: 'CDS Workshop: Aufträge'</a:t>
            </a:r>
          </a:p>
          <a:p>
            <a:pPr rtl="0"/>
            <a:r>
              <a:rPr lang="de-DE" sz="1200" kern="1200" dirty="0">
                <a:solidFill>
                  <a:schemeClr val="tx1"/>
                </a:solidFill>
                <a:latin typeface="+mn-lt"/>
                <a:ea typeface="+mn-ea"/>
                <a:cs typeface="+mn-cs"/>
              </a:rPr>
              <a:t>@AccessControl.authorizationCheck: #NOT_REQUIRED</a:t>
            </a:r>
          </a:p>
          <a:p>
            <a:pPr rtl="0"/>
            <a:r>
              <a:rPr lang="de-DE" sz="1200" kern="1200" dirty="0" err="1">
                <a:solidFill>
                  <a:schemeClr val="tx1"/>
                </a:solidFill>
                <a:latin typeface="+mn-lt"/>
                <a:ea typeface="+mn-ea"/>
                <a:cs typeface="+mn-cs"/>
              </a:rPr>
              <a:t>define</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view</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entity</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ZI_CDSOrder</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as </a:t>
            </a:r>
            <a:r>
              <a:rPr lang="de-DE" sz="1200" kern="1200" dirty="0" err="1">
                <a:solidFill>
                  <a:schemeClr val="tx1"/>
                </a:solidFill>
                <a:latin typeface="+mn-lt"/>
                <a:ea typeface="+mn-ea"/>
                <a:cs typeface="+mn-cs"/>
              </a:rPr>
              <a:t>select</a:t>
            </a:r>
            <a:r>
              <a:rPr lang="de-DE" sz="1200" kern="1200" dirty="0">
                <a:solidFill>
                  <a:schemeClr val="tx1"/>
                </a:solidFill>
                <a:latin typeface="+mn-lt"/>
                <a:ea typeface="+mn-ea"/>
                <a:cs typeface="+mn-cs"/>
              </a:rPr>
              <a:t> from </a:t>
            </a:r>
            <a:r>
              <a:rPr lang="de-DE" sz="1200" kern="1200" dirty="0" err="1">
                <a:solidFill>
                  <a:schemeClr val="tx1"/>
                </a:solidFill>
                <a:latin typeface="+mn-lt"/>
                <a:ea typeface="+mn-ea"/>
                <a:cs typeface="+mn-cs"/>
              </a:rPr>
              <a:t>zcds_order</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@EndUserText.label: 'Auftragsnummer'</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key</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order_id</a:t>
            </a:r>
            <a:r>
              <a:rPr lang="de-DE" sz="1200" kern="1200" dirty="0">
                <a:solidFill>
                  <a:schemeClr val="tx1"/>
                </a:solidFill>
                <a:latin typeface="+mn-lt"/>
                <a:ea typeface="+mn-ea"/>
                <a:cs typeface="+mn-cs"/>
              </a:rPr>
              <a:t>           as </a:t>
            </a:r>
            <a:r>
              <a:rPr lang="de-DE" sz="1200" kern="1200" dirty="0" err="1">
                <a:solidFill>
                  <a:schemeClr val="tx1"/>
                </a:solidFill>
                <a:latin typeface="+mn-lt"/>
                <a:ea typeface="+mn-ea"/>
                <a:cs typeface="+mn-cs"/>
              </a:rPr>
              <a:t>OrderId</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@EndUserText.label: 'Kundennummer'</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customer_id</a:t>
            </a:r>
            <a:r>
              <a:rPr lang="de-DE" sz="1200" kern="1200" dirty="0">
                <a:solidFill>
                  <a:schemeClr val="tx1"/>
                </a:solidFill>
                <a:latin typeface="+mn-lt"/>
                <a:ea typeface="+mn-ea"/>
                <a:cs typeface="+mn-cs"/>
              </a:rPr>
              <a:t>        as </a:t>
            </a:r>
            <a:r>
              <a:rPr lang="de-DE" sz="1200" kern="1200" dirty="0" err="1">
                <a:solidFill>
                  <a:schemeClr val="tx1"/>
                </a:solidFill>
                <a:latin typeface="+mn-lt"/>
                <a:ea typeface="+mn-ea"/>
                <a:cs typeface="+mn-cs"/>
              </a:rPr>
              <a:t>CustomerId</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@EndUserText.label: 'Auftragsdatum'</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order_date</a:t>
            </a:r>
            <a:r>
              <a:rPr lang="de-DE" sz="1200" kern="1200" dirty="0">
                <a:solidFill>
                  <a:schemeClr val="tx1"/>
                </a:solidFill>
                <a:latin typeface="+mn-lt"/>
                <a:ea typeface="+mn-ea"/>
                <a:cs typeface="+mn-cs"/>
              </a:rPr>
              <a:t>         as </a:t>
            </a:r>
            <a:r>
              <a:rPr lang="de-DE" sz="1200" kern="1200" dirty="0" err="1">
                <a:solidFill>
                  <a:schemeClr val="tx1"/>
                </a:solidFill>
                <a:latin typeface="+mn-lt"/>
                <a:ea typeface="+mn-ea"/>
                <a:cs typeface="+mn-cs"/>
              </a:rPr>
              <a:t>OrderDate</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@EndUserText.label: 'Wunschdatum'</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requested_date</a:t>
            </a:r>
            <a:r>
              <a:rPr lang="de-DE" sz="1200" kern="1200" dirty="0">
                <a:solidFill>
                  <a:schemeClr val="tx1"/>
                </a:solidFill>
                <a:latin typeface="+mn-lt"/>
                <a:ea typeface="+mn-ea"/>
                <a:cs typeface="+mn-cs"/>
              </a:rPr>
              <a:t>     as </a:t>
            </a:r>
            <a:r>
              <a:rPr lang="de-DE" sz="1200" kern="1200" dirty="0" err="1">
                <a:solidFill>
                  <a:schemeClr val="tx1"/>
                </a:solidFill>
                <a:latin typeface="+mn-lt"/>
                <a:ea typeface="+mn-ea"/>
                <a:cs typeface="+mn-cs"/>
              </a:rPr>
              <a:t>RequestedDate</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@EndUserText.label: 'Auftragsart'</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order_type</a:t>
            </a:r>
            <a:r>
              <a:rPr lang="de-DE" sz="1200" kern="1200" dirty="0">
                <a:solidFill>
                  <a:schemeClr val="tx1"/>
                </a:solidFill>
                <a:latin typeface="+mn-lt"/>
                <a:ea typeface="+mn-ea"/>
                <a:cs typeface="+mn-cs"/>
              </a:rPr>
              <a:t>         as </a:t>
            </a:r>
            <a:r>
              <a:rPr lang="de-DE" sz="1200" kern="1200" dirty="0" err="1">
                <a:solidFill>
                  <a:schemeClr val="tx1"/>
                </a:solidFill>
                <a:latin typeface="+mn-lt"/>
                <a:ea typeface="+mn-ea"/>
                <a:cs typeface="+mn-cs"/>
              </a:rPr>
              <a:t>OrderType</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@EndUserText.label: 'Bezeichnung der Auftragsart'</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case</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order_type</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when</a:t>
            </a:r>
            <a:r>
              <a:rPr lang="de-DE" sz="1200" kern="1200" dirty="0">
                <a:solidFill>
                  <a:schemeClr val="tx1"/>
                </a:solidFill>
                <a:latin typeface="+mn-lt"/>
                <a:ea typeface="+mn-ea"/>
                <a:cs typeface="+mn-cs"/>
              </a:rPr>
              <a:t> 'O' </a:t>
            </a:r>
            <a:r>
              <a:rPr lang="de-DE" sz="1200" kern="1200" dirty="0" err="1">
                <a:solidFill>
                  <a:schemeClr val="tx1"/>
                </a:solidFill>
                <a:latin typeface="+mn-lt"/>
                <a:ea typeface="+mn-ea"/>
                <a:cs typeface="+mn-cs"/>
              </a:rPr>
              <a:t>then</a:t>
            </a:r>
            <a:r>
              <a:rPr lang="de-DE" sz="1200" kern="1200" dirty="0">
                <a:solidFill>
                  <a:schemeClr val="tx1"/>
                </a:solidFill>
                <a:latin typeface="+mn-lt"/>
                <a:ea typeface="+mn-ea"/>
                <a:cs typeface="+mn-cs"/>
              </a:rPr>
              <a:t> 'Online'</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when</a:t>
            </a:r>
            <a:r>
              <a:rPr lang="de-DE" sz="1200" kern="1200" dirty="0">
                <a:solidFill>
                  <a:schemeClr val="tx1"/>
                </a:solidFill>
                <a:latin typeface="+mn-lt"/>
                <a:ea typeface="+mn-ea"/>
                <a:cs typeface="+mn-cs"/>
              </a:rPr>
              <a:t> 'D' </a:t>
            </a:r>
            <a:r>
              <a:rPr lang="de-DE" sz="1200" kern="1200" dirty="0" err="1">
                <a:solidFill>
                  <a:schemeClr val="tx1"/>
                </a:solidFill>
                <a:latin typeface="+mn-lt"/>
                <a:ea typeface="+mn-ea"/>
                <a:cs typeface="+mn-cs"/>
              </a:rPr>
              <a:t>then</a:t>
            </a:r>
            <a:r>
              <a:rPr lang="de-DE" sz="1200" kern="1200" dirty="0">
                <a:solidFill>
                  <a:schemeClr val="tx1"/>
                </a:solidFill>
                <a:latin typeface="+mn-lt"/>
                <a:ea typeface="+mn-ea"/>
                <a:cs typeface="+mn-cs"/>
              </a:rPr>
              <a:t> 'Direktvertrieb'</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else</a:t>
            </a:r>
            <a:r>
              <a:rPr lang="de-DE" sz="1200" kern="1200" dirty="0">
                <a:solidFill>
                  <a:schemeClr val="tx1"/>
                </a:solidFill>
                <a:latin typeface="+mn-lt"/>
                <a:ea typeface="+mn-ea"/>
                <a:cs typeface="+mn-cs"/>
              </a:rPr>
              <a:t> 'Unbekannt'</a:t>
            </a:r>
          </a:p>
          <a:p>
            <a:pPr rtl="0"/>
            <a:r>
              <a:rPr lang="de-DE" sz="1200" kern="1200" dirty="0">
                <a:solidFill>
                  <a:schemeClr val="tx1"/>
                </a:solidFill>
                <a:latin typeface="+mn-lt"/>
                <a:ea typeface="+mn-ea"/>
                <a:cs typeface="+mn-cs"/>
              </a:rPr>
              <a:t>      end                as </a:t>
            </a:r>
            <a:r>
              <a:rPr lang="de-DE" sz="1200" kern="1200" dirty="0" err="1">
                <a:solidFill>
                  <a:schemeClr val="tx1"/>
                </a:solidFill>
                <a:latin typeface="+mn-lt"/>
                <a:ea typeface="+mn-ea"/>
                <a:cs typeface="+mn-cs"/>
              </a:rPr>
              <a:t>OrderTypeText</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@EndUserText.label: 'Auftragsstatus'</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order_status</a:t>
            </a:r>
            <a:r>
              <a:rPr lang="de-DE" sz="1200" kern="1200" dirty="0">
                <a:solidFill>
                  <a:schemeClr val="tx1"/>
                </a:solidFill>
                <a:latin typeface="+mn-lt"/>
                <a:ea typeface="+mn-ea"/>
                <a:cs typeface="+mn-cs"/>
              </a:rPr>
              <a:t>       as </a:t>
            </a:r>
            <a:r>
              <a:rPr lang="de-DE" sz="1200" kern="1200" dirty="0" err="1">
                <a:solidFill>
                  <a:schemeClr val="tx1"/>
                </a:solidFill>
                <a:latin typeface="+mn-lt"/>
                <a:ea typeface="+mn-ea"/>
                <a:cs typeface="+mn-cs"/>
              </a:rPr>
              <a:t>OrderStatus</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@EndUserText.label: 'Bezeichnung des Auftragsstatus'</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case</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order_status</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when</a:t>
            </a:r>
            <a:r>
              <a:rPr lang="de-DE" sz="1200" kern="1200" dirty="0">
                <a:solidFill>
                  <a:schemeClr val="tx1"/>
                </a:solidFill>
                <a:latin typeface="+mn-lt"/>
                <a:ea typeface="+mn-ea"/>
                <a:cs typeface="+mn-cs"/>
              </a:rPr>
              <a:t> 'N' </a:t>
            </a:r>
            <a:r>
              <a:rPr lang="de-DE" sz="1200" kern="1200" dirty="0" err="1">
                <a:solidFill>
                  <a:schemeClr val="tx1"/>
                </a:solidFill>
                <a:latin typeface="+mn-lt"/>
                <a:ea typeface="+mn-ea"/>
                <a:cs typeface="+mn-cs"/>
              </a:rPr>
              <a:t>then</a:t>
            </a:r>
            <a:r>
              <a:rPr lang="de-DE" sz="1200" kern="1200" dirty="0">
                <a:solidFill>
                  <a:schemeClr val="tx1"/>
                </a:solidFill>
                <a:latin typeface="+mn-lt"/>
                <a:ea typeface="+mn-ea"/>
                <a:cs typeface="+mn-cs"/>
              </a:rPr>
              <a:t> 'Neu'</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when</a:t>
            </a:r>
            <a:r>
              <a:rPr lang="de-DE" sz="1200" kern="1200" dirty="0">
                <a:solidFill>
                  <a:schemeClr val="tx1"/>
                </a:solidFill>
                <a:latin typeface="+mn-lt"/>
                <a:ea typeface="+mn-ea"/>
                <a:cs typeface="+mn-cs"/>
              </a:rPr>
              <a:t> 'P' </a:t>
            </a:r>
            <a:r>
              <a:rPr lang="de-DE" sz="1200" kern="1200" dirty="0" err="1">
                <a:solidFill>
                  <a:schemeClr val="tx1"/>
                </a:solidFill>
                <a:latin typeface="+mn-lt"/>
                <a:ea typeface="+mn-ea"/>
                <a:cs typeface="+mn-cs"/>
              </a:rPr>
              <a:t>then</a:t>
            </a:r>
            <a:r>
              <a:rPr lang="de-DE" sz="1200" kern="1200" dirty="0">
                <a:solidFill>
                  <a:schemeClr val="tx1"/>
                </a:solidFill>
                <a:latin typeface="+mn-lt"/>
                <a:ea typeface="+mn-ea"/>
                <a:cs typeface="+mn-cs"/>
              </a:rPr>
              <a:t> 'In Bearbeitung'</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when</a:t>
            </a:r>
            <a:r>
              <a:rPr lang="de-DE" sz="1200" kern="1200" dirty="0">
                <a:solidFill>
                  <a:schemeClr val="tx1"/>
                </a:solidFill>
                <a:latin typeface="+mn-lt"/>
                <a:ea typeface="+mn-ea"/>
                <a:cs typeface="+mn-cs"/>
              </a:rPr>
              <a:t> 'C' </a:t>
            </a:r>
            <a:r>
              <a:rPr lang="de-DE" sz="1200" kern="1200" dirty="0" err="1">
                <a:solidFill>
                  <a:schemeClr val="tx1"/>
                </a:solidFill>
                <a:latin typeface="+mn-lt"/>
                <a:ea typeface="+mn-ea"/>
                <a:cs typeface="+mn-cs"/>
              </a:rPr>
              <a:t>then</a:t>
            </a:r>
            <a:r>
              <a:rPr lang="de-DE" sz="1200" kern="1200" dirty="0">
                <a:solidFill>
                  <a:schemeClr val="tx1"/>
                </a:solidFill>
                <a:latin typeface="+mn-lt"/>
                <a:ea typeface="+mn-ea"/>
                <a:cs typeface="+mn-cs"/>
              </a:rPr>
              <a:t> 'Abgeschlossen'</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else</a:t>
            </a:r>
            <a:r>
              <a:rPr lang="de-DE" sz="1200" kern="1200" dirty="0">
                <a:solidFill>
                  <a:schemeClr val="tx1"/>
                </a:solidFill>
                <a:latin typeface="+mn-lt"/>
                <a:ea typeface="+mn-ea"/>
                <a:cs typeface="+mn-cs"/>
              </a:rPr>
              <a:t> 'Unbekannt'</a:t>
            </a:r>
          </a:p>
          <a:p>
            <a:pPr rtl="0"/>
            <a:r>
              <a:rPr lang="de-DE" sz="1200" kern="1200" dirty="0">
                <a:solidFill>
                  <a:schemeClr val="tx1"/>
                </a:solidFill>
                <a:latin typeface="+mn-lt"/>
                <a:ea typeface="+mn-ea"/>
                <a:cs typeface="+mn-cs"/>
              </a:rPr>
              <a:t>      end                as </a:t>
            </a:r>
            <a:r>
              <a:rPr lang="de-DE" sz="1200" kern="1200" dirty="0" err="1">
                <a:solidFill>
                  <a:schemeClr val="tx1"/>
                </a:solidFill>
                <a:latin typeface="+mn-lt"/>
                <a:ea typeface="+mn-ea"/>
                <a:cs typeface="+mn-cs"/>
              </a:rPr>
              <a:t>OrderStatusText</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@EndUserText.label: 'Verkaufsorganisation'</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sales_organization</a:t>
            </a:r>
            <a:r>
              <a:rPr lang="de-DE" sz="1200" kern="1200" dirty="0">
                <a:solidFill>
                  <a:schemeClr val="tx1"/>
                </a:solidFill>
                <a:latin typeface="+mn-lt"/>
                <a:ea typeface="+mn-ea"/>
                <a:cs typeface="+mn-cs"/>
              </a:rPr>
              <a:t> as </a:t>
            </a:r>
            <a:r>
              <a:rPr lang="de-DE" sz="1200" kern="1200" dirty="0" err="1">
                <a:solidFill>
                  <a:schemeClr val="tx1"/>
                </a:solidFill>
                <a:latin typeface="+mn-lt"/>
                <a:ea typeface="+mn-ea"/>
                <a:cs typeface="+mn-cs"/>
              </a:rPr>
              <a:t>SalesOrganization</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@EndUserText.label: 'Währung'</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currency_code</a:t>
            </a:r>
            <a:r>
              <a:rPr lang="de-DE" sz="1200" kern="1200" dirty="0">
                <a:solidFill>
                  <a:schemeClr val="tx1"/>
                </a:solidFill>
                <a:latin typeface="+mn-lt"/>
                <a:ea typeface="+mn-ea"/>
                <a:cs typeface="+mn-cs"/>
              </a:rPr>
              <a:t>      as </a:t>
            </a:r>
            <a:r>
              <a:rPr lang="de-DE" sz="1200" kern="1200" dirty="0" err="1">
                <a:solidFill>
                  <a:schemeClr val="tx1"/>
                </a:solidFill>
                <a:latin typeface="+mn-lt"/>
                <a:ea typeface="+mn-ea"/>
                <a:cs typeface="+mn-cs"/>
              </a:rPr>
              <a:t>CurrencyCode</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a:t>
            </a:r>
          </a:p>
          <a:p>
            <a:r>
              <a:rPr lang="de-DE" dirty="0"/>
              <a:t>Aktivieren:</a:t>
            </a:r>
          </a:p>
          <a:p>
            <a:pPr rtl="0"/>
            <a:r>
              <a:rPr lang="de-DE" sz="1200" kern="1200" dirty="0">
                <a:solidFill>
                  <a:schemeClr val="tx1"/>
                </a:solidFill>
                <a:latin typeface="+mn-lt"/>
                <a:ea typeface="+mn-ea"/>
                <a:cs typeface="+mn-cs"/>
              </a:rPr>
              <a:t>Ctrl+F3</a:t>
            </a:r>
          </a:p>
          <a:p>
            <a:r>
              <a:rPr lang="de-DE" b="1" dirty="0"/>
              <a:t>Falls die Textlängen problematisiert werden</a:t>
            </a:r>
          </a:p>
          <a:p>
            <a:r>
              <a:rPr lang="de-DE" dirty="0"/>
              <a:t>Die Ergebnislänge eines </a:t>
            </a:r>
            <a:r>
              <a:rPr lang="de-DE" sz="1200" kern="1200" dirty="0">
                <a:solidFill>
                  <a:schemeClr val="tx1"/>
                </a:solidFill>
                <a:latin typeface="+mn-lt"/>
                <a:ea typeface="+mn-ea"/>
                <a:cs typeface="+mn-cs"/>
              </a:rPr>
              <a:t>CASE</a:t>
            </a:r>
            <a:r>
              <a:rPr lang="de-DE" dirty="0"/>
              <a:t>-Ausdrucks wird aus den beteiligten Literalen beziehungsweise Operanden abgeleitet. Die längsten Texte sind hier:</a:t>
            </a:r>
          </a:p>
          <a:p>
            <a:pPr rtl="0"/>
            <a:r>
              <a:rPr lang="de-DE" sz="1200" kern="1200" dirty="0">
                <a:solidFill>
                  <a:schemeClr val="tx1"/>
                </a:solidFill>
                <a:latin typeface="+mn-lt"/>
                <a:ea typeface="+mn-ea"/>
                <a:cs typeface="+mn-cs"/>
              </a:rPr>
              <a:t>Direktvertrieb</a:t>
            </a:r>
          </a:p>
          <a:p>
            <a:pPr rtl="0"/>
            <a:r>
              <a:rPr lang="de-DE" sz="1200" kern="1200" dirty="0">
                <a:solidFill>
                  <a:schemeClr val="tx1"/>
                </a:solidFill>
                <a:latin typeface="+mn-lt"/>
                <a:ea typeface="+mn-ea"/>
                <a:cs typeface="+mn-cs"/>
              </a:rPr>
              <a:t>In Bearbeitung</a:t>
            </a:r>
          </a:p>
          <a:p>
            <a:r>
              <a:rPr lang="de-DE" dirty="0"/>
              <a:t>Für das Demo ist daher kein zusätzlicher </a:t>
            </a:r>
            <a:r>
              <a:rPr lang="de-DE" sz="1200" kern="1200" dirty="0">
                <a:solidFill>
                  <a:schemeClr val="tx1"/>
                </a:solidFill>
                <a:latin typeface="+mn-lt"/>
                <a:ea typeface="+mn-ea"/>
                <a:cs typeface="+mn-cs"/>
              </a:rPr>
              <a:t>CAST</a:t>
            </a:r>
            <a:r>
              <a:rPr lang="de-DE" dirty="0"/>
              <a:t> erforderlich.</a:t>
            </a:r>
          </a:p>
          <a:p>
            <a:r>
              <a:rPr lang="de-DE" dirty="0"/>
              <a:t>Einen expliziten </a:t>
            </a:r>
            <a:r>
              <a:rPr lang="de-DE" sz="1200" kern="1200" dirty="0">
                <a:solidFill>
                  <a:schemeClr val="tx1"/>
                </a:solidFill>
                <a:latin typeface="+mn-lt"/>
                <a:ea typeface="+mn-ea"/>
                <a:cs typeface="+mn-cs"/>
              </a:rPr>
              <a:t>CAST</a:t>
            </a:r>
            <a:r>
              <a:rPr lang="de-DE" dirty="0"/>
              <a:t> würde ich an dieser Stelle noch nicht einführen. Datentypumwandlungen gehören systematisch in Teil 2.</a:t>
            </a:r>
          </a:p>
          <a:p>
            <a:br>
              <a:rPr lang="de-DE" dirty="0"/>
            </a:br>
            <a:endParaRPr lang="de-DE" dirty="0"/>
          </a:p>
          <a:p>
            <a:r>
              <a:rPr lang="de-DE" b="1" dirty="0"/>
              <a:t>6. Data Preview prüfen – ca. 4 Minuten</a:t>
            </a:r>
          </a:p>
          <a:p>
            <a:r>
              <a:rPr lang="de-DE" dirty="0"/>
              <a:t>Data Preview aktualisieren oder erneut öffnen.</a:t>
            </a:r>
          </a:p>
          <a:p>
            <a:r>
              <a:rPr lang="de-DE" b="1" dirty="0"/>
              <a:t>In der Data Preview demonstrieren</a:t>
            </a:r>
          </a:p>
          <a:p>
            <a:pPr lvl="0"/>
            <a:r>
              <a:rPr lang="de-DE" dirty="0"/>
              <a:t>Spalten ein- und ausblenden </a:t>
            </a:r>
          </a:p>
          <a:p>
            <a:pPr lvl="0"/>
            <a:r>
              <a:rPr lang="de-DE" dirty="0"/>
              <a:t>nach </a:t>
            </a:r>
            <a:r>
              <a:rPr lang="de-DE" sz="1200" kern="1200" dirty="0" err="1">
                <a:solidFill>
                  <a:schemeClr val="tx1"/>
                </a:solidFill>
                <a:latin typeface="+mn-lt"/>
                <a:ea typeface="+mn-ea"/>
                <a:cs typeface="+mn-cs"/>
              </a:rPr>
              <a:t>OrderStatus</a:t>
            </a:r>
            <a:r>
              <a:rPr lang="de-DE" sz="1200" kern="1200" dirty="0">
                <a:solidFill>
                  <a:schemeClr val="tx1"/>
                </a:solidFill>
                <a:latin typeface="+mn-lt"/>
                <a:ea typeface="+mn-ea"/>
                <a:cs typeface="+mn-cs"/>
              </a:rPr>
              <a:t> = P</a:t>
            </a:r>
            <a:r>
              <a:rPr lang="de-DE" dirty="0"/>
              <a:t> filtern </a:t>
            </a:r>
          </a:p>
          <a:p>
            <a:pPr lvl="0"/>
            <a:r>
              <a:rPr lang="de-DE" dirty="0"/>
              <a:t>nach </a:t>
            </a:r>
            <a:r>
              <a:rPr lang="de-DE" sz="1200" kern="1200" dirty="0" err="1">
                <a:solidFill>
                  <a:schemeClr val="tx1"/>
                </a:solidFill>
                <a:latin typeface="+mn-lt"/>
                <a:ea typeface="+mn-ea"/>
                <a:cs typeface="+mn-cs"/>
              </a:rPr>
              <a:t>OrderDate</a:t>
            </a:r>
            <a:r>
              <a:rPr lang="de-DE" dirty="0"/>
              <a:t> sortieren </a:t>
            </a:r>
          </a:p>
          <a:p>
            <a:pPr lvl="0"/>
            <a:r>
              <a:rPr lang="de-DE" dirty="0"/>
              <a:t>Anzahl der gefundenen Datensätze kontrollieren </a:t>
            </a:r>
          </a:p>
          <a:p>
            <a:pPr lvl="0"/>
            <a:r>
              <a:rPr lang="de-DE" dirty="0"/>
              <a:t>technische Werte und Texte miteinander vergleichen </a:t>
            </a:r>
          </a:p>
          <a:p>
            <a:r>
              <a:rPr lang="de-DE" b="1" dirty="0"/>
              <a:t>Begleitender Sprechtext</a:t>
            </a:r>
          </a:p>
          <a:p>
            <a:r>
              <a:rPr lang="de-DE" dirty="0"/>
              <a:t>Die beiden neuen Elemente existieren nicht in der Datenbanktabelle. Sie werden beim Lesen der View berechnet.</a:t>
            </a:r>
          </a:p>
          <a:p>
            <a:r>
              <a:rPr lang="de-DE" dirty="0"/>
              <a:t>Wir können jetzt entweder mit den stabilen technischen Werten oder mit den verständlichen Texten arbeiten. Die Data Preview erlaubt uns außerdem, das Ergebnis unmittelbar zu filtern und zu sortieren.</a:t>
            </a:r>
          </a:p>
          <a:p>
            <a:r>
              <a:rPr lang="de-DE" dirty="0"/>
              <a:t>Diese Filterung dient zunächst nur der Entwicklungs- und Datenkontrolle. Sie verändert nicht die Definition der View Entity.</a:t>
            </a:r>
          </a:p>
          <a:p>
            <a:br>
              <a:rPr lang="de-DE" dirty="0"/>
            </a:br>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17</a:t>
            </a:fld>
            <a:endParaRPr lang="de-DE" dirty="0"/>
          </a:p>
        </p:txBody>
      </p:sp>
    </p:spTree>
    <p:extLst>
      <p:ext uri="{BB962C8B-B14F-4D97-AF65-F5344CB8AC3E}">
        <p14:creationId xmlns:p14="http://schemas.microsoft.com/office/powerpoint/2010/main" val="386469273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Unsere View Entity ist inzwischen mehr als eine bloße Umbenennung von Tabellenfeldern.</a:t>
            </a:r>
          </a:p>
          <a:p>
            <a:r>
              <a:rPr lang="de-DE" dirty="0"/>
              <a:t>Sie stellt eine bewusst gestaltete Projektion bereit, beschreibt ihren Schlüssel, enthält benutzerorientierte Beschriftungen und übersetzt zwei technische Werte in verständliche Texte.</a:t>
            </a:r>
          </a:p>
          <a:p>
            <a:r>
              <a:rPr lang="de-DE" dirty="0"/>
              <a:t>Wir sehen daran erstmals, dass das CDS-Datenmodell Daten nicht nur auswählt, sondern für seine Verbraucher aufbereitet.</a:t>
            </a:r>
          </a:p>
          <a:p>
            <a:r>
              <a:rPr lang="de-DE" dirty="0"/>
              <a:t>Trotzdem besteht weiterhin eine wesentliche Lücke: Der Auftrag enthält lediglich die Kundennummer. Für den Kundennamen müssten Verbraucher momentan eine weitere Datenquelle selbst lesen und beide Ergebnisse zusammenführen.</a:t>
            </a:r>
          </a:p>
          <a:p>
            <a:r>
              <a:rPr lang="de-DE" dirty="0"/>
              <a:t>Im nächsten Abschnitt lösen wir dieses Problem mit einer CDS-Assoziation. Dazu klären wir zunächst, wie Assoziationen, ON-Bedingungen und Kardinalitäten funktionieren.</a:t>
            </a:r>
          </a:p>
          <a:p>
            <a:endParaRPr lang="de-DE" b="1" dirty="0"/>
          </a:p>
          <a:p>
            <a:r>
              <a:rPr lang="de-DE" dirty="0"/>
              <a:t>Ein fachlicher Vorbehalt bleibt: Deutsche Statustexte direkt in einer Interface View sind für das überschaubare Live-Coding gut geeignet, aber keine ideale produktive Modellierung. Für ein realistisches Modell wären sprachabhängige Texttabellen und Textassoziationen die sauberere Lösung. Diese ließen sich später ergänzen, würden den Einstieg an dieser Stelle aber unnötig verkomplizieren.</a:t>
            </a:r>
          </a:p>
          <a:p>
            <a:endParaRPr lang="de-DE" dirty="0"/>
          </a:p>
          <a:p>
            <a:endParaRPr lang="de-DE" dirty="0"/>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18</a:t>
            </a:fld>
            <a:endParaRPr lang="de-DE" dirty="0"/>
          </a:p>
        </p:txBody>
      </p:sp>
    </p:spTree>
    <p:extLst>
      <p:ext uri="{BB962C8B-B14F-4D97-AF65-F5344CB8AC3E}">
        <p14:creationId xmlns:p14="http://schemas.microsoft.com/office/powerpoint/2010/main" val="2130792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Unsere Auftrags-View enthält momentan nur die Kundennummer. Wenn ein Verbraucher zusätzlich den Namen oder den Ort des Kunden benötigt, müsste er selbst auf eine zweite Datenquelle zugreifen.</a:t>
            </a:r>
          </a:p>
          <a:p>
            <a:endParaRPr lang="de-DE" dirty="0"/>
          </a:p>
          <a:p>
            <a:r>
              <a:rPr lang="de-DE" dirty="0"/>
              <a:t>Dazu müsste der Entwickler wissen, welche View die Kundendaten enthält und über welche Elemente die beiden Datenquellen verbunden werden. Diese Logik würde dann möglicherweise in mehreren CDS Views und ABAP-Programmen erneut formuliert.</a:t>
            </a:r>
          </a:p>
          <a:p>
            <a:endParaRPr lang="de-DE" dirty="0"/>
          </a:p>
          <a:p>
            <a:r>
              <a:rPr lang="de-DE" dirty="0"/>
              <a:t>Mit einer CDS-Assoziation beschreiben wir die Beziehung zentral im Datenmodell. Die Auftrags-View erhält eine Beziehung zu einer Kunden-View. Andere Verbraucher können diese Beziehung anschließend über ihren Namen verwenden.</a:t>
            </a:r>
          </a:p>
          <a:p>
            <a:endParaRPr lang="de-DE" dirty="0"/>
          </a:p>
          <a:p>
            <a:r>
              <a:rPr lang="de-DE" dirty="0"/>
              <a:t>Die Assoziation enthält drei wesentliche Informationen: die Ziel-View, einen Namen für die Beziehung und eine ON-Bedingung. Zusätzlich beschreiben wir durch die Kardinalität, wie viele passende Datensätze wir erwarten.</a:t>
            </a:r>
          </a:p>
          <a:p>
            <a:endParaRPr lang="de-DE" dirty="0"/>
          </a:p>
          <a:p>
            <a:r>
              <a:rPr lang="de-DE" dirty="0"/>
              <a:t>Damit wird aus mehreren einzelnen Views ein verbundenes CDS-Datenmodell.</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19</a:t>
            </a:fld>
            <a:endParaRPr lang="de-DE" dirty="0"/>
          </a:p>
        </p:txBody>
      </p:sp>
    </p:spTree>
    <p:extLst>
      <p:ext uri="{BB962C8B-B14F-4D97-AF65-F5344CB8AC3E}">
        <p14:creationId xmlns:p14="http://schemas.microsoft.com/office/powerpoint/2010/main" val="134891025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Eine Assoziation beschreibt eine Beziehung von der aktuellen View zu einer Ziel-View.</a:t>
            </a:r>
          </a:p>
          <a:p>
            <a:endParaRPr lang="de-DE" dirty="0"/>
          </a:p>
          <a:p>
            <a:r>
              <a:rPr lang="de-DE" dirty="0"/>
              <a:t>In unserem Beispiel ist die aktuelle View </a:t>
            </a:r>
            <a:r>
              <a:rPr lang="de-DE" sz="1200" kern="1200" dirty="0" err="1">
                <a:solidFill>
                  <a:schemeClr val="tx1"/>
                </a:solidFill>
                <a:latin typeface="+mn-lt"/>
                <a:ea typeface="+mn-ea"/>
                <a:cs typeface="+mn-cs"/>
              </a:rPr>
              <a:t>ZI_CDSOrder</a:t>
            </a:r>
            <a:r>
              <a:rPr lang="de-DE" dirty="0"/>
              <a:t>, die Quelle der Beziehung. Das Ziel ist </a:t>
            </a:r>
            <a:r>
              <a:rPr lang="de-DE" sz="1200" kern="1200" dirty="0" err="1">
                <a:solidFill>
                  <a:schemeClr val="tx1"/>
                </a:solidFill>
                <a:latin typeface="+mn-lt"/>
                <a:ea typeface="+mn-ea"/>
                <a:cs typeface="+mn-cs"/>
              </a:rPr>
              <a:t>ZI_CDSCustomer</a:t>
            </a:r>
            <a:r>
              <a:rPr lang="de-DE" dirty="0"/>
              <a:t>. Den Namen </a:t>
            </a:r>
            <a:r>
              <a:rPr lang="de-DE" sz="1200" kern="1200" dirty="0">
                <a:solidFill>
                  <a:schemeClr val="tx1"/>
                </a:solidFill>
                <a:latin typeface="+mn-lt"/>
                <a:ea typeface="+mn-ea"/>
                <a:cs typeface="+mn-cs"/>
              </a:rPr>
              <a:t>_Customer</a:t>
            </a:r>
            <a:r>
              <a:rPr lang="de-DE" dirty="0"/>
              <a:t> verwenden wir später, um auf die Beziehung zuzugreifen.</a:t>
            </a:r>
          </a:p>
          <a:p>
            <a:endParaRPr lang="de-DE" dirty="0"/>
          </a:p>
          <a:p>
            <a:r>
              <a:rPr lang="de-DE" dirty="0"/>
              <a:t>Die Kardinalität </a:t>
            </a:r>
            <a:r>
              <a:rPr lang="de-DE" sz="1200" kern="1200" dirty="0">
                <a:solidFill>
                  <a:schemeClr val="tx1"/>
                </a:solidFill>
                <a:latin typeface="+mn-lt"/>
                <a:ea typeface="+mn-ea"/>
                <a:cs typeface="+mn-cs"/>
              </a:rPr>
              <a:t>[0..1]</a:t>
            </a:r>
            <a:r>
              <a:rPr lang="de-DE" dirty="0"/>
              <a:t> sagt aus, dass wir zu einem Auftrag keinen oder höchstens einen passenden Kunden erwarten. Die ON-Bedingung beschreibt, wann ein Kunde zu einem Auftrag gehört.</a:t>
            </a:r>
          </a:p>
          <a:p>
            <a:endParaRPr lang="de-DE" dirty="0"/>
          </a:p>
          <a:p>
            <a:r>
              <a:rPr lang="de-DE" dirty="0"/>
              <a:t>Der Name einer Assoziation beginnt nach einer verbreiteten CDS-Namenskonvention mit einem Unterstrich. Technisch wäre auch ein anderer Name möglich. Der Unterstrich macht jedoch unmittelbar sichtbar, dass es sich nicht um ein gewöhnliches Element, sondern um eine Beziehung handelt.</a:t>
            </a:r>
          </a:p>
          <a:p>
            <a:endParaRPr lang="de-DE" dirty="0"/>
          </a:p>
          <a:p>
            <a:r>
              <a:rPr lang="de-DE" dirty="0"/>
              <a:t>Wichtig ist außerdem: Durch die bloße Definition einer Assoziation werden noch nicht automatisch Kundendaten gelesen. Erst wenn wir die Assoziation in einem Pfadausdruck verwenden oder an einen Verbraucher exponieren, wird sie für die jeweilige Abfrage relevant.</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20</a:t>
            </a:fld>
            <a:endParaRPr lang="de-DE" dirty="0"/>
          </a:p>
        </p:txBody>
      </p:sp>
    </p:spTree>
    <p:extLst>
      <p:ext uri="{BB962C8B-B14F-4D97-AF65-F5344CB8AC3E}">
        <p14:creationId xmlns:p14="http://schemas.microsoft.com/office/powerpoint/2010/main" val="355319242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Assoziation und </a:t>
            </a:r>
            <a:r>
              <a:rPr lang="de-DE" dirty="0" err="1"/>
              <a:t>Join</a:t>
            </a:r>
            <a:r>
              <a:rPr lang="de-DE" dirty="0"/>
              <a:t> unterscheiden sich in der Modellierung.</a:t>
            </a:r>
          </a:p>
          <a:p>
            <a:endParaRPr lang="de-DE" dirty="0"/>
          </a:p>
          <a:p>
            <a:r>
              <a:rPr lang="de-DE" dirty="0"/>
              <a:t>Ein expliziter </a:t>
            </a:r>
            <a:r>
              <a:rPr lang="de-DE" dirty="0" err="1"/>
              <a:t>Join</a:t>
            </a:r>
            <a:r>
              <a:rPr lang="de-DE" dirty="0"/>
              <a:t> verbindet die beteiligten Datenquellen direkt innerhalb einer bestimmten View. Die Verknüpfung ist damit Teil genau dieser Abfrage.</a:t>
            </a:r>
          </a:p>
          <a:p>
            <a:endParaRPr lang="de-DE" dirty="0"/>
          </a:p>
          <a:p>
            <a:r>
              <a:rPr lang="de-DE" dirty="0"/>
              <a:t>Eine Assoziation beschreibt dagegen zunächst eine wiederverwendbare Beziehung. Sie besitzt einen Namen und kann von nachgelagerten CDS Views erneut verwendet werden. Dadurch können Verbraucher durch ein verbundenes Datenmodell navigieren, ohne die ON-Bedingung jedes Mal neu zu formulieren.</a:t>
            </a:r>
          </a:p>
          <a:p>
            <a:endParaRPr lang="de-DE" dirty="0"/>
          </a:p>
          <a:p>
            <a:r>
              <a:rPr lang="de-DE" dirty="0"/>
              <a:t>Assoziationen ersetzen nicht jeden </a:t>
            </a:r>
            <a:r>
              <a:rPr lang="de-DE" dirty="0" err="1"/>
              <a:t>Join</a:t>
            </a:r>
            <a:r>
              <a:rPr lang="de-DE" dirty="0"/>
              <a:t>. Für bestimmte Abfragen sind explizite Joins weiterhin sinnvoll oder notwendig. Bei fachlichen Beziehungen zwischen CDS-Objekten sind Assoziationen jedoch häufig das geeignetere Modellierungsmittel.</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21</a:t>
            </a:fld>
            <a:endParaRPr lang="de-DE" dirty="0"/>
          </a:p>
        </p:txBody>
      </p:sp>
    </p:spTree>
    <p:extLst>
      <p:ext uri="{BB962C8B-B14F-4D97-AF65-F5344CB8AC3E}">
        <p14:creationId xmlns:p14="http://schemas.microsoft.com/office/powerpoint/2010/main" val="44436000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Die ON-Bedingung legt fest, welche Datensätze auf der Zielseite zu einem Datensatz der Ausgangs-View gehören.</a:t>
            </a:r>
          </a:p>
          <a:p>
            <a:endParaRPr lang="de-DE" dirty="0"/>
          </a:p>
          <a:p>
            <a:r>
              <a:rPr lang="de-DE" dirty="0"/>
              <a:t>Auf der linken Seite verwenden wir </a:t>
            </a:r>
            <a:r>
              <a:rPr lang="de-DE" sz="1200" kern="1200" dirty="0">
                <a:solidFill>
                  <a:schemeClr val="tx1"/>
                </a:solidFill>
                <a:latin typeface="+mn-lt"/>
                <a:ea typeface="+mn-ea"/>
                <a:cs typeface="+mn-cs"/>
              </a:rPr>
              <a:t>$</a:t>
            </a:r>
            <a:r>
              <a:rPr lang="de-DE" sz="1200" kern="1200" dirty="0" err="1">
                <a:solidFill>
                  <a:schemeClr val="tx1"/>
                </a:solidFill>
                <a:latin typeface="+mn-lt"/>
                <a:ea typeface="+mn-ea"/>
                <a:cs typeface="+mn-cs"/>
              </a:rPr>
              <a:t>projection.CustomerId</a:t>
            </a:r>
            <a:r>
              <a:rPr lang="de-DE" dirty="0"/>
              <a:t>. </a:t>
            </a:r>
            <a:r>
              <a:rPr lang="de-DE" sz="1200" kern="1200" dirty="0">
                <a:solidFill>
                  <a:schemeClr val="tx1"/>
                </a:solidFill>
                <a:latin typeface="+mn-lt"/>
                <a:ea typeface="+mn-ea"/>
                <a:cs typeface="+mn-cs"/>
              </a:rPr>
              <a:t>$</a:t>
            </a:r>
            <a:r>
              <a:rPr lang="de-DE" sz="1200" kern="1200" dirty="0" err="1">
                <a:solidFill>
                  <a:schemeClr val="tx1"/>
                </a:solidFill>
                <a:latin typeface="+mn-lt"/>
                <a:ea typeface="+mn-ea"/>
                <a:cs typeface="+mn-cs"/>
              </a:rPr>
              <a:t>projection</a:t>
            </a:r>
            <a:r>
              <a:rPr lang="de-DE" dirty="0"/>
              <a:t> verweist auf die Projektion der aktuell definierten View. Dadurch können wir den öffentlichen Elementnamen </a:t>
            </a:r>
            <a:r>
              <a:rPr lang="de-DE" sz="1200" kern="1200" dirty="0" err="1">
                <a:solidFill>
                  <a:schemeClr val="tx1"/>
                </a:solidFill>
                <a:latin typeface="+mn-lt"/>
                <a:ea typeface="+mn-ea"/>
                <a:cs typeface="+mn-cs"/>
              </a:rPr>
              <a:t>CustomerId</a:t>
            </a:r>
            <a:r>
              <a:rPr lang="de-DE" dirty="0"/>
              <a:t> verwenden, obwohl das zugrunde liegende Tabellenfeld </a:t>
            </a:r>
            <a:r>
              <a:rPr lang="de-DE" sz="1200" kern="1200" dirty="0" err="1">
                <a:solidFill>
                  <a:schemeClr val="tx1"/>
                </a:solidFill>
                <a:latin typeface="+mn-lt"/>
                <a:ea typeface="+mn-ea"/>
                <a:cs typeface="+mn-cs"/>
              </a:rPr>
              <a:t>customer_id</a:t>
            </a:r>
            <a:r>
              <a:rPr lang="de-DE" dirty="0"/>
              <a:t> heißt.</a:t>
            </a:r>
          </a:p>
          <a:p>
            <a:endParaRPr lang="de-DE" dirty="0"/>
          </a:p>
          <a:p>
            <a:r>
              <a:rPr lang="de-DE" dirty="0"/>
              <a:t>Auf der rechten Seite steht </a:t>
            </a:r>
            <a:r>
              <a:rPr lang="de-DE" sz="1200" kern="1200" dirty="0">
                <a:solidFill>
                  <a:schemeClr val="tx1"/>
                </a:solidFill>
                <a:latin typeface="+mn-lt"/>
                <a:ea typeface="+mn-ea"/>
                <a:cs typeface="+mn-cs"/>
              </a:rPr>
              <a:t>_</a:t>
            </a:r>
            <a:r>
              <a:rPr lang="de-DE" sz="1200" kern="1200" dirty="0" err="1">
                <a:solidFill>
                  <a:schemeClr val="tx1"/>
                </a:solidFill>
                <a:latin typeface="+mn-lt"/>
                <a:ea typeface="+mn-ea"/>
                <a:cs typeface="+mn-cs"/>
              </a:rPr>
              <a:t>Customer.CustomerId</a:t>
            </a:r>
            <a:r>
              <a:rPr lang="de-DE" dirty="0"/>
              <a:t>. Hier greifen wir über die Assoziation auf das Schlüsselelement der Ziel-View zu.</a:t>
            </a:r>
          </a:p>
          <a:p>
            <a:endParaRPr lang="de-DE" dirty="0"/>
          </a:p>
          <a:p>
            <a:r>
              <a:rPr lang="de-DE" dirty="0"/>
              <a:t>Unsere Bedingung sagt somit: Ein Kunde gehört zu einem Auftrag, wenn die Kundennummer des Auftrags mit der Kundennummer der Kunden-View übereinstimmt.</a:t>
            </a:r>
          </a:p>
          <a:p>
            <a:endParaRPr lang="de-DE" dirty="0"/>
          </a:p>
          <a:p>
            <a:r>
              <a:rPr lang="de-DE" dirty="0"/>
              <a:t>Eine ON-Bedingung kann auch aus mehreren Teilbedingungen bestehen. Das wäre beispielsweise nötig, wenn die fachliche Identifikation zusätzlich von einer Verkaufsorganisation abhängig wäre.</a:t>
            </a:r>
          </a:p>
          <a:p>
            <a:endParaRPr lang="de-DE" dirty="0"/>
          </a:p>
          <a:p>
            <a:r>
              <a:rPr lang="de-DE" dirty="0"/>
              <a:t>Die ON-Bedingung ist ein zentraler Bestandteil der Beziehung. Ein Fehler an dieser Stelle kann zu fehlenden Treffern oder zu einer unerwarteten Vervielfachung der Ergebnisse führen.</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22</a:t>
            </a:fld>
            <a:endParaRPr lang="de-DE" dirty="0"/>
          </a:p>
        </p:txBody>
      </p:sp>
    </p:spTree>
    <p:extLst>
      <p:ext uri="{BB962C8B-B14F-4D97-AF65-F5344CB8AC3E}">
        <p14:creationId xmlns:p14="http://schemas.microsoft.com/office/powerpoint/2010/main" val="342627916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In der Ausgangstabelle heißt das Feld </a:t>
            </a:r>
            <a:r>
              <a:rPr lang="de-DE" sz="1200" kern="1200" dirty="0" err="1">
                <a:solidFill>
                  <a:schemeClr val="tx1"/>
                </a:solidFill>
                <a:latin typeface="+mn-lt"/>
                <a:ea typeface="+mn-ea"/>
                <a:cs typeface="+mn-cs"/>
              </a:rPr>
              <a:t>customer_id</a:t>
            </a:r>
            <a:r>
              <a:rPr lang="de-DE" dirty="0"/>
              <a:t>. In unserer View Entity haben wir daraus das Element </a:t>
            </a:r>
            <a:r>
              <a:rPr lang="de-DE" sz="1200" kern="1200" dirty="0" err="1">
                <a:solidFill>
                  <a:schemeClr val="tx1"/>
                </a:solidFill>
                <a:latin typeface="+mn-lt"/>
                <a:ea typeface="+mn-ea"/>
                <a:cs typeface="+mn-cs"/>
              </a:rPr>
              <a:t>CustomerId</a:t>
            </a:r>
            <a:r>
              <a:rPr lang="de-DE" dirty="0"/>
              <a:t> gemacht.</a:t>
            </a:r>
          </a:p>
          <a:p>
            <a:endParaRPr lang="de-DE" dirty="0"/>
          </a:p>
          <a:p>
            <a:r>
              <a:rPr lang="de-DE" dirty="0"/>
              <a:t>Mit </a:t>
            </a:r>
            <a:r>
              <a:rPr lang="de-DE" sz="1200" kern="1200" dirty="0">
                <a:solidFill>
                  <a:schemeClr val="tx1"/>
                </a:solidFill>
                <a:latin typeface="+mn-lt"/>
                <a:ea typeface="+mn-ea"/>
                <a:cs typeface="+mn-cs"/>
              </a:rPr>
              <a:t>$</a:t>
            </a:r>
            <a:r>
              <a:rPr lang="de-DE" sz="1200" kern="1200" dirty="0" err="1">
                <a:solidFill>
                  <a:schemeClr val="tx1"/>
                </a:solidFill>
                <a:latin typeface="+mn-lt"/>
                <a:ea typeface="+mn-ea"/>
                <a:cs typeface="+mn-cs"/>
              </a:rPr>
              <a:t>projection.CustomerId</a:t>
            </a:r>
            <a:r>
              <a:rPr lang="de-DE" dirty="0"/>
              <a:t> bezieht sich die ON-Bedingung auf dieses projizierte Element. Dadurch verwendet die Beziehung denselben Namen, den auch die Verbraucher der View sehen.</a:t>
            </a:r>
          </a:p>
          <a:p>
            <a:endParaRPr lang="de-DE" dirty="0"/>
          </a:p>
          <a:p>
            <a:r>
              <a:rPr lang="de-DE" dirty="0"/>
              <a:t>Man kann eine ON-Bedingung je nach Definition auch mit dem Alias der Datenquelle und deren ursprünglichem Element formulieren. Dann würde dort beispielsweise </a:t>
            </a:r>
            <a:r>
              <a:rPr lang="de-DE" sz="1200" kern="1200" dirty="0" err="1">
                <a:solidFill>
                  <a:schemeClr val="tx1"/>
                </a:solidFill>
                <a:latin typeface="+mn-lt"/>
                <a:ea typeface="+mn-ea"/>
                <a:cs typeface="+mn-cs"/>
              </a:rPr>
              <a:t>Order.customer_id</a:t>
            </a:r>
            <a:r>
              <a:rPr lang="de-DE" dirty="0"/>
              <a:t> stehen.</a:t>
            </a:r>
          </a:p>
          <a:p>
            <a:endParaRPr lang="de-DE" dirty="0"/>
          </a:p>
          <a:p>
            <a:r>
              <a:rPr lang="de-DE" dirty="0"/>
              <a:t>Für unser Beispiel ist </a:t>
            </a:r>
            <a:r>
              <a:rPr lang="de-DE" sz="1200" kern="1200" dirty="0">
                <a:solidFill>
                  <a:schemeClr val="tx1"/>
                </a:solidFill>
                <a:latin typeface="+mn-lt"/>
                <a:ea typeface="+mn-ea"/>
                <a:cs typeface="+mn-cs"/>
              </a:rPr>
              <a:t>$</a:t>
            </a:r>
            <a:r>
              <a:rPr lang="de-DE" sz="1200" kern="1200" dirty="0" err="1">
                <a:solidFill>
                  <a:schemeClr val="tx1"/>
                </a:solidFill>
                <a:latin typeface="+mn-lt"/>
                <a:ea typeface="+mn-ea"/>
                <a:cs typeface="+mn-cs"/>
              </a:rPr>
              <a:t>projection.CustomerId</a:t>
            </a:r>
            <a:r>
              <a:rPr lang="de-DE" dirty="0"/>
              <a:t> besonders anschaulich, weil dadurch klar wird, dass die Beziehung auf dem Element der View Entity aufbaut.</a:t>
            </a:r>
          </a:p>
          <a:p>
            <a:endParaRPr lang="de-DE" dirty="0"/>
          </a:p>
          <a:p>
            <a:r>
              <a:rPr lang="de-DE" dirty="0"/>
              <a:t>Allerdings darf </a:t>
            </a:r>
            <a:r>
              <a:rPr lang="de-DE" sz="1200" kern="1200" dirty="0">
                <a:solidFill>
                  <a:schemeClr val="tx1"/>
                </a:solidFill>
                <a:latin typeface="+mn-lt"/>
                <a:ea typeface="+mn-ea"/>
                <a:cs typeface="+mn-cs"/>
              </a:rPr>
              <a:t>$</a:t>
            </a:r>
            <a:r>
              <a:rPr lang="de-DE" sz="1200" kern="1200" dirty="0" err="1">
                <a:solidFill>
                  <a:schemeClr val="tx1"/>
                </a:solidFill>
                <a:latin typeface="+mn-lt"/>
                <a:ea typeface="+mn-ea"/>
                <a:cs typeface="+mn-cs"/>
              </a:rPr>
              <a:t>projection</a:t>
            </a:r>
            <a:r>
              <a:rPr lang="de-DE" dirty="0"/>
              <a:t> nicht völlig beliebig verwendet werden. Insbesondere bei komplexen berechneten Elementen und verschachtelten Pfadausdrücken gelten Einschränkungen. Für unsere direkte Übernahme der Kundennummer ist die Verwendung eindeutig und gut geeignet.</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23</a:t>
            </a:fld>
            <a:endParaRPr lang="de-DE" dirty="0"/>
          </a:p>
        </p:txBody>
      </p:sp>
    </p:spTree>
    <p:extLst>
      <p:ext uri="{BB962C8B-B14F-4D97-AF65-F5344CB8AC3E}">
        <p14:creationId xmlns:p14="http://schemas.microsoft.com/office/powerpoint/2010/main" val="314533766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Die Kardinalität beschreibt, wie viele passende Datensätze wir auf der Zielseite erwarten.</a:t>
            </a:r>
          </a:p>
          <a:p>
            <a:endParaRPr lang="de-DE" dirty="0"/>
          </a:p>
          <a:p>
            <a:r>
              <a:rPr lang="de-DE" dirty="0"/>
              <a:t>Von einem Auftrag zu seinem Kunden erwarten wir genau einen Datensatz. Wir verwenden </a:t>
            </a:r>
            <a:r>
              <a:rPr lang="de-DE" sz="1200" kern="1200" dirty="0">
                <a:solidFill>
                  <a:schemeClr val="tx1"/>
                </a:solidFill>
                <a:latin typeface="+mn-lt"/>
                <a:ea typeface="+mn-ea"/>
                <a:cs typeface="+mn-cs"/>
              </a:rPr>
              <a:t>[0..1]</a:t>
            </a:r>
            <a:r>
              <a:rPr lang="de-DE" dirty="0"/>
              <a:t>, weil die technische Datenhaltung grundsätzlich auch eine leere oder ungültige Kundennummer enthalten könnte.</a:t>
            </a:r>
          </a:p>
          <a:p>
            <a:endParaRPr lang="de-DE" dirty="0"/>
          </a:p>
          <a:p>
            <a:r>
              <a:rPr lang="de-DE" dirty="0"/>
              <a:t>Wenn unser Datenmodell garantiert, dass zu jedem Auftrag genau ein gültiger Kunde vorhanden ist, könnten wir die Beziehung fachlich mit </a:t>
            </a:r>
            <a:r>
              <a:rPr lang="de-DE" sz="1200" kern="1200" dirty="0">
                <a:solidFill>
                  <a:schemeClr val="tx1"/>
                </a:solidFill>
                <a:latin typeface="+mn-lt"/>
                <a:ea typeface="+mn-ea"/>
                <a:cs typeface="+mn-cs"/>
              </a:rPr>
              <a:t>[1..1]</a:t>
            </a:r>
            <a:r>
              <a:rPr lang="de-DE" dirty="0"/>
              <a:t> beschreiben. Die Kardinalität erzeugt diese Garantie jedoch nicht. Sie beschreibt die erwarteten Daten; sie repariert oder validiert keine fehlerhaften Fremdschlüssel.</a:t>
            </a:r>
          </a:p>
          <a:p>
            <a:endParaRPr lang="de-DE" dirty="0"/>
          </a:p>
          <a:p>
            <a:r>
              <a:rPr lang="de-DE" dirty="0"/>
              <a:t>In der umgekehrten Richtung wäre die Situation anders: Ein Kunde kann mehrere Aufträge besitzen. Ebenso kann ein Auftrag mehrere Positionen besitzen. Solche Beziehungen erhalten eine To-Many-Kardinalität.</a:t>
            </a:r>
          </a:p>
          <a:p>
            <a:endParaRPr lang="de-DE" dirty="0"/>
          </a:p>
          <a:p>
            <a:r>
              <a:rPr lang="de-DE" dirty="0"/>
              <a:t>Korrekte Kardinalitäten sind nicht bloß Dokumentation. Sie können die Verarbeitung und Optimierung einer Abfrage beeinflussen. Deshalb sollten sie anhand des fachlichen Modells und der tatsächlichen Eindeutigkeit der Zielseite gewählt werden.</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24</a:t>
            </a:fld>
            <a:endParaRPr lang="de-DE" dirty="0"/>
          </a:p>
        </p:txBody>
      </p:sp>
    </p:spTree>
    <p:extLst>
      <p:ext uri="{BB962C8B-B14F-4D97-AF65-F5344CB8AC3E}">
        <p14:creationId xmlns:p14="http://schemas.microsoft.com/office/powerpoint/2010/main" val="396625450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Für die weitere Arbeit ist vor allem der Unterschied zwischen To-</a:t>
            </a:r>
            <a:r>
              <a:rPr lang="de-DE" dirty="0" err="1"/>
              <a:t>One</a:t>
            </a:r>
            <a:r>
              <a:rPr lang="de-DE" dirty="0"/>
              <a:t>- und To-Many-Assoziationen wichtig.</a:t>
            </a:r>
          </a:p>
          <a:p>
            <a:endParaRPr lang="de-DE" dirty="0"/>
          </a:p>
          <a:p>
            <a:r>
              <a:rPr lang="de-DE" dirty="0"/>
              <a:t>Über die Kunden-Assoziation erwarten wir zu jedem Auftrag höchstens einen Kundennamen. Wenn wir diesen Namen in die Projektion aufnehmen, bleibt die Anzahl der Auftragsdatensätze daher normalerweise unverändert.</a:t>
            </a:r>
          </a:p>
          <a:p>
            <a:endParaRPr lang="de-DE" dirty="0"/>
          </a:p>
          <a:p>
            <a:r>
              <a:rPr lang="de-DE" dirty="0"/>
              <a:t>Bei einer Assoziation zu Auftragspositionen ist das anders. Ein Auftrag kann mehrere Positionen besitzen. Wenn eine Abfrage über diese Beziehung auf einzelne Positionselemente zugreift, können aus einer Auftragszeile mehrere Ergebniszeilen entstehen.</a:t>
            </a:r>
          </a:p>
          <a:p>
            <a:endParaRPr lang="de-DE" dirty="0"/>
          </a:p>
          <a:p>
            <a:r>
              <a:rPr lang="de-DE" dirty="0"/>
              <a:t>Das hat Folgen für den Schlüssel und für die Semantik der View. </a:t>
            </a:r>
            <a:r>
              <a:rPr lang="de-DE" sz="1200" kern="1200" dirty="0" err="1">
                <a:solidFill>
                  <a:schemeClr val="tx1"/>
                </a:solidFill>
                <a:latin typeface="+mn-lt"/>
                <a:ea typeface="+mn-ea"/>
                <a:cs typeface="+mn-cs"/>
              </a:rPr>
              <a:t>OrderId</a:t>
            </a:r>
            <a:r>
              <a:rPr lang="de-DE" dirty="0"/>
              <a:t> allein würde ein Ergebnis aus Auftrag und einzelnen Positionen nicht mehr eindeutig identifizieren. Zusätzlich wäre beispielsweise die Positionsnummer erforderlich.</a:t>
            </a:r>
          </a:p>
          <a:p>
            <a:endParaRPr lang="de-DE" dirty="0"/>
          </a:p>
          <a:p>
            <a:r>
              <a:rPr lang="de-DE" dirty="0"/>
              <a:t>Diesen Unterschied werden wir im vierten Live-Coding praktisch sehen. Zunächst beginnen wir mit der einfacheren To-</a:t>
            </a:r>
            <a:r>
              <a:rPr lang="de-DE" dirty="0" err="1"/>
              <a:t>One</a:t>
            </a:r>
            <a:r>
              <a:rPr lang="de-DE" dirty="0"/>
              <a:t>-Beziehung zwischen Auftrag und Kunde.</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25</a:t>
            </a:fld>
            <a:endParaRPr lang="de-DE" dirty="0"/>
          </a:p>
        </p:txBody>
      </p:sp>
    </p:spTree>
    <p:extLst>
      <p:ext uri="{BB962C8B-B14F-4D97-AF65-F5344CB8AC3E}">
        <p14:creationId xmlns:p14="http://schemas.microsoft.com/office/powerpoint/2010/main" val="152794825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Im nächsten Live-Coding erstellen wir zunächst eine eigene View Entity auf der Kundentabelle.</a:t>
            </a:r>
          </a:p>
          <a:p>
            <a:endParaRPr lang="de-DE" dirty="0"/>
          </a:p>
          <a:p>
            <a:r>
              <a:rPr lang="de-DE" dirty="0"/>
              <a:t>Danach definieren wir in </a:t>
            </a:r>
            <a:r>
              <a:rPr lang="de-DE" sz="1200" kern="1200" dirty="0" err="1">
                <a:solidFill>
                  <a:schemeClr val="tx1"/>
                </a:solidFill>
                <a:latin typeface="+mn-lt"/>
                <a:ea typeface="+mn-ea"/>
                <a:cs typeface="+mn-cs"/>
              </a:rPr>
              <a:t>ZI_CDSOrder</a:t>
            </a:r>
            <a:r>
              <a:rPr lang="de-DE" dirty="0"/>
              <a:t> eine Assoziation auf diese neue Kunden-View. Die Kundennummer bildet die ON-Bedingung.</a:t>
            </a:r>
          </a:p>
          <a:p>
            <a:endParaRPr lang="de-DE" dirty="0"/>
          </a:p>
          <a:p>
            <a:r>
              <a:rPr lang="de-DE" dirty="0"/>
              <a:t>Über einen Pfadausdruck nehmen wir anschließend den Kundennamen und den Ort in die Auftrags-View auf. Zusätzlich exponieren wir die Assoziation selbst. Dadurch können spätere Verbraucher über </a:t>
            </a:r>
            <a:r>
              <a:rPr lang="de-DE" sz="1200" kern="1200" dirty="0">
                <a:solidFill>
                  <a:schemeClr val="tx1"/>
                </a:solidFill>
                <a:latin typeface="+mn-lt"/>
                <a:ea typeface="+mn-ea"/>
                <a:cs typeface="+mn-cs"/>
              </a:rPr>
              <a:t>_Customer</a:t>
            </a:r>
            <a:r>
              <a:rPr lang="de-DE" dirty="0"/>
              <a:t> auf weitere Kundenelemente zugreifen.</a:t>
            </a:r>
          </a:p>
          <a:p>
            <a:endParaRPr lang="de-DE" dirty="0"/>
          </a:p>
          <a:p>
            <a:r>
              <a:rPr lang="de-DE" dirty="0"/>
              <a:t>Zum Abschluss prüfen wir sowohl die zusätzlichen Spalten als auch die Navigation über die Assoziation in der Data Preview.</a:t>
            </a:r>
          </a:p>
          <a:p>
            <a:endParaRPr lang="de-DE" dirty="0"/>
          </a:p>
          <a:p>
            <a:r>
              <a:rPr lang="de-DE" b="1" dirty="0"/>
              <a:t>1. Kundentabelle und Beispieldaten ansehen – ca. 3 Minuten</a:t>
            </a:r>
          </a:p>
          <a:p>
            <a:r>
              <a:rPr lang="de-DE" dirty="0"/>
              <a:t>Im Paket </a:t>
            </a:r>
            <a:r>
              <a:rPr lang="de-DE" sz="1200" kern="1200" dirty="0">
                <a:solidFill>
                  <a:schemeClr val="tx1"/>
                </a:solidFill>
                <a:latin typeface="+mn-lt"/>
                <a:ea typeface="+mn-ea"/>
                <a:cs typeface="+mn-cs"/>
              </a:rPr>
              <a:t>ZCDS_WORKSHOP</a:t>
            </a:r>
            <a:r>
              <a:rPr lang="de-DE" dirty="0"/>
              <a:t> die Datenbanktabelle öffnen:</a:t>
            </a:r>
          </a:p>
          <a:p>
            <a:pPr rtl="0"/>
            <a:r>
              <a:rPr lang="de-DE" sz="1200" kern="1200" dirty="0">
                <a:solidFill>
                  <a:schemeClr val="tx1"/>
                </a:solidFill>
                <a:latin typeface="+mn-lt"/>
                <a:ea typeface="+mn-ea"/>
                <a:cs typeface="+mn-cs"/>
              </a:rPr>
              <a:t>ZCDS_CUSTOMER</a:t>
            </a:r>
          </a:p>
          <a:p>
            <a:r>
              <a:rPr lang="de-DE" dirty="0"/>
              <a:t>Beispielhafte Definition:</a:t>
            </a:r>
          </a:p>
          <a:p>
            <a:pPr rtl="0"/>
            <a:r>
              <a:rPr lang="de-DE" sz="1200" kern="1200" dirty="0" err="1">
                <a:solidFill>
                  <a:schemeClr val="tx1"/>
                </a:solidFill>
                <a:latin typeface="+mn-lt"/>
                <a:ea typeface="+mn-ea"/>
                <a:cs typeface="+mn-cs"/>
              </a:rPr>
              <a:t>define</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table</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zcds_customer</a:t>
            </a:r>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key</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client</a:t>
            </a:r>
            <a:r>
              <a:rPr lang="de-DE" sz="1200" kern="1200" dirty="0">
                <a:solidFill>
                  <a:schemeClr val="tx1"/>
                </a:solidFill>
                <a:latin typeface="+mn-lt"/>
                <a:ea typeface="+mn-ea"/>
                <a:cs typeface="+mn-cs"/>
              </a:rPr>
              <a:t>       : </a:t>
            </a:r>
            <a:r>
              <a:rPr lang="de-DE" sz="1200" kern="1200" dirty="0" err="1">
                <a:solidFill>
                  <a:schemeClr val="tx1"/>
                </a:solidFill>
                <a:latin typeface="+mn-lt"/>
                <a:ea typeface="+mn-ea"/>
                <a:cs typeface="+mn-cs"/>
              </a:rPr>
              <a:t>abap.clnt</a:t>
            </a:r>
            <a:r>
              <a:rPr lang="de-DE" sz="1200" kern="1200" dirty="0">
                <a:solidFill>
                  <a:schemeClr val="tx1"/>
                </a:solidFill>
                <a:latin typeface="+mn-lt"/>
                <a:ea typeface="+mn-ea"/>
                <a:cs typeface="+mn-cs"/>
              </a:rPr>
              <a:t> not null;</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key</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customer_id</a:t>
            </a:r>
            <a:r>
              <a:rPr lang="de-DE" sz="1200" kern="1200" dirty="0">
                <a:solidFill>
                  <a:schemeClr val="tx1"/>
                </a:solidFill>
                <a:latin typeface="+mn-lt"/>
                <a:ea typeface="+mn-ea"/>
                <a:cs typeface="+mn-cs"/>
              </a:rPr>
              <a:t>  : </a:t>
            </a:r>
            <a:r>
              <a:rPr lang="de-DE" sz="1200" kern="1200" dirty="0" err="1">
                <a:solidFill>
                  <a:schemeClr val="tx1"/>
                </a:solidFill>
                <a:latin typeface="+mn-lt"/>
                <a:ea typeface="+mn-ea"/>
                <a:cs typeface="+mn-cs"/>
              </a:rPr>
              <a:t>abap.char</a:t>
            </a:r>
            <a:r>
              <a:rPr lang="de-DE" sz="1200" kern="1200" dirty="0">
                <a:solidFill>
                  <a:schemeClr val="tx1"/>
                </a:solidFill>
                <a:latin typeface="+mn-lt"/>
                <a:ea typeface="+mn-ea"/>
                <a:cs typeface="+mn-cs"/>
              </a:rPr>
              <a:t>(10) not null;</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customer_name</a:t>
            </a:r>
            <a:r>
              <a:rPr lang="de-DE" sz="1200" kern="1200" dirty="0">
                <a:solidFill>
                  <a:schemeClr val="tx1"/>
                </a:solidFill>
                <a:latin typeface="+mn-lt"/>
                <a:ea typeface="+mn-ea"/>
                <a:cs typeface="+mn-cs"/>
              </a:rPr>
              <a:t> : </a:t>
            </a:r>
            <a:r>
              <a:rPr lang="de-DE" sz="1200" kern="1200" dirty="0" err="1">
                <a:solidFill>
                  <a:schemeClr val="tx1"/>
                </a:solidFill>
                <a:latin typeface="+mn-lt"/>
                <a:ea typeface="+mn-ea"/>
                <a:cs typeface="+mn-cs"/>
              </a:rPr>
              <a:t>abap.char</a:t>
            </a:r>
            <a:r>
              <a:rPr lang="de-DE" sz="1200" kern="1200" dirty="0">
                <a:solidFill>
                  <a:schemeClr val="tx1"/>
                </a:solidFill>
                <a:latin typeface="+mn-lt"/>
                <a:ea typeface="+mn-ea"/>
                <a:cs typeface="+mn-cs"/>
              </a:rPr>
              <a:t>(60);</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city</a:t>
            </a:r>
            <a:r>
              <a:rPr lang="de-DE" sz="1200" kern="1200" dirty="0">
                <a:solidFill>
                  <a:schemeClr val="tx1"/>
                </a:solidFill>
                <a:latin typeface="+mn-lt"/>
                <a:ea typeface="+mn-ea"/>
                <a:cs typeface="+mn-cs"/>
              </a:rPr>
              <a:t>          : </a:t>
            </a:r>
            <a:r>
              <a:rPr lang="de-DE" sz="1200" kern="1200" dirty="0" err="1">
                <a:solidFill>
                  <a:schemeClr val="tx1"/>
                </a:solidFill>
                <a:latin typeface="+mn-lt"/>
                <a:ea typeface="+mn-ea"/>
                <a:cs typeface="+mn-cs"/>
              </a:rPr>
              <a:t>abap.char</a:t>
            </a:r>
            <a:r>
              <a:rPr lang="de-DE" sz="1200" kern="1200" dirty="0">
                <a:solidFill>
                  <a:schemeClr val="tx1"/>
                </a:solidFill>
                <a:latin typeface="+mn-lt"/>
                <a:ea typeface="+mn-ea"/>
                <a:cs typeface="+mn-cs"/>
              </a:rPr>
              <a:t>(40);</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country_code</a:t>
            </a:r>
            <a:r>
              <a:rPr lang="de-DE" sz="1200" kern="1200" dirty="0">
                <a:solidFill>
                  <a:schemeClr val="tx1"/>
                </a:solidFill>
                <a:latin typeface="+mn-lt"/>
                <a:ea typeface="+mn-ea"/>
                <a:cs typeface="+mn-cs"/>
              </a:rPr>
              <a:t>  : </a:t>
            </a:r>
            <a:r>
              <a:rPr lang="de-DE" sz="1200" kern="1200" dirty="0" err="1">
                <a:solidFill>
                  <a:schemeClr val="tx1"/>
                </a:solidFill>
                <a:latin typeface="+mn-lt"/>
                <a:ea typeface="+mn-ea"/>
                <a:cs typeface="+mn-cs"/>
              </a:rPr>
              <a:t>abap.char</a:t>
            </a:r>
            <a:r>
              <a:rPr lang="de-DE" sz="1200" kern="1200" dirty="0">
                <a:solidFill>
                  <a:schemeClr val="tx1"/>
                </a:solidFill>
                <a:latin typeface="+mn-lt"/>
                <a:ea typeface="+mn-ea"/>
                <a:cs typeface="+mn-cs"/>
              </a:rPr>
              <a:t>(3);</a:t>
            </a:r>
          </a:p>
          <a:p>
            <a:pPr rtl="0"/>
            <a:r>
              <a:rPr lang="de-DE" sz="1200" kern="1200" dirty="0">
                <a:solidFill>
                  <a:schemeClr val="tx1"/>
                </a:solidFill>
                <a:latin typeface="+mn-lt"/>
                <a:ea typeface="+mn-ea"/>
                <a:cs typeface="+mn-cs"/>
              </a:rPr>
              <a:t>}</a:t>
            </a:r>
          </a:p>
          <a:p>
            <a:r>
              <a:rPr lang="de-DE" dirty="0"/>
              <a:t>Anschließend die Data Preview öffnen.</a:t>
            </a:r>
          </a:p>
          <a:p>
            <a:endParaRPr lang="de-DE" b="1" dirty="0"/>
          </a:p>
          <a:p>
            <a:r>
              <a:rPr lang="de-DE" b="1" dirty="0"/>
              <a:t>Erläuterungen während der Demo</a:t>
            </a:r>
          </a:p>
          <a:p>
            <a:pPr lvl="0"/>
            <a:r>
              <a:rPr lang="de-DE" sz="1200" kern="1200" dirty="0" err="1">
                <a:solidFill>
                  <a:schemeClr val="tx1"/>
                </a:solidFill>
                <a:latin typeface="+mn-lt"/>
                <a:ea typeface="+mn-ea"/>
                <a:cs typeface="+mn-cs"/>
              </a:rPr>
              <a:t>customer_id</a:t>
            </a:r>
            <a:r>
              <a:rPr lang="de-DE" dirty="0"/>
              <a:t> identifiziert den Kunden. </a:t>
            </a:r>
          </a:p>
          <a:p>
            <a:pPr lvl="0"/>
            <a:r>
              <a:rPr lang="de-DE" dirty="0"/>
              <a:t>Die Auftragsdaten enthalten dieselbe Kundennummer als Fremdschlüsselwert. </a:t>
            </a:r>
          </a:p>
          <a:p>
            <a:pPr lvl="0"/>
            <a:r>
              <a:rPr lang="de-DE" dirty="0"/>
              <a:t>Die Datenbanktabellen besitzen damit eine fachliche Beziehung. </a:t>
            </a:r>
          </a:p>
          <a:p>
            <a:pPr lvl="0"/>
            <a:r>
              <a:rPr lang="de-DE" dirty="0"/>
              <a:t>Diese Beziehung ist in unseren CDS View </a:t>
            </a:r>
            <a:r>
              <a:rPr lang="de-DE" dirty="0" err="1"/>
              <a:t>Entities</a:t>
            </a:r>
            <a:r>
              <a:rPr lang="de-DE" dirty="0"/>
              <a:t> bisher noch nicht modelliert. </a:t>
            </a:r>
          </a:p>
          <a:p>
            <a:pPr lvl="0"/>
            <a:r>
              <a:rPr lang="de-DE" dirty="0"/>
              <a:t>Das Mandantenfeld wird erneut nicht exponiert. </a:t>
            </a:r>
          </a:p>
          <a:p>
            <a:endParaRPr lang="de-DE" b="1" dirty="0"/>
          </a:p>
          <a:p>
            <a:r>
              <a:rPr lang="de-DE" b="1" dirty="0"/>
              <a:t>Moderationshinweis</a:t>
            </a:r>
          </a:p>
          <a:p>
            <a:r>
              <a:rPr lang="de-DE" dirty="0"/>
              <a:t>Falls die tatsächlichen Namen der vorbereiteten Felder oder Beispieldaten abweichen, sollten Tabelle und Demo natürlich angeglichen werden. Entscheidend sind ein eindeutiges Kundenelement und mindestens zwei anschauliche Attribute wie Name und Ort.</a:t>
            </a:r>
          </a:p>
          <a:p>
            <a:br>
              <a:rPr lang="de-DE" dirty="0"/>
            </a:br>
            <a:endParaRPr lang="de-DE" dirty="0"/>
          </a:p>
          <a:p>
            <a:r>
              <a:rPr lang="de-DE" b="1" dirty="0"/>
              <a:t>2. Kunden-View Entity anlegen – ca. 5 Minuten</a:t>
            </a:r>
          </a:p>
          <a:p>
            <a:r>
              <a:rPr lang="de-DE" dirty="0"/>
              <a:t>Im Paket eine neue Data Definition erstellen:</a:t>
            </a:r>
          </a:p>
          <a:p>
            <a:pPr rtl="0"/>
            <a:r>
              <a:rPr lang="de-DE" sz="1200" kern="1200" dirty="0">
                <a:solidFill>
                  <a:schemeClr val="tx1"/>
                </a:solidFill>
                <a:latin typeface="+mn-lt"/>
                <a:ea typeface="+mn-ea"/>
                <a:cs typeface="+mn-cs"/>
              </a:rPr>
              <a:t>Name:        ZI_CDSCUSTOMER</a:t>
            </a:r>
          </a:p>
          <a:p>
            <a:pPr rtl="0"/>
            <a:r>
              <a:rPr lang="de-DE" sz="1200" kern="1200" dirty="0">
                <a:solidFill>
                  <a:schemeClr val="tx1"/>
                </a:solidFill>
                <a:latin typeface="+mn-lt"/>
                <a:ea typeface="+mn-ea"/>
                <a:cs typeface="+mn-cs"/>
              </a:rPr>
              <a:t>Description: CDS Workshop: Kunden</a:t>
            </a:r>
          </a:p>
          <a:p>
            <a:r>
              <a:rPr lang="de-DE" dirty="0"/>
              <a:t>Vorlage:</a:t>
            </a:r>
          </a:p>
          <a:p>
            <a:pPr rtl="0"/>
            <a:r>
              <a:rPr lang="de-DE" sz="1200" kern="1200" dirty="0">
                <a:solidFill>
                  <a:schemeClr val="tx1"/>
                </a:solidFill>
                <a:latin typeface="+mn-lt"/>
                <a:ea typeface="+mn-ea"/>
                <a:cs typeface="+mn-cs"/>
              </a:rPr>
              <a:t>Define View Entity</a:t>
            </a:r>
          </a:p>
          <a:p>
            <a:r>
              <a:rPr lang="de-DE" dirty="0"/>
              <a:t>Definition:</a:t>
            </a:r>
          </a:p>
          <a:p>
            <a:pPr rtl="0"/>
            <a:r>
              <a:rPr lang="de-DE" sz="1200" kern="1200" dirty="0">
                <a:solidFill>
                  <a:schemeClr val="tx1"/>
                </a:solidFill>
                <a:latin typeface="+mn-lt"/>
                <a:ea typeface="+mn-ea"/>
                <a:cs typeface="+mn-cs"/>
              </a:rPr>
              <a:t>@EndUserText.label: 'CDS Workshop: Kunden'</a:t>
            </a:r>
          </a:p>
          <a:p>
            <a:pPr rtl="0"/>
            <a:r>
              <a:rPr lang="de-DE" sz="1200" kern="1200" dirty="0">
                <a:solidFill>
                  <a:schemeClr val="tx1"/>
                </a:solidFill>
                <a:latin typeface="+mn-lt"/>
                <a:ea typeface="+mn-ea"/>
                <a:cs typeface="+mn-cs"/>
              </a:rPr>
              <a:t>@AccessControl.authorizationCheck: #NOT_REQUIRED</a:t>
            </a:r>
          </a:p>
          <a:p>
            <a:pPr rtl="0"/>
            <a:r>
              <a:rPr lang="de-DE" sz="1200" kern="1200" dirty="0" err="1">
                <a:solidFill>
                  <a:schemeClr val="tx1"/>
                </a:solidFill>
                <a:latin typeface="+mn-lt"/>
                <a:ea typeface="+mn-ea"/>
                <a:cs typeface="+mn-cs"/>
              </a:rPr>
              <a:t>define</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view</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entity</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ZI_CDSCustomer</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as </a:t>
            </a:r>
            <a:r>
              <a:rPr lang="de-DE" sz="1200" kern="1200" dirty="0" err="1">
                <a:solidFill>
                  <a:schemeClr val="tx1"/>
                </a:solidFill>
                <a:latin typeface="+mn-lt"/>
                <a:ea typeface="+mn-ea"/>
                <a:cs typeface="+mn-cs"/>
              </a:rPr>
              <a:t>select</a:t>
            </a:r>
            <a:r>
              <a:rPr lang="de-DE" sz="1200" kern="1200" dirty="0">
                <a:solidFill>
                  <a:schemeClr val="tx1"/>
                </a:solidFill>
                <a:latin typeface="+mn-lt"/>
                <a:ea typeface="+mn-ea"/>
                <a:cs typeface="+mn-cs"/>
              </a:rPr>
              <a:t> from </a:t>
            </a:r>
            <a:r>
              <a:rPr lang="de-DE" sz="1200" kern="1200" dirty="0" err="1">
                <a:solidFill>
                  <a:schemeClr val="tx1"/>
                </a:solidFill>
                <a:latin typeface="+mn-lt"/>
                <a:ea typeface="+mn-ea"/>
                <a:cs typeface="+mn-cs"/>
              </a:rPr>
              <a:t>zcds_customer</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@EndUserText.label: 'Kundennummer'</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key</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customer_id</a:t>
            </a:r>
            <a:r>
              <a:rPr lang="de-DE" sz="1200" kern="1200" dirty="0">
                <a:solidFill>
                  <a:schemeClr val="tx1"/>
                </a:solidFill>
                <a:latin typeface="+mn-lt"/>
                <a:ea typeface="+mn-ea"/>
                <a:cs typeface="+mn-cs"/>
              </a:rPr>
              <a:t>   as </a:t>
            </a:r>
            <a:r>
              <a:rPr lang="de-DE" sz="1200" kern="1200" dirty="0" err="1">
                <a:solidFill>
                  <a:schemeClr val="tx1"/>
                </a:solidFill>
                <a:latin typeface="+mn-lt"/>
                <a:ea typeface="+mn-ea"/>
                <a:cs typeface="+mn-cs"/>
              </a:rPr>
              <a:t>CustomerId</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@EndUserText.label: 'Kundenname'</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customer_name</a:t>
            </a:r>
            <a:r>
              <a:rPr lang="de-DE" sz="1200" kern="1200" dirty="0">
                <a:solidFill>
                  <a:schemeClr val="tx1"/>
                </a:solidFill>
                <a:latin typeface="+mn-lt"/>
                <a:ea typeface="+mn-ea"/>
                <a:cs typeface="+mn-cs"/>
              </a:rPr>
              <a:t> as </a:t>
            </a:r>
            <a:r>
              <a:rPr lang="de-DE" sz="1200" kern="1200" dirty="0" err="1">
                <a:solidFill>
                  <a:schemeClr val="tx1"/>
                </a:solidFill>
                <a:latin typeface="+mn-lt"/>
                <a:ea typeface="+mn-ea"/>
                <a:cs typeface="+mn-cs"/>
              </a:rPr>
              <a:t>CustomerName</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@EndUserText.label: 'Ort'</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city</a:t>
            </a:r>
            <a:r>
              <a:rPr lang="de-DE" sz="1200" kern="1200" dirty="0">
                <a:solidFill>
                  <a:schemeClr val="tx1"/>
                </a:solidFill>
                <a:latin typeface="+mn-lt"/>
                <a:ea typeface="+mn-ea"/>
                <a:cs typeface="+mn-cs"/>
              </a:rPr>
              <a:t>          as City,</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@EndUserText.label: 'Ländercode'</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country_code</a:t>
            </a:r>
            <a:r>
              <a:rPr lang="de-DE" sz="1200" kern="1200" dirty="0">
                <a:solidFill>
                  <a:schemeClr val="tx1"/>
                </a:solidFill>
                <a:latin typeface="+mn-lt"/>
                <a:ea typeface="+mn-ea"/>
                <a:cs typeface="+mn-cs"/>
              </a:rPr>
              <a:t>  as </a:t>
            </a:r>
            <a:r>
              <a:rPr lang="de-DE" sz="1200" kern="1200" dirty="0" err="1">
                <a:solidFill>
                  <a:schemeClr val="tx1"/>
                </a:solidFill>
                <a:latin typeface="+mn-lt"/>
                <a:ea typeface="+mn-ea"/>
                <a:cs typeface="+mn-cs"/>
              </a:rPr>
              <a:t>CountryCode</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a:t>
            </a:r>
          </a:p>
          <a:p>
            <a:r>
              <a:rPr lang="de-DE" dirty="0"/>
              <a:t>Aktivieren:</a:t>
            </a:r>
          </a:p>
          <a:p>
            <a:pPr rtl="0"/>
            <a:r>
              <a:rPr lang="de-DE" sz="1200" kern="1200" dirty="0">
                <a:solidFill>
                  <a:schemeClr val="tx1"/>
                </a:solidFill>
                <a:latin typeface="+mn-lt"/>
                <a:ea typeface="+mn-ea"/>
                <a:cs typeface="+mn-cs"/>
              </a:rPr>
              <a:t>Ctrl+F3</a:t>
            </a:r>
          </a:p>
          <a:p>
            <a:r>
              <a:rPr lang="de-DE" b="1" dirty="0"/>
              <a:t>Erläuterungen während der Demo</a:t>
            </a:r>
          </a:p>
          <a:p>
            <a:pPr lvl="0"/>
            <a:r>
              <a:rPr lang="de-DE" dirty="0"/>
              <a:t>Die Zielseite einer Assoziation sollte eine fachlich geeignete CDS View sein. </a:t>
            </a:r>
          </a:p>
          <a:p>
            <a:pPr lvl="0"/>
            <a:r>
              <a:rPr lang="de-DE" sz="1200" kern="1200" dirty="0" err="1">
                <a:solidFill>
                  <a:schemeClr val="tx1"/>
                </a:solidFill>
                <a:latin typeface="+mn-lt"/>
                <a:ea typeface="+mn-ea"/>
                <a:cs typeface="+mn-cs"/>
              </a:rPr>
              <a:t>CustomerId</a:t>
            </a:r>
            <a:r>
              <a:rPr lang="de-DE" dirty="0"/>
              <a:t> ist der Schlüssel der Ziel-View. </a:t>
            </a:r>
          </a:p>
          <a:p>
            <a:pPr lvl="0"/>
            <a:r>
              <a:rPr lang="de-DE" dirty="0"/>
              <a:t>Zu jeder Kundennummer darf höchstens eine Zeile existieren. </a:t>
            </a:r>
          </a:p>
          <a:p>
            <a:pPr lvl="0"/>
            <a:r>
              <a:rPr lang="de-DE" dirty="0"/>
              <a:t>Die Ziel-View kann unabhängig von der Auftrags-View verwendet und getestet werden. </a:t>
            </a:r>
          </a:p>
          <a:p>
            <a:pPr lvl="0"/>
            <a:r>
              <a:rPr lang="de-DE" dirty="0"/>
              <a:t>Die Beziehung wird nicht direkt auf die Kundentabelle, sondern auf eine CDS View Entity modelliert. </a:t>
            </a:r>
          </a:p>
          <a:p>
            <a:r>
              <a:rPr lang="de-DE" b="1" dirty="0"/>
              <a:t>Didaktischer Hinweis</a:t>
            </a:r>
          </a:p>
          <a:p>
            <a:r>
              <a:rPr lang="de-DE" dirty="0"/>
              <a:t>Technisch kann eine Assoziation auch andere unterstützte Datenquellen als Ziel verwenden. Für ein geschichtetes CDS-Datenmodell ist die eigene Kunden-View jedoch verständlicher und wiederverwendbarer.</a:t>
            </a:r>
          </a:p>
          <a:p>
            <a:br>
              <a:rPr lang="de-DE" dirty="0"/>
            </a:br>
            <a:endParaRPr lang="de-DE" dirty="0"/>
          </a:p>
          <a:p>
            <a:r>
              <a:rPr lang="de-DE" b="1" dirty="0"/>
              <a:t>3. Kunden-View in der Data Preview prüfen – ca. 2 Minuten</a:t>
            </a:r>
          </a:p>
          <a:p>
            <a:r>
              <a:rPr lang="de-DE" dirty="0"/>
              <a:t>Data Preview für </a:t>
            </a:r>
            <a:r>
              <a:rPr lang="de-DE" sz="1200" kern="1200" dirty="0" err="1">
                <a:solidFill>
                  <a:schemeClr val="tx1"/>
                </a:solidFill>
                <a:latin typeface="+mn-lt"/>
                <a:ea typeface="+mn-ea"/>
                <a:cs typeface="+mn-cs"/>
              </a:rPr>
              <a:t>ZI_CDSCustomer</a:t>
            </a:r>
            <a:r>
              <a:rPr lang="de-DE" dirty="0"/>
              <a:t> öffnen.</a:t>
            </a:r>
          </a:p>
          <a:p>
            <a:r>
              <a:rPr lang="de-DE" dirty="0"/>
              <a:t>Prüfen:</a:t>
            </a:r>
          </a:p>
          <a:p>
            <a:pPr lvl="0"/>
            <a:r>
              <a:rPr lang="de-DE" dirty="0"/>
              <a:t>fünf Kundendatensätze vorhanden </a:t>
            </a:r>
          </a:p>
          <a:p>
            <a:pPr lvl="0"/>
            <a:r>
              <a:rPr lang="de-DE" sz="1200" kern="1200" dirty="0" err="1">
                <a:solidFill>
                  <a:schemeClr val="tx1"/>
                </a:solidFill>
                <a:latin typeface="+mn-lt"/>
                <a:ea typeface="+mn-ea"/>
                <a:cs typeface="+mn-cs"/>
              </a:rPr>
              <a:t>CustomerId</a:t>
            </a:r>
            <a:r>
              <a:rPr lang="de-DE" dirty="0"/>
              <a:t> ist eindeutig </a:t>
            </a:r>
          </a:p>
          <a:p>
            <a:pPr lvl="0"/>
            <a:r>
              <a:rPr lang="de-DE" dirty="0"/>
              <a:t>Namen und Orte sind gefüllt </a:t>
            </a:r>
          </a:p>
          <a:p>
            <a:pPr lvl="0"/>
            <a:r>
              <a:rPr lang="de-DE" dirty="0"/>
              <a:t>die Elementnamen entsprechen der beabsichtigten Schnittstelle </a:t>
            </a:r>
          </a:p>
          <a:p>
            <a:r>
              <a:rPr lang="de-DE" b="1" dirty="0"/>
              <a:t>Begleitender Sprechtext</a:t>
            </a:r>
          </a:p>
          <a:p>
            <a:r>
              <a:rPr lang="de-DE" dirty="0"/>
              <a:t>Bevor wir eine View als Ziel einer Assoziation verwenden, sollten wir sie eigenständig testen.</a:t>
            </a:r>
          </a:p>
          <a:p>
            <a:r>
              <a:rPr lang="de-DE" dirty="0"/>
              <a:t>Für unsere geplante Kardinalität ist besonders wichtig, dass </a:t>
            </a:r>
            <a:r>
              <a:rPr lang="de-DE" sz="1200" kern="1200" dirty="0" err="1">
                <a:solidFill>
                  <a:schemeClr val="tx1"/>
                </a:solidFill>
                <a:latin typeface="+mn-lt"/>
                <a:ea typeface="+mn-ea"/>
                <a:cs typeface="+mn-cs"/>
              </a:rPr>
              <a:t>CustomerId</a:t>
            </a:r>
            <a:r>
              <a:rPr lang="de-DE" dirty="0"/>
              <a:t> einen Kunden eindeutig identifiziert. Würde die Ziel-View mehrere Zeilen mit derselben Kundennummer liefern, wäre die Annahme „höchstens ein Kunde pro Auftrag“ falsch.</a:t>
            </a:r>
          </a:p>
          <a:p>
            <a:br>
              <a:rPr lang="de-DE" dirty="0"/>
            </a:br>
            <a:endParaRPr lang="de-DE" dirty="0"/>
          </a:p>
          <a:p>
            <a:r>
              <a:rPr lang="de-DE" b="1" dirty="0"/>
              <a:t>4. Assoziation in </a:t>
            </a:r>
            <a:r>
              <a:rPr lang="de-DE" sz="1200" b="1" kern="1200" dirty="0" err="1">
                <a:solidFill>
                  <a:schemeClr val="tx1"/>
                </a:solidFill>
                <a:latin typeface="+mn-lt"/>
                <a:ea typeface="+mn-ea"/>
                <a:cs typeface="+mn-cs"/>
              </a:rPr>
              <a:t>ZI_CDSOrder</a:t>
            </a:r>
            <a:r>
              <a:rPr lang="de-DE" b="1" dirty="0"/>
              <a:t> definieren – ca. 5 Minuten</a:t>
            </a:r>
          </a:p>
          <a:p>
            <a:r>
              <a:rPr lang="de-DE" dirty="0"/>
              <a:t>Die Definition von </a:t>
            </a:r>
            <a:r>
              <a:rPr lang="de-DE" sz="1200" kern="1200" dirty="0" err="1">
                <a:solidFill>
                  <a:schemeClr val="tx1"/>
                </a:solidFill>
                <a:latin typeface="+mn-lt"/>
                <a:ea typeface="+mn-ea"/>
                <a:cs typeface="+mn-cs"/>
              </a:rPr>
              <a:t>ZI_CDSOrder</a:t>
            </a:r>
            <a:r>
              <a:rPr lang="de-DE" dirty="0"/>
              <a:t> erhält hinter der Datenquelle die Assoziation:</a:t>
            </a:r>
          </a:p>
          <a:p>
            <a:pPr rtl="0"/>
            <a:r>
              <a:rPr lang="de-DE" sz="1200" kern="1200" dirty="0">
                <a:solidFill>
                  <a:schemeClr val="tx1"/>
                </a:solidFill>
                <a:latin typeface="+mn-lt"/>
                <a:ea typeface="+mn-ea"/>
                <a:cs typeface="+mn-cs"/>
              </a:rPr>
              <a:t>@EndUserText.label: 'CDS Workshop: Aufträge'</a:t>
            </a:r>
          </a:p>
          <a:p>
            <a:pPr rtl="0"/>
            <a:r>
              <a:rPr lang="de-DE" sz="1200" kern="1200" dirty="0">
                <a:solidFill>
                  <a:schemeClr val="tx1"/>
                </a:solidFill>
                <a:latin typeface="+mn-lt"/>
                <a:ea typeface="+mn-ea"/>
                <a:cs typeface="+mn-cs"/>
              </a:rPr>
              <a:t>@AccessControl.authorizationCheck: #NOT_REQUIRED</a:t>
            </a:r>
          </a:p>
          <a:p>
            <a:pPr rtl="0"/>
            <a:r>
              <a:rPr lang="de-DE" sz="1200" kern="1200" dirty="0" err="1">
                <a:solidFill>
                  <a:schemeClr val="tx1"/>
                </a:solidFill>
                <a:latin typeface="+mn-lt"/>
                <a:ea typeface="+mn-ea"/>
                <a:cs typeface="+mn-cs"/>
              </a:rPr>
              <a:t>define</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view</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entity</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ZI_CDSOrder</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as </a:t>
            </a:r>
            <a:r>
              <a:rPr lang="de-DE" sz="1200" kern="1200" dirty="0" err="1">
                <a:solidFill>
                  <a:schemeClr val="tx1"/>
                </a:solidFill>
                <a:latin typeface="+mn-lt"/>
                <a:ea typeface="+mn-ea"/>
                <a:cs typeface="+mn-cs"/>
              </a:rPr>
              <a:t>select</a:t>
            </a:r>
            <a:r>
              <a:rPr lang="de-DE" sz="1200" kern="1200" dirty="0">
                <a:solidFill>
                  <a:schemeClr val="tx1"/>
                </a:solidFill>
                <a:latin typeface="+mn-lt"/>
                <a:ea typeface="+mn-ea"/>
                <a:cs typeface="+mn-cs"/>
              </a:rPr>
              <a:t> from </a:t>
            </a:r>
            <a:r>
              <a:rPr lang="de-DE" sz="1200" kern="1200" dirty="0" err="1">
                <a:solidFill>
                  <a:schemeClr val="tx1"/>
                </a:solidFill>
                <a:latin typeface="+mn-lt"/>
                <a:ea typeface="+mn-ea"/>
                <a:cs typeface="+mn-cs"/>
              </a:rPr>
              <a:t>zcds_order</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association</a:t>
            </a:r>
            <a:r>
              <a:rPr lang="de-DE" sz="1200" kern="1200" dirty="0">
                <a:solidFill>
                  <a:schemeClr val="tx1"/>
                </a:solidFill>
                <a:latin typeface="+mn-lt"/>
                <a:ea typeface="+mn-ea"/>
                <a:cs typeface="+mn-cs"/>
              </a:rPr>
              <a:t> [0..1] to </a:t>
            </a:r>
            <a:r>
              <a:rPr lang="de-DE" sz="1200" kern="1200" dirty="0" err="1">
                <a:solidFill>
                  <a:schemeClr val="tx1"/>
                </a:solidFill>
                <a:latin typeface="+mn-lt"/>
                <a:ea typeface="+mn-ea"/>
                <a:cs typeface="+mn-cs"/>
              </a:rPr>
              <a:t>ZI_CDSCustomer</a:t>
            </a:r>
            <a:r>
              <a:rPr lang="de-DE" sz="1200" kern="1200" dirty="0">
                <a:solidFill>
                  <a:schemeClr val="tx1"/>
                </a:solidFill>
                <a:latin typeface="+mn-lt"/>
                <a:ea typeface="+mn-ea"/>
                <a:cs typeface="+mn-cs"/>
              </a:rPr>
              <a:t> as _Customer</a:t>
            </a:r>
          </a:p>
          <a:p>
            <a:pPr rtl="0"/>
            <a:r>
              <a:rPr lang="de-DE" sz="1200" kern="1200" dirty="0">
                <a:solidFill>
                  <a:schemeClr val="tx1"/>
                </a:solidFill>
                <a:latin typeface="+mn-lt"/>
                <a:ea typeface="+mn-ea"/>
                <a:cs typeface="+mn-cs"/>
              </a:rPr>
              <a:t>    on $</a:t>
            </a:r>
            <a:r>
              <a:rPr lang="de-DE" sz="1200" kern="1200" dirty="0" err="1">
                <a:solidFill>
                  <a:schemeClr val="tx1"/>
                </a:solidFill>
                <a:latin typeface="+mn-lt"/>
                <a:ea typeface="+mn-ea"/>
                <a:cs typeface="+mn-cs"/>
              </a:rPr>
              <a:t>projection.CustomerId</a:t>
            </a:r>
            <a:r>
              <a:rPr lang="de-DE" sz="1200" kern="1200" dirty="0">
                <a:solidFill>
                  <a:schemeClr val="tx1"/>
                </a:solidFill>
                <a:latin typeface="+mn-lt"/>
                <a:ea typeface="+mn-ea"/>
                <a:cs typeface="+mn-cs"/>
              </a:rPr>
              <a:t> = _</a:t>
            </a:r>
            <a:r>
              <a:rPr lang="de-DE" sz="1200" kern="1200" dirty="0" err="1">
                <a:solidFill>
                  <a:schemeClr val="tx1"/>
                </a:solidFill>
                <a:latin typeface="+mn-lt"/>
                <a:ea typeface="+mn-ea"/>
                <a:cs typeface="+mn-cs"/>
              </a:rPr>
              <a:t>Customer.CustomerId</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 bisherige Projektion</a:t>
            </a:r>
          </a:p>
          <a:p>
            <a:pPr rtl="0"/>
            <a:r>
              <a:rPr lang="de-DE" sz="1200" kern="1200" dirty="0">
                <a:solidFill>
                  <a:schemeClr val="tx1"/>
                </a:solidFill>
                <a:latin typeface="+mn-lt"/>
                <a:ea typeface="+mn-ea"/>
                <a:cs typeface="+mn-cs"/>
              </a:rPr>
              <a:t>}</a:t>
            </a:r>
          </a:p>
          <a:p>
            <a:r>
              <a:rPr lang="de-DE" b="1" dirty="0"/>
              <a:t>Während des Tippens erläutern</a:t>
            </a:r>
          </a:p>
          <a:p>
            <a:pPr rtl="0"/>
            <a:r>
              <a:rPr lang="de-DE" sz="1200" kern="1200" dirty="0" err="1">
                <a:solidFill>
                  <a:schemeClr val="tx1"/>
                </a:solidFill>
                <a:latin typeface="+mn-lt"/>
                <a:ea typeface="+mn-ea"/>
                <a:cs typeface="+mn-cs"/>
              </a:rPr>
              <a:t>association</a:t>
            </a:r>
            <a:r>
              <a:rPr lang="de-DE" sz="1200" kern="1200" dirty="0">
                <a:solidFill>
                  <a:schemeClr val="tx1"/>
                </a:solidFill>
                <a:latin typeface="+mn-lt"/>
                <a:ea typeface="+mn-ea"/>
                <a:cs typeface="+mn-cs"/>
              </a:rPr>
              <a:t> [0..1]</a:t>
            </a:r>
          </a:p>
          <a:p>
            <a:r>
              <a:rPr lang="de-DE" dirty="0"/>
              <a:t>beschreibt eine To-</a:t>
            </a:r>
            <a:r>
              <a:rPr lang="de-DE" dirty="0" err="1"/>
              <a:t>One</a:t>
            </a:r>
            <a:r>
              <a:rPr lang="de-DE" dirty="0"/>
              <a:t>-Beziehung, bei der das Ziel fehlen darf.</a:t>
            </a:r>
          </a:p>
          <a:p>
            <a:pPr rtl="0"/>
            <a:r>
              <a:rPr lang="de-DE" sz="1200" kern="1200" dirty="0">
                <a:solidFill>
                  <a:schemeClr val="tx1"/>
                </a:solidFill>
                <a:latin typeface="+mn-lt"/>
                <a:ea typeface="+mn-ea"/>
                <a:cs typeface="+mn-cs"/>
              </a:rPr>
              <a:t>to </a:t>
            </a:r>
            <a:r>
              <a:rPr lang="de-DE" sz="1200" kern="1200" dirty="0" err="1">
                <a:solidFill>
                  <a:schemeClr val="tx1"/>
                </a:solidFill>
                <a:latin typeface="+mn-lt"/>
                <a:ea typeface="+mn-ea"/>
                <a:cs typeface="+mn-cs"/>
              </a:rPr>
              <a:t>ZI_CDSCustomer</a:t>
            </a:r>
            <a:endParaRPr lang="de-DE" sz="1200" kern="1200" dirty="0">
              <a:solidFill>
                <a:schemeClr val="tx1"/>
              </a:solidFill>
              <a:latin typeface="+mn-lt"/>
              <a:ea typeface="+mn-ea"/>
              <a:cs typeface="+mn-cs"/>
            </a:endParaRPr>
          </a:p>
          <a:p>
            <a:r>
              <a:rPr lang="de-DE" dirty="0"/>
              <a:t>nennt die soeben erstellte Ziel-View.</a:t>
            </a:r>
          </a:p>
          <a:p>
            <a:pPr rtl="0"/>
            <a:r>
              <a:rPr lang="de-DE" sz="1200" kern="1200" dirty="0">
                <a:solidFill>
                  <a:schemeClr val="tx1"/>
                </a:solidFill>
                <a:latin typeface="+mn-lt"/>
                <a:ea typeface="+mn-ea"/>
                <a:cs typeface="+mn-cs"/>
              </a:rPr>
              <a:t>as _Customer</a:t>
            </a:r>
          </a:p>
          <a:p>
            <a:r>
              <a:rPr lang="de-DE" dirty="0"/>
              <a:t>vergibt den Namen, über den wir die Beziehung verwenden.</a:t>
            </a:r>
          </a:p>
          <a:p>
            <a:pPr rtl="0"/>
            <a:r>
              <a:rPr lang="de-DE" sz="1200" kern="1200" dirty="0">
                <a:solidFill>
                  <a:schemeClr val="tx1"/>
                </a:solidFill>
                <a:latin typeface="+mn-lt"/>
                <a:ea typeface="+mn-ea"/>
                <a:cs typeface="+mn-cs"/>
              </a:rPr>
              <a:t>on $</a:t>
            </a:r>
            <a:r>
              <a:rPr lang="de-DE" sz="1200" kern="1200" dirty="0" err="1">
                <a:solidFill>
                  <a:schemeClr val="tx1"/>
                </a:solidFill>
                <a:latin typeface="+mn-lt"/>
                <a:ea typeface="+mn-ea"/>
                <a:cs typeface="+mn-cs"/>
              </a:rPr>
              <a:t>projection.CustomerId</a:t>
            </a:r>
            <a:r>
              <a:rPr lang="de-DE" sz="1200" kern="1200" dirty="0">
                <a:solidFill>
                  <a:schemeClr val="tx1"/>
                </a:solidFill>
                <a:latin typeface="+mn-lt"/>
                <a:ea typeface="+mn-ea"/>
                <a:cs typeface="+mn-cs"/>
              </a:rPr>
              <a:t> = _</a:t>
            </a:r>
            <a:r>
              <a:rPr lang="de-DE" sz="1200" kern="1200" dirty="0" err="1">
                <a:solidFill>
                  <a:schemeClr val="tx1"/>
                </a:solidFill>
                <a:latin typeface="+mn-lt"/>
                <a:ea typeface="+mn-ea"/>
                <a:cs typeface="+mn-cs"/>
              </a:rPr>
              <a:t>Customer.CustomerId</a:t>
            </a:r>
            <a:endParaRPr lang="de-DE" sz="1200" kern="1200" dirty="0">
              <a:solidFill>
                <a:schemeClr val="tx1"/>
              </a:solidFill>
              <a:latin typeface="+mn-lt"/>
              <a:ea typeface="+mn-ea"/>
              <a:cs typeface="+mn-cs"/>
            </a:endParaRPr>
          </a:p>
          <a:p>
            <a:r>
              <a:rPr lang="de-DE" dirty="0"/>
              <a:t>verbindet die Kundennummer des Auftrags mit dem Schlüssel der Kunden-View.</a:t>
            </a:r>
          </a:p>
          <a:p>
            <a:r>
              <a:rPr lang="de-DE" dirty="0"/>
              <a:t>Jetzt aktivieren.</a:t>
            </a:r>
          </a:p>
          <a:p>
            <a:r>
              <a:rPr lang="de-DE" b="1" dirty="0"/>
              <a:t>Erwarteter Zwischenstand</a:t>
            </a:r>
          </a:p>
          <a:p>
            <a:r>
              <a:rPr lang="de-DE" dirty="0"/>
              <a:t>Die View sollte sich bereits aktivieren lassen, obwohl noch kein Kundenelement in die Projektion aufgenommen wurde.</a:t>
            </a:r>
          </a:p>
          <a:p>
            <a:r>
              <a:rPr lang="de-DE" b="1" dirty="0"/>
              <a:t>Begleitender Sprechtext</a:t>
            </a:r>
          </a:p>
          <a:p>
            <a:r>
              <a:rPr lang="de-DE" dirty="0"/>
              <a:t>Wir haben die Beziehung jetzt definiert, verwenden sie aber noch nicht für ein Ergebniselement.</a:t>
            </a:r>
          </a:p>
          <a:p>
            <a:r>
              <a:rPr lang="de-DE" dirty="0"/>
              <a:t>Das ist ein wichtiger Zwischenstand: Die Definition einer Assoziation und ihre Verwendung sind zwei getrennte Schritte. Solange die Beziehung weder in einem Pfadausdruck verwendet noch exponiert wird, verändert sie das sichtbare Ergebnis unserer Data Preview nicht.</a:t>
            </a:r>
          </a:p>
          <a:p>
            <a:br>
              <a:rPr lang="de-DE" dirty="0"/>
            </a:br>
            <a:r>
              <a:rPr lang="de-DE" b="1" dirty="0"/>
              <a:t>5. Kundenelemente über Pfadausdrücke aufnehmen – ca. 4 Minuten</a:t>
            </a:r>
          </a:p>
          <a:p>
            <a:r>
              <a:rPr lang="de-DE" dirty="0"/>
              <a:t>Direkt nach </a:t>
            </a:r>
            <a:r>
              <a:rPr lang="de-DE" sz="1200" kern="1200" dirty="0" err="1">
                <a:solidFill>
                  <a:schemeClr val="tx1"/>
                </a:solidFill>
                <a:latin typeface="+mn-lt"/>
                <a:ea typeface="+mn-ea"/>
                <a:cs typeface="+mn-cs"/>
              </a:rPr>
              <a:t>CustomerId</a:t>
            </a:r>
            <a:r>
              <a:rPr lang="de-DE" dirty="0"/>
              <a:t> zwei Elemente ergänzen:</a:t>
            </a:r>
          </a:p>
          <a:p>
            <a:pPr rtl="0"/>
            <a:r>
              <a:rPr lang="de-DE" sz="1200" kern="1200" dirty="0">
                <a:solidFill>
                  <a:schemeClr val="tx1"/>
                </a:solidFill>
                <a:latin typeface="+mn-lt"/>
                <a:ea typeface="+mn-ea"/>
                <a:cs typeface="+mn-cs"/>
              </a:rPr>
              <a:t>      @EndUserText.label: 'Kundenname'</a:t>
            </a:r>
          </a:p>
          <a:p>
            <a:pPr rtl="0"/>
            <a:r>
              <a:rPr lang="de-DE" sz="1200" kern="1200" dirty="0">
                <a:solidFill>
                  <a:schemeClr val="tx1"/>
                </a:solidFill>
                <a:latin typeface="+mn-lt"/>
                <a:ea typeface="+mn-ea"/>
                <a:cs typeface="+mn-cs"/>
              </a:rPr>
              <a:t>      _</a:t>
            </a:r>
            <a:r>
              <a:rPr lang="de-DE" sz="1200" kern="1200" dirty="0" err="1">
                <a:solidFill>
                  <a:schemeClr val="tx1"/>
                </a:solidFill>
                <a:latin typeface="+mn-lt"/>
                <a:ea typeface="+mn-ea"/>
                <a:cs typeface="+mn-cs"/>
              </a:rPr>
              <a:t>Customer.CustomerName</a:t>
            </a:r>
            <a:r>
              <a:rPr lang="de-DE" sz="1200" kern="1200" dirty="0">
                <a:solidFill>
                  <a:schemeClr val="tx1"/>
                </a:solidFill>
                <a:latin typeface="+mn-lt"/>
                <a:ea typeface="+mn-ea"/>
                <a:cs typeface="+mn-cs"/>
              </a:rPr>
              <a:t> as </a:t>
            </a:r>
            <a:r>
              <a:rPr lang="de-DE" sz="1200" kern="1200" dirty="0" err="1">
                <a:solidFill>
                  <a:schemeClr val="tx1"/>
                </a:solidFill>
                <a:latin typeface="+mn-lt"/>
                <a:ea typeface="+mn-ea"/>
                <a:cs typeface="+mn-cs"/>
              </a:rPr>
              <a:t>CustomerName</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@EndUserText.label: 'Ort des Kunden'</a:t>
            </a:r>
          </a:p>
          <a:p>
            <a:pPr rtl="0"/>
            <a:r>
              <a:rPr lang="de-DE" sz="1200" kern="1200" dirty="0">
                <a:solidFill>
                  <a:schemeClr val="tx1"/>
                </a:solidFill>
                <a:latin typeface="+mn-lt"/>
                <a:ea typeface="+mn-ea"/>
                <a:cs typeface="+mn-cs"/>
              </a:rPr>
              <a:t>      _</a:t>
            </a:r>
            <a:r>
              <a:rPr lang="de-DE" sz="1200" kern="1200" dirty="0" err="1">
                <a:solidFill>
                  <a:schemeClr val="tx1"/>
                </a:solidFill>
                <a:latin typeface="+mn-lt"/>
                <a:ea typeface="+mn-ea"/>
                <a:cs typeface="+mn-cs"/>
              </a:rPr>
              <a:t>Customer.City</a:t>
            </a:r>
            <a:r>
              <a:rPr lang="de-DE" sz="1200" kern="1200" dirty="0">
                <a:solidFill>
                  <a:schemeClr val="tx1"/>
                </a:solidFill>
                <a:latin typeface="+mn-lt"/>
                <a:ea typeface="+mn-ea"/>
                <a:cs typeface="+mn-cs"/>
              </a:rPr>
              <a:t>         as </a:t>
            </a:r>
            <a:r>
              <a:rPr lang="de-DE" sz="1200" kern="1200" dirty="0" err="1">
                <a:solidFill>
                  <a:schemeClr val="tx1"/>
                </a:solidFill>
                <a:latin typeface="+mn-lt"/>
                <a:ea typeface="+mn-ea"/>
                <a:cs typeface="+mn-cs"/>
              </a:rPr>
              <a:t>CustomerCity</a:t>
            </a:r>
            <a:r>
              <a:rPr lang="de-DE" sz="1200" kern="1200" dirty="0">
                <a:solidFill>
                  <a:schemeClr val="tx1"/>
                </a:solidFill>
                <a:latin typeface="+mn-lt"/>
                <a:ea typeface="+mn-ea"/>
                <a:cs typeface="+mn-cs"/>
              </a:rPr>
              <a:t>,</a:t>
            </a:r>
          </a:p>
          <a:p>
            <a:r>
              <a:rPr lang="de-DE" dirty="0"/>
              <a:t>Der betreffende Ausschnitt lautet:</a:t>
            </a:r>
          </a:p>
          <a:p>
            <a:pPr rtl="0"/>
            <a:r>
              <a:rPr lang="de-DE" sz="1200" kern="1200" dirty="0">
                <a:solidFill>
                  <a:schemeClr val="tx1"/>
                </a:solidFill>
                <a:latin typeface="+mn-lt"/>
                <a:ea typeface="+mn-ea"/>
                <a:cs typeface="+mn-cs"/>
              </a:rPr>
              <a:t>      @EndUserText.label: 'Kundennummer'</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customer_id</a:t>
            </a:r>
            <a:r>
              <a:rPr lang="de-DE" sz="1200" kern="1200" dirty="0">
                <a:solidFill>
                  <a:schemeClr val="tx1"/>
                </a:solidFill>
                <a:latin typeface="+mn-lt"/>
                <a:ea typeface="+mn-ea"/>
                <a:cs typeface="+mn-cs"/>
              </a:rPr>
              <a:t>            as </a:t>
            </a:r>
            <a:r>
              <a:rPr lang="de-DE" sz="1200" kern="1200" dirty="0" err="1">
                <a:solidFill>
                  <a:schemeClr val="tx1"/>
                </a:solidFill>
                <a:latin typeface="+mn-lt"/>
                <a:ea typeface="+mn-ea"/>
                <a:cs typeface="+mn-cs"/>
              </a:rPr>
              <a:t>CustomerId</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@EndUserText.label: 'Kundenname'</a:t>
            </a:r>
          </a:p>
          <a:p>
            <a:pPr rtl="0"/>
            <a:r>
              <a:rPr lang="de-DE" sz="1200" kern="1200" dirty="0">
                <a:solidFill>
                  <a:schemeClr val="tx1"/>
                </a:solidFill>
                <a:latin typeface="+mn-lt"/>
                <a:ea typeface="+mn-ea"/>
                <a:cs typeface="+mn-cs"/>
              </a:rPr>
              <a:t>      _</a:t>
            </a:r>
            <a:r>
              <a:rPr lang="de-DE" sz="1200" kern="1200" dirty="0" err="1">
                <a:solidFill>
                  <a:schemeClr val="tx1"/>
                </a:solidFill>
                <a:latin typeface="+mn-lt"/>
                <a:ea typeface="+mn-ea"/>
                <a:cs typeface="+mn-cs"/>
              </a:rPr>
              <a:t>Customer.CustomerName</a:t>
            </a:r>
            <a:r>
              <a:rPr lang="de-DE" sz="1200" kern="1200" dirty="0">
                <a:solidFill>
                  <a:schemeClr val="tx1"/>
                </a:solidFill>
                <a:latin typeface="+mn-lt"/>
                <a:ea typeface="+mn-ea"/>
                <a:cs typeface="+mn-cs"/>
              </a:rPr>
              <a:t> as </a:t>
            </a:r>
            <a:r>
              <a:rPr lang="de-DE" sz="1200" kern="1200" dirty="0" err="1">
                <a:solidFill>
                  <a:schemeClr val="tx1"/>
                </a:solidFill>
                <a:latin typeface="+mn-lt"/>
                <a:ea typeface="+mn-ea"/>
                <a:cs typeface="+mn-cs"/>
              </a:rPr>
              <a:t>CustomerName</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@EndUserText.label: 'Ort des Kunden'</a:t>
            </a:r>
          </a:p>
          <a:p>
            <a:pPr rtl="0"/>
            <a:r>
              <a:rPr lang="de-DE" sz="1200" kern="1200" dirty="0">
                <a:solidFill>
                  <a:schemeClr val="tx1"/>
                </a:solidFill>
                <a:latin typeface="+mn-lt"/>
                <a:ea typeface="+mn-ea"/>
                <a:cs typeface="+mn-cs"/>
              </a:rPr>
              <a:t>      _</a:t>
            </a:r>
            <a:r>
              <a:rPr lang="de-DE" sz="1200" kern="1200" dirty="0" err="1">
                <a:solidFill>
                  <a:schemeClr val="tx1"/>
                </a:solidFill>
                <a:latin typeface="+mn-lt"/>
                <a:ea typeface="+mn-ea"/>
                <a:cs typeface="+mn-cs"/>
              </a:rPr>
              <a:t>Customer.City</a:t>
            </a:r>
            <a:r>
              <a:rPr lang="de-DE" sz="1200" kern="1200" dirty="0">
                <a:solidFill>
                  <a:schemeClr val="tx1"/>
                </a:solidFill>
                <a:latin typeface="+mn-lt"/>
                <a:ea typeface="+mn-ea"/>
                <a:cs typeface="+mn-cs"/>
              </a:rPr>
              <a:t>         as </a:t>
            </a:r>
            <a:r>
              <a:rPr lang="de-DE" sz="1200" kern="1200" dirty="0" err="1">
                <a:solidFill>
                  <a:schemeClr val="tx1"/>
                </a:solidFill>
                <a:latin typeface="+mn-lt"/>
                <a:ea typeface="+mn-ea"/>
                <a:cs typeface="+mn-cs"/>
              </a:rPr>
              <a:t>CustomerCity</a:t>
            </a:r>
            <a:r>
              <a:rPr lang="de-DE" sz="1200" kern="1200" dirty="0">
                <a:solidFill>
                  <a:schemeClr val="tx1"/>
                </a:solidFill>
                <a:latin typeface="+mn-lt"/>
                <a:ea typeface="+mn-ea"/>
                <a:cs typeface="+mn-cs"/>
              </a:rPr>
              <a:t>,</a:t>
            </a:r>
          </a:p>
          <a:p>
            <a:r>
              <a:rPr lang="de-DE" dirty="0"/>
              <a:t>Aktivieren:</a:t>
            </a:r>
          </a:p>
          <a:p>
            <a:pPr rtl="0"/>
            <a:r>
              <a:rPr lang="de-DE" sz="1200" kern="1200" dirty="0">
                <a:solidFill>
                  <a:schemeClr val="tx1"/>
                </a:solidFill>
                <a:latin typeface="+mn-lt"/>
                <a:ea typeface="+mn-ea"/>
                <a:cs typeface="+mn-cs"/>
              </a:rPr>
              <a:t>Ctrl+F3</a:t>
            </a:r>
          </a:p>
          <a:p>
            <a:r>
              <a:rPr lang="de-DE" b="1" dirty="0"/>
              <a:t>Erläuterungen während der Demo</a:t>
            </a:r>
          </a:p>
          <a:p>
            <a:pPr lvl="0"/>
            <a:r>
              <a:rPr lang="de-DE" sz="1200" kern="1200" dirty="0">
                <a:solidFill>
                  <a:schemeClr val="tx1"/>
                </a:solidFill>
                <a:latin typeface="+mn-lt"/>
                <a:ea typeface="+mn-ea"/>
                <a:cs typeface="+mn-cs"/>
              </a:rPr>
              <a:t>_</a:t>
            </a:r>
            <a:r>
              <a:rPr lang="de-DE" sz="1200" kern="1200" dirty="0" err="1">
                <a:solidFill>
                  <a:schemeClr val="tx1"/>
                </a:solidFill>
                <a:latin typeface="+mn-lt"/>
                <a:ea typeface="+mn-ea"/>
                <a:cs typeface="+mn-cs"/>
              </a:rPr>
              <a:t>Customer.CustomerName</a:t>
            </a:r>
            <a:r>
              <a:rPr lang="de-DE" dirty="0"/>
              <a:t> ist ein Pfadausdruck. </a:t>
            </a:r>
          </a:p>
          <a:p>
            <a:pPr lvl="0"/>
            <a:r>
              <a:rPr lang="de-DE" dirty="0"/>
              <a:t>Der erste Teil bezeichnet die Assoziation. </a:t>
            </a:r>
          </a:p>
          <a:p>
            <a:pPr lvl="0"/>
            <a:r>
              <a:rPr lang="de-DE" dirty="0"/>
              <a:t>Der zweite Teil bezeichnet ein Element der Ziel-View. </a:t>
            </a:r>
          </a:p>
          <a:p>
            <a:pPr lvl="0"/>
            <a:r>
              <a:rPr lang="de-DE" dirty="0"/>
              <a:t>Für die Abfrage entsteht daraus die benötigte Datenbankverknüpfung. </a:t>
            </a:r>
          </a:p>
          <a:p>
            <a:pPr lvl="0"/>
            <a:r>
              <a:rPr lang="de-DE" dirty="0"/>
              <a:t>Das Zielelement kann in der aktuellen View einen eigenen Alias erhalten. </a:t>
            </a:r>
          </a:p>
          <a:p>
            <a:pPr lvl="0"/>
            <a:r>
              <a:rPr lang="de-DE" dirty="0"/>
              <a:t>Ein fehlender Kundendatensatz führt bei dieser optionalen To-</a:t>
            </a:r>
            <a:r>
              <a:rPr lang="de-DE" dirty="0" err="1"/>
              <a:t>One</a:t>
            </a:r>
            <a:r>
              <a:rPr lang="de-DE" dirty="0"/>
              <a:t>-Beziehung nicht dazu, dass der Auftrag verschwindet; die Kundenelemente bleiben dann initial beziehungsweise leer. </a:t>
            </a:r>
          </a:p>
          <a:p>
            <a:endParaRPr lang="de-DE" b="1" dirty="0"/>
          </a:p>
          <a:p>
            <a:r>
              <a:rPr lang="de-DE" b="1" dirty="0"/>
              <a:t>Wichtiger Hinweis</a:t>
            </a:r>
          </a:p>
          <a:p>
            <a:r>
              <a:rPr lang="de-DE" dirty="0"/>
              <a:t>Die Namen </a:t>
            </a:r>
            <a:r>
              <a:rPr lang="de-DE" sz="1200" kern="1200" dirty="0" err="1">
                <a:solidFill>
                  <a:schemeClr val="tx1"/>
                </a:solidFill>
                <a:latin typeface="+mn-lt"/>
                <a:ea typeface="+mn-ea"/>
                <a:cs typeface="+mn-cs"/>
              </a:rPr>
              <a:t>CustomerName</a:t>
            </a:r>
            <a:r>
              <a:rPr lang="de-DE" dirty="0"/>
              <a:t> und </a:t>
            </a:r>
            <a:r>
              <a:rPr lang="de-DE" sz="1200" kern="1200" dirty="0" err="1">
                <a:solidFill>
                  <a:schemeClr val="tx1"/>
                </a:solidFill>
                <a:latin typeface="+mn-lt"/>
                <a:ea typeface="+mn-ea"/>
                <a:cs typeface="+mn-cs"/>
              </a:rPr>
              <a:t>CustomerCity</a:t>
            </a:r>
            <a:r>
              <a:rPr lang="de-DE" dirty="0"/>
              <a:t> gehören nun zur Schnittstelle von </a:t>
            </a:r>
            <a:r>
              <a:rPr lang="de-DE" sz="1200" kern="1200" dirty="0" err="1">
                <a:solidFill>
                  <a:schemeClr val="tx1"/>
                </a:solidFill>
                <a:latin typeface="+mn-lt"/>
                <a:ea typeface="+mn-ea"/>
                <a:cs typeface="+mn-cs"/>
              </a:rPr>
              <a:t>ZI_CDSOrder</a:t>
            </a:r>
            <a:r>
              <a:rPr lang="de-DE" dirty="0"/>
              <a:t>. Andere Verbraucher müssen für diese beiden Werte nicht selbst zur Kunden-View navigieren.</a:t>
            </a:r>
          </a:p>
          <a:p>
            <a:br>
              <a:rPr lang="de-DE" dirty="0"/>
            </a:br>
            <a:endParaRPr lang="de-DE" dirty="0"/>
          </a:p>
          <a:p>
            <a:r>
              <a:rPr lang="de-DE" b="1" dirty="0"/>
              <a:t>6. Assoziation exponieren – ca. 2 Minuten</a:t>
            </a:r>
          </a:p>
          <a:p>
            <a:r>
              <a:rPr lang="de-DE" dirty="0"/>
              <a:t>Am Ende der Elementliste die Assoziation ergänzen:</a:t>
            </a:r>
          </a:p>
          <a:p>
            <a:pPr rtl="0"/>
            <a:r>
              <a:rPr lang="de-DE" sz="1200" kern="1200" dirty="0">
                <a:solidFill>
                  <a:schemeClr val="tx1"/>
                </a:solidFill>
                <a:latin typeface="+mn-lt"/>
                <a:ea typeface="+mn-ea"/>
                <a:cs typeface="+mn-cs"/>
              </a:rPr>
              <a:t>      _Customer</a:t>
            </a:r>
          </a:p>
          <a:p>
            <a:r>
              <a:rPr lang="de-DE" dirty="0"/>
              <a:t>Vor dem vorherigen Element muss ein Komma stehen:</a:t>
            </a:r>
          </a:p>
          <a:p>
            <a:pPr rtl="0"/>
            <a:r>
              <a:rPr lang="de-DE" sz="1200" kern="1200" dirty="0">
                <a:solidFill>
                  <a:schemeClr val="tx1"/>
                </a:solidFill>
                <a:latin typeface="+mn-lt"/>
                <a:ea typeface="+mn-ea"/>
                <a:cs typeface="+mn-cs"/>
              </a:rPr>
              <a:t>      @EndUserText.label: 'Währung'</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currency_code</a:t>
            </a:r>
            <a:r>
              <a:rPr lang="de-DE" sz="1200" kern="1200" dirty="0">
                <a:solidFill>
                  <a:schemeClr val="tx1"/>
                </a:solidFill>
                <a:latin typeface="+mn-lt"/>
                <a:ea typeface="+mn-ea"/>
                <a:cs typeface="+mn-cs"/>
              </a:rPr>
              <a:t> as </a:t>
            </a:r>
            <a:r>
              <a:rPr lang="de-DE" sz="1200" kern="1200" dirty="0" err="1">
                <a:solidFill>
                  <a:schemeClr val="tx1"/>
                </a:solidFill>
                <a:latin typeface="+mn-lt"/>
                <a:ea typeface="+mn-ea"/>
                <a:cs typeface="+mn-cs"/>
              </a:rPr>
              <a:t>CurrencyCode</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_Customer</a:t>
            </a:r>
          </a:p>
          <a:p>
            <a:r>
              <a:rPr lang="de-DE" dirty="0"/>
              <a:t>Aktivieren.</a:t>
            </a:r>
          </a:p>
          <a:p>
            <a:endParaRPr lang="de-DE" b="1" dirty="0"/>
          </a:p>
          <a:p>
            <a:r>
              <a:rPr lang="de-DE" b="1" dirty="0"/>
              <a:t>Erläuterungen während der Demo</a:t>
            </a:r>
          </a:p>
          <a:p>
            <a:pPr lvl="0"/>
            <a:r>
              <a:rPr lang="de-DE" dirty="0"/>
              <a:t>Durch die Aufnahme in die Projektion wird die Assoziation exponiert. </a:t>
            </a:r>
          </a:p>
          <a:p>
            <a:pPr lvl="0"/>
            <a:r>
              <a:rPr lang="de-DE" sz="1200" kern="1200" dirty="0">
                <a:solidFill>
                  <a:schemeClr val="tx1"/>
                </a:solidFill>
                <a:latin typeface="+mn-lt"/>
                <a:ea typeface="+mn-ea"/>
                <a:cs typeface="+mn-cs"/>
              </a:rPr>
              <a:t>_Customer</a:t>
            </a:r>
            <a:r>
              <a:rPr lang="de-DE" dirty="0"/>
              <a:t> ist kein gewöhnliches skalares Ergebniselement. </a:t>
            </a:r>
          </a:p>
          <a:p>
            <a:pPr lvl="0"/>
            <a:r>
              <a:rPr lang="de-DE" dirty="0"/>
              <a:t>Nachgelagerte CDS Views können über die Beziehung auf weitere Kundenelemente zugreifen. </a:t>
            </a:r>
          </a:p>
          <a:p>
            <a:pPr lvl="0"/>
            <a:r>
              <a:rPr lang="de-DE" dirty="0"/>
              <a:t>Verbraucher müssen die ON-Bedingung nicht erneut formulieren. </a:t>
            </a:r>
          </a:p>
          <a:p>
            <a:pPr lvl="0"/>
            <a:r>
              <a:rPr lang="de-DE" dirty="0"/>
              <a:t>Nicht jedes Zielelement muss vorsorglich in </a:t>
            </a:r>
            <a:r>
              <a:rPr lang="de-DE" sz="1200" kern="1200" dirty="0" err="1">
                <a:solidFill>
                  <a:schemeClr val="tx1"/>
                </a:solidFill>
                <a:latin typeface="+mn-lt"/>
                <a:ea typeface="+mn-ea"/>
                <a:cs typeface="+mn-cs"/>
              </a:rPr>
              <a:t>ZI_CDSOrder</a:t>
            </a:r>
            <a:r>
              <a:rPr lang="de-DE" dirty="0"/>
              <a:t> kopiert werden. </a:t>
            </a:r>
          </a:p>
          <a:p>
            <a:r>
              <a:rPr lang="de-DE" b="1" dirty="0"/>
              <a:t>Begleitender Sprechtext</a:t>
            </a:r>
          </a:p>
          <a:p>
            <a:r>
              <a:rPr lang="de-DE" dirty="0"/>
              <a:t>Mit </a:t>
            </a:r>
            <a:r>
              <a:rPr lang="de-DE" sz="1200" kern="1200" dirty="0" err="1">
                <a:solidFill>
                  <a:schemeClr val="tx1"/>
                </a:solidFill>
                <a:latin typeface="+mn-lt"/>
                <a:ea typeface="+mn-ea"/>
                <a:cs typeface="+mn-cs"/>
              </a:rPr>
              <a:t>CustomerName</a:t>
            </a:r>
            <a:r>
              <a:rPr lang="de-DE" dirty="0"/>
              <a:t> und </a:t>
            </a:r>
            <a:r>
              <a:rPr lang="de-DE" sz="1200" kern="1200" dirty="0" err="1">
                <a:solidFill>
                  <a:schemeClr val="tx1"/>
                </a:solidFill>
                <a:latin typeface="+mn-lt"/>
                <a:ea typeface="+mn-ea"/>
                <a:cs typeface="+mn-cs"/>
              </a:rPr>
              <a:t>CustomerCity</a:t>
            </a:r>
            <a:r>
              <a:rPr lang="de-DE" dirty="0"/>
              <a:t> haben wir zwei häufig benötigte Werte direkt in die Auftrags-View aufgenommen.</a:t>
            </a:r>
          </a:p>
          <a:p>
            <a:r>
              <a:rPr lang="de-DE" dirty="0"/>
              <a:t>Durch </a:t>
            </a:r>
            <a:r>
              <a:rPr lang="de-DE" sz="1200" kern="1200" dirty="0">
                <a:solidFill>
                  <a:schemeClr val="tx1"/>
                </a:solidFill>
                <a:latin typeface="+mn-lt"/>
                <a:ea typeface="+mn-ea"/>
                <a:cs typeface="+mn-cs"/>
              </a:rPr>
              <a:t>_Customer</a:t>
            </a:r>
            <a:r>
              <a:rPr lang="de-DE" dirty="0"/>
              <a:t> veröffentlichen wir zusätzlich die Beziehung selbst. Ein späterer Verbraucher könnte damit beispielsweise auch auf </a:t>
            </a:r>
            <a:r>
              <a:rPr lang="de-DE" sz="1200" kern="1200" dirty="0" err="1">
                <a:solidFill>
                  <a:schemeClr val="tx1"/>
                </a:solidFill>
                <a:latin typeface="+mn-lt"/>
                <a:ea typeface="+mn-ea"/>
                <a:cs typeface="+mn-cs"/>
              </a:rPr>
              <a:t>CountryCode</a:t>
            </a:r>
            <a:r>
              <a:rPr lang="de-DE" dirty="0"/>
              <a:t> zugreifen, obwohl dieses Element nicht direkt in der Projektion von </a:t>
            </a:r>
            <a:r>
              <a:rPr lang="de-DE" sz="1200" kern="1200" dirty="0" err="1">
                <a:solidFill>
                  <a:schemeClr val="tx1"/>
                </a:solidFill>
                <a:latin typeface="+mn-lt"/>
                <a:ea typeface="+mn-ea"/>
                <a:cs typeface="+mn-cs"/>
              </a:rPr>
              <a:t>ZI_CDSOrder</a:t>
            </a:r>
            <a:r>
              <a:rPr lang="de-DE" dirty="0"/>
              <a:t> enthalten ist.</a:t>
            </a:r>
          </a:p>
          <a:p>
            <a:r>
              <a:rPr lang="de-DE" dirty="0"/>
              <a:t>Genau diese Weitergabe von Beziehungen unterscheidet eine Assoziation besonders deutlich von einer rein lokalen Verknüpfung.</a:t>
            </a:r>
          </a:p>
          <a:p>
            <a:br>
              <a:rPr lang="de-DE" dirty="0"/>
            </a:br>
            <a:endParaRPr lang="de-DE" dirty="0"/>
          </a:p>
          <a:p>
            <a:r>
              <a:rPr lang="de-DE" b="1" dirty="0"/>
              <a:t>7. Vollständigen relevanten Entwicklungsstand zeigen – ca. 2 Minuten</a:t>
            </a:r>
          </a:p>
          <a:p>
            <a:r>
              <a:rPr lang="de-DE" dirty="0"/>
              <a:t>Da die vollständige View durch die beiden </a:t>
            </a:r>
            <a:r>
              <a:rPr lang="de-DE" sz="1200" kern="1200" dirty="0">
                <a:solidFill>
                  <a:schemeClr val="tx1"/>
                </a:solidFill>
                <a:latin typeface="+mn-lt"/>
                <a:ea typeface="+mn-ea"/>
                <a:cs typeface="+mn-cs"/>
              </a:rPr>
              <a:t>CASE</a:t>
            </a:r>
            <a:r>
              <a:rPr lang="de-DE" dirty="0"/>
              <a:t>-Ausdrücke inzwischen recht lang ist, kann während des Live-</a:t>
            </a:r>
            <a:r>
              <a:rPr lang="de-DE" dirty="0" err="1"/>
              <a:t>Codings</a:t>
            </a:r>
            <a:r>
              <a:rPr lang="de-DE" dirty="0"/>
              <a:t> der relevante Zusammenhang hervorgehoben werden:</a:t>
            </a:r>
          </a:p>
          <a:p>
            <a:pPr rtl="0"/>
            <a:r>
              <a:rPr lang="de-DE" sz="1200" kern="1200" dirty="0">
                <a:solidFill>
                  <a:schemeClr val="tx1"/>
                </a:solidFill>
                <a:latin typeface="+mn-lt"/>
                <a:ea typeface="+mn-ea"/>
                <a:cs typeface="+mn-cs"/>
              </a:rPr>
              <a:t>@EndUserText.label: 'CDS Workshop: Aufträge'</a:t>
            </a:r>
          </a:p>
          <a:p>
            <a:pPr rtl="0"/>
            <a:r>
              <a:rPr lang="de-DE" sz="1200" kern="1200" dirty="0">
                <a:solidFill>
                  <a:schemeClr val="tx1"/>
                </a:solidFill>
                <a:latin typeface="+mn-lt"/>
                <a:ea typeface="+mn-ea"/>
                <a:cs typeface="+mn-cs"/>
              </a:rPr>
              <a:t>@AccessControl.authorizationCheck: #NOT_REQUIRED</a:t>
            </a:r>
          </a:p>
          <a:p>
            <a:pPr rtl="0"/>
            <a:r>
              <a:rPr lang="de-DE" sz="1200" kern="1200" dirty="0" err="1">
                <a:solidFill>
                  <a:schemeClr val="tx1"/>
                </a:solidFill>
                <a:latin typeface="+mn-lt"/>
                <a:ea typeface="+mn-ea"/>
                <a:cs typeface="+mn-cs"/>
              </a:rPr>
              <a:t>define</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view</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entity</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ZI_CDSOrder</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as </a:t>
            </a:r>
            <a:r>
              <a:rPr lang="de-DE" sz="1200" kern="1200" dirty="0" err="1">
                <a:solidFill>
                  <a:schemeClr val="tx1"/>
                </a:solidFill>
                <a:latin typeface="+mn-lt"/>
                <a:ea typeface="+mn-ea"/>
                <a:cs typeface="+mn-cs"/>
              </a:rPr>
              <a:t>select</a:t>
            </a:r>
            <a:r>
              <a:rPr lang="de-DE" sz="1200" kern="1200" dirty="0">
                <a:solidFill>
                  <a:schemeClr val="tx1"/>
                </a:solidFill>
                <a:latin typeface="+mn-lt"/>
                <a:ea typeface="+mn-ea"/>
                <a:cs typeface="+mn-cs"/>
              </a:rPr>
              <a:t> from </a:t>
            </a:r>
            <a:r>
              <a:rPr lang="de-DE" sz="1200" kern="1200" dirty="0" err="1">
                <a:solidFill>
                  <a:schemeClr val="tx1"/>
                </a:solidFill>
                <a:latin typeface="+mn-lt"/>
                <a:ea typeface="+mn-ea"/>
                <a:cs typeface="+mn-cs"/>
              </a:rPr>
              <a:t>zcds_order</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association</a:t>
            </a:r>
            <a:r>
              <a:rPr lang="de-DE" sz="1200" kern="1200" dirty="0">
                <a:solidFill>
                  <a:schemeClr val="tx1"/>
                </a:solidFill>
                <a:latin typeface="+mn-lt"/>
                <a:ea typeface="+mn-ea"/>
                <a:cs typeface="+mn-cs"/>
              </a:rPr>
              <a:t> [0..1] to </a:t>
            </a:r>
            <a:r>
              <a:rPr lang="de-DE" sz="1200" kern="1200" dirty="0" err="1">
                <a:solidFill>
                  <a:schemeClr val="tx1"/>
                </a:solidFill>
                <a:latin typeface="+mn-lt"/>
                <a:ea typeface="+mn-ea"/>
                <a:cs typeface="+mn-cs"/>
              </a:rPr>
              <a:t>ZI_CDSCustomer</a:t>
            </a:r>
            <a:r>
              <a:rPr lang="de-DE" sz="1200" kern="1200" dirty="0">
                <a:solidFill>
                  <a:schemeClr val="tx1"/>
                </a:solidFill>
                <a:latin typeface="+mn-lt"/>
                <a:ea typeface="+mn-ea"/>
                <a:cs typeface="+mn-cs"/>
              </a:rPr>
              <a:t> as _Customer</a:t>
            </a:r>
          </a:p>
          <a:p>
            <a:pPr rtl="0"/>
            <a:r>
              <a:rPr lang="de-DE" sz="1200" kern="1200" dirty="0">
                <a:solidFill>
                  <a:schemeClr val="tx1"/>
                </a:solidFill>
                <a:latin typeface="+mn-lt"/>
                <a:ea typeface="+mn-ea"/>
                <a:cs typeface="+mn-cs"/>
              </a:rPr>
              <a:t>    on $</a:t>
            </a:r>
            <a:r>
              <a:rPr lang="de-DE" sz="1200" kern="1200" dirty="0" err="1">
                <a:solidFill>
                  <a:schemeClr val="tx1"/>
                </a:solidFill>
                <a:latin typeface="+mn-lt"/>
                <a:ea typeface="+mn-ea"/>
                <a:cs typeface="+mn-cs"/>
              </a:rPr>
              <a:t>projection.CustomerId</a:t>
            </a:r>
            <a:r>
              <a:rPr lang="de-DE" sz="1200" kern="1200" dirty="0">
                <a:solidFill>
                  <a:schemeClr val="tx1"/>
                </a:solidFill>
                <a:latin typeface="+mn-lt"/>
                <a:ea typeface="+mn-ea"/>
                <a:cs typeface="+mn-cs"/>
              </a:rPr>
              <a:t> = _</a:t>
            </a:r>
            <a:r>
              <a:rPr lang="de-DE" sz="1200" kern="1200" dirty="0" err="1">
                <a:solidFill>
                  <a:schemeClr val="tx1"/>
                </a:solidFill>
                <a:latin typeface="+mn-lt"/>
                <a:ea typeface="+mn-ea"/>
                <a:cs typeface="+mn-cs"/>
              </a:rPr>
              <a:t>Customer.CustomerId</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@EndUserText.label: 'Auftragsnummer'</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key</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order_id</a:t>
            </a:r>
            <a:r>
              <a:rPr lang="de-DE" sz="1200" kern="1200" dirty="0">
                <a:solidFill>
                  <a:schemeClr val="tx1"/>
                </a:solidFill>
                <a:latin typeface="+mn-lt"/>
                <a:ea typeface="+mn-ea"/>
                <a:cs typeface="+mn-cs"/>
              </a:rPr>
              <a:t>               as </a:t>
            </a:r>
            <a:r>
              <a:rPr lang="de-DE" sz="1200" kern="1200" dirty="0" err="1">
                <a:solidFill>
                  <a:schemeClr val="tx1"/>
                </a:solidFill>
                <a:latin typeface="+mn-lt"/>
                <a:ea typeface="+mn-ea"/>
                <a:cs typeface="+mn-cs"/>
              </a:rPr>
              <a:t>OrderId</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@EndUserText.label: 'Kundennummer'</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customer_id</a:t>
            </a:r>
            <a:r>
              <a:rPr lang="de-DE" sz="1200" kern="1200" dirty="0">
                <a:solidFill>
                  <a:schemeClr val="tx1"/>
                </a:solidFill>
                <a:latin typeface="+mn-lt"/>
                <a:ea typeface="+mn-ea"/>
                <a:cs typeface="+mn-cs"/>
              </a:rPr>
              <a:t>            as </a:t>
            </a:r>
            <a:r>
              <a:rPr lang="de-DE" sz="1200" kern="1200" dirty="0" err="1">
                <a:solidFill>
                  <a:schemeClr val="tx1"/>
                </a:solidFill>
                <a:latin typeface="+mn-lt"/>
                <a:ea typeface="+mn-ea"/>
                <a:cs typeface="+mn-cs"/>
              </a:rPr>
              <a:t>CustomerId</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@EndUserText.label: 'Kundenname'</a:t>
            </a:r>
          </a:p>
          <a:p>
            <a:pPr rtl="0"/>
            <a:r>
              <a:rPr lang="de-DE" sz="1200" kern="1200" dirty="0">
                <a:solidFill>
                  <a:schemeClr val="tx1"/>
                </a:solidFill>
                <a:latin typeface="+mn-lt"/>
                <a:ea typeface="+mn-ea"/>
                <a:cs typeface="+mn-cs"/>
              </a:rPr>
              <a:t>      _</a:t>
            </a:r>
            <a:r>
              <a:rPr lang="de-DE" sz="1200" kern="1200" dirty="0" err="1">
                <a:solidFill>
                  <a:schemeClr val="tx1"/>
                </a:solidFill>
                <a:latin typeface="+mn-lt"/>
                <a:ea typeface="+mn-ea"/>
                <a:cs typeface="+mn-cs"/>
              </a:rPr>
              <a:t>Customer.CustomerName</a:t>
            </a:r>
            <a:r>
              <a:rPr lang="de-DE" sz="1200" kern="1200" dirty="0">
                <a:solidFill>
                  <a:schemeClr val="tx1"/>
                </a:solidFill>
                <a:latin typeface="+mn-lt"/>
                <a:ea typeface="+mn-ea"/>
                <a:cs typeface="+mn-cs"/>
              </a:rPr>
              <a:t> as </a:t>
            </a:r>
            <a:r>
              <a:rPr lang="de-DE" sz="1200" kern="1200" dirty="0" err="1">
                <a:solidFill>
                  <a:schemeClr val="tx1"/>
                </a:solidFill>
                <a:latin typeface="+mn-lt"/>
                <a:ea typeface="+mn-ea"/>
                <a:cs typeface="+mn-cs"/>
              </a:rPr>
              <a:t>CustomerName</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@EndUserText.label: 'Ort des Kunden'</a:t>
            </a:r>
          </a:p>
          <a:p>
            <a:pPr rtl="0"/>
            <a:r>
              <a:rPr lang="de-DE" sz="1200" kern="1200" dirty="0">
                <a:solidFill>
                  <a:schemeClr val="tx1"/>
                </a:solidFill>
                <a:latin typeface="+mn-lt"/>
                <a:ea typeface="+mn-ea"/>
                <a:cs typeface="+mn-cs"/>
              </a:rPr>
              <a:t>      _</a:t>
            </a:r>
            <a:r>
              <a:rPr lang="de-DE" sz="1200" kern="1200" dirty="0" err="1">
                <a:solidFill>
                  <a:schemeClr val="tx1"/>
                </a:solidFill>
                <a:latin typeface="+mn-lt"/>
                <a:ea typeface="+mn-ea"/>
                <a:cs typeface="+mn-cs"/>
              </a:rPr>
              <a:t>Customer.City</a:t>
            </a:r>
            <a:r>
              <a:rPr lang="de-DE" sz="1200" kern="1200" dirty="0">
                <a:solidFill>
                  <a:schemeClr val="tx1"/>
                </a:solidFill>
                <a:latin typeface="+mn-lt"/>
                <a:ea typeface="+mn-ea"/>
                <a:cs typeface="+mn-cs"/>
              </a:rPr>
              <a:t>         as </a:t>
            </a:r>
            <a:r>
              <a:rPr lang="de-DE" sz="1200" kern="1200" dirty="0" err="1">
                <a:solidFill>
                  <a:schemeClr val="tx1"/>
                </a:solidFill>
                <a:latin typeface="+mn-lt"/>
                <a:ea typeface="+mn-ea"/>
                <a:cs typeface="+mn-cs"/>
              </a:rPr>
              <a:t>CustomerCity</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 Auftragsdatum, Wunschdatum,</a:t>
            </a:r>
          </a:p>
          <a:p>
            <a:pPr rtl="0"/>
            <a:r>
              <a:rPr lang="de-DE" sz="1200" kern="1200" dirty="0">
                <a:solidFill>
                  <a:schemeClr val="tx1"/>
                </a:solidFill>
                <a:latin typeface="+mn-lt"/>
                <a:ea typeface="+mn-ea"/>
                <a:cs typeface="+mn-cs"/>
              </a:rPr>
              <a:t>      // Auftragsart und Auftragsarttext,</a:t>
            </a:r>
          </a:p>
          <a:p>
            <a:pPr rtl="0"/>
            <a:r>
              <a:rPr lang="de-DE" sz="1200" kern="1200" dirty="0">
                <a:solidFill>
                  <a:schemeClr val="tx1"/>
                </a:solidFill>
                <a:latin typeface="+mn-lt"/>
                <a:ea typeface="+mn-ea"/>
                <a:cs typeface="+mn-cs"/>
              </a:rPr>
              <a:t>      // Status und Statustext,</a:t>
            </a:r>
          </a:p>
          <a:p>
            <a:pPr rtl="0"/>
            <a:r>
              <a:rPr lang="de-DE" sz="1200" kern="1200" dirty="0">
                <a:solidFill>
                  <a:schemeClr val="tx1"/>
                </a:solidFill>
                <a:latin typeface="+mn-lt"/>
                <a:ea typeface="+mn-ea"/>
                <a:cs typeface="+mn-cs"/>
              </a:rPr>
              <a:t>      // Verkaufsorganisation und Währung</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_Customer</a:t>
            </a:r>
          </a:p>
          <a:p>
            <a:pPr rtl="0"/>
            <a:r>
              <a:rPr lang="de-DE" sz="1200" kern="1200" dirty="0">
                <a:solidFill>
                  <a:schemeClr val="tx1"/>
                </a:solidFill>
                <a:latin typeface="+mn-lt"/>
                <a:ea typeface="+mn-ea"/>
                <a:cs typeface="+mn-cs"/>
              </a:rPr>
              <a:t>}</a:t>
            </a:r>
          </a:p>
          <a:p>
            <a:r>
              <a:rPr lang="de-DE" b="1" dirty="0"/>
              <a:t>Hinweis für die Kursunterlagen</a:t>
            </a:r>
          </a:p>
          <a:p>
            <a:r>
              <a:rPr lang="de-DE" dirty="0"/>
              <a:t>In den bereitgestellten Sourcen sollte selbstverständlich die vollständige Definition aus Live-Coding 2 enthalten sein. Die Kommentare dienen hier nur dazu, den neuen Teil der Folie lesbar hervorzuheben.</a:t>
            </a:r>
          </a:p>
          <a:p>
            <a:br>
              <a:rPr lang="de-DE" dirty="0"/>
            </a:br>
            <a:endParaRPr lang="de-DE" dirty="0"/>
          </a:p>
          <a:p>
            <a:r>
              <a:rPr lang="de-DE" b="1" dirty="0"/>
              <a:t>8. Ergebnis in der Data Preview prüfen – ca. 2 Minuten</a:t>
            </a:r>
          </a:p>
          <a:p>
            <a:r>
              <a:rPr lang="de-DE" dirty="0"/>
              <a:t>Data Preview für </a:t>
            </a:r>
            <a:r>
              <a:rPr lang="de-DE" sz="1200" kern="1200" dirty="0" err="1">
                <a:solidFill>
                  <a:schemeClr val="tx1"/>
                </a:solidFill>
                <a:latin typeface="+mn-lt"/>
                <a:ea typeface="+mn-ea"/>
                <a:cs typeface="+mn-cs"/>
              </a:rPr>
              <a:t>ZI_CDSOrder</a:t>
            </a:r>
            <a:r>
              <a:rPr lang="de-DE" dirty="0"/>
              <a:t> öffnen oder aktualisieren.</a:t>
            </a:r>
          </a:p>
          <a:p>
            <a:r>
              <a:rPr lang="de-DE" dirty="0"/>
              <a:t>Prüfen:</a:t>
            </a:r>
          </a:p>
          <a:p>
            <a:pPr lvl="0"/>
            <a:r>
              <a:rPr lang="de-DE" dirty="0"/>
              <a:t>weiterhin sechs Aufträge </a:t>
            </a:r>
          </a:p>
          <a:p>
            <a:pPr lvl="0"/>
            <a:r>
              <a:rPr lang="de-DE" dirty="0"/>
              <a:t>Kundenname und Ort passen zur Kundennummer </a:t>
            </a:r>
          </a:p>
          <a:p>
            <a:pPr lvl="0"/>
            <a:r>
              <a:rPr lang="de-DE" dirty="0"/>
              <a:t>derselbe Kunde kann in mehreren Aufträgen erscheinen </a:t>
            </a:r>
          </a:p>
          <a:p>
            <a:pPr lvl="0"/>
            <a:r>
              <a:rPr lang="de-DE" dirty="0"/>
              <a:t>das Ergebnis wird durch die To-</a:t>
            </a:r>
            <a:r>
              <a:rPr lang="de-DE" dirty="0" err="1"/>
              <a:t>One</a:t>
            </a:r>
            <a:r>
              <a:rPr lang="de-DE" dirty="0"/>
              <a:t>-Beziehung nicht vervielfacht </a:t>
            </a:r>
          </a:p>
          <a:p>
            <a:pPr lvl="0"/>
            <a:r>
              <a:rPr lang="de-DE" sz="1200" kern="1200" dirty="0">
                <a:solidFill>
                  <a:schemeClr val="tx1"/>
                </a:solidFill>
                <a:latin typeface="+mn-lt"/>
                <a:ea typeface="+mn-ea"/>
                <a:cs typeface="+mn-cs"/>
              </a:rPr>
              <a:t>_Customer</a:t>
            </a:r>
            <a:r>
              <a:rPr lang="de-DE" dirty="0"/>
              <a:t> wird in den Metadaten als Assoziation angeboten </a:t>
            </a:r>
          </a:p>
          <a:p>
            <a:r>
              <a:rPr lang="de-DE" dirty="0"/>
              <a:t>Falls die ADT-Version es unterstützt, über die Assoziation zu einem Kundendatensatz navigieren.</a:t>
            </a:r>
          </a:p>
          <a:p>
            <a:r>
              <a:rPr lang="de-DE" b="1" dirty="0"/>
              <a:t>Begleitender Sprechtext</a:t>
            </a:r>
          </a:p>
          <a:p>
            <a:r>
              <a:rPr lang="de-DE" dirty="0"/>
              <a:t>Die Auftrags-View liefert jetzt nicht mehr nur eine technische Kundennummer. Sie stellt zwei häufig benötigte Kundeninformationen direkt bereit.</a:t>
            </a:r>
          </a:p>
          <a:p>
            <a:r>
              <a:rPr lang="de-DE" dirty="0"/>
              <a:t>Trotzdem bleiben Auftrag und Kunde eigenständige CDS-Objekte. Die Assoziation beschreibt ihre Beziehung und erlaubt weiteren Verbrauchern, zu zusätzlichen Kundendaten zu navigieren.</a:t>
            </a:r>
          </a:p>
          <a:p>
            <a:r>
              <a:rPr lang="de-DE" dirty="0"/>
              <a:t>Die Anzahl der Aufträge ist unverändert. Das entspricht unserer Kardinalität: Zu einem Auftrag kommt höchstens ein Kunde hinzu.</a:t>
            </a:r>
          </a:p>
          <a:p>
            <a:endParaRPr lang="de-DE" dirty="0"/>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26</a:t>
            </a:fld>
            <a:endParaRPr lang="de-DE" dirty="0"/>
          </a:p>
        </p:txBody>
      </p:sp>
    </p:spTree>
    <p:extLst>
      <p:ext uri="{BB962C8B-B14F-4D97-AF65-F5344CB8AC3E}">
        <p14:creationId xmlns:p14="http://schemas.microsoft.com/office/powerpoint/2010/main" val="226602577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Wir haben unser erstes verbundenes CDS-Datenmodell erstellt.</a:t>
            </a:r>
          </a:p>
          <a:p>
            <a:endParaRPr lang="de-DE" dirty="0"/>
          </a:p>
          <a:p>
            <a:r>
              <a:rPr lang="de-DE" dirty="0"/>
              <a:t>Die Kunden-View kapselt den Zugriff auf die Kundentabelle. Die Auftrags-View kennt über </a:t>
            </a:r>
            <a:r>
              <a:rPr lang="de-DE" sz="1200" kern="1200" dirty="0">
                <a:solidFill>
                  <a:schemeClr val="tx1"/>
                </a:solidFill>
                <a:latin typeface="+mn-lt"/>
                <a:ea typeface="+mn-ea"/>
                <a:cs typeface="+mn-cs"/>
              </a:rPr>
              <a:t>_Customer</a:t>
            </a:r>
            <a:r>
              <a:rPr lang="de-DE" dirty="0"/>
              <a:t> die Beziehung zum passenden Kunden. Häufig benötigte Informationen wie Name und Ort haben wir direkt in den Auftrag aufgenommen.</a:t>
            </a:r>
          </a:p>
          <a:p>
            <a:endParaRPr lang="de-DE" dirty="0"/>
          </a:p>
          <a:p>
            <a:r>
              <a:rPr lang="de-DE" dirty="0"/>
              <a:t>Gleichzeitig wurde die Assoziation selbst exponiert. Dadurch bleibt das Modell erweiterbar: Nachgelagerte Verbraucher können weitere Kundenelemente über die Beziehung erreichen, ohne die Verknüpfungsbedingung erneut zu formulieren.</a:t>
            </a:r>
          </a:p>
          <a:p>
            <a:endParaRPr lang="de-DE" dirty="0"/>
          </a:p>
          <a:p>
            <a:r>
              <a:rPr lang="de-DE" dirty="0"/>
              <a:t>Bisher haben wir eine einfache To-</a:t>
            </a:r>
            <a:r>
              <a:rPr lang="de-DE" dirty="0" err="1"/>
              <a:t>One</a:t>
            </a:r>
            <a:r>
              <a:rPr lang="de-DE" dirty="0"/>
              <a:t>-Assoziation verwendet. Nach der Pause betrachten wir genauer, wie exponierte Assoziationen in abhängigen Views genutzt werden. Anschließend modellieren wir mit den Auftragspositionen erstmals eine To-Many-Beziehung und verbinden diese zusätzlich mit den Produkten.</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27</a:t>
            </a:fld>
            <a:endParaRPr lang="de-DE" dirty="0"/>
          </a:p>
        </p:txBody>
      </p:sp>
    </p:spTree>
    <p:extLst>
      <p:ext uri="{BB962C8B-B14F-4D97-AF65-F5344CB8AC3E}">
        <p14:creationId xmlns:p14="http://schemas.microsoft.com/office/powerpoint/2010/main" val="427475064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Vor der Pause haben wir in </a:t>
            </a:r>
            <a:r>
              <a:rPr lang="de-DE" sz="1200" kern="1200" dirty="0" err="1">
                <a:solidFill>
                  <a:schemeClr val="tx1"/>
                </a:solidFill>
                <a:latin typeface="+mn-lt"/>
                <a:ea typeface="+mn-ea"/>
                <a:cs typeface="+mn-cs"/>
              </a:rPr>
              <a:t>ZI_CDSOrder</a:t>
            </a:r>
            <a:r>
              <a:rPr lang="de-DE" dirty="0"/>
              <a:t> die Assoziation </a:t>
            </a:r>
            <a:r>
              <a:rPr lang="de-DE" sz="1200" kern="1200" dirty="0">
                <a:solidFill>
                  <a:schemeClr val="tx1"/>
                </a:solidFill>
                <a:latin typeface="+mn-lt"/>
                <a:ea typeface="+mn-ea"/>
                <a:cs typeface="+mn-cs"/>
              </a:rPr>
              <a:t>_Customer</a:t>
            </a:r>
            <a:r>
              <a:rPr lang="de-DE" dirty="0"/>
              <a:t> definiert und zusätzlich in die Elementliste aufgenommen.</a:t>
            </a:r>
          </a:p>
          <a:p>
            <a:endParaRPr lang="de-DE" dirty="0"/>
          </a:p>
          <a:p>
            <a:r>
              <a:rPr lang="de-DE" dirty="0"/>
              <a:t>Durch diese Aufnahme wird die Assoziation exponiert. Sie gehört damit zur veröffentlichten Schnittstelle unserer View Entity.</a:t>
            </a:r>
          </a:p>
          <a:p>
            <a:endParaRPr lang="de-DE" dirty="0"/>
          </a:p>
          <a:p>
            <a:r>
              <a:rPr lang="de-DE" dirty="0"/>
              <a:t>Eine nachgelagerte CDS View sieht nicht nur die skalaren Elemente wie </a:t>
            </a:r>
            <a:r>
              <a:rPr lang="de-DE" sz="1200" kern="1200" dirty="0" err="1">
                <a:solidFill>
                  <a:schemeClr val="tx1"/>
                </a:solidFill>
                <a:latin typeface="+mn-lt"/>
                <a:ea typeface="+mn-ea"/>
                <a:cs typeface="+mn-cs"/>
              </a:rPr>
              <a:t>OrderId</a:t>
            </a:r>
            <a:r>
              <a:rPr lang="de-DE" dirty="0"/>
              <a:t>, </a:t>
            </a:r>
            <a:r>
              <a:rPr lang="de-DE" sz="1200" kern="1200" dirty="0" err="1">
                <a:solidFill>
                  <a:schemeClr val="tx1"/>
                </a:solidFill>
                <a:latin typeface="+mn-lt"/>
                <a:ea typeface="+mn-ea"/>
                <a:cs typeface="+mn-cs"/>
              </a:rPr>
              <a:t>CustomerId</a:t>
            </a:r>
            <a:r>
              <a:rPr lang="de-DE" dirty="0"/>
              <a:t> oder </a:t>
            </a:r>
            <a:r>
              <a:rPr lang="de-DE" sz="1200" kern="1200" dirty="0" err="1">
                <a:solidFill>
                  <a:schemeClr val="tx1"/>
                </a:solidFill>
                <a:latin typeface="+mn-lt"/>
                <a:ea typeface="+mn-ea"/>
                <a:cs typeface="+mn-cs"/>
              </a:rPr>
              <a:t>CustomerName</a:t>
            </a:r>
            <a:r>
              <a:rPr lang="de-DE" dirty="0"/>
              <a:t>. Sie kann auch die Beziehung </a:t>
            </a:r>
            <a:r>
              <a:rPr lang="de-DE" sz="1200" kern="1200" dirty="0">
                <a:solidFill>
                  <a:schemeClr val="tx1"/>
                </a:solidFill>
                <a:latin typeface="+mn-lt"/>
                <a:ea typeface="+mn-ea"/>
                <a:cs typeface="+mn-cs"/>
              </a:rPr>
              <a:t>_Customer</a:t>
            </a:r>
            <a:r>
              <a:rPr lang="de-DE" dirty="0"/>
              <a:t> verwenden und darüber weitere Elemente der Kunden-View erreichen.</a:t>
            </a:r>
          </a:p>
          <a:p>
            <a:endParaRPr lang="de-DE" dirty="0"/>
          </a:p>
          <a:p>
            <a:r>
              <a:rPr lang="de-DE" dirty="0"/>
              <a:t>Das bedeutet allerdings nicht, dass automatisch alle Kundenelemente Bestandteil jeder Abfrage werden. Die Assoziation stellt lediglich einen benannten Navigationsweg zur Verfügung. Welche Elemente tatsächlich benötigt werden, entscheidet der jeweilige Verbraucher.</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28</a:t>
            </a:fld>
            <a:endParaRPr lang="de-DE" dirty="0"/>
          </a:p>
        </p:txBody>
      </p:sp>
    </p:spTree>
    <p:extLst>
      <p:ext uri="{BB962C8B-B14F-4D97-AF65-F5344CB8AC3E}">
        <p14:creationId xmlns:p14="http://schemas.microsoft.com/office/powerpoint/2010/main" val="24023330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Über einen Pfadausdruck greifen wir auf ein Element zu, das über eine Assoziation erreichbar ist.</a:t>
            </a:r>
          </a:p>
          <a:p>
            <a:endParaRPr lang="de-DE" dirty="0"/>
          </a:p>
          <a:p>
            <a:r>
              <a:rPr lang="de-DE" dirty="0"/>
              <a:t>In </a:t>
            </a:r>
            <a:r>
              <a:rPr lang="de-DE" sz="1200" kern="1200" dirty="0" err="1">
                <a:solidFill>
                  <a:schemeClr val="tx1"/>
                </a:solidFill>
                <a:latin typeface="+mn-lt"/>
                <a:ea typeface="+mn-ea"/>
                <a:cs typeface="+mn-cs"/>
              </a:rPr>
              <a:t>ZI_CDSOrder</a:t>
            </a:r>
            <a:r>
              <a:rPr lang="de-DE" dirty="0"/>
              <a:t> haben wir bereits </a:t>
            </a:r>
            <a:r>
              <a:rPr lang="de-DE" sz="1200" kern="1200" dirty="0">
                <a:solidFill>
                  <a:schemeClr val="tx1"/>
                </a:solidFill>
                <a:latin typeface="+mn-lt"/>
                <a:ea typeface="+mn-ea"/>
                <a:cs typeface="+mn-cs"/>
              </a:rPr>
              <a:t>_</a:t>
            </a:r>
            <a:r>
              <a:rPr lang="de-DE" sz="1200" kern="1200" dirty="0" err="1">
                <a:solidFill>
                  <a:schemeClr val="tx1"/>
                </a:solidFill>
                <a:latin typeface="+mn-lt"/>
                <a:ea typeface="+mn-ea"/>
                <a:cs typeface="+mn-cs"/>
              </a:rPr>
              <a:t>Customer.CustomerName</a:t>
            </a:r>
            <a:r>
              <a:rPr lang="de-DE" dirty="0"/>
              <a:t> verwendet. Der erste Teil bezeichnet die Assoziation, der zweite Teil ein Element der Ziel-View.</a:t>
            </a:r>
          </a:p>
          <a:p>
            <a:endParaRPr lang="de-DE" dirty="0"/>
          </a:p>
          <a:p>
            <a:r>
              <a:rPr lang="de-DE" dirty="0"/>
              <a:t>Pfadausdrücke können auch mehrere Stufen umfassen. Wenn beispielsweise eine View eine Assoziation </a:t>
            </a:r>
            <a:r>
              <a:rPr lang="de-DE" sz="1200" kern="1200" dirty="0">
                <a:solidFill>
                  <a:schemeClr val="tx1"/>
                </a:solidFill>
                <a:latin typeface="+mn-lt"/>
                <a:ea typeface="+mn-ea"/>
                <a:cs typeface="+mn-cs"/>
              </a:rPr>
              <a:t>_Order</a:t>
            </a:r>
            <a:r>
              <a:rPr lang="de-DE" dirty="0"/>
              <a:t> auf </a:t>
            </a:r>
            <a:r>
              <a:rPr lang="de-DE" sz="1200" kern="1200" dirty="0" err="1">
                <a:solidFill>
                  <a:schemeClr val="tx1"/>
                </a:solidFill>
                <a:latin typeface="+mn-lt"/>
                <a:ea typeface="+mn-ea"/>
                <a:cs typeface="+mn-cs"/>
              </a:rPr>
              <a:t>ZI_CDSOrder</a:t>
            </a:r>
            <a:r>
              <a:rPr lang="de-DE" dirty="0"/>
              <a:t> besitzt, kann sie über </a:t>
            </a:r>
            <a:r>
              <a:rPr lang="de-DE" sz="1200" kern="1200" dirty="0">
                <a:solidFill>
                  <a:schemeClr val="tx1"/>
                </a:solidFill>
                <a:latin typeface="+mn-lt"/>
                <a:ea typeface="+mn-ea"/>
                <a:cs typeface="+mn-cs"/>
              </a:rPr>
              <a:t>_Order._</a:t>
            </a:r>
            <a:r>
              <a:rPr lang="de-DE" sz="1200" kern="1200" dirty="0" err="1">
                <a:solidFill>
                  <a:schemeClr val="tx1"/>
                </a:solidFill>
                <a:latin typeface="+mn-lt"/>
                <a:ea typeface="+mn-ea"/>
                <a:cs typeface="+mn-cs"/>
              </a:rPr>
              <a:t>Customer.CountryCode</a:t>
            </a:r>
            <a:r>
              <a:rPr lang="de-DE" dirty="0"/>
              <a:t> vom aktuellen Datensatz zunächst zum Auftrag und anschließend zum Kunden navigieren.</a:t>
            </a:r>
          </a:p>
          <a:p>
            <a:endParaRPr lang="de-DE" dirty="0"/>
          </a:p>
          <a:p>
            <a:r>
              <a:rPr lang="de-DE" dirty="0"/>
              <a:t>Das erinnert an die Navigation durch eine Objektstruktur. Technisch übersetzt das CDS-Framework die benötigten Pfade in entsprechende Datenbankverknüpfungen.</a:t>
            </a:r>
          </a:p>
          <a:p>
            <a:endParaRPr lang="de-DE" dirty="0"/>
          </a:p>
          <a:p>
            <a:r>
              <a:rPr lang="de-DE" dirty="0"/>
              <a:t>Die Möglichkeit zur Navigation hängt allerdings von der Kardinalität ab. Über eine To-</a:t>
            </a:r>
            <a:r>
              <a:rPr lang="de-DE" dirty="0" err="1"/>
              <a:t>One</a:t>
            </a:r>
            <a:r>
              <a:rPr lang="de-DE" dirty="0"/>
              <a:t>-Beziehung lässt sich ein einzelnes Element normalerweise unmittelbar verwenden. Eine To-Many-Beziehung kann mehrere Zielzeilen liefern und kann deshalb nicht in jedem Kontext wie ein einzelner Wert behandelt werden.</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29</a:t>
            </a:fld>
            <a:endParaRPr lang="de-DE" dirty="0"/>
          </a:p>
        </p:txBody>
      </p:sp>
    </p:spTree>
    <p:extLst>
      <p:ext uri="{BB962C8B-B14F-4D97-AF65-F5344CB8AC3E}">
        <p14:creationId xmlns:p14="http://schemas.microsoft.com/office/powerpoint/2010/main" val="166190169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Bei der Modellierung müssen wir entscheiden, welche Informationen direkt in einer View bereitgestellt werden und welche lediglich über eine Assoziation erreichbar sein sollen.</a:t>
            </a:r>
          </a:p>
          <a:p>
            <a:endParaRPr lang="de-DE" dirty="0"/>
          </a:p>
          <a:p>
            <a:r>
              <a:rPr lang="de-DE" dirty="0"/>
              <a:t>Der Kundenname wird bei Auftragsdaten wahrscheinlich häufig benötigt. Deshalb haben wir ihn als eigenes Element </a:t>
            </a:r>
            <a:r>
              <a:rPr lang="de-DE" sz="1200" kern="1200" dirty="0" err="1">
                <a:solidFill>
                  <a:schemeClr val="tx1"/>
                </a:solidFill>
                <a:latin typeface="+mn-lt"/>
                <a:ea typeface="+mn-ea"/>
                <a:cs typeface="+mn-cs"/>
              </a:rPr>
              <a:t>CustomerName</a:t>
            </a:r>
            <a:r>
              <a:rPr lang="de-DE" dirty="0"/>
              <a:t> in </a:t>
            </a:r>
            <a:r>
              <a:rPr lang="de-DE" sz="1200" kern="1200" dirty="0" err="1">
                <a:solidFill>
                  <a:schemeClr val="tx1"/>
                </a:solidFill>
                <a:latin typeface="+mn-lt"/>
                <a:ea typeface="+mn-ea"/>
                <a:cs typeface="+mn-cs"/>
              </a:rPr>
              <a:t>ZI_CDSOrder</a:t>
            </a:r>
            <a:r>
              <a:rPr lang="de-DE" dirty="0"/>
              <a:t> aufgenommen.</a:t>
            </a:r>
          </a:p>
          <a:p>
            <a:endParaRPr lang="de-DE" dirty="0"/>
          </a:p>
          <a:p>
            <a:r>
              <a:rPr lang="de-DE" dirty="0"/>
              <a:t>Der Ländercode wird möglicherweise nur von einzelnen Verbrauchern benötigt. Er muss nicht vorsorglich in jede Auftragsabfrage aufgenommen werden. Durch die exponierte Assoziation bleibt er trotzdem erreichbar.</a:t>
            </a:r>
          </a:p>
          <a:p>
            <a:endParaRPr lang="de-DE" dirty="0"/>
          </a:p>
          <a:p>
            <a:r>
              <a:rPr lang="de-DE" dirty="0"/>
              <a:t>Die beiden Möglichkeiten schließen sich nicht aus. Eine View kann häufig benötigte Zielelemente direkt projizieren und gleichzeitig die zugrunde liegende Beziehung exponieren.</a:t>
            </a:r>
          </a:p>
          <a:p>
            <a:endParaRPr lang="de-DE" dirty="0"/>
          </a:p>
          <a:p>
            <a:r>
              <a:rPr lang="de-DE" dirty="0"/>
              <a:t>Dadurch bleibt die View bequem verwendbar, ohne sämtliche Attribute der verbundenen Objekte zu duplizieren.</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30</a:t>
            </a:fld>
            <a:endParaRPr lang="de-DE" dirty="0"/>
          </a:p>
        </p:txBody>
      </p:sp>
    </p:spTree>
    <p:extLst>
      <p:ext uri="{BB962C8B-B14F-4D97-AF65-F5344CB8AC3E}">
        <p14:creationId xmlns:p14="http://schemas.microsoft.com/office/powerpoint/2010/main" val="269122937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Unser nächster Entwicklungsstand besteht aus vier fachlichen CDS-Objekten.</a:t>
            </a:r>
          </a:p>
          <a:p>
            <a:endParaRPr lang="de-DE" dirty="0"/>
          </a:p>
          <a:p>
            <a:r>
              <a:rPr lang="de-DE" dirty="0"/>
              <a:t>Ein Auftrag gehört zu höchstens einem Kunden. Diese Beziehung haben wir bereits mit </a:t>
            </a:r>
            <a:r>
              <a:rPr lang="de-DE" sz="1200" kern="1200" dirty="0">
                <a:solidFill>
                  <a:schemeClr val="tx1"/>
                </a:solidFill>
                <a:latin typeface="+mn-lt"/>
                <a:ea typeface="+mn-ea"/>
                <a:cs typeface="+mn-cs"/>
              </a:rPr>
              <a:t>_Customer</a:t>
            </a:r>
            <a:r>
              <a:rPr lang="de-DE" dirty="0"/>
              <a:t> modelliert.</a:t>
            </a:r>
          </a:p>
          <a:p>
            <a:endParaRPr lang="de-DE" dirty="0"/>
          </a:p>
          <a:p>
            <a:r>
              <a:rPr lang="de-DE" dirty="0"/>
              <a:t>Ein Auftrag kann beliebig viele Positionen enthalten. Diese Beziehung wird durch </a:t>
            </a:r>
            <a:r>
              <a:rPr lang="de-DE" sz="1200" kern="1200" dirty="0">
                <a:solidFill>
                  <a:schemeClr val="tx1"/>
                </a:solidFill>
                <a:latin typeface="+mn-lt"/>
                <a:ea typeface="+mn-ea"/>
                <a:cs typeface="+mn-cs"/>
              </a:rPr>
              <a:t>_Items</a:t>
            </a:r>
            <a:r>
              <a:rPr lang="de-DE" dirty="0"/>
              <a:t> beschrieben und erhält die Kardinalität </a:t>
            </a:r>
            <a:r>
              <a:rPr lang="de-DE" sz="1200" kern="1200" dirty="0">
                <a:solidFill>
                  <a:schemeClr val="tx1"/>
                </a:solidFill>
                <a:latin typeface="+mn-lt"/>
                <a:ea typeface="+mn-ea"/>
                <a:cs typeface="+mn-cs"/>
              </a:rPr>
              <a:t>[0..*]</a:t>
            </a:r>
            <a:r>
              <a:rPr lang="de-DE" dirty="0"/>
              <a:t>.</a:t>
            </a:r>
          </a:p>
          <a:p>
            <a:endParaRPr lang="de-DE" dirty="0"/>
          </a:p>
          <a:p>
            <a:r>
              <a:rPr lang="de-DE" dirty="0"/>
              <a:t>Jede Position verweist wiederum auf höchstens ein Produkt. Dafür definieren wir in der Positions-View die To-</a:t>
            </a:r>
            <a:r>
              <a:rPr lang="de-DE" dirty="0" err="1"/>
              <a:t>One</a:t>
            </a:r>
            <a:r>
              <a:rPr lang="de-DE" dirty="0"/>
              <a:t>-Assoziation </a:t>
            </a:r>
            <a:r>
              <a:rPr lang="de-DE" sz="1200" kern="1200" dirty="0">
                <a:solidFill>
                  <a:schemeClr val="tx1"/>
                </a:solidFill>
                <a:latin typeface="+mn-lt"/>
                <a:ea typeface="+mn-ea"/>
                <a:cs typeface="+mn-cs"/>
              </a:rPr>
              <a:t>_</a:t>
            </a:r>
            <a:r>
              <a:rPr lang="de-DE" sz="1200" kern="1200" dirty="0" err="1">
                <a:solidFill>
                  <a:schemeClr val="tx1"/>
                </a:solidFill>
                <a:latin typeface="+mn-lt"/>
                <a:ea typeface="+mn-ea"/>
                <a:cs typeface="+mn-cs"/>
              </a:rPr>
              <a:t>Product</a:t>
            </a:r>
            <a:r>
              <a:rPr lang="de-DE" dirty="0"/>
              <a:t>.</a:t>
            </a:r>
          </a:p>
          <a:p>
            <a:endParaRPr lang="de-DE" dirty="0"/>
          </a:p>
          <a:p>
            <a:r>
              <a:rPr lang="de-DE" dirty="0"/>
              <a:t>Zusätzlich kann eine Position über </a:t>
            </a:r>
            <a:r>
              <a:rPr lang="de-DE" sz="1200" kern="1200" dirty="0">
                <a:solidFill>
                  <a:schemeClr val="tx1"/>
                </a:solidFill>
                <a:latin typeface="+mn-lt"/>
                <a:ea typeface="+mn-ea"/>
                <a:cs typeface="+mn-cs"/>
              </a:rPr>
              <a:t>_Order</a:t>
            </a:r>
            <a:r>
              <a:rPr lang="de-DE" dirty="0"/>
              <a:t> zu ihrem Auftrag navigieren. Weil </a:t>
            </a:r>
            <a:r>
              <a:rPr lang="de-DE" sz="1200" kern="1200" dirty="0" err="1">
                <a:solidFill>
                  <a:schemeClr val="tx1"/>
                </a:solidFill>
                <a:latin typeface="+mn-lt"/>
                <a:ea typeface="+mn-ea"/>
                <a:cs typeface="+mn-cs"/>
              </a:rPr>
              <a:t>ZI_CDSOrder</a:t>
            </a:r>
            <a:r>
              <a:rPr lang="de-DE" dirty="0"/>
              <a:t> die Beziehung </a:t>
            </a:r>
            <a:r>
              <a:rPr lang="de-DE" sz="1200" kern="1200" dirty="0">
                <a:solidFill>
                  <a:schemeClr val="tx1"/>
                </a:solidFill>
                <a:latin typeface="+mn-lt"/>
                <a:ea typeface="+mn-ea"/>
                <a:cs typeface="+mn-cs"/>
              </a:rPr>
              <a:t>_Customer</a:t>
            </a:r>
            <a:r>
              <a:rPr lang="de-DE" dirty="0"/>
              <a:t> exponiert, wäre von dort aus sogar eine mehrstufige Navigation zum Kunden möglich.</a:t>
            </a:r>
          </a:p>
          <a:p>
            <a:endParaRPr lang="de-DE" dirty="0"/>
          </a:p>
          <a:p>
            <a:r>
              <a:rPr lang="de-DE" dirty="0"/>
              <a:t>So entsteht schrittweise ein zusammenhängendes Datenmodell, in dem Beziehungen nicht für jede neue View erneut erfunden werden müssen.</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31</a:t>
            </a:fld>
            <a:endParaRPr lang="de-DE" dirty="0"/>
          </a:p>
        </p:txBody>
      </p:sp>
    </p:spTree>
    <p:extLst>
      <p:ext uri="{BB962C8B-B14F-4D97-AF65-F5344CB8AC3E}">
        <p14:creationId xmlns:p14="http://schemas.microsoft.com/office/powerpoint/2010/main" val="419687168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Eine To-</a:t>
            </a:r>
            <a:r>
              <a:rPr lang="de-DE" dirty="0" err="1"/>
              <a:t>One</a:t>
            </a:r>
            <a:r>
              <a:rPr lang="de-DE" dirty="0"/>
              <a:t>-Assoziation können wir häufig direkt zur Bereitstellung eines einzelnen Elements verwenden. Zu einem Auftrag gibt es höchstens einen Kunden und damit höchstens einen Kundennamen.</a:t>
            </a:r>
          </a:p>
          <a:p>
            <a:endParaRPr lang="de-DE" dirty="0"/>
          </a:p>
          <a:p>
            <a:r>
              <a:rPr lang="de-DE" dirty="0"/>
              <a:t>Bei den Positionen funktioniert diese Vorstellung nicht mehr. Ein Auftrag kann mehrere Positionen und damit mehrere Produktnummern, Mengen und Beträge besitzen.</a:t>
            </a:r>
          </a:p>
          <a:p>
            <a:endParaRPr lang="de-DE" dirty="0"/>
          </a:p>
          <a:p>
            <a:r>
              <a:rPr lang="de-DE" dirty="0"/>
              <a:t>Die Frage „Welches Produkt gehört zu diesem Auftrag?“ hat deshalb keine einzelne Antwort. Aus diesem Grund nehmen wir nicht einfach </a:t>
            </a:r>
            <a:r>
              <a:rPr lang="de-DE" sz="1200" kern="1200" dirty="0">
                <a:solidFill>
                  <a:schemeClr val="tx1"/>
                </a:solidFill>
                <a:latin typeface="+mn-lt"/>
                <a:ea typeface="+mn-ea"/>
                <a:cs typeface="+mn-cs"/>
              </a:rPr>
              <a:t>_</a:t>
            </a:r>
            <a:r>
              <a:rPr lang="de-DE" sz="1200" kern="1200" dirty="0" err="1">
                <a:solidFill>
                  <a:schemeClr val="tx1"/>
                </a:solidFill>
                <a:latin typeface="+mn-lt"/>
                <a:ea typeface="+mn-ea"/>
                <a:cs typeface="+mn-cs"/>
              </a:rPr>
              <a:t>Items.ProductId</a:t>
            </a:r>
            <a:r>
              <a:rPr lang="de-DE" dirty="0"/>
              <a:t> als skalares Element in die Auftrags-View auf.</a:t>
            </a:r>
          </a:p>
          <a:p>
            <a:endParaRPr lang="de-DE" dirty="0"/>
          </a:p>
          <a:p>
            <a:r>
              <a:rPr lang="de-DE" dirty="0"/>
              <a:t>Stattdessen exponieren wir die Beziehung </a:t>
            </a:r>
            <a:r>
              <a:rPr lang="de-DE" sz="1200" kern="1200" dirty="0">
                <a:solidFill>
                  <a:schemeClr val="tx1"/>
                </a:solidFill>
                <a:latin typeface="+mn-lt"/>
                <a:ea typeface="+mn-ea"/>
                <a:cs typeface="+mn-cs"/>
              </a:rPr>
              <a:t>_Items</a:t>
            </a:r>
            <a:r>
              <a:rPr lang="de-DE" dirty="0"/>
              <a:t>. Wer Positionsdaten benötigt, kann über diese Beziehung zur Positionsmenge navigieren.</a:t>
            </a:r>
          </a:p>
          <a:p>
            <a:endParaRPr lang="de-DE" dirty="0"/>
          </a:p>
          <a:p>
            <a:r>
              <a:rPr lang="de-DE" dirty="0"/>
              <a:t>Alternativ können wir eine eigene View erstellen, deren Ergebnisebene eine Auftragsposition ist. Genau das tun wir im folgenden Live-Coding mit </a:t>
            </a:r>
            <a:r>
              <a:rPr lang="de-DE" sz="1200" kern="1200" dirty="0" err="1">
                <a:solidFill>
                  <a:schemeClr val="tx1"/>
                </a:solidFill>
                <a:latin typeface="+mn-lt"/>
                <a:ea typeface="+mn-ea"/>
                <a:cs typeface="+mn-cs"/>
              </a:rPr>
              <a:t>ZI_CDSOrderItem</a:t>
            </a:r>
            <a:r>
              <a:rPr lang="de-DE" dirty="0"/>
              <a:t>.</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32</a:t>
            </a:fld>
            <a:endParaRPr lang="de-DE" dirty="0"/>
          </a:p>
        </p:txBody>
      </p:sp>
    </p:spTree>
    <p:extLst>
      <p:ext uri="{BB962C8B-B14F-4D97-AF65-F5344CB8AC3E}">
        <p14:creationId xmlns:p14="http://schemas.microsoft.com/office/powerpoint/2010/main" val="371769682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Sobald wir Auftragspositionen modellieren, ändert sich die Ergebnisebene.</a:t>
            </a:r>
          </a:p>
          <a:p>
            <a:endParaRPr lang="de-DE" dirty="0"/>
          </a:p>
          <a:p>
            <a:r>
              <a:rPr lang="de-DE" dirty="0"/>
              <a:t>In </a:t>
            </a:r>
            <a:r>
              <a:rPr lang="de-DE" sz="1200" kern="1200" dirty="0" err="1">
                <a:solidFill>
                  <a:schemeClr val="tx1"/>
                </a:solidFill>
                <a:latin typeface="+mn-lt"/>
                <a:ea typeface="+mn-ea"/>
                <a:cs typeface="+mn-cs"/>
              </a:rPr>
              <a:t>ZI_CDSOrder</a:t>
            </a:r>
            <a:r>
              <a:rPr lang="de-DE" dirty="0"/>
              <a:t> entspricht eine Zeile einem Auftrag. Deshalb kann </a:t>
            </a:r>
            <a:r>
              <a:rPr lang="de-DE" sz="1200" kern="1200" dirty="0" err="1">
                <a:solidFill>
                  <a:schemeClr val="tx1"/>
                </a:solidFill>
                <a:latin typeface="+mn-lt"/>
                <a:ea typeface="+mn-ea"/>
                <a:cs typeface="+mn-cs"/>
              </a:rPr>
              <a:t>OrderId</a:t>
            </a:r>
            <a:r>
              <a:rPr lang="de-DE" dirty="0"/>
              <a:t> dort der Schlüssel sein.</a:t>
            </a:r>
          </a:p>
          <a:p>
            <a:endParaRPr lang="de-DE" dirty="0"/>
          </a:p>
          <a:p>
            <a:r>
              <a:rPr lang="de-DE" dirty="0"/>
              <a:t>In </a:t>
            </a:r>
            <a:r>
              <a:rPr lang="de-DE" sz="1200" kern="1200" dirty="0" err="1">
                <a:solidFill>
                  <a:schemeClr val="tx1"/>
                </a:solidFill>
                <a:latin typeface="+mn-lt"/>
                <a:ea typeface="+mn-ea"/>
                <a:cs typeface="+mn-cs"/>
              </a:rPr>
              <a:t>ZI_CDSOrderItem</a:t>
            </a:r>
            <a:r>
              <a:rPr lang="de-DE" dirty="0"/>
              <a:t> entspricht eine Zeile einer einzelnen Position. Mehrere Positionen können dieselbe Auftragsnummer besitzen. Der Schlüssel muss daher aus </a:t>
            </a:r>
            <a:r>
              <a:rPr lang="de-DE" sz="1200" kern="1200" dirty="0" err="1">
                <a:solidFill>
                  <a:schemeClr val="tx1"/>
                </a:solidFill>
                <a:latin typeface="+mn-lt"/>
                <a:ea typeface="+mn-ea"/>
                <a:cs typeface="+mn-cs"/>
              </a:rPr>
              <a:t>OrderId</a:t>
            </a:r>
            <a:r>
              <a:rPr lang="de-DE" dirty="0"/>
              <a:t> und </a:t>
            </a:r>
            <a:r>
              <a:rPr lang="de-DE" sz="1200" kern="1200" dirty="0" err="1">
                <a:solidFill>
                  <a:schemeClr val="tx1"/>
                </a:solidFill>
                <a:latin typeface="+mn-lt"/>
                <a:ea typeface="+mn-ea"/>
                <a:cs typeface="+mn-cs"/>
              </a:rPr>
              <a:t>ItemNumber</a:t>
            </a:r>
            <a:r>
              <a:rPr lang="de-DE" dirty="0"/>
              <a:t> bestehen.</a:t>
            </a:r>
          </a:p>
          <a:p>
            <a:endParaRPr lang="de-DE" dirty="0"/>
          </a:p>
          <a:p>
            <a:r>
              <a:rPr lang="de-DE" dirty="0"/>
              <a:t>Das ist eine wichtige allgemeine Regel: Der CDS-Schlüssel muss die Granularität der jeweiligen View beschreiben.</a:t>
            </a:r>
          </a:p>
          <a:p>
            <a:endParaRPr lang="de-DE" dirty="0"/>
          </a:p>
          <a:p>
            <a:r>
              <a:rPr lang="de-DE" dirty="0"/>
              <a:t>Wenn eine Verknüpfung oder eine To-Many-Navigation die Ergebnisebene verändert, muss immer geprüft werden, ob die bisherige Schlüsseldefinition noch zutrifft.</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33</a:t>
            </a:fld>
            <a:endParaRPr lang="de-DE" dirty="0"/>
          </a:p>
        </p:txBody>
      </p:sp>
    </p:spTree>
    <p:extLst>
      <p:ext uri="{BB962C8B-B14F-4D97-AF65-F5344CB8AC3E}">
        <p14:creationId xmlns:p14="http://schemas.microsoft.com/office/powerpoint/2010/main" val="287458803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Im vierten Live-Coding erstellen wir zunächst eine View Entity für Produkte.</a:t>
            </a:r>
          </a:p>
          <a:p>
            <a:endParaRPr lang="de-DE" dirty="0"/>
          </a:p>
          <a:p>
            <a:r>
              <a:rPr lang="de-DE" dirty="0"/>
              <a:t>Anschließend erstellen wir die Positions-View. Ihr Schlüssel besteht aus Auftragsnummer und Positionsnummer. Von der Position modellieren wir eine Beziehung zum Produkt und eine Beziehung zum zugehörigen Auftrag.</a:t>
            </a:r>
          </a:p>
          <a:p>
            <a:endParaRPr lang="de-DE" dirty="0"/>
          </a:p>
          <a:p>
            <a:r>
              <a:rPr lang="de-DE" dirty="0"/>
              <a:t>Über die Produktassoziation nehmen wir den Produktnamen direkt in die Positions-View auf. Die Beziehung selbst wird ebenfalls exponiert.</a:t>
            </a:r>
          </a:p>
          <a:p>
            <a:endParaRPr lang="de-DE" dirty="0"/>
          </a:p>
          <a:p>
            <a:r>
              <a:rPr lang="de-DE" dirty="0"/>
              <a:t>Zum Abschluss ergänzen wir in </a:t>
            </a:r>
            <a:r>
              <a:rPr lang="de-DE" sz="1200" kern="1200" dirty="0" err="1">
                <a:solidFill>
                  <a:schemeClr val="tx1"/>
                </a:solidFill>
                <a:latin typeface="+mn-lt"/>
                <a:ea typeface="+mn-ea"/>
                <a:cs typeface="+mn-cs"/>
              </a:rPr>
              <a:t>ZI_CDSOrder</a:t>
            </a:r>
            <a:r>
              <a:rPr lang="de-DE" dirty="0"/>
              <a:t> die To-Many-Assoziation </a:t>
            </a:r>
            <a:r>
              <a:rPr lang="de-DE" sz="1200" kern="1200" dirty="0">
                <a:solidFill>
                  <a:schemeClr val="tx1"/>
                </a:solidFill>
                <a:latin typeface="+mn-lt"/>
                <a:ea typeface="+mn-ea"/>
                <a:cs typeface="+mn-cs"/>
              </a:rPr>
              <a:t>_Items</a:t>
            </a:r>
            <a:r>
              <a:rPr lang="de-DE" dirty="0"/>
              <a:t>. Diese Assoziation wird exponiert, aber wir übernehmen keine einzelnen Positionsfelder in die Auftragsprojektion.</a:t>
            </a:r>
          </a:p>
          <a:p>
            <a:endParaRPr lang="de-DE" dirty="0"/>
          </a:p>
          <a:p>
            <a:endParaRPr lang="de-DE" dirty="0"/>
          </a:p>
          <a:p>
            <a:r>
              <a:rPr lang="de-DE" b="1" dirty="0"/>
              <a:t>Live-Coding 4: Auftrag, Position und Produkt verbinden</a:t>
            </a:r>
          </a:p>
          <a:p>
            <a:r>
              <a:rPr lang="de-DE" b="1" dirty="0"/>
              <a:t>1. Tabellen und Beispieldaten ansehen – ca. 3 Minuten</a:t>
            </a:r>
          </a:p>
          <a:p>
            <a:r>
              <a:rPr lang="de-DE" dirty="0"/>
              <a:t>Im Paket </a:t>
            </a:r>
            <a:r>
              <a:rPr lang="de-DE" sz="1200" kern="1200" dirty="0">
                <a:solidFill>
                  <a:schemeClr val="tx1"/>
                </a:solidFill>
                <a:latin typeface="+mn-lt"/>
                <a:ea typeface="+mn-ea"/>
                <a:cs typeface="+mn-cs"/>
              </a:rPr>
              <a:t>ZCDS_WORKSHOP</a:t>
            </a:r>
            <a:r>
              <a:rPr lang="de-DE" dirty="0"/>
              <a:t> die Tabellen öffnen:</a:t>
            </a:r>
          </a:p>
          <a:p>
            <a:pPr rtl="0"/>
            <a:r>
              <a:rPr lang="de-DE" sz="1200" kern="1200" dirty="0">
                <a:solidFill>
                  <a:schemeClr val="tx1"/>
                </a:solidFill>
                <a:latin typeface="+mn-lt"/>
                <a:ea typeface="+mn-ea"/>
                <a:cs typeface="+mn-cs"/>
              </a:rPr>
              <a:t>ZCDS_PRODUCT</a:t>
            </a:r>
          </a:p>
          <a:p>
            <a:pPr rtl="0"/>
            <a:r>
              <a:rPr lang="de-DE" sz="1200" kern="1200" dirty="0">
                <a:solidFill>
                  <a:schemeClr val="tx1"/>
                </a:solidFill>
                <a:latin typeface="+mn-lt"/>
                <a:ea typeface="+mn-ea"/>
                <a:cs typeface="+mn-cs"/>
              </a:rPr>
              <a:t>ZCDS_ORDER_ITEM</a:t>
            </a:r>
          </a:p>
          <a:p>
            <a:r>
              <a:rPr lang="de-DE" b="1" dirty="0"/>
              <a:t>Erläuterungen während der Demo</a:t>
            </a:r>
          </a:p>
          <a:p>
            <a:pPr lvl="0"/>
            <a:r>
              <a:rPr lang="de-DE" dirty="0"/>
              <a:t>Ein Produkt wird durch </a:t>
            </a:r>
            <a:r>
              <a:rPr lang="de-DE" sz="1200" kern="1200" dirty="0" err="1">
                <a:solidFill>
                  <a:schemeClr val="tx1"/>
                </a:solidFill>
                <a:latin typeface="+mn-lt"/>
                <a:ea typeface="+mn-ea"/>
                <a:cs typeface="+mn-cs"/>
              </a:rPr>
              <a:t>product_id</a:t>
            </a:r>
            <a:r>
              <a:rPr lang="de-DE" dirty="0"/>
              <a:t> identifiziert. </a:t>
            </a:r>
          </a:p>
          <a:p>
            <a:pPr lvl="0"/>
            <a:r>
              <a:rPr lang="de-DE" dirty="0"/>
              <a:t>Eine Position wird durch </a:t>
            </a:r>
            <a:r>
              <a:rPr lang="de-DE" sz="1200" kern="1200" dirty="0" err="1">
                <a:solidFill>
                  <a:schemeClr val="tx1"/>
                </a:solidFill>
                <a:latin typeface="+mn-lt"/>
                <a:ea typeface="+mn-ea"/>
                <a:cs typeface="+mn-cs"/>
              </a:rPr>
              <a:t>order_id</a:t>
            </a:r>
            <a:r>
              <a:rPr lang="de-DE" dirty="0"/>
              <a:t> und </a:t>
            </a:r>
            <a:r>
              <a:rPr lang="de-DE" sz="1200" kern="1200" dirty="0" err="1">
                <a:solidFill>
                  <a:schemeClr val="tx1"/>
                </a:solidFill>
                <a:latin typeface="+mn-lt"/>
                <a:ea typeface="+mn-ea"/>
                <a:cs typeface="+mn-cs"/>
              </a:rPr>
              <a:t>item_number</a:t>
            </a:r>
            <a:r>
              <a:rPr lang="de-DE" dirty="0"/>
              <a:t> identifiziert. </a:t>
            </a:r>
          </a:p>
          <a:p>
            <a:pPr lvl="0"/>
            <a:r>
              <a:rPr lang="de-DE" dirty="0"/>
              <a:t>Mehrere Positionen können zu demselben Auftrag gehören. </a:t>
            </a:r>
          </a:p>
          <a:p>
            <a:pPr lvl="0"/>
            <a:r>
              <a:rPr lang="de-DE" dirty="0"/>
              <a:t>Mehrere Positionen können auf dasselbe Produkt verweisen. </a:t>
            </a:r>
          </a:p>
          <a:p>
            <a:pPr lvl="0"/>
            <a:r>
              <a:rPr lang="de-DE" sz="1200" kern="1200" dirty="0" err="1">
                <a:solidFill>
                  <a:schemeClr val="tx1"/>
                </a:solidFill>
                <a:latin typeface="+mn-lt"/>
                <a:ea typeface="+mn-ea"/>
                <a:cs typeface="+mn-cs"/>
              </a:rPr>
              <a:t>order_id</a:t>
            </a:r>
            <a:r>
              <a:rPr lang="de-DE" dirty="0"/>
              <a:t> ist in der Position ein Fremdschlüsselwert zum Auftrag. </a:t>
            </a:r>
          </a:p>
          <a:p>
            <a:pPr lvl="0"/>
            <a:r>
              <a:rPr lang="de-DE" sz="1200" kern="1200" dirty="0" err="1">
                <a:solidFill>
                  <a:schemeClr val="tx1"/>
                </a:solidFill>
                <a:latin typeface="+mn-lt"/>
                <a:ea typeface="+mn-ea"/>
                <a:cs typeface="+mn-cs"/>
              </a:rPr>
              <a:t>product_id</a:t>
            </a:r>
            <a:r>
              <a:rPr lang="de-DE" dirty="0"/>
              <a:t> ist ein Fremdschlüsselwert zum Produkt. </a:t>
            </a:r>
          </a:p>
          <a:p>
            <a:br>
              <a:rPr lang="de-DE" dirty="0"/>
            </a:br>
            <a:r>
              <a:rPr lang="de-DE" b="1" dirty="0"/>
              <a:t>2. Produkt-View Entity erstellen – ca. 4 Minuten</a:t>
            </a:r>
          </a:p>
          <a:p>
            <a:r>
              <a:rPr lang="de-DE" dirty="0"/>
              <a:t>Neue Data Definition:</a:t>
            </a:r>
          </a:p>
          <a:p>
            <a:pPr rtl="0"/>
            <a:r>
              <a:rPr lang="de-DE" sz="1200" kern="1200" dirty="0">
                <a:solidFill>
                  <a:schemeClr val="tx1"/>
                </a:solidFill>
                <a:latin typeface="+mn-lt"/>
                <a:ea typeface="+mn-ea"/>
                <a:cs typeface="+mn-cs"/>
              </a:rPr>
              <a:t>Name:        ZI_CDSPRODUCT</a:t>
            </a:r>
          </a:p>
          <a:p>
            <a:pPr rtl="0"/>
            <a:r>
              <a:rPr lang="de-DE" sz="1200" kern="1200" dirty="0">
                <a:solidFill>
                  <a:schemeClr val="tx1"/>
                </a:solidFill>
                <a:latin typeface="+mn-lt"/>
                <a:ea typeface="+mn-ea"/>
                <a:cs typeface="+mn-cs"/>
              </a:rPr>
              <a:t>Description: CDS Workshop: Produkte</a:t>
            </a:r>
          </a:p>
          <a:p>
            <a:r>
              <a:rPr lang="de-DE" dirty="0"/>
              <a:t>Definition:</a:t>
            </a:r>
          </a:p>
          <a:p>
            <a:pPr rtl="0"/>
            <a:r>
              <a:rPr lang="de-DE" sz="1200" kern="1200" dirty="0">
                <a:solidFill>
                  <a:schemeClr val="tx1"/>
                </a:solidFill>
                <a:latin typeface="+mn-lt"/>
                <a:ea typeface="+mn-ea"/>
                <a:cs typeface="+mn-cs"/>
              </a:rPr>
              <a:t>@EndUserText.label: 'CDS Workshop: Produkte'</a:t>
            </a:r>
          </a:p>
          <a:p>
            <a:pPr rtl="0"/>
            <a:r>
              <a:rPr lang="de-DE" sz="1200" kern="1200" dirty="0">
                <a:solidFill>
                  <a:schemeClr val="tx1"/>
                </a:solidFill>
                <a:latin typeface="+mn-lt"/>
                <a:ea typeface="+mn-ea"/>
                <a:cs typeface="+mn-cs"/>
              </a:rPr>
              <a:t>@AccessControl.authorizationCheck: #NOT_REQUIRED</a:t>
            </a:r>
          </a:p>
          <a:p>
            <a:pPr rtl="0"/>
            <a:r>
              <a:rPr lang="de-DE" sz="1200" kern="1200" dirty="0" err="1">
                <a:solidFill>
                  <a:schemeClr val="tx1"/>
                </a:solidFill>
                <a:latin typeface="+mn-lt"/>
                <a:ea typeface="+mn-ea"/>
                <a:cs typeface="+mn-cs"/>
              </a:rPr>
              <a:t>define</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view</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entity</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ZI_CDSProduct</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as </a:t>
            </a:r>
            <a:r>
              <a:rPr lang="de-DE" sz="1200" kern="1200" dirty="0" err="1">
                <a:solidFill>
                  <a:schemeClr val="tx1"/>
                </a:solidFill>
                <a:latin typeface="+mn-lt"/>
                <a:ea typeface="+mn-ea"/>
                <a:cs typeface="+mn-cs"/>
              </a:rPr>
              <a:t>select</a:t>
            </a:r>
            <a:r>
              <a:rPr lang="de-DE" sz="1200" kern="1200" dirty="0">
                <a:solidFill>
                  <a:schemeClr val="tx1"/>
                </a:solidFill>
                <a:latin typeface="+mn-lt"/>
                <a:ea typeface="+mn-ea"/>
                <a:cs typeface="+mn-cs"/>
              </a:rPr>
              <a:t> from </a:t>
            </a:r>
            <a:r>
              <a:rPr lang="de-DE" sz="1200" kern="1200" dirty="0" err="1">
                <a:solidFill>
                  <a:schemeClr val="tx1"/>
                </a:solidFill>
                <a:latin typeface="+mn-lt"/>
                <a:ea typeface="+mn-ea"/>
                <a:cs typeface="+mn-cs"/>
              </a:rPr>
              <a:t>zcds_product</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@EndUserText.label: 'Produktnummer'</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key</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product_id</a:t>
            </a:r>
            <a:r>
              <a:rPr lang="de-DE" sz="1200" kern="1200" dirty="0">
                <a:solidFill>
                  <a:schemeClr val="tx1"/>
                </a:solidFill>
                <a:latin typeface="+mn-lt"/>
                <a:ea typeface="+mn-ea"/>
                <a:cs typeface="+mn-cs"/>
              </a:rPr>
              <a:t>   as </a:t>
            </a:r>
            <a:r>
              <a:rPr lang="de-DE" sz="1200" kern="1200" dirty="0" err="1">
                <a:solidFill>
                  <a:schemeClr val="tx1"/>
                </a:solidFill>
                <a:latin typeface="+mn-lt"/>
                <a:ea typeface="+mn-ea"/>
                <a:cs typeface="+mn-cs"/>
              </a:rPr>
              <a:t>ProductId</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@EndUserText.label: 'Produktbezeichnung'</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product_name</a:t>
            </a:r>
            <a:r>
              <a:rPr lang="de-DE" sz="1200" kern="1200" dirty="0">
                <a:solidFill>
                  <a:schemeClr val="tx1"/>
                </a:solidFill>
                <a:latin typeface="+mn-lt"/>
                <a:ea typeface="+mn-ea"/>
                <a:cs typeface="+mn-cs"/>
              </a:rPr>
              <a:t> as </a:t>
            </a:r>
            <a:r>
              <a:rPr lang="de-DE" sz="1200" kern="1200" dirty="0" err="1">
                <a:solidFill>
                  <a:schemeClr val="tx1"/>
                </a:solidFill>
                <a:latin typeface="+mn-lt"/>
                <a:ea typeface="+mn-ea"/>
                <a:cs typeface="+mn-cs"/>
              </a:rPr>
              <a:t>ProductName</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@EndUserText.label: 'Produktkategorie'</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category</a:t>
            </a:r>
            <a:r>
              <a:rPr lang="de-DE" sz="1200" kern="1200" dirty="0">
                <a:solidFill>
                  <a:schemeClr val="tx1"/>
                </a:solidFill>
                <a:latin typeface="+mn-lt"/>
                <a:ea typeface="+mn-ea"/>
                <a:cs typeface="+mn-cs"/>
              </a:rPr>
              <a:t>     as </a:t>
            </a:r>
            <a:r>
              <a:rPr lang="de-DE" sz="1200" kern="1200" dirty="0" err="1">
                <a:solidFill>
                  <a:schemeClr val="tx1"/>
                </a:solidFill>
                <a:latin typeface="+mn-lt"/>
                <a:ea typeface="+mn-ea"/>
                <a:cs typeface="+mn-cs"/>
              </a:rPr>
              <a:t>ProductCategory</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a:t>
            </a:r>
          </a:p>
          <a:p>
            <a:r>
              <a:rPr lang="de-DE" dirty="0"/>
              <a:t>Aktivieren:</a:t>
            </a:r>
          </a:p>
          <a:p>
            <a:pPr rtl="0"/>
            <a:r>
              <a:rPr lang="de-DE" sz="1200" kern="1200" dirty="0">
                <a:solidFill>
                  <a:schemeClr val="tx1"/>
                </a:solidFill>
                <a:latin typeface="+mn-lt"/>
                <a:ea typeface="+mn-ea"/>
                <a:cs typeface="+mn-cs"/>
              </a:rPr>
              <a:t>Ctrl+F3</a:t>
            </a:r>
          </a:p>
          <a:p>
            <a:r>
              <a:rPr lang="de-DE" b="1" dirty="0"/>
              <a:t>Erläuterungen während der Demo</a:t>
            </a:r>
          </a:p>
          <a:p>
            <a:pPr lvl="0"/>
            <a:r>
              <a:rPr lang="de-DE" sz="1200" kern="1200" dirty="0" err="1">
                <a:solidFill>
                  <a:schemeClr val="tx1"/>
                </a:solidFill>
                <a:latin typeface="+mn-lt"/>
                <a:ea typeface="+mn-ea"/>
                <a:cs typeface="+mn-cs"/>
              </a:rPr>
              <a:t>ProductId</a:t>
            </a:r>
            <a:r>
              <a:rPr lang="de-DE" dirty="0"/>
              <a:t> ist der CDS-Schlüssel. </a:t>
            </a:r>
          </a:p>
          <a:p>
            <a:pPr lvl="0"/>
            <a:r>
              <a:rPr lang="de-DE" dirty="0"/>
              <a:t>Die Produkt-View ist unabhängig verwendbar. </a:t>
            </a:r>
          </a:p>
          <a:p>
            <a:pPr lvl="0"/>
            <a:r>
              <a:rPr lang="de-DE" dirty="0"/>
              <a:t>Sie bildet gleich die Zielseite der Assoziation </a:t>
            </a:r>
            <a:r>
              <a:rPr lang="de-DE" sz="1200" kern="1200" dirty="0">
                <a:solidFill>
                  <a:schemeClr val="tx1"/>
                </a:solidFill>
                <a:latin typeface="+mn-lt"/>
                <a:ea typeface="+mn-ea"/>
                <a:cs typeface="+mn-cs"/>
              </a:rPr>
              <a:t>_</a:t>
            </a:r>
            <a:r>
              <a:rPr lang="de-DE" sz="1200" kern="1200" dirty="0" err="1">
                <a:solidFill>
                  <a:schemeClr val="tx1"/>
                </a:solidFill>
                <a:latin typeface="+mn-lt"/>
                <a:ea typeface="+mn-ea"/>
                <a:cs typeface="+mn-cs"/>
              </a:rPr>
              <a:t>Product</a:t>
            </a:r>
            <a:r>
              <a:rPr lang="de-DE" dirty="0"/>
              <a:t>. </a:t>
            </a:r>
          </a:p>
          <a:p>
            <a:pPr lvl="0"/>
            <a:r>
              <a:rPr lang="de-DE" dirty="0"/>
              <a:t>Die technischen Tabellennamen werden wieder in fachliche CDS-Elementnamen übersetzt. </a:t>
            </a:r>
          </a:p>
          <a:p>
            <a:r>
              <a:rPr lang="de-DE" dirty="0"/>
              <a:t>Anschließend kurz die Data Preview öffnen und die Produktdaten kontrollieren.</a:t>
            </a:r>
          </a:p>
          <a:p>
            <a:br>
              <a:rPr lang="de-DE" dirty="0"/>
            </a:br>
            <a:endParaRPr lang="de-DE" dirty="0"/>
          </a:p>
          <a:p>
            <a:r>
              <a:rPr lang="de-DE" b="1" dirty="0"/>
              <a:t>3. Positions-View Entity anlegen – ca. 5 Minuten</a:t>
            </a:r>
          </a:p>
          <a:p>
            <a:r>
              <a:rPr lang="de-DE" dirty="0"/>
              <a:t>Neue Data Definition:</a:t>
            </a:r>
          </a:p>
          <a:p>
            <a:pPr rtl="0"/>
            <a:r>
              <a:rPr lang="de-DE" sz="1200" kern="1200" dirty="0">
                <a:solidFill>
                  <a:schemeClr val="tx1"/>
                </a:solidFill>
                <a:latin typeface="+mn-lt"/>
                <a:ea typeface="+mn-ea"/>
                <a:cs typeface="+mn-cs"/>
              </a:rPr>
              <a:t>Name:        ZI_CDSORDERITEM</a:t>
            </a:r>
          </a:p>
          <a:p>
            <a:pPr rtl="0"/>
            <a:r>
              <a:rPr lang="de-DE" sz="1200" kern="1200" dirty="0">
                <a:solidFill>
                  <a:schemeClr val="tx1"/>
                </a:solidFill>
                <a:latin typeface="+mn-lt"/>
                <a:ea typeface="+mn-ea"/>
                <a:cs typeface="+mn-cs"/>
              </a:rPr>
              <a:t>Description: CDS Workshop: Auftragspositionen</a:t>
            </a:r>
          </a:p>
          <a:p>
            <a:r>
              <a:rPr lang="de-DE" dirty="0"/>
              <a:t>Erste Definition noch ohne Assoziationen:</a:t>
            </a:r>
          </a:p>
          <a:p>
            <a:pPr rtl="0"/>
            <a:r>
              <a:rPr lang="de-DE" sz="1200" kern="1200" dirty="0">
                <a:solidFill>
                  <a:schemeClr val="tx1"/>
                </a:solidFill>
                <a:latin typeface="+mn-lt"/>
                <a:ea typeface="+mn-ea"/>
                <a:cs typeface="+mn-cs"/>
              </a:rPr>
              <a:t>@EndUserText.label: 'CDS Workshop: Auftragspositionen'</a:t>
            </a:r>
          </a:p>
          <a:p>
            <a:pPr rtl="0"/>
            <a:r>
              <a:rPr lang="de-DE" sz="1200" kern="1200" dirty="0">
                <a:solidFill>
                  <a:schemeClr val="tx1"/>
                </a:solidFill>
                <a:latin typeface="+mn-lt"/>
                <a:ea typeface="+mn-ea"/>
                <a:cs typeface="+mn-cs"/>
              </a:rPr>
              <a:t>@AccessControl.authorizationCheck: #NOT_REQUIRED</a:t>
            </a:r>
          </a:p>
          <a:p>
            <a:pPr rtl="0"/>
            <a:r>
              <a:rPr lang="de-DE" sz="1200" kern="1200" dirty="0" err="1">
                <a:solidFill>
                  <a:schemeClr val="tx1"/>
                </a:solidFill>
                <a:latin typeface="+mn-lt"/>
                <a:ea typeface="+mn-ea"/>
                <a:cs typeface="+mn-cs"/>
              </a:rPr>
              <a:t>define</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view</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entity</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ZI_CDSOrderItem</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as </a:t>
            </a:r>
            <a:r>
              <a:rPr lang="de-DE" sz="1200" kern="1200" dirty="0" err="1">
                <a:solidFill>
                  <a:schemeClr val="tx1"/>
                </a:solidFill>
                <a:latin typeface="+mn-lt"/>
                <a:ea typeface="+mn-ea"/>
                <a:cs typeface="+mn-cs"/>
              </a:rPr>
              <a:t>select</a:t>
            </a:r>
            <a:r>
              <a:rPr lang="de-DE" sz="1200" kern="1200" dirty="0">
                <a:solidFill>
                  <a:schemeClr val="tx1"/>
                </a:solidFill>
                <a:latin typeface="+mn-lt"/>
                <a:ea typeface="+mn-ea"/>
                <a:cs typeface="+mn-cs"/>
              </a:rPr>
              <a:t> from </a:t>
            </a:r>
            <a:r>
              <a:rPr lang="de-DE" sz="1200" kern="1200" dirty="0" err="1">
                <a:solidFill>
                  <a:schemeClr val="tx1"/>
                </a:solidFill>
                <a:latin typeface="+mn-lt"/>
                <a:ea typeface="+mn-ea"/>
                <a:cs typeface="+mn-cs"/>
              </a:rPr>
              <a:t>zcds_order_item</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@EndUserText.label: 'Auftragsnummer'</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key</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order_id</a:t>
            </a:r>
            <a:r>
              <a:rPr lang="de-DE" sz="1200" kern="1200" dirty="0">
                <a:solidFill>
                  <a:schemeClr val="tx1"/>
                </a:solidFill>
                <a:latin typeface="+mn-lt"/>
                <a:ea typeface="+mn-ea"/>
                <a:cs typeface="+mn-cs"/>
              </a:rPr>
              <a:t>      as </a:t>
            </a:r>
            <a:r>
              <a:rPr lang="de-DE" sz="1200" kern="1200" dirty="0" err="1">
                <a:solidFill>
                  <a:schemeClr val="tx1"/>
                </a:solidFill>
                <a:latin typeface="+mn-lt"/>
                <a:ea typeface="+mn-ea"/>
                <a:cs typeface="+mn-cs"/>
              </a:rPr>
              <a:t>OrderId</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@EndUserText.label: 'Positionsnummer'</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key</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item_number</a:t>
            </a:r>
            <a:r>
              <a:rPr lang="de-DE" sz="1200" kern="1200" dirty="0">
                <a:solidFill>
                  <a:schemeClr val="tx1"/>
                </a:solidFill>
                <a:latin typeface="+mn-lt"/>
                <a:ea typeface="+mn-ea"/>
                <a:cs typeface="+mn-cs"/>
              </a:rPr>
              <a:t>   as </a:t>
            </a:r>
            <a:r>
              <a:rPr lang="de-DE" sz="1200" kern="1200" dirty="0" err="1">
                <a:solidFill>
                  <a:schemeClr val="tx1"/>
                </a:solidFill>
                <a:latin typeface="+mn-lt"/>
                <a:ea typeface="+mn-ea"/>
                <a:cs typeface="+mn-cs"/>
              </a:rPr>
              <a:t>ItemNumber</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@EndUserText.label: 'Produktnummer'</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product_id</a:t>
            </a:r>
            <a:r>
              <a:rPr lang="de-DE" sz="1200" kern="1200" dirty="0">
                <a:solidFill>
                  <a:schemeClr val="tx1"/>
                </a:solidFill>
                <a:latin typeface="+mn-lt"/>
                <a:ea typeface="+mn-ea"/>
                <a:cs typeface="+mn-cs"/>
              </a:rPr>
              <a:t>    as </a:t>
            </a:r>
            <a:r>
              <a:rPr lang="de-DE" sz="1200" kern="1200" dirty="0" err="1">
                <a:solidFill>
                  <a:schemeClr val="tx1"/>
                </a:solidFill>
                <a:latin typeface="+mn-lt"/>
                <a:ea typeface="+mn-ea"/>
                <a:cs typeface="+mn-cs"/>
              </a:rPr>
              <a:t>ProductId</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@EndUserText.label: 'Menge'</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quantity</a:t>
            </a:r>
            <a:r>
              <a:rPr lang="de-DE" sz="1200" kern="1200" dirty="0">
                <a:solidFill>
                  <a:schemeClr val="tx1"/>
                </a:solidFill>
                <a:latin typeface="+mn-lt"/>
                <a:ea typeface="+mn-ea"/>
                <a:cs typeface="+mn-cs"/>
              </a:rPr>
              <a:t>      as </a:t>
            </a:r>
            <a:r>
              <a:rPr lang="de-DE" sz="1200" kern="1200" dirty="0" err="1">
                <a:solidFill>
                  <a:schemeClr val="tx1"/>
                </a:solidFill>
                <a:latin typeface="+mn-lt"/>
                <a:ea typeface="+mn-ea"/>
                <a:cs typeface="+mn-cs"/>
              </a:rPr>
              <a:t>Quantity</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@EndUserText.label: 'Mengeneinheit'</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unit</a:t>
            </a:r>
            <a:r>
              <a:rPr lang="de-DE" sz="1200" kern="1200" dirty="0">
                <a:solidFill>
                  <a:schemeClr val="tx1"/>
                </a:solidFill>
                <a:latin typeface="+mn-lt"/>
                <a:ea typeface="+mn-ea"/>
                <a:cs typeface="+mn-cs"/>
              </a:rPr>
              <a:t>          as Unit,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@EndUserText.label: 'Nettobetrag'</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net_amount</a:t>
            </a:r>
            <a:r>
              <a:rPr lang="de-DE" sz="1200" kern="1200" dirty="0">
                <a:solidFill>
                  <a:schemeClr val="tx1"/>
                </a:solidFill>
                <a:latin typeface="+mn-lt"/>
                <a:ea typeface="+mn-ea"/>
                <a:cs typeface="+mn-cs"/>
              </a:rPr>
              <a:t>    as </a:t>
            </a:r>
            <a:r>
              <a:rPr lang="de-DE" sz="1200" kern="1200" dirty="0" err="1">
                <a:solidFill>
                  <a:schemeClr val="tx1"/>
                </a:solidFill>
                <a:latin typeface="+mn-lt"/>
                <a:ea typeface="+mn-ea"/>
                <a:cs typeface="+mn-cs"/>
              </a:rPr>
              <a:t>NetAmount</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@EndUserText.label: 'Währung'</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currency_code</a:t>
            </a:r>
            <a:r>
              <a:rPr lang="de-DE" sz="1200" kern="1200" dirty="0">
                <a:solidFill>
                  <a:schemeClr val="tx1"/>
                </a:solidFill>
                <a:latin typeface="+mn-lt"/>
                <a:ea typeface="+mn-ea"/>
                <a:cs typeface="+mn-cs"/>
              </a:rPr>
              <a:t> as </a:t>
            </a:r>
            <a:r>
              <a:rPr lang="de-DE" sz="1200" kern="1200" dirty="0" err="1">
                <a:solidFill>
                  <a:schemeClr val="tx1"/>
                </a:solidFill>
                <a:latin typeface="+mn-lt"/>
                <a:ea typeface="+mn-ea"/>
                <a:cs typeface="+mn-cs"/>
              </a:rPr>
              <a:t>CurrencyCode</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a:t>
            </a:r>
          </a:p>
          <a:p>
            <a:r>
              <a:rPr lang="de-DE" dirty="0"/>
              <a:t>Aktivieren und die Data Preview öffnen.</a:t>
            </a:r>
          </a:p>
          <a:p>
            <a:r>
              <a:rPr lang="de-DE" b="1" dirty="0"/>
              <a:t>Erläuterungen während der Demo</a:t>
            </a:r>
          </a:p>
          <a:p>
            <a:pPr lvl="0"/>
            <a:r>
              <a:rPr lang="de-DE" dirty="0"/>
              <a:t>Die View besitzt einen zusammengesetzten Schlüssel. </a:t>
            </a:r>
          </a:p>
          <a:p>
            <a:pPr lvl="0"/>
            <a:r>
              <a:rPr lang="de-DE" sz="1200" kern="1200" dirty="0" err="1">
                <a:solidFill>
                  <a:schemeClr val="tx1"/>
                </a:solidFill>
                <a:latin typeface="+mn-lt"/>
                <a:ea typeface="+mn-ea"/>
                <a:cs typeface="+mn-cs"/>
              </a:rPr>
              <a:t>OrderId</a:t>
            </a:r>
            <a:r>
              <a:rPr lang="de-DE" dirty="0"/>
              <a:t> allein wäre nicht eindeutig. </a:t>
            </a:r>
          </a:p>
          <a:p>
            <a:pPr lvl="0"/>
            <a:r>
              <a:rPr lang="de-DE" dirty="0"/>
              <a:t>Die Ergebnisebene ist eine Auftragsposition. </a:t>
            </a:r>
          </a:p>
          <a:p>
            <a:pPr lvl="0"/>
            <a:r>
              <a:rPr lang="de-DE" dirty="0"/>
              <a:t>Ein Auftrag erscheint deshalb bei mehreren Positionen mehrfach. </a:t>
            </a:r>
          </a:p>
          <a:p>
            <a:pPr lvl="0"/>
            <a:r>
              <a:rPr lang="de-DE" dirty="0"/>
              <a:t>Die Produktnummer ist vorhanden, aber noch keine Produktbezeichnung. </a:t>
            </a:r>
          </a:p>
          <a:p>
            <a:r>
              <a:rPr lang="de-DE" b="1" dirty="0"/>
              <a:t>Fachlicher Hinweis</a:t>
            </a:r>
          </a:p>
          <a:p>
            <a:r>
              <a:rPr lang="de-DE" dirty="0"/>
              <a:t>Für Mengen- und Betragsfelder werden später noch semantische Annotationen benötigt, beispielsweise die Zuordnung von Mengeneinheit und Währung. Diese Annotationen werden im Rahmen der erweiterten CDS-Semantik behandelt. Im aktuellen Abschnitt konzentrieren wir uns auf die Beziehungen.</a:t>
            </a:r>
          </a:p>
          <a:p>
            <a:br>
              <a:rPr lang="de-DE" dirty="0"/>
            </a:br>
            <a:endParaRPr lang="de-DE" dirty="0"/>
          </a:p>
          <a:p>
            <a:r>
              <a:rPr lang="de-DE" b="1" dirty="0"/>
              <a:t>4. Produktassoziation ergänzen – ca. 4 Minuten</a:t>
            </a:r>
          </a:p>
          <a:p>
            <a:r>
              <a:rPr lang="de-DE" dirty="0"/>
              <a:t>Hinter der Datenquelle wird die Assoziation definiert:</a:t>
            </a:r>
          </a:p>
          <a:p>
            <a:pPr rtl="0"/>
            <a:r>
              <a:rPr lang="de-DE" sz="1200" kern="1200" dirty="0" err="1">
                <a:solidFill>
                  <a:schemeClr val="tx1"/>
                </a:solidFill>
                <a:latin typeface="+mn-lt"/>
                <a:ea typeface="+mn-ea"/>
                <a:cs typeface="+mn-cs"/>
              </a:rPr>
              <a:t>define</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view</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entity</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ZI_CDSOrderItem</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as </a:t>
            </a:r>
            <a:r>
              <a:rPr lang="de-DE" sz="1200" kern="1200" dirty="0" err="1">
                <a:solidFill>
                  <a:schemeClr val="tx1"/>
                </a:solidFill>
                <a:latin typeface="+mn-lt"/>
                <a:ea typeface="+mn-ea"/>
                <a:cs typeface="+mn-cs"/>
              </a:rPr>
              <a:t>select</a:t>
            </a:r>
            <a:r>
              <a:rPr lang="de-DE" sz="1200" kern="1200" dirty="0">
                <a:solidFill>
                  <a:schemeClr val="tx1"/>
                </a:solidFill>
                <a:latin typeface="+mn-lt"/>
                <a:ea typeface="+mn-ea"/>
                <a:cs typeface="+mn-cs"/>
              </a:rPr>
              <a:t> from </a:t>
            </a:r>
            <a:r>
              <a:rPr lang="de-DE" sz="1200" kern="1200" dirty="0" err="1">
                <a:solidFill>
                  <a:schemeClr val="tx1"/>
                </a:solidFill>
                <a:latin typeface="+mn-lt"/>
                <a:ea typeface="+mn-ea"/>
                <a:cs typeface="+mn-cs"/>
              </a:rPr>
              <a:t>zcds_order_item</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association</a:t>
            </a:r>
            <a:r>
              <a:rPr lang="de-DE" sz="1200" kern="1200" dirty="0">
                <a:solidFill>
                  <a:schemeClr val="tx1"/>
                </a:solidFill>
                <a:latin typeface="+mn-lt"/>
                <a:ea typeface="+mn-ea"/>
                <a:cs typeface="+mn-cs"/>
              </a:rPr>
              <a:t> [0..1] to </a:t>
            </a:r>
            <a:r>
              <a:rPr lang="de-DE" sz="1200" kern="1200" dirty="0" err="1">
                <a:solidFill>
                  <a:schemeClr val="tx1"/>
                </a:solidFill>
                <a:latin typeface="+mn-lt"/>
                <a:ea typeface="+mn-ea"/>
                <a:cs typeface="+mn-cs"/>
              </a:rPr>
              <a:t>ZI_CDSProduct</a:t>
            </a:r>
            <a:r>
              <a:rPr lang="de-DE" sz="1200" kern="1200" dirty="0">
                <a:solidFill>
                  <a:schemeClr val="tx1"/>
                </a:solidFill>
                <a:latin typeface="+mn-lt"/>
                <a:ea typeface="+mn-ea"/>
                <a:cs typeface="+mn-cs"/>
              </a:rPr>
              <a:t> as _</a:t>
            </a:r>
            <a:r>
              <a:rPr lang="de-DE" sz="1200" kern="1200" dirty="0" err="1">
                <a:solidFill>
                  <a:schemeClr val="tx1"/>
                </a:solidFill>
                <a:latin typeface="+mn-lt"/>
                <a:ea typeface="+mn-ea"/>
                <a:cs typeface="+mn-cs"/>
              </a:rPr>
              <a:t>Product</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on $</a:t>
            </a:r>
            <a:r>
              <a:rPr lang="de-DE" sz="1200" kern="1200" dirty="0" err="1">
                <a:solidFill>
                  <a:schemeClr val="tx1"/>
                </a:solidFill>
                <a:latin typeface="+mn-lt"/>
                <a:ea typeface="+mn-ea"/>
                <a:cs typeface="+mn-cs"/>
              </a:rPr>
              <a:t>projection.ProductId</a:t>
            </a:r>
            <a:r>
              <a:rPr lang="de-DE" sz="1200" kern="1200" dirty="0">
                <a:solidFill>
                  <a:schemeClr val="tx1"/>
                </a:solidFill>
                <a:latin typeface="+mn-lt"/>
                <a:ea typeface="+mn-ea"/>
                <a:cs typeface="+mn-cs"/>
              </a:rPr>
              <a:t> = _</a:t>
            </a:r>
            <a:r>
              <a:rPr lang="de-DE" sz="1200" kern="1200" dirty="0" err="1">
                <a:solidFill>
                  <a:schemeClr val="tx1"/>
                </a:solidFill>
                <a:latin typeface="+mn-lt"/>
                <a:ea typeface="+mn-ea"/>
                <a:cs typeface="+mn-cs"/>
              </a:rPr>
              <a:t>Product.ProductId</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 Elemente</a:t>
            </a:r>
          </a:p>
          <a:p>
            <a:pPr rtl="0"/>
            <a:r>
              <a:rPr lang="de-DE" sz="1200" kern="1200" dirty="0">
                <a:solidFill>
                  <a:schemeClr val="tx1"/>
                </a:solidFill>
                <a:latin typeface="+mn-lt"/>
                <a:ea typeface="+mn-ea"/>
                <a:cs typeface="+mn-cs"/>
              </a:rPr>
              <a:t>}</a:t>
            </a:r>
          </a:p>
          <a:p>
            <a:r>
              <a:rPr lang="de-DE" dirty="0"/>
              <a:t>Anschließend nach </a:t>
            </a:r>
            <a:r>
              <a:rPr lang="de-DE" sz="1200" kern="1200" dirty="0" err="1">
                <a:solidFill>
                  <a:schemeClr val="tx1"/>
                </a:solidFill>
                <a:latin typeface="+mn-lt"/>
                <a:ea typeface="+mn-ea"/>
                <a:cs typeface="+mn-cs"/>
              </a:rPr>
              <a:t>ProductId</a:t>
            </a:r>
            <a:r>
              <a:rPr lang="de-DE" dirty="0"/>
              <a:t> ergänzen:</a:t>
            </a:r>
          </a:p>
          <a:p>
            <a:pPr rtl="0"/>
            <a:r>
              <a:rPr lang="de-DE" sz="1200" kern="1200" dirty="0">
                <a:solidFill>
                  <a:schemeClr val="tx1"/>
                </a:solidFill>
                <a:latin typeface="+mn-lt"/>
                <a:ea typeface="+mn-ea"/>
                <a:cs typeface="+mn-cs"/>
              </a:rPr>
              <a:t>      @EndUserText.label: 'Produktbezeichnung'</a:t>
            </a:r>
          </a:p>
          <a:p>
            <a:pPr rtl="0"/>
            <a:r>
              <a:rPr lang="de-DE" sz="1200" kern="1200" dirty="0">
                <a:solidFill>
                  <a:schemeClr val="tx1"/>
                </a:solidFill>
                <a:latin typeface="+mn-lt"/>
                <a:ea typeface="+mn-ea"/>
                <a:cs typeface="+mn-cs"/>
              </a:rPr>
              <a:t>      _</a:t>
            </a:r>
            <a:r>
              <a:rPr lang="de-DE" sz="1200" kern="1200" dirty="0" err="1">
                <a:solidFill>
                  <a:schemeClr val="tx1"/>
                </a:solidFill>
                <a:latin typeface="+mn-lt"/>
                <a:ea typeface="+mn-ea"/>
                <a:cs typeface="+mn-cs"/>
              </a:rPr>
              <a:t>Product.ProductName</a:t>
            </a:r>
            <a:r>
              <a:rPr lang="de-DE" sz="1200" kern="1200" dirty="0">
                <a:solidFill>
                  <a:schemeClr val="tx1"/>
                </a:solidFill>
                <a:latin typeface="+mn-lt"/>
                <a:ea typeface="+mn-ea"/>
                <a:cs typeface="+mn-cs"/>
              </a:rPr>
              <a:t> as </a:t>
            </a:r>
            <a:r>
              <a:rPr lang="de-DE" sz="1200" kern="1200" dirty="0" err="1">
                <a:solidFill>
                  <a:schemeClr val="tx1"/>
                </a:solidFill>
                <a:latin typeface="+mn-lt"/>
                <a:ea typeface="+mn-ea"/>
                <a:cs typeface="+mn-cs"/>
              </a:rPr>
              <a:t>ProductName</a:t>
            </a:r>
            <a:r>
              <a:rPr lang="de-DE" sz="1200" kern="1200" dirty="0">
                <a:solidFill>
                  <a:schemeClr val="tx1"/>
                </a:solidFill>
                <a:latin typeface="+mn-lt"/>
                <a:ea typeface="+mn-ea"/>
                <a:cs typeface="+mn-cs"/>
              </a:rPr>
              <a:t>,</a:t>
            </a:r>
          </a:p>
          <a:p>
            <a:r>
              <a:rPr lang="de-DE" dirty="0"/>
              <a:t>Am Ende der Projektion die Assoziation exponieren:</a:t>
            </a:r>
          </a:p>
          <a:p>
            <a:pPr rtl="0"/>
            <a:r>
              <a:rPr lang="de-DE" sz="1200" kern="1200" dirty="0">
                <a:solidFill>
                  <a:schemeClr val="tx1"/>
                </a:solidFill>
                <a:latin typeface="+mn-lt"/>
                <a:ea typeface="+mn-ea"/>
                <a:cs typeface="+mn-cs"/>
              </a:rPr>
              <a:t>      _</a:t>
            </a:r>
            <a:r>
              <a:rPr lang="de-DE" sz="1200" kern="1200" dirty="0" err="1">
                <a:solidFill>
                  <a:schemeClr val="tx1"/>
                </a:solidFill>
                <a:latin typeface="+mn-lt"/>
                <a:ea typeface="+mn-ea"/>
                <a:cs typeface="+mn-cs"/>
              </a:rPr>
              <a:t>Product</a:t>
            </a:r>
            <a:endParaRPr lang="de-DE" sz="1200" kern="1200" dirty="0">
              <a:solidFill>
                <a:schemeClr val="tx1"/>
              </a:solidFill>
              <a:latin typeface="+mn-lt"/>
              <a:ea typeface="+mn-ea"/>
              <a:cs typeface="+mn-cs"/>
            </a:endParaRPr>
          </a:p>
          <a:p>
            <a:r>
              <a:rPr lang="de-DE" dirty="0"/>
              <a:t>Relevanter Zwischenstand:</a:t>
            </a:r>
          </a:p>
          <a:p>
            <a:pPr rtl="0"/>
            <a:r>
              <a:rPr lang="de-DE" sz="1200" kern="1200" dirty="0">
                <a:solidFill>
                  <a:schemeClr val="tx1"/>
                </a:solidFill>
                <a:latin typeface="+mn-lt"/>
                <a:ea typeface="+mn-ea"/>
                <a:cs typeface="+mn-cs"/>
              </a:rPr>
              <a:t>@EndUserText.label: 'CDS Workshop: Auftragspositionen'</a:t>
            </a:r>
          </a:p>
          <a:p>
            <a:pPr rtl="0"/>
            <a:r>
              <a:rPr lang="de-DE" sz="1200" kern="1200" dirty="0">
                <a:solidFill>
                  <a:schemeClr val="tx1"/>
                </a:solidFill>
                <a:latin typeface="+mn-lt"/>
                <a:ea typeface="+mn-ea"/>
                <a:cs typeface="+mn-cs"/>
              </a:rPr>
              <a:t>@AccessControl.authorizationCheck: #NOT_REQUIRED</a:t>
            </a:r>
          </a:p>
          <a:p>
            <a:pPr rtl="0"/>
            <a:r>
              <a:rPr lang="de-DE" sz="1200" kern="1200" dirty="0" err="1">
                <a:solidFill>
                  <a:schemeClr val="tx1"/>
                </a:solidFill>
                <a:latin typeface="+mn-lt"/>
                <a:ea typeface="+mn-ea"/>
                <a:cs typeface="+mn-cs"/>
              </a:rPr>
              <a:t>define</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view</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entity</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ZI_CDSOrderItem</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as </a:t>
            </a:r>
            <a:r>
              <a:rPr lang="de-DE" sz="1200" kern="1200" dirty="0" err="1">
                <a:solidFill>
                  <a:schemeClr val="tx1"/>
                </a:solidFill>
                <a:latin typeface="+mn-lt"/>
                <a:ea typeface="+mn-ea"/>
                <a:cs typeface="+mn-cs"/>
              </a:rPr>
              <a:t>select</a:t>
            </a:r>
            <a:r>
              <a:rPr lang="de-DE" sz="1200" kern="1200" dirty="0">
                <a:solidFill>
                  <a:schemeClr val="tx1"/>
                </a:solidFill>
                <a:latin typeface="+mn-lt"/>
                <a:ea typeface="+mn-ea"/>
                <a:cs typeface="+mn-cs"/>
              </a:rPr>
              <a:t> from </a:t>
            </a:r>
            <a:r>
              <a:rPr lang="de-DE" sz="1200" kern="1200" dirty="0" err="1">
                <a:solidFill>
                  <a:schemeClr val="tx1"/>
                </a:solidFill>
                <a:latin typeface="+mn-lt"/>
                <a:ea typeface="+mn-ea"/>
                <a:cs typeface="+mn-cs"/>
              </a:rPr>
              <a:t>zcds_order_item</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association</a:t>
            </a:r>
            <a:r>
              <a:rPr lang="de-DE" sz="1200" kern="1200" dirty="0">
                <a:solidFill>
                  <a:schemeClr val="tx1"/>
                </a:solidFill>
                <a:latin typeface="+mn-lt"/>
                <a:ea typeface="+mn-ea"/>
                <a:cs typeface="+mn-cs"/>
              </a:rPr>
              <a:t> [0..1] to </a:t>
            </a:r>
            <a:r>
              <a:rPr lang="de-DE" sz="1200" kern="1200" dirty="0" err="1">
                <a:solidFill>
                  <a:schemeClr val="tx1"/>
                </a:solidFill>
                <a:latin typeface="+mn-lt"/>
                <a:ea typeface="+mn-ea"/>
                <a:cs typeface="+mn-cs"/>
              </a:rPr>
              <a:t>ZI_CDSProduct</a:t>
            </a:r>
            <a:r>
              <a:rPr lang="de-DE" sz="1200" kern="1200" dirty="0">
                <a:solidFill>
                  <a:schemeClr val="tx1"/>
                </a:solidFill>
                <a:latin typeface="+mn-lt"/>
                <a:ea typeface="+mn-ea"/>
                <a:cs typeface="+mn-cs"/>
              </a:rPr>
              <a:t> as _</a:t>
            </a:r>
            <a:r>
              <a:rPr lang="de-DE" sz="1200" kern="1200" dirty="0" err="1">
                <a:solidFill>
                  <a:schemeClr val="tx1"/>
                </a:solidFill>
                <a:latin typeface="+mn-lt"/>
                <a:ea typeface="+mn-ea"/>
                <a:cs typeface="+mn-cs"/>
              </a:rPr>
              <a:t>Product</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on $</a:t>
            </a:r>
            <a:r>
              <a:rPr lang="de-DE" sz="1200" kern="1200" dirty="0" err="1">
                <a:solidFill>
                  <a:schemeClr val="tx1"/>
                </a:solidFill>
                <a:latin typeface="+mn-lt"/>
                <a:ea typeface="+mn-ea"/>
                <a:cs typeface="+mn-cs"/>
              </a:rPr>
              <a:t>projection.ProductId</a:t>
            </a:r>
            <a:r>
              <a:rPr lang="de-DE" sz="1200" kern="1200" dirty="0">
                <a:solidFill>
                  <a:schemeClr val="tx1"/>
                </a:solidFill>
                <a:latin typeface="+mn-lt"/>
                <a:ea typeface="+mn-ea"/>
                <a:cs typeface="+mn-cs"/>
              </a:rPr>
              <a:t> = _</a:t>
            </a:r>
            <a:r>
              <a:rPr lang="de-DE" sz="1200" kern="1200" dirty="0" err="1">
                <a:solidFill>
                  <a:schemeClr val="tx1"/>
                </a:solidFill>
                <a:latin typeface="+mn-lt"/>
                <a:ea typeface="+mn-ea"/>
                <a:cs typeface="+mn-cs"/>
              </a:rPr>
              <a:t>Product.ProductId</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@EndUserText.label: 'Auftragsnummer'</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key</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order_id</a:t>
            </a:r>
            <a:r>
              <a:rPr lang="de-DE" sz="1200" kern="1200" dirty="0">
                <a:solidFill>
                  <a:schemeClr val="tx1"/>
                </a:solidFill>
                <a:latin typeface="+mn-lt"/>
                <a:ea typeface="+mn-ea"/>
                <a:cs typeface="+mn-cs"/>
              </a:rPr>
              <a:t>            as </a:t>
            </a:r>
            <a:r>
              <a:rPr lang="de-DE" sz="1200" kern="1200" dirty="0" err="1">
                <a:solidFill>
                  <a:schemeClr val="tx1"/>
                </a:solidFill>
                <a:latin typeface="+mn-lt"/>
                <a:ea typeface="+mn-ea"/>
                <a:cs typeface="+mn-cs"/>
              </a:rPr>
              <a:t>OrderId</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@EndUserText.label: 'Positionsnummer'</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key</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item_number</a:t>
            </a:r>
            <a:r>
              <a:rPr lang="de-DE" sz="1200" kern="1200" dirty="0">
                <a:solidFill>
                  <a:schemeClr val="tx1"/>
                </a:solidFill>
                <a:latin typeface="+mn-lt"/>
                <a:ea typeface="+mn-ea"/>
                <a:cs typeface="+mn-cs"/>
              </a:rPr>
              <a:t>         as </a:t>
            </a:r>
            <a:r>
              <a:rPr lang="de-DE" sz="1200" kern="1200" dirty="0" err="1">
                <a:solidFill>
                  <a:schemeClr val="tx1"/>
                </a:solidFill>
                <a:latin typeface="+mn-lt"/>
                <a:ea typeface="+mn-ea"/>
                <a:cs typeface="+mn-cs"/>
              </a:rPr>
              <a:t>ItemNumber</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@EndUserText.label: 'Produktnummer'</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product_id</a:t>
            </a:r>
            <a:r>
              <a:rPr lang="de-DE" sz="1200" kern="1200" dirty="0">
                <a:solidFill>
                  <a:schemeClr val="tx1"/>
                </a:solidFill>
                <a:latin typeface="+mn-lt"/>
                <a:ea typeface="+mn-ea"/>
                <a:cs typeface="+mn-cs"/>
              </a:rPr>
              <a:t>          as </a:t>
            </a:r>
            <a:r>
              <a:rPr lang="de-DE" sz="1200" kern="1200" dirty="0" err="1">
                <a:solidFill>
                  <a:schemeClr val="tx1"/>
                </a:solidFill>
                <a:latin typeface="+mn-lt"/>
                <a:ea typeface="+mn-ea"/>
                <a:cs typeface="+mn-cs"/>
              </a:rPr>
              <a:t>ProductId</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@EndUserText.label: 'Produktbezeichnung'</a:t>
            </a:r>
          </a:p>
          <a:p>
            <a:pPr rtl="0"/>
            <a:r>
              <a:rPr lang="de-DE" sz="1200" kern="1200" dirty="0">
                <a:solidFill>
                  <a:schemeClr val="tx1"/>
                </a:solidFill>
                <a:latin typeface="+mn-lt"/>
                <a:ea typeface="+mn-ea"/>
                <a:cs typeface="+mn-cs"/>
              </a:rPr>
              <a:t>      _</a:t>
            </a:r>
            <a:r>
              <a:rPr lang="de-DE" sz="1200" kern="1200" dirty="0" err="1">
                <a:solidFill>
                  <a:schemeClr val="tx1"/>
                </a:solidFill>
                <a:latin typeface="+mn-lt"/>
                <a:ea typeface="+mn-ea"/>
                <a:cs typeface="+mn-cs"/>
              </a:rPr>
              <a:t>Product.ProductName</a:t>
            </a:r>
            <a:r>
              <a:rPr lang="de-DE" sz="1200" kern="1200" dirty="0">
                <a:solidFill>
                  <a:schemeClr val="tx1"/>
                </a:solidFill>
                <a:latin typeface="+mn-lt"/>
                <a:ea typeface="+mn-ea"/>
                <a:cs typeface="+mn-cs"/>
              </a:rPr>
              <a:t> as </a:t>
            </a:r>
            <a:r>
              <a:rPr lang="de-DE" sz="1200" kern="1200" dirty="0" err="1">
                <a:solidFill>
                  <a:schemeClr val="tx1"/>
                </a:solidFill>
                <a:latin typeface="+mn-lt"/>
                <a:ea typeface="+mn-ea"/>
                <a:cs typeface="+mn-cs"/>
              </a:rPr>
              <a:t>ProductName</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@EndUserText.label: 'Menge'</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quantity</a:t>
            </a:r>
            <a:r>
              <a:rPr lang="de-DE" sz="1200" kern="1200" dirty="0">
                <a:solidFill>
                  <a:schemeClr val="tx1"/>
                </a:solidFill>
                <a:latin typeface="+mn-lt"/>
                <a:ea typeface="+mn-ea"/>
                <a:cs typeface="+mn-cs"/>
              </a:rPr>
              <a:t>            as </a:t>
            </a:r>
            <a:r>
              <a:rPr lang="de-DE" sz="1200" kern="1200" dirty="0" err="1">
                <a:solidFill>
                  <a:schemeClr val="tx1"/>
                </a:solidFill>
                <a:latin typeface="+mn-lt"/>
                <a:ea typeface="+mn-ea"/>
                <a:cs typeface="+mn-cs"/>
              </a:rPr>
              <a:t>Quantity</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@EndUserText.label: 'Mengeneinheit'</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unit</a:t>
            </a:r>
            <a:r>
              <a:rPr lang="de-DE" sz="1200" kern="1200" dirty="0">
                <a:solidFill>
                  <a:schemeClr val="tx1"/>
                </a:solidFill>
                <a:latin typeface="+mn-lt"/>
                <a:ea typeface="+mn-ea"/>
                <a:cs typeface="+mn-cs"/>
              </a:rPr>
              <a:t>                as Unit,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@EndUserText.label: 'Nettobetrag'</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net_amount</a:t>
            </a:r>
            <a:r>
              <a:rPr lang="de-DE" sz="1200" kern="1200" dirty="0">
                <a:solidFill>
                  <a:schemeClr val="tx1"/>
                </a:solidFill>
                <a:latin typeface="+mn-lt"/>
                <a:ea typeface="+mn-ea"/>
                <a:cs typeface="+mn-cs"/>
              </a:rPr>
              <a:t>          as </a:t>
            </a:r>
            <a:r>
              <a:rPr lang="de-DE" sz="1200" kern="1200" dirty="0" err="1">
                <a:solidFill>
                  <a:schemeClr val="tx1"/>
                </a:solidFill>
                <a:latin typeface="+mn-lt"/>
                <a:ea typeface="+mn-ea"/>
                <a:cs typeface="+mn-cs"/>
              </a:rPr>
              <a:t>NetAmount</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@EndUserText.label: 'Währung'</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currency_code</a:t>
            </a:r>
            <a:r>
              <a:rPr lang="de-DE" sz="1200" kern="1200" dirty="0">
                <a:solidFill>
                  <a:schemeClr val="tx1"/>
                </a:solidFill>
                <a:latin typeface="+mn-lt"/>
                <a:ea typeface="+mn-ea"/>
                <a:cs typeface="+mn-cs"/>
              </a:rPr>
              <a:t>       as </a:t>
            </a:r>
            <a:r>
              <a:rPr lang="de-DE" sz="1200" kern="1200" dirty="0" err="1">
                <a:solidFill>
                  <a:schemeClr val="tx1"/>
                </a:solidFill>
                <a:latin typeface="+mn-lt"/>
                <a:ea typeface="+mn-ea"/>
                <a:cs typeface="+mn-cs"/>
              </a:rPr>
              <a:t>CurrencyCode</a:t>
            </a:r>
            <a:r>
              <a:rPr lang="de-DE" sz="1200" kern="1200" dirty="0">
                <a:solidFill>
                  <a:schemeClr val="tx1"/>
                </a:solidFill>
                <a:latin typeface="+mn-lt"/>
                <a:ea typeface="+mn-ea"/>
                <a:cs typeface="+mn-cs"/>
              </a:rPr>
              <a: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_</a:t>
            </a:r>
            <a:r>
              <a:rPr lang="de-DE" sz="1200" kern="1200" dirty="0" err="1">
                <a:solidFill>
                  <a:schemeClr val="tx1"/>
                </a:solidFill>
                <a:latin typeface="+mn-lt"/>
                <a:ea typeface="+mn-ea"/>
                <a:cs typeface="+mn-cs"/>
              </a:rPr>
              <a:t>Product</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a:t>
            </a:r>
          </a:p>
          <a:p>
            <a:r>
              <a:rPr lang="de-DE" dirty="0"/>
              <a:t>Aktivieren.</a:t>
            </a:r>
          </a:p>
          <a:p>
            <a:r>
              <a:rPr lang="de-DE" b="1" dirty="0"/>
              <a:t>Erläuterungen während der Demo</a:t>
            </a:r>
          </a:p>
          <a:p>
            <a:pPr lvl="0"/>
            <a:r>
              <a:rPr lang="de-DE" dirty="0"/>
              <a:t>Position → Produkt ist eine To-</a:t>
            </a:r>
            <a:r>
              <a:rPr lang="de-DE" dirty="0" err="1"/>
              <a:t>One</a:t>
            </a:r>
            <a:r>
              <a:rPr lang="de-DE" dirty="0"/>
              <a:t>-Beziehung. </a:t>
            </a:r>
          </a:p>
          <a:p>
            <a:pPr lvl="0"/>
            <a:r>
              <a:rPr lang="de-DE" dirty="0"/>
              <a:t>Eine Produktnummer kann fehlen oder ungültig sein; deshalb verwenden wir </a:t>
            </a:r>
            <a:r>
              <a:rPr lang="de-DE" sz="1200" kern="1200" dirty="0">
                <a:solidFill>
                  <a:schemeClr val="tx1"/>
                </a:solidFill>
                <a:latin typeface="+mn-lt"/>
                <a:ea typeface="+mn-ea"/>
                <a:cs typeface="+mn-cs"/>
              </a:rPr>
              <a:t>[0..1]</a:t>
            </a:r>
            <a:r>
              <a:rPr lang="de-DE" dirty="0"/>
              <a:t>. </a:t>
            </a:r>
          </a:p>
          <a:p>
            <a:pPr lvl="0"/>
            <a:r>
              <a:rPr lang="de-DE" dirty="0"/>
              <a:t>Der Produktname lässt sich als einzelner Wert in die Position aufnehmen. </a:t>
            </a:r>
          </a:p>
          <a:p>
            <a:pPr lvl="0"/>
            <a:r>
              <a:rPr lang="de-DE" sz="1200" kern="1200" dirty="0">
                <a:solidFill>
                  <a:schemeClr val="tx1"/>
                </a:solidFill>
                <a:latin typeface="+mn-lt"/>
                <a:ea typeface="+mn-ea"/>
                <a:cs typeface="+mn-cs"/>
              </a:rPr>
              <a:t>_</a:t>
            </a:r>
            <a:r>
              <a:rPr lang="de-DE" sz="1200" kern="1200" dirty="0" err="1">
                <a:solidFill>
                  <a:schemeClr val="tx1"/>
                </a:solidFill>
                <a:latin typeface="+mn-lt"/>
                <a:ea typeface="+mn-ea"/>
                <a:cs typeface="+mn-cs"/>
              </a:rPr>
              <a:t>Product</a:t>
            </a:r>
            <a:r>
              <a:rPr lang="de-DE" dirty="0"/>
              <a:t> wird außerdem für weitere Verbraucher exponiert. </a:t>
            </a:r>
          </a:p>
          <a:p>
            <a:pPr lvl="0"/>
            <a:r>
              <a:rPr lang="de-DE" dirty="0"/>
              <a:t>Die Position bleibt auch bei fehlendem Produkt erhalten; das Zielelement bleibt dann leer. </a:t>
            </a:r>
          </a:p>
          <a:p>
            <a:br>
              <a:rPr lang="de-DE" dirty="0"/>
            </a:br>
            <a:endParaRPr lang="de-DE" dirty="0"/>
          </a:p>
          <a:p>
            <a:r>
              <a:rPr lang="de-DE" b="1" dirty="0"/>
              <a:t>5. Beziehung von der Position zum Auftrag ergänzen – ca. 3 Minuten</a:t>
            </a:r>
          </a:p>
          <a:p>
            <a:r>
              <a:rPr lang="de-DE" dirty="0"/>
              <a:t>Zusätzlich zur Produktassoziation definieren:</a:t>
            </a:r>
          </a:p>
          <a:p>
            <a:pPr rtl="0"/>
            <a:r>
              <a:rPr lang="de-DE" sz="1200" kern="1200" dirty="0" err="1">
                <a:solidFill>
                  <a:schemeClr val="tx1"/>
                </a:solidFill>
                <a:latin typeface="+mn-lt"/>
                <a:ea typeface="+mn-ea"/>
                <a:cs typeface="+mn-cs"/>
              </a:rPr>
              <a:t>association</a:t>
            </a:r>
            <a:r>
              <a:rPr lang="de-DE" sz="1200" kern="1200" dirty="0">
                <a:solidFill>
                  <a:schemeClr val="tx1"/>
                </a:solidFill>
                <a:latin typeface="+mn-lt"/>
                <a:ea typeface="+mn-ea"/>
                <a:cs typeface="+mn-cs"/>
              </a:rPr>
              <a:t> [1..1] to </a:t>
            </a:r>
            <a:r>
              <a:rPr lang="de-DE" sz="1200" kern="1200" dirty="0" err="1">
                <a:solidFill>
                  <a:schemeClr val="tx1"/>
                </a:solidFill>
                <a:latin typeface="+mn-lt"/>
                <a:ea typeface="+mn-ea"/>
                <a:cs typeface="+mn-cs"/>
              </a:rPr>
              <a:t>ZI_CDSOrder</a:t>
            </a:r>
            <a:r>
              <a:rPr lang="de-DE" sz="1200" kern="1200" dirty="0">
                <a:solidFill>
                  <a:schemeClr val="tx1"/>
                </a:solidFill>
                <a:latin typeface="+mn-lt"/>
                <a:ea typeface="+mn-ea"/>
                <a:cs typeface="+mn-cs"/>
              </a:rPr>
              <a:t> as _Order</a:t>
            </a:r>
          </a:p>
          <a:p>
            <a:pPr rtl="0"/>
            <a:r>
              <a:rPr lang="de-DE" sz="1200" kern="1200" dirty="0">
                <a:solidFill>
                  <a:schemeClr val="tx1"/>
                </a:solidFill>
                <a:latin typeface="+mn-lt"/>
                <a:ea typeface="+mn-ea"/>
                <a:cs typeface="+mn-cs"/>
              </a:rPr>
              <a:t>  on $</a:t>
            </a:r>
            <a:r>
              <a:rPr lang="de-DE" sz="1200" kern="1200" dirty="0" err="1">
                <a:solidFill>
                  <a:schemeClr val="tx1"/>
                </a:solidFill>
                <a:latin typeface="+mn-lt"/>
                <a:ea typeface="+mn-ea"/>
                <a:cs typeface="+mn-cs"/>
              </a:rPr>
              <a:t>projection.OrderId</a:t>
            </a:r>
            <a:r>
              <a:rPr lang="de-DE" sz="1200" kern="1200" dirty="0">
                <a:solidFill>
                  <a:schemeClr val="tx1"/>
                </a:solidFill>
                <a:latin typeface="+mn-lt"/>
                <a:ea typeface="+mn-ea"/>
                <a:cs typeface="+mn-cs"/>
              </a:rPr>
              <a:t> = _</a:t>
            </a:r>
            <a:r>
              <a:rPr lang="de-DE" sz="1200" kern="1200" dirty="0" err="1">
                <a:solidFill>
                  <a:schemeClr val="tx1"/>
                </a:solidFill>
                <a:latin typeface="+mn-lt"/>
                <a:ea typeface="+mn-ea"/>
                <a:cs typeface="+mn-cs"/>
              </a:rPr>
              <a:t>Order.OrderId</a:t>
            </a:r>
            <a:endParaRPr lang="de-DE" sz="1200" kern="1200" dirty="0">
              <a:solidFill>
                <a:schemeClr val="tx1"/>
              </a:solidFill>
              <a:latin typeface="+mn-lt"/>
              <a:ea typeface="+mn-ea"/>
              <a:cs typeface="+mn-cs"/>
            </a:endParaRPr>
          </a:p>
          <a:p>
            <a:r>
              <a:rPr lang="de-DE" dirty="0"/>
              <a:t>Der Kopf der View lautet damit:</a:t>
            </a:r>
          </a:p>
          <a:p>
            <a:pPr rtl="0"/>
            <a:r>
              <a:rPr lang="de-DE" sz="1200" kern="1200" dirty="0" err="1">
                <a:solidFill>
                  <a:schemeClr val="tx1"/>
                </a:solidFill>
                <a:latin typeface="+mn-lt"/>
                <a:ea typeface="+mn-ea"/>
                <a:cs typeface="+mn-cs"/>
              </a:rPr>
              <a:t>define</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view</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entity</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ZI_CDSOrderItem</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as </a:t>
            </a:r>
            <a:r>
              <a:rPr lang="de-DE" sz="1200" kern="1200" dirty="0" err="1">
                <a:solidFill>
                  <a:schemeClr val="tx1"/>
                </a:solidFill>
                <a:latin typeface="+mn-lt"/>
                <a:ea typeface="+mn-ea"/>
                <a:cs typeface="+mn-cs"/>
              </a:rPr>
              <a:t>select</a:t>
            </a:r>
            <a:r>
              <a:rPr lang="de-DE" sz="1200" kern="1200" dirty="0">
                <a:solidFill>
                  <a:schemeClr val="tx1"/>
                </a:solidFill>
                <a:latin typeface="+mn-lt"/>
                <a:ea typeface="+mn-ea"/>
                <a:cs typeface="+mn-cs"/>
              </a:rPr>
              <a:t> from </a:t>
            </a:r>
            <a:r>
              <a:rPr lang="de-DE" sz="1200" kern="1200" dirty="0" err="1">
                <a:solidFill>
                  <a:schemeClr val="tx1"/>
                </a:solidFill>
                <a:latin typeface="+mn-lt"/>
                <a:ea typeface="+mn-ea"/>
                <a:cs typeface="+mn-cs"/>
              </a:rPr>
              <a:t>zcds_order_item</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association</a:t>
            </a:r>
            <a:r>
              <a:rPr lang="de-DE" sz="1200" kern="1200" dirty="0">
                <a:solidFill>
                  <a:schemeClr val="tx1"/>
                </a:solidFill>
                <a:latin typeface="+mn-lt"/>
                <a:ea typeface="+mn-ea"/>
                <a:cs typeface="+mn-cs"/>
              </a:rPr>
              <a:t> [0..1] to </a:t>
            </a:r>
            <a:r>
              <a:rPr lang="de-DE" sz="1200" kern="1200" dirty="0" err="1">
                <a:solidFill>
                  <a:schemeClr val="tx1"/>
                </a:solidFill>
                <a:latin typeface="+mn-lt"/>
                <a:ea typeface="+mn-ea"/>
                <a:cs typeface="+mn-cs"/>
              </a:rPr>
              <a:t>ZI_CDSProduct</a:t>
            </a:r>
            <a:r>
              <a:rPr lang="de-DE" sz="1200" kern="1200" dirty="0">
                <a:solidFill>
                  <a:schemeClr val="tx1"/>
                </a:solidFill>
                <a:latin typeface="+mn-lt"/>
                <a:ea typeface="+mn-ea"/>
                <a:cs typeface="+mn-cs"/>
              </a:rPr>
              <a:t> as _</a:t>
            </a:r>
            <a:r>
              <a:rPr lang="de-DE" sz="1200" kern="1200" dirty="0" err="1">
                <a:solidFill>
                  <a:schemeClr val="tx1"/>
                </a:solidFill>
                <a:latin typeface="+mn-lt"/>
                <a:ea typeface="+mn-ea"/>
                <a:cs typeface="+mn-cs"/>
              </a:rPr>
              <a:t>Product</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on $</a:t>
            </a:r>
            <a:r>
              <a:rPr lang="de-DE" sz="1200" kern="1200" dirty="0" err="1">
                <a:solidFill>
                  <a:schemeClr val="tx1"/>
                </a:solidFill>
                <a:latin typeface="+mn-lt"/>
                <a:ea typeface="+mn-ea"/>
                <a:cs typeface="+mn-cs"/>
              </a:rPr>
              <a:t>projection.ProductId</a:t>
            </a:r>
            <a:r>
              <a:rPr lang="de-DE" sz="1200" kern="1200" dirty="0">
                <a:solidFill>
                  <a:schemeClr val="tx1"/>
                </a:solidFill>
                <a:latin typeface="+mn-lt"/>
                <a:ea typeface="+mn-ea"/>
                <a:cs typeface="+mn-cs"/>
              </a:rPr>
              <a:t> = _</a:t>
            </a:r>
            <a:r>
              <a:rPr lang="de-DE" sz="1200" kern="1200" dirty="0" err="1">
                <a:solidFill>
                  <a:schemeClr val="tx1"/>
                </a:solidFill>
                <a:latin typeface="+mn-lt"/>
                <a:ea typeface="+mn-ea"/>
                <a:cs typeface="+mn-cs"/>
              </a:rPr>
              <a:t>Product.ProductId</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association</a:t>
            </a:r>
            <a:r>
              <a:rPr lang="de-DE" sz="1200" kern="1200" dirty="0">
                <a:solidFill>
                  <a:schemeClr val="tx1"/>
                </a:solidFill>
                <a:latin typeface="+mn-lt"/>
                <a:ea typeface="+mn-ea"/>
                <a:cs typeface="+mn-cs"/>
              </a:rPr>
              <a:t> [1..1] to </a:t>
            </a:r>
            <a:r>
              <a:rPr lang="de-DE" sz="1200" kern="1200" dirty="0" err="1">
                <a:solidFill>
                  <a:schemeClr val="tx1"/>
                </a:solidFill>
                <a:latin typeface="+mn-lt"/>
                <a:ea typeface="+mn-ea"/>
                <a:cs typeface="+mn-cs"/>
              </a:rPr>
              <a:t>ZI_CDSOrder</a:t>
            </a:r>
            <a:r>
              <a:rPr lang="de-DE" sz="1200" kern="1200" dirty="0">
                <a:solidFill>
                  <a:schemeClr val="tx1"/>
                </a:solidFill>
                <a:latin typeface="+mn-lt"/>
                <a:ea typeface="+mn-ea"/>
                <a:cs typeface="+mn-cs"/>
              </a:rPr>
              <a:t> as _Order</a:t>
            </a:r>
          </a:p>
          <a:p>
            <a:pPr rtl="0"/>
            <a:r>
              <a:rPr lang="de-DE" sz="1200" kern="1200" dirty="0">
                <a:solidFill>
                  <a:schemeClr val="tx1"/>
                </a:solidFill>
                <a:latin typeface="+mn-lt"/>
                <a:ea typeface="+mn-ea"/>
                <a:cs typeface="+mn-cs"/>
              </a:rPr>
              <a:t>    on $</a:t>
            </a:r>
            <a:r>
              <a:rPr lang="de-DE" sz="1200" kern="1200" dirty="0" err="1">
                <a:solidFill>
                  <a:schemeClr val="tx1"/>
                </a:solidFill>
                <a:latin typeface="+mn-lt"/>
                <a:ea typeface="+mn-ea"/>
                <a:cs typeface="+mn-cs"/>
              </a:rPr>
              <a:t>projection.OrderId</a:t>
            </a:r>
            <a:r>
              <a:rPr lang="de-DE" sz="1200" kern="1200" dirty="0">
                <a:solidFill>
                  <a:schemeClr val="tx1"/>
                </a:solidFill>
                <a:latin typeface="+mn-lt"/>
                <a:ea typeface="+mn-ea"/>
                <a:cs typeface="+mn-cs"/>
              </a:rPr>
              <a:t> = _</a:t>
            </a:r>
            <a:r>
              <a:rPr lang="de-DE" sz="1200" kern="1200" dirty="0" err="1">
                <a:solidFill>
                  <a:schemeClr val="tx1"/>
                </a:solidFill>
                <a:latin typeface="+mn-lt"/>
                <a:ea typeface="+mn-ea"/>
                <a:cs typeface="+mn-cs"/>
              </a:rPr>
              <a:t>Order.OrderId</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 Elemente</a:t>
            </a:r>
          </a:p>
          <a:p>
            <a:pPr rtl="0"/>
            <a:r>
              <a:rPr lang="de-DE" sz="1200" kern="1200" dirty="0">
                <a:solidFill>
                  <a:schemeClr val="tx1"/>
                </a:solidFill>
                <a:latin typeface="+mn-lt"/>
                <a:ea typeface="+mn-ea"/>
                <a:cs typeface="+mn-cs"/>
              </a:rPr>
              <a:t>}</a:t>
            </a:r>
          </a:p>
          <a:p>
            <a:r>
              <a:rPr lang="de-DE" dirty="0"/>
              <a:t>Am Ende der Projektion:</a:t>
            </a:r>
          </a:p>
          <a:p>
            <a:pPr rtl="0"/>
            <a:r>
              <a:rPr lang="de-DE" sz="1200" kern="1200" dirty="0">
                <a:solidFill>
                  <a:schemeClr val="tx1"/>
                </a:solidFill>
                <a:latin typeface="+mn-lt"/>
                <a:ea typeface="+mn-ea"/>
                <a:cs typeface="+mn-cs"/>
              </a:rPr>
              <a:t>      _</a:t>
            </a:r>
            <a:r>
              <a:rPr lang="de-DE" sz="1200" kern="1200" dirty="0" err="1">
                <a:solidFill>
                  <a:schemeClr val="tx1"/>
                </a:solidFill>
                <a:latin typeface="+mn-lt"/>
                <a:ea typeface="+mn-ea"/>
                <a:cs typeface="+mn-cs"/>
              </a:rPr>
              <a:t>Product</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_Order</a:t>
            </a:r>
          </a:p>
          <a:p>
            <a:r>
              <a:rPr lang="de-DE" b="1" dirty="0"/>
              <a:t>Erläuterungen während der Demo</a:t>
            </a:r>
          </a:p>
          <a:p>
            <a:pPr lvl="0"/>
            <a:r>
              <a:rPr lang="de-DE" dirty="0"/>
              <a:t>Jede Position soll genau zu einem Auftrag gehören. </a:t>
            </a:r>
          </a:p>
          <a:p>
            <a:pPr lvl="0"/>
            <a:r>
              <a:rPr lang="de-DE" dirty="0"/>
              <a:t>Deshalb wird die fachliche Kardinalität </a:t>
            </a:r>
            <a:r>
              <a:rPr lang="de-DE" sz="1200" kern="1200" dirty="0">
                <a:solidFill>
                  <a:schemeClr val="tx1"/>
                </a:solidFill>
                <a:latin typeface="+mn-lt"/>
                <a:ea typeface="+mn-ea"/>
                <a:cs typeface="+mn-cs"/>
              </a:rPr>
              <a:t>[1..1]</a:t>
            </a:r>
            <a:r>
              <a:rPr lang="de-DE" dirty="0"/>
              <a:t> verwendet. </a:t>
            </a:r>
          </a:p>
          <a:p>
            <a:pPr lvl="0"/>
            <a:r>
              <a:rPr lang="de-DE" dirty="0"/>
              <a:t>Die Kardinalität prüft das Vorhandensein des Auftrags nicht automatisch. </a:t>
            </a:r>
          </a:p>
          <a:p>
            <a:pPr lvl="0"/>
            <a:r>
              <a:rPr lang="de-DE" dirty="0"/>
              <a:t>Durch </a:t>
            </a:r>
            <a:r>
              <a:rPr lang="de-DE" sz="1200" kern="1200" dirty="0">
                <a:solidFill>
                  <a:schemeClr val="tx1"/>
                </a:solidFill>
                <a:latin typeface="+mn-lt"/>
                <a:ea typeface="+mn-ea"/>
                <a:cs typeface="+mn-cs"/>
              </a:rPr>
              <a:t>_Order</a:t>
            </a:r>
            <a:r>
              <a:rPr lang="de-DE" dirty="0"/>
              <a:t> kann ein Verbraucher von der Position zum Auftragskopf navigieren. </a:t>
            </a:r>
          </a:p>
          <a:p>
            <a:pPr lvl="0"/>
            <a:r>
              <a:rPr lang="de-DE" dirty="0"/>
              <a:t>Weil </a:t>
            </a:r>
            <a:r>
              <a:rPr lang="de-DE" sz="1200" kern="1200" dirty="0" err="1">
                <a:solidFill>
                  <a:schemeClr val="tx1"/>
                </a:solidFill>
                <a:latin typeface="+mn-lt"/>
                <a:ea typeface="+mn-ea"/>
                <a:cs typeface="+mn-cs"/>
              </a:rPr>
              <a:t>ZI_CDSOrder</a:t>
            </a:r>
            <a:r>
              <a:rPr lang="de-DE" dirty="0"/>
              <a:t> </a:t>
            </a:r>
            <a:r>
              <a:rPr lang="de-DE" sz="1200" kern="1200" dirty="0">
                <a:solidFill>
                  <a:schemeClr val="tx1"/>
                </a:solidFill>
                <a:latin typeface="+mn-lt"/>
                <a:ea typeface="+mn-ea"/>
                <a:cs typeface="+mn-cs"/>
              </a:rPr>
              <a:t>_Customer</a:t>
            </a:r>
            <a:r>
              <a:rPr lang="de-DE" dirty="0"/>
              <a:t> exponiert, ist auch ein mehrstufiger Pfad möglich. </a:t>
            </a:r>
          </a:p>
          <a:p>
            <a:r>
              <a:rPr lang="de-DE" dirty="0"/>
              <a:t>Optional zur Demonstration ein Element aufnehmen:</a:t>
            </a:r>
          </a:p>
          <a:p>
            <a:pPr rtl="0"/>
            <a:r>
              <a:rPr lang="de-DE" sz="1200" kern="1200" dirty="0">
                <a:solidFill>
                  <a:schemeClr val="tx1"/>
                </a:solidFill>
                <a:latin typeface="+mn-lt"/>
                <a:ea typeface="+mn-ea"/>
                <a:cs typeface="+mn-cs"/>
              </a:rPr>
              <a:t>      @EndUserText.label: 'Kundenname'</a:t>
            </a:r>
          </a:p>
          <a:p>
            <a:pPr rtl="0"/>
            <a:r>
              <a:rPr lang="de-DE" sz="1200" kern="1200" dirty="0">
                <a:solidFill>
                  <a:schemeClr val="tx1"/>
                </a:solidFill>
                <a:latin typeface="+mn-lt"/>
                <a:ea typeface="+mn-ea"/>
                <a:cs typeface="+mn-cs"/>
              </a:rPr>
              <a:t>      _</a:t>
            </a:r>
            <a:r>
              <a:rPr lang="de-DE" sz="1200" kern="1200" dirty="0" err="1">
                <a:solidFill>
                  <a:schemeClr val="tx1"/>
                </a:solidFill>
                <a:latin typeface="+mn-lt"/>
                <a:ea typeface="+mn-ea"/>
                <a:cs typeface="+mn-cs"/>
              </a:rPr>
              <a:t>Order.CustomerName</a:t>
            </a:r>
            <a:r>
              <a:rPr lang="de-DE" sz="1200" kern="1200" dirty="0">
                <a:solidFill>
                  <a:schemeClr val="tx1"/>
                </a:solidFill>
                <a:latin typeface="+mn-lt"/>
                <a:ea typeface="+mn-ea"/>
                <a:cs typeface="+mn-cs"/>
              </a:rPr>
              <a:t> as </a:t>
            </a:r>
            <a:r>
              <a:rPr lang="de-DE" sz="1200" kern="1200" dirty="0" err="1">
                <a:solidFill>
                  <a:schemeClr val="tx1"/>
                </a:solidFill>
                <a:latin typeface="+mn-lt"/>
                <a:ea typeface="+mn-ea"/>
                <a:cs typeface="+mn-cs"/>
              </a:rPr>
              <a:t>CustomerName</a:t>
            </a:r>
            <a:r>
              <a:rPr lang="de-DE" sz="1200" kern="1200" dirty="0">
                <a:solidFill>
                  <a:schemeClr val="tx1"/>
                </a:solidFill>
                <a:latin typeface="+mn-lt"/>
                <a:ea typeface="+mn-ea"/>
                <a:cs typeface="+mn-cs"/>
              </a:rPr>
              <a:t>,</a:t>
            </a:r>
          </a:p>
          <a:p>
            <a:r>
              <a:rPr lang="de-DE" dirty="0"/>
              <a:t>Oder als mehrstufigen Pfad:</a:t>
            </a:r>
          </a:p>
          <a:p>
            <a:pPr rtl="0"/>
            <a:r>
              <a:rPr lang="de-DE" sz="1200" kern="1200" dirty="0">
                <a:solidFill>
                  <a:schemeClr val="tx1"/>
                </a:solidFill>
                <a:latin typeface="+mn-lt"/>
                <a:ea typeface="+mn-ea"/>
                <a:cs typeface="+mn-cs"/>
              </a:rPr>
              <a:t>      @EndUserText.label: 'Land des Kunden'</a:t>
            </a:r>
          </a:p>
          <a:p>
            <a:pPr rtl="0"/>
            <a:r>
              <a:rPr lang="de-DE" sz="1200" kern="1200" dirty="0">
                <a:solidFill>
                  <a:schemeClr val="tx1"/>
                </a:solidFill>
                <a:latin typeface="+mn-lt"/>
                <a:ea typeface="+mn-ea"/>
                <a:cs typeface="+mn-cs"/>
              </a:rPr>
              <a:t>      _Order._</a:t>
            </a:r>
            <a:r>
              <a:rPr lang="de-DE" sz="1200" kern="1200" dirty="0" err="1">
                <a:solidFill>
                  <a:schemeClr val="tx1"/>
                </a:solidFill>
                <a:latin typeface="+mn-lt"/>
                <a:ea typeface="+mn-ea"/>
                <a:cs typeface="+mn-cs"/>
              </a:rPr>
              <a:t>Customer.CountryCode</a:t>
            </a:r>
            <a:r>
              <a:rPr lang="de-DE" sz="1200" kern="1200" dirty="0">
                <a:solidFill>
                  <a:schemeClr val="tx1"/>
                </a:solidFill>
                <a:latin typeface="+mn-lt"/>
                <a:ea typeface="+mn-ea"/>
                <a:cs typeface="+mn-cs"/>
              </a:rPr>
              <a:t> as </a:t>
            </a:r>
            <a:r>
              <a:rPr lang="de-DE" sz="1200" kern="1200" dirty="0" err="1">
                <a:solidFill>
                  <a:schemeClr val="tx1"/>
                </a:solidFill>
                <a:latin typeface="+mn-lt"/>
                <a:ea typeface="+mn-ea"/>
                <a:cs typeface="+mn-cs"/>
              </a:rPr>
              <a:t>CustomerCountryCode</a:t>
            </a:r>
            <a:r>
              <a:rPr lang="de-DE" sz="1200" kern="1200" dirty="0">
                <a:solidFill>
                  <a:schemeClr val="tx1"/>
                </a:solidFill>
                <a:latin typeface="+mn-lt"/>
                <a:ea typeface="+mn-ea"/>
                <a:cs typeface="+mn-cs"/>
              </a:rPr>
              <a:t>,</a:t>
            </a:r>
          </a:p>
          <a:p>
            <a:br>
              <a:rPr lang="de-DE" dirty="0"/>
            </a:br>
            <a:endParaRPr lang="de-DE" dirty="0"/>
          </a:p>
          <a:p>
            <a:r>
              <a:rPr lang="de-DE" b="1" dirty="0"/>
              <a:t>6. To-Many-Assoziation in </a:t>
            </a:r>
            <a:r>
              <a:rPr lang="de-DE" sz="1200" b="1" kern="1200" dirty="0" err="1">
                <a:solidFill>
                  <a:schemeClr val="tx1"/>
                </a:solidFill>
                <a:latin typeface="+mn-lt"/>
                <a:ea typeface="+mn-ea"/>
                <a:cs typeface="+mn-cs"/>
              </a:rPr>
              <a:t>ZI_CDSOrder</a:t>
            </a:r>
            <a:r>
              <a:rPr lang="de-DE" b="1" dirty="0"/>
              <a:t> ergänzen – ca. 3 Minuten</a:t>
            </a:r>
          </a:p>
          <a:p>
            <a:r>
              <a:rPr lang="de-DE" dirty="0"/>
              <a:t>In </a:t>
            </a:r>
            <a:r>
              <a:rPr lang="de-DE" sz="1200" kern="1200" dirty="0" err="1">
                <a:solidFill>
                  <a:schemeClr val="tx1"/>
                </a:solidFill>
                <a:latin typeface="+mn-lt"/>
                <a:ea typeface="+mn-ea"/>
                <a:cs typeface="+mn-cs"/>
              </a:rPr>
              <a:t>ZI_CDSOrder</a:t>
            </a:r>
            <a:r>
              <a:rPr lang="de-DE" dirty="0"/>
              <a:t> wird eine zweite Assoziation ergänzt:</a:t>
            </a:r>
          </a:p>
          <a:p>
            <a:pPr rtl="0"/>
            <a:r>
              <a:rPr lang="de-DE" sz="1200" kern="1200" dirty="0" err="1">
                <a:solidFill>
                  <a:schemeClr val="tx1"/>
                </a:solidFill>
                <a:latin typeface="+mn-lt"/>
                <a:ea typeface="+mn-ea"/>
                <a:cs typeface="+mn-cs"/>
              </a:rPr>
              <a:t>association</a:t>
            </a:r>
            <a:r>
              <a:rPr lang="de-DE" sz="1200" kern="1200" dirty="0">
                <a:solidFill>
                  <a:schemeClr val="tx1"/>
                </a:solidFill>
                <a:latin typeface="+mn-lt"/>
                <a:ea typeface="+mn-ea"/>
                <a:cs typeface="+mn-cs"/>
              </a:rPr>
              <a:t> [0..*] to </a:t>
            </a:r>
            <a:r>
              <a:rPr lang="de-DE" sz="1200" kern="1200" dirty="0" err="1">
                <a:solidFill>
                  <a:schemeClr val="tx1"/>
                </a:solidFill>
                <a:latin typeface="+mn-lt"/>
                <a:ea typeface="+mn-ea"/>
                <a:cs typeface="+mn-cs"/>
              </a:rPr>
              <a:t>ZI_CDSOrderItem</a:t>
            </a:r>
            <a:r>
              <a:rPr lang="de-DE" sz="1200" kern="1200" dirty="0">
                <a:solidFill>
                  <a:schemeClr val="tx1"/>
                </a:solidFill>
                <a:latin typeface="+mn-lt"/>
                <a:ea typeface="+mn-ea"/>
                <a:cs typeface="+mn-cs"/>
              </a:rPr>
              <a:t> as _Items</a:t>
            </a:r>
          </a:p>
          <a:p>
            <a:pPr rtl="0"/>
            <a:r>
              <a:rPr lang="de-DE" sz="1200" kern="1200" dirty="0">
                <a:solidFill>
                  <a:schemeClr val="tx1"/>
                </a:solidFill>
                <a:latin typeface="+mn-lt"/>
                <a:ea typeface="+mn-ea"/>
                <a:cs typeface="+mn-cs"/>
              </a:rPr>
              <a:t>  on $</a:t>
            </a:r>
            <a:r>
              <a:rPr lang="de-DE" sz="1200" kern="1200" dirty="0" err="1">
                <a:solidFill>
                  <a:schemeClr val="tx1"/>
                </a:solidFill>
                <a:latin typeface="+mn-lt"/>
                <a:ea typeface="+mn-ea"/>
                <a:cs typeface="+mn-cs"/>
              </a:rPr>
              <a:t>projection.OrderId</a:t>
            </a:r>
            <a:r>
              <a:rPr lang="de-DE" sz="1200" kern="1200" dirty="0">
                <a:solidFill>
                  <a:schemeClr val="tx1"/>
                </a:solidFill>
                <a:latin typeface="+mn-lt"/>
                <a:ea typeface="+mn-ea"/>
                <a:cs typeface="+mn-cs"/>
              </a:rPr>
              <a:t> = _</a:t>
            </a:r>
            <a:r>
              <a:rPr lang="de-DE" sz="1200" kern="1200" dirty="0" err="1">
                <a:solidFill>
                  <a:schemeClr val="tx1"/>
                </a:solidFill>
                <a:latin typeface="+mn-lt"/>
                <a:ea typeface="+mn-ea"/>
                <a:cs typeface="+mn-cs"/>
              </a:rPr>
              <a:t>Items.OrderId</a:t>
            </a:r>
            <a:endParaRPr lang="de-DE" sz="1200" kern="1200" dirty="0">
              <a:solidFill>
                <a:schemeClr val="tx1"/>
              </a:solidFill>
              <a:latin typeface="+mn-lt"/>
              <a:ea typeface="+mn-ea"/>
              <a:cs typeface="+mn-cs"/>
            </a:endParaRPr>
          </a:p>
          <a:p>
            <a:r>
              <a:rPr lang="de-DE" dirty="0"/>
              <a:t>Der Kopf lautet anschließend:</a:t>
            </a:r>
          </a:p>
          <a:p>
            <a:pPr rtl="0"/>
            <a:r>
              <a:rPr lang="de-DE" sz="1200" kern="1200" dirty="0">
                <a:solidFill>
                  <a:schemeClr val="tx1"/>
                </a:solidFill>
                <a:latin typeface="+mn-lt"/>
                <a:ea typeface="+mn-ea"/>
                <a:cs typeface="+mn-cs"/>
              </a:rPr>
              <a:t>@EndUserText.label: 'CDS Workshop: Aufträge'</a:t>
            </a:r>
          </a:p>
          <a:p>
            <a:pPr rtl="0"/>
            <a:r>
              <a:rPr lang="de-DE" sz="1200" kern="1200" dirty="0">
                <a:solidFill>
                  <a:schemeClr val="tx1"/>
                </a:solidFill>
                <a:latin typeface="+mn-lt"/>
                <a:ea typeface="+mn-ea"/>
                <a:cs typeface="+mn-cs"/>
              </a:rPr>
              <a:t>@AccessControl.authorizationCheck: #NOT_REQUIRED</a:t>
            </a:r>
          </a:p>
          <a:p>
            <a:pPr rtl="0"/>
            <a:r>
              <a:rPr lang="de-DE" sz="1200" kern="1200" dirty="0" err="1">
                <a:solidFill>
                  <a:schemeClr val="tx1"/>
                </a:solidFill>
                <a:latin typeface="+mn-lt"/>
                <a:ea typeface="+mn-ea"/>
                <a:cs typeface="+mn-cs"/>
              </a:rPr>
              <a:t>define</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view</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entity</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ZI_CDSOrder</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as </a:t>
            </a:r>
            <a:r>
              <a:rPr lang="de-DE" sz="1200" kern="1200" dirty="0" err="1">
                <a:solidFill>
                  <a:schemeClr val="tx1"/>
                </a:solidFill>
                <a:latin typeface="+mn-lt"/>
                <a:ea typeface="+mn-ea"/>
                <a:cs typeface="+mn-cs"/>
              </a:rPr>
              <a:t>select</a:t>
            </a:r>
            <a:r>
              <a:rPr lang="de-DE" sz="1200" kern="1200" dirty="0">
                <a:solidFill>
                  <a:schemeClr val="tx1"/>
                </a:solidFill>
                <a:latin typeface="+mn-lt"/>
                <a:ea typeface="+mn-ea"/>
                <a:cs typeface="+mn-cs"/>
              </a:rPr>
              <a:t> from </a:t>
            </a:r>
            <a:r>
              <a:rPr lang="de-DE" sz="1200" kern="1200" dirty="0" err="1">
                <a:solidFill>
                  <a:schemeClr val="tx1"/>
                </a:solidFill>
                <a:latin typeface="+mn-lt"/>
                <a:ea typeface="+mn-ea"/>
                <a:cs typeface="+mn-cs"/>
              </a:rPr>
              <a:t>zcds_order</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association</a:t>
            </a:r>
            <a:r>
              <a:rPr lang="de-DE" sz="1200" kern="1200" dirty="0">
                <a:solidFill>
                  <a:schemeClr val="tx1"/>
                </a:solidFill>
                <a:latin typeface="+mn-lt"/>
                <a:ea typeface="+mn-ea"/>
                <a:cs typeface="+mn-cs"/>
              </a:rPr>
              <a:t> [0..1] to </a:t>
            </a:r>
            <a:r>
              <a:rPr lang="de-DE" sz="1200" kern="1200" dirty="0" err="1">
                <a:solidFill>
                  <a:schemeClr val="tx1"/>
                </a:solidFill>
                <a:latin typeface="+mn-lt"/>
                <a:ea typeface="+mn-ea"/>
                <a:cs typeface="+mn-cs"/>
              </a:rPr>
              <a:t>ZI_CDSCustomer</a:t>
            </a:r>
            <a:r>
              <a:rPr lang="de-DE" sz="1200" kern="1200" dirty="0">
                <a:solidFill>
                  <a:schemeClr val="tx1"/>
                </a:solidFill>
                <a:latin typeface="+mn-lt"/>
                <a:ea typeface="+mn-ea"/>
                <a:cs typeface="+mn-cs"/>
              </a:rPr>
              <a:t> as _Customer</a:t>
            </a:r>
          </a:p>
          <a:p>
            <a:pPr rtl="0"/>
            <a:r>
              <a:rPr lang="de-DE" sz="1200" kern="1200" dirty="0">
                <a:solidFill>
                  <a:schemeClr val="tx1"/>
                </a:solidFill>
                <a:latin typeface="+mn-lt"/>
                <a:ea typeface="+mn-ea"/>
                <a:cs typeface="+mn-cs"/>
              </a:rPr>
              <a:t>    on $</a:t>
            </a:r>
            <a:r>
              <a:rPr lang="de-DE" sz="1200" kern="1200" dirty="0" err="1">
                <a:solidFill>
                  <a:schemeClr val="tx1"/>
                </a:solidFill>
                <a:latin typeface="+mn-lt"/>
                <a:ea typeface="+mn-ea"/>
                <a:cs typeface="+mn-cs"/>
              </a:rPr>
              <a:t>projection.CustomerId</a:t>
            </a:r>
            <a:r>
              <a:rPr lang="de-DE" sz="1200" kern="1200" dirty="0">
                <a:solidFill>
                  <a:schemeClr val="tx1"/>
                </a:solidFill>
                <a:latin typeface="+mn-lt"/>
                <a:ea typeface="+mn-ea"/>
                <a:cs typeface="+mn-cs"/>
              </a:rPr>
              <a:t> = _</a:t>
            </a:r>
            <a:r>
              <a:rPr lang="de-DE" sz="1200" kern="1200" dirty="0" err="1">
                <a:solidFill>
                  <a:schemeClr val="tx1"/>
                </a:solidFill>
                <a:latin typeface="+mn-lt"/>
                <a:ea typeface="+mn-ea"/>
                <a:cs typeface="+mn-cs"/>
              </a:rPr>
              <a:t>Customer.CustomerId</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association</a:t>
            </a:r>
            <a:r>
              <a:rPr lang="de-DE" sz="1200" kern="1200" dirty="0">
                <a:solidFill>
                  <a:schemeClr val="tx1"/>
                </a:solidFill>
                <a:latin typeface="+mn-lt"/>
                <a:ea typeface="+mn-ea"/>
                <a:cs typeface="+mn-cs"/>
              </a:rPr>
              <a:t> [0..*] to </a:t>
            </a:r>
            <a:r>
              <a:rPr lang="de-DE" sz="1200" kern="1200" dirty="0" err="1">
                <a:solidFill>
                  <a:schemeClr val="tx1"/>
                </a:solidFill>
                <a:latin typeface="+mn-lt"/>
                <a:ea typeface="+mn-ea"/>
                <a:cs typeface="+mn-cs"/>
              </a:rPr>
              <a:t>ZI_CDSOrderItem</a:t>
            </a:r>
            <a:r>
              <a:rPr lang="de-DE" sz="1200" kern="1200" dirty="0">
                <a:solidFill>
                  <a:schemeClr val="tx1"/>
                </a:solidFill>
                <a:latin typeface="+mn-lt"/>
                <a:ea typeface="+mn-ea"/>
                <a:cs typeface="+mn-cs"/>
              </a:rPr>
              <a:t> as _Items</a:t>
            </a:r>
          </a:p>
          <a:p>
            <a:pPr rtl="0"/>
            <a:r>
              <a:rPr lang="de-DE" sz="1200" kern="1200" dirty="0">
                <a:solidFill>
                  <a:schemeClr val="tx1"/>
                </a:solidFill>
                <a:latin typeface="+mn-lt"/>
                <a:ea typeface="+mn-ea"/>
                <a:cs typeface="+mn-cs"/>
              </a:rPr>
              <a:t>    on $</a:t>
            </a:r>
            <a:r>
              <a:rPr lang="de-DE" sz="1200" kern="1200" dirty="0" err="1">
                <a:solidFill>
                  <a:schemeClr val="tx1"/>
                </a:solidFill>
                <a:latin typeface="+mn-lt"/>
                <a:ea typeface="+mn-ea"/>
                <a:cs typeface="+mn-cs"/>
              </a:rPr>
              <a:t>projection.OrderId</a:t>
            </a:r>
            <a:r>
              <a:rPr lang="de-DE" sz="1200" kern="1200" dirty="0">
                <a:solidFill>
                  <a:schemeClr val="tx1"/>
                </a:solidFill>
                <a:latin typeface="+mn-lt"/>
                <a:ea typeface="+mn-ea"/>
                <a:cs typeface="+mn-cs"/>
              </a:rPr>
              <a:t> = _</a:t>
            </a:r>
            <a:r>
              <a:rPr lang="de-DE" sz="1200" kern="1200" dirty="0" err="1">
                <a:solidFill>
                  <a:schemeClr val="tx1"/>
                </a:solidFill>
                <a:latin typeface="+mn-lt"/>
                <a:ea typeface="+mn-ea"/>
                <a:cs typeface="+mn-cs"/>
              </a:rPr>
              <a:t>Items.OrderId</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 bisherige Elemente</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_Customer,</a:t>
            </a:r>
          </a:p>
          <a:p>
            <a:pPr rtl="0"/>
            <a:r>
              <a:rPr lang="de-DE" sz="1200" kern="1200" dirty="0">
                <a:solidFill>
                  <a:schemeClr val="tx1"/>
                </a:solidFill>
                <a:latin typeface="+mn-lt"/>
                <a:ea typeface="+mn-ea"/>
                <a:cs typeface="+mn-cs"/>
              </a:rPr>
              <a:t>  _Items</a:t>
            </a:r>
          </a:p>
          <a:p>
            <a:pPr rtl="0"/>
            <a:r>
              <a:rPr lang="de-DE" sz="1200" kern="1200" dirty="0">
                <a:solidFill>
                  <a:schemeClr val="tx1"/>
                </a:solidFill>
                <a:latin typeface="+mn-lt"/>
                <a:ea typeface="+mn-ea"/>
                <a:cs typeface="+mn-cs"/>
              </a:rPr>
              <a:t>}</a:t>
            </a:r>
          </a:p>
          <a:p>
            <a:r>
              <a:rPr lang="de-DE" b="1" dirty="0"/>
              <a:t>Während des Tippens erläutern</a:t>
            </a:r>
          </a:p>
          <a:p>
            <a:pPr rtl="0"/>
            <a:r>
              <a:rPr lang="de-DE" sz="1200" kern="1200" dirty="0">
                <a:solidFill>
                  <a:schemeClr val="tx1"/>
                </a:solidFill>
                <a:latin typeface="+mn-lt"/>
                <a:ea typeface="+mn-ea"/>
                <a:cs typeface="+mn-cs"/>
              </a:rPr>
              <a:t>[0..*]</a:t>
            </a:r>
          </a:p>
          <a:p>
            <a:r>
              <a:rPr lang="de-DE" dirty="0"/>
              <a:t>bedeutet, dass ein Auftrag keine, eine oder mehrere Positionen besitzen kann.</a:t>
            </a:r>
          </a:p>
          <a:p>
            <a:pPr rtl="0"/>
            <a:r>
              <a:rPr lang="de-DE" sz="1200" kern="1200" dirty="0">
                <a:solidFill>
                  <a:schemeClr val="tx1"/>
                </a:solidFill>
                <a:latin typeface="+mn-lt"/>
                <a:ea typeface="+mn-ea"/>
                <a:cs typeface="+mn-cs"/>
              </a:rPr>
              <a:t>on $</a:t>
            </a:r>
            <a:r>
              <a:rPr lang="de-DE" sz="1200" kern="1200" dirty="0" err="1">
                <a:solidFill>
                  <a:schemeClr val="tx1"/>
                </a:solidFill>
                <a:latin typeface="+mn-lt"/>
                <a:ea typeface="+mn-ea"/>
                <a:cs typeface="+mn-cs"/>
              </a:rPr>
              <a:t>projection.OrderId</a:t>
            </a:r>
            <a:r>
              <a:rPr lang="de-DE" sz="1200" kern="1200" dirty="0">
                <a:solidFill>
                  <a:schemeClr val="tx1"/>
                </a:solidFill>
                <a:latin typeface="+mn-lt"/>
                <a:ea typeface="+mn-ea"/>
                <a:cs typeface="+mn-cs"/>
              </a:rPr>
              <a:t> = _</a:t>
            </a:r>
            <a:r>
              <a:rPr lang="de-DE" sz="1200" kern="1200" dirty="0" err="1">
                <a:solidFill>
                  <a:schemeClr val="tx1"/>
                </a:solidFill>
                <a:latin typeface="+mn-lt"/>
                <a:ea typeface="+mn-ea"/>
                <a:cs typeface="+mn-cs"/>
              </a:rPr>
              <a:t>Items.OrderId</a:t>
            </a:r>
            <a:endParaRPr lang="de-DE" sz="1200" kern="1200" dirty="0">
              <a:solidFill>
                <a:schemeClr val="tx1"/>
              </a:solidFill>
              <a:latin typeface="+mn-lt"/>
              <a:ea typeface="+mn-ea"/>
              <a:cs typeface="+mn-cs"/>
            </a:endParaRPr>
          </a:p>
          <a:p>
            <a:r>
              <a:rPr lang="de-DE" dirty="0"/>
              <a:t>ordnet dem Auftrag alle Positionen mit derselben Auftragsnummer zu.</a:t>
            </a:r>
          </a:p>
          <a:p>
            <a:pPr rtl="0"/>
            <a:r>
              <a:rPr lang="de-DE" sz="1200" kern="1200" dirty="0">
                <a:solidFill>
                  <a:schemeClr val="tx1"/>
                </a:solidFill>
                <a:latin typeface="+mn-lt"/>
                <a:ea typeface="+mn-ea"/>
                <a:cs typeface="+mn-cs"/>
              </a:rPr>
              <a:t>_Items</a:t>
            </a:r>
          </a:p>
          <a:p>
            <a:r>
              <a:rPr lang="de-DE" dirty="0"/>
              <a:t>exponiert die Positionsmenge für nachgelagerte Verbraucher.</a:t>
            </a:r>
          </a:p>
          <a:p>
            <a:r>
              <a:rPr lang="de-DE" b="1" dirty="0"/>
              <a:t>Wichtiger Hinweis</a:t>
            </a:r>
          </a:p>
          <a:p>
            <a:r>
              <a:rPr lang="de-DE" dirty="0"/>
              <a:t>Wir ergänzen bewusst kein Element wie:</a:t>
            </a:r>
          </a:p>
          <a:p>
            <a:pPr rtl="0"/>
            <a:r>
              <a:rPr lang="de-DE" sz="1200" kern="1200" dirty="0">
                <a:solidFill>
                  <a:schemeClr val="tx1"/>
                </a:solidFill>
                <a:latin typeface="+mn-lt"/>
                <a:ea typeface="+mn-ea"/>
                <a:cs typeface="+mn-cs"/>
              </a:rPr>
              <a:t>_</a:t>
            </a:r>
            <a:r>
              <a:rPr lang="de-DE" sz="1200" kern="1200" dirty="0" err="1">
                <a:solidFill>
                  <a:schemeClr val="tx1"/>
                </a:solidFill>
                <a:latin typeface="+mn-lt"/>
                <a:ea typeface="+mn-ea"/>
                <a:cs typeface="+mn-cs"/>
              </a:rPr>
              <a:t>Items.ProductName</a:t>
            </a:r>
            <a:endParaRPr lang="de-DE" sz="1200" kern="1200" dirty="0">
              <a:solidFill>
                <a:schemeClr val="tx1"/>
              </a:solidFill>
              <a:latin typeface="+mn-lt"/>
              <a:ea typeface="+mn-ea"/>
              <a:cs typeface="+mn-cs"/>
            </a:endParaRPr>
          </a:p>
          <a:p>
            <a:r>
              <a:rPr lang="de-DE" dirty="0"/>
              <a:t>in der Auftragsprojektion. </a:t>
            </a:r>
            <a:r>
              <a:rPr lang="de-DE" sz="1200" kern="1200" dirty="0">
                <a:solidFill>
                  <a:schemeClr val="tx1"/>
                </a:solidFill>
                <a:latin typeface="+mn-lt"/>
                <a:ea typeface="+mn-ea"/>
                <a:cs typeface="+mn-cs"/>
              </a:rPr>
              <a:t>_Items</a:t>
            </a:r>
            <a:r>
              <a:rPr lang="de-DE" dirty="0"/>
              <a:t> ist eine To-Many-Assoziation und kann mehrere Produktnamen liefern.</a:t>
            </a:r>
          </a:p>
          <a:p>
            <a:br>
              <a:rPr lang="de-DE" dirty="0"/>
            </a:br>
            <a:endParaRPr lang="de-DE" dirty="0"/>
          </a:p>
          <a:p>
            <a:r>
              <a:rPr lang="de-DE" b="1" dirty="0"/>
              <a:t>7. Zirkuläre Abhängigkeit vermeiden – falls ADT einen Fehler meldet</a:t>
            </a:r>
          </a:p>
          <a:p>
            <a:r>
              <a:rPr lang="de-DE" dirty="0"/>
              <a:t>Mit den Definitionen:</a:t>
            </a:r>
          </a:p>
          <a:p>
            <a:pPr rtl="0"/>
            <a:r>
              <a:rPr lang="de-DE" sz="1200" kern="1200" dirty="0" err="1">
                <a:solidFill>
                  <a:schemeClr val="tx1"/>
                </a:solidFill>
                <a:latin typeface="+mn-lt"/>
                <a:ea typeface="+mn-ea"/>
                <a:cs typeface="+mn-cs"/>
              </a:rPr>
              <a:t>ZI_CDSOrderItem</a:t>
            </a:r>
            <a:r>
              <a:rPr lang="de-DE" sz="1200" kern="1200" dirty="0">
                <a:solidFill>
                  <a:schemeClr val="tx1"/>
                </a:solidFill>
                <a:latin typeface="+mn-lt"/>
                <a:ea typeface="+mn-ea"/>
                <a:cs typeface="+mn-cs"/>
              </a:rPr>
              <a:t> → </a:t>
            </a:r>
            <a:r>
              <a:rPr lang="de-DE" sz="1200" kern="1200" dirty="0" err="1">
                <a:solidFill>
                  <a:schemeClr val="tx1"/>
                </a:solidFill>
                <a:latin typeface="+mn-lt"/>
                <a:ea typeface="+mn-ea"/>
                <a:cs typeface="+mn-cs"/>
              </a:rPr>
              <a:t>ZI_CDSOrder</a:t>
            </a:r>
            <a:endParaRPr lang="de-DE" sz="1200" kern="1200" dirty="0">
              <a:solidFill>
                <a:schemeClr val="tx1"/>
              </a:solidFill>
              <a:latin typeface="+mn-lt"/>
              <a:ea typeface="+mn-ea"/>
              <a:cs typeface="+mn-cs"/>
            </a:endParaRPr>
          </a:p>
          <a:p>
            <a:pPr rtl="0"/>
            <a:r>
              <a:rPr lang="de-DE" sz="1200" kern="1200" dirty="0" err="1">
                <a:solidFill>
                  <a:schemeClr val="tx1"/>
                </a:solidFill>
                <a:latin typeface="+mn-lt"/>
                <a:ea typeface="+mn-ea"/>
                <a:cs typeface="+mn-cs"/>
              </a:rPr>
              <a:t>ZI_CDSOrder</a:t>
            </a:r>
            <a:r>
              <a:rPr lang="de-DE" sz="1200" kern="1200" dirty="0">
                <a:solidFill>
                  <a:schemeClr val="tx1"/>
                </a:solidFill>
                <a:latin typeface="+mn-lt"/>
                <a:ea typeface="+mn-ea"/>
                <a:cs typeface="+mn-cs"/>
              </a:rPr>
              <a:t>     → </a:t>
            </a:r>
            <a:r>
              <a:rPr lang="de-DE" sz="1200" kern="1200" dirty="0" err="1">
                <a:solidFill>
                  <a:schemeClr val="tx1"/>
                </a:solidFill>
                <a:latin typeface="+mn-lt"/>
                <a:ea typeface="+mn-ea"/>
                <a:cs typeface="+mn-cs"/>
              </a:rPr>
              <a:t>ZI_CDSOrderItem</a:t>
            </a:r>
            <a:endParaRPr lang="de-DE" sz="1200" kern="1200" dirty="0">
              <a:solidFill>
                <a:schemeClr val="tx1"/>
              </a:solidFill>
              <a:latin typeface="+mn-lt"/>
              <a:ea typeface="+mn-ea"/>
              <a:cs typeface="+mn-cs"/>
            </a:endParaRPr>
          </a:p>
          <a:p>
            <a:r>
              <a:rPr lang="de-DE" dirty="0"/>
              <a:t>entsteht eine zyklische Aktivierungsabhängigkeit.</a:t>
            </a:r>
          </a:p>
          <a:p>
            <a:r>
              <a:rPr lang="de-DE" dirty="0"/>
              <a:t>Für das Einführungsbeispiel sollten deshalb nicht beide Richtungen gleichzeitig direkt zwischen denselben beiden View </a:t>
            </a:r>
            <a:r>
              <a:rPr lang="de-DE" dirty="0" err="1"/>
              <a:t>Entities</a:t>
            </a:r>
            <a:r>
              <a:rPr lang="de-DE" dirty="0"/>
              <a:t> angelegt werden.</a:t>
            </a:r>
          </a:p>
          <a:p>
            <a:r>
              <a:rPr lang="de-DE" dirty="0"/>
              <a:t>Die einfachste Kursvariante lautet:</a:t>
            </a:r>
          </a:p>
          <a:p>
            <a:pPr lvl="0"/>
            <a:r>
              <a:rPr lang="de-DE" sz="1200" kern="1200" dirty="0" err="1">
                <a:solidFill>
                  <a:schemeClr val="tx1"/>
                </a:solidFill>
                <a:latin typeface="+mn-lt"/>
                <a:ea typeface="+mn-ea"/>
                <a:cs typeface="+mn-cs"/>
              </a:rPr>
              <a:t>ZI_CDSOrderItem</a:t>
            </a:r>
            <a:r>
              <a:rPr lang="de-DE" dirty="0"/>
              <a:t> erhält </a:t>
            </a:r>
            <a:r>
              <a:rPr lang="de-DE" sz="1200" kern="1200" dirty="0">
                <a:solidFill>
                  <a:schemeClr val="tx1"/>
                </a:solidFill>
                <a:latin typeface="+mn-lt"/>
                <a:ea typeface="+mn-ea"/>
                <a:cs typeface="+mn-cs"/>
              </a:rPr>
              <a:t>_</a:t>
            </a:r>
            <a:r>
              <a:rPr lang="de-DE" sz="1200" kern="1200" dirty="0" err="1">
                <a:solidFill>
                  <a:schemeClr val="tx1"/>
                </a:solidFill>
                <a:latin typeface="+mn-lt"/>
                <a:ea typeface="+mn-ea"/>
                <a:cs typeface="+mn-cs"/>
              </a:rPr>
              <a:t>Product</a:t>
            </a:r>
            <a:r>
              <a:rPr lang="de-DE" dirty="0"/>
              <a:t>. </a:t>
            </a:r>
          </a:p>
          <a:p>
            <a:pPr lvl="0"/>
            <a:r>
              <a:rPr lang="de-DE" sz="1200" kern="1200" dirty="0" err="1">
                <a:solidFill>
                  <a:schemeClr val="tx1"/>
                </a:solidFill>
                <a:latin typeface="+mn-lt"/>
                <a:ea typeface="+mn-ea"/>
                <a:cs typeface="+mn-cs"/>
              </a:rPr>
              <a:t>ZI_CDSOrder</a:t>
            </a:r>
            <a:r>
              <a:rPr lang="de-DE" dirty="0"/>
              <a:t> erhält </a:t>
            </a:r>
            <a:r>
              <a:rPr lang="de-DE" sz="1200" kern="1200" dirty="0">
                <a:solidFill>
                  <a:schemeClr val="tx1"/>
                </a:solidFill>
                <a:latin typeface="+mn-lt"/>
                <a:ea typeface="+mn-ea"/>
                <a:cs typeface="+mn-cs"/>
              </a:rPr>
              <a:t>_Items</a:t>
            </a:r>
            <a:r>
              <a:rPr lang="de-DE" dirty="0"/>
              <a:t>. </a:t>
            </a:r>
          </a:p>
          <a:p>
            <a:pPr lvl="0"/>
            <a:r>
              <a:rPr lang="de-DE" sz="1200" kern="1200" dirty="0">
                <a:solidFill>
                  <a:schemeClr val="tx1"/>
                </a:solidFill>
                <a:latin typeface="+mn-lt"/>
                <a:ea typeface="+mn-ea"/>
                <a:cs typeface="+mn-cs"/>
              </a:rPr>
              <a:t>_Order</a:t>
            </a:r>
            <a:r>
              <a:rPr lang="de-DE" dirty="0"/>
              <a:t> wird in </a:t>
            </a:r>
            <a:r>
              <a:rPr lang="de-DE" sz="1200" kern="1200" dirty="0" err="1">
                <a:solidFill>
                  <a:schemeClr val="tx1"/>
                </a:solidFill>
                <a:latin typeface="+mn-lt"/>
                <a:ea typeface="+mn-ea"/>
                <a:cs typeface="+mn-cs"/>
              </a:rPr>
              <a:t>ZI_CDSOrderItem</a:t>
            </a:r>
            <a:r>
              <a:rPr lang="de-DE" dirty="0"/>
              <a:t> zunächst weggelassen. </a:t>
            </a:r>
          </a:p>
          <a:p>
            <a:r>
              <a:rPr lang="de-DE" dirty="0"/>
              <a:t>Damit bleibt das Modell aktivierbar:</a:t>
            </a:r>
          </a:p>
          <a:p>
            <a:r>
              <a:rPr lang="de-DE" b="1" dirty="0"/>
              <a:t>Sprechertext</a:t>
            </a:r>
          </a:p>
          <a:p>
            <a:r>
              <a:rPr lang="de-DE" dirty="0"/>
              <a:t>Fachlich wäre eine Navigation in beide Richtungen verständlich: vom Auftrag zu seinen Positionen und von der Position zurück zum Auftrag.</a:t>
            </a:r>
          </a:p>
          <a:p>
            <a:r>
              <a:rPr lang="de-DE" dirty="0"/>
              <a:t>Wenn wir diese beiden Beziehungen aber unmittelbar in denselben beiden CDS View </a:t>
            </a:r>
            <a:r>
              <a:rPr lang="de-DE" dirty="0" err="1"/>
              <a:t>Entities</a:t>
            </a:r>
            <a:r>
              <a:rPr lang="de-DE" dirty="0"/>
              <a:t> definieren, hängen die Objekte beim Aktivieren zyklisch voneinander ab.</a:t>
            </a:r>
          </a:p>
          <a:p>
            <a:r>
              <a:rPr lang="de-DE" dirty="0"/>
              <a:t>Für unser Einführungsmodell verwenden wir deshalb eine eindeutige Abhängigkeitsrichtung. </a:t>
            </a:r>
            <a:r>
              <a:rPr lang="de-DE" sz="1200" kern="1200" dirty="0" err="1">
                <a:solidFill>
                  <a:schemeClr val="tx1"/>
                </a:solidFill>
                <a:latin typeface="+mn-lt"/>
                <a:ea typeface="+mn-ea"/>
                <a:cs typeface="+mn-cs"/>
              </a:rPr>
              <a:t>ZI_CDSOrder</a:t>
            </a:r>
            <a:r>
              <a:rPr lang="de-DE" dirty="0"/>
              <a:t> verweist auf </a:t>
            </a:r>
            <a:r>
              <a:rPr lang="de-DE" sz="1200" kern="1200" dirty="0" err="1">
                <a:solidFill>
                  <a:schemeClr val="tx1"/>
                </a:solidFill>
                <a:latin typeface="+mn-lt"/>
                <a:ea typeface="+mn-ea"/>
                <a:cs typeface="+mn-cs"/>
              </a:rPr>
              <a:t>ZI_CDSOrderItem</a:t>
            </a:r>
            <a:r>
              <a:rPr lang="de-DE" dirty="0"/>
              <a:t>, und </a:t>
            </a:r>
            <a:r>
              <a:rPr lang="de-DE" sz="1200" kern="1200" dirty="0" err="1">
                <a:solidFill>
                  <a:schemeClr val="tx1"/>
                </a:solidFill>
                <a:latin typeface="+mn-lt"/>
                <a:ea typeface="+mn-ea"/>
                <a:cs typeface="+mn-cs"/>
              </a:rPr>
              <a:t>ZI_CDSOrderItem</a:t>
            </a:r>
            <a:r>
              <a:rPr lang="de-DE" dirty="0"/>
              <a:t> verweist auf </a:t>
            </a:r>
            <a:r>
              <a:rPr lang="de-DE" sz="1200" kern="1200" dirty="0" err="1">
                <a:solidFill>
                  <a:schemeClr val="tx1"/>
                </a:solidFill>
                <a:latin typeface="+mn-lt"/>
                <a:ea typeface="+mn-ea"/>
                <a:cs typeface="+mn-cs"/>
              </a:rPr>
              <a:t>ZI_CDSProduct</a:t>
            </a:r>
            <a:r>
              <a:rPr lang="de-DE" dirty="0"/>
              <a:t>.</a:t>
            </a:r>
          </a:p>
          <a:p>
            <a:r>
              <a:rPr lang="de-DE" dirty="0"/>
              <a:t>Für komplexere virtuelle Datenmodelle kann man zusätzliche Schichten oder separate Views einsetzen. Dieses Architekturthema vertiefen wir an dieser Stelle noch nicht.</a:t>
            </a:r>
          </a:p>
          <a:p>
            <a:br>
              <a:rPr lang="de-DE" dirty="0"/>
            </a:br>
            <a:endParaRPr lang="de-DE" dirty="0"/>
          </a:p>
          <a:p>
            <a:r>
              <a:rPr lang="de-DE" b="1" dirty="0"/>
              <a:t>8. Data Preview und Assoziationen prüfen – ca. 3 Minuten</a:t>
            </a:r>
          </a:p>
          <a:p>
            <a:r>
              <a:rPr lang="de-DE" dirty="0"/>
              <a:t>Zunächst </a:t>
            </a:r>
            <a:r>
              <a:rPr lang="de-DE" sz="1200" kern="1200" dirty="0" err="1">
                <a:solidFill>
                  <a:schemeClr val="tx1"/>
                </a:solidFill>
                <a:latin typeface="+mn-lt"/>
                <a:ea typeface="+mn-ea"/>
                <a:cs typeface="+mn-cs"/>
              </a:rPr>
              <a:t>ZI_CDSOrderItem</a:t>
            </a:r>
            <a:r>
              <a:rPr lang="de-DE" dirty="0"/>
              <a:t> öffnen.</a:t>
            </a:r>
          </a:p>
          <a:p>
            <a:r>
              <a:rPr lang="de-DE" dirty="0"/>
              <a:t>Erwarteter Ausschnitt:</a:t>
            </a:r>
          </a:p>
          <a:p>
            <a:r>
              <a:rPr lang="de-DE" dirty="0" err="1"/>
              <a:t>OrderId</a:t>
            </a:r>
            <a:endParaRPr lang="de-DE" dirty="0"/>
          </a:p>
          <a:p>
            <a:r>
              <a:rPr lang="de-DE" dirty="0" err="1"/>
              <a:t>ItemNumber</a:t>
            </a:r>
            <a:endParaRPr lang="de-DE" dirty="0"/>
          </a:p>
          <a:p>
            <a:r>
              <a:rPr lang="de-DE" dirty="0" err="1"/>
              <a:t>ProductId</a:t>
            </a:r>
            <a:endParaRPr lang="de-DE" dirty="0"/>
          </a:p>
          <a:p>
            <a:r>
              <a:rPr lang="de-DE" dirty="0" err="1"/>
              <a:t>ProductName</a:t>
            </a:r>
            <a:endParaRPr lang="de-DE" dirty="0"/>
          </a:p>
          <a:p>
            <a:r>
              <a:rPr lang="de-DE" dirty="0" err="1"/>
              <a:t>Quantity</a:t>
            </a:r>
            <a:endParaRPr lang="de-DE" dirty="0"/>
          </a:p>
          <a:p>
            <a:r>
              <a:rPr lang="de-DE" dirty="0"/>
              <a:t>O100010010P100Notebook Pro 151</a:t>
            </a:r>
          </a:p>
          <a:p>
            <a:r>
              <a:rPr lang="de-DE" dirty="0"/>
              <a:t>O100010020P200Dockingstation USB-C1</a:t>
            </a:r>
          </a:p>
          <a:p>
            <a:r>
              <a:rPr lang="de-DE" dirty="0"/>
              <a:t>O100020010P300Monitor 27 Zoll2</a:t>
            </a:r>
          </a:p>
          <a:p>
            <a:r>
              <a:rPr lang="de-DE" dirty="0"/>
              <a:t>O100030010P400Funkmaus5</a:t>
            </a:r>
          </a:p>
          <a:p>
            <a:r>
              <a:rPr lang="de-DE" dirty="0"/>
              <a:t>Prüfen:</a:t>
            </a:r>
          </a:p>
          <a:p>
            <a:pPr lvl="0"/>
            <a:r>
              <a:rPr lang="de-DE" dirty="0"/>
              <a:t>zusammengesetzter Schlüssel </a:t>
            </a:r>
          </a:p>
          <a:p>
            <a:pPr lvl="0"/>
            <a:r>
              <a:rPr lang="de-DE" dirty="0"/>
              <a:t>mehrere Positionen für </a:t>
            </a:r>
            <a:r>
              <a:rPr lang="de-DE" sz="1200" kern="1200" dirty="0">
                <a:solidFill>
                  <a:schemeClr val="tx1"/>
                </a:solidFill>
                <a:latin typeface="+mn-lt"/>
                <a:ea typeface="+mn-ea"/>
                <a:cs typeface="+mn-cs"/>
              </a:rPr>
              <a:t>O10001</a:t>
            </a:r>
            <a:r>
              <a:rPr lang="de-DE" dirty="0"/>
              <a:t> </a:t>
            </a:r>
          </a:p>
          <a:p>
            <a:pPr lvl="0"/>
            <a:r>
              <a:rPr lang="de-DE" dirty="0"/>
              <a:t>Produktname passt zur Produktnummer </a:t>
            </a:r>
          </a:p>
          <a:p>
            <a:pPr lvl="0"/>
            <a:r>
              <a:rPr lang="de-DE" sz="1200" kern="1200" dirty="0">
                <a:solidFill>
                  <a:schemeClr val="tx1"/>
                </a:solidFill>
                <a:latin typeface="+mn-lt"/>
                <a:ea typeface="+mn-ea"/>
                <a:cs typeface="+mn-cs"/>
              </a:rPr>
              <a:t>_</a:t>
            </a:r>
            <a:r>
              <a:rPr lang="de-DE" sz="1200" kern="1200" dirty="0" err="1">
                <a:solidFill>
                  <a:schemeClr val="tx1"/>
                </a:solidFill>
                <a:latin typeface="+mn-lt"/>
                <a:ea typeface="+mn-ea"/>
                <a:cs typeface="+mn-cs"/>
              </a:rPr>
              <a:t>Product</a:t>
            </a:r>
            <a:r>
              <a:rPr lang="de-DE" dirty="0"/>
              <a:t> ist in den Metadaten als Assoziation vorhanden </a:t>
            </a:r>
          </a:p>
          <a:p>
            <a:pPr lvl="0"/>
            <a:r>
              <a:rPr lang="de-DE" dirty="0"/>
              <a:t>Anzahl der Positionen bleibt durch die To-</a:t>
            </a:r>
            <a:r>
              <a:rPr lang="de-DE" dirty="0" err="1"/>
              <a:t>One</a:t>
            </a:r>
            <a:r>
              <a:rPr lang="de-DE" dirty="0"/>
              <a:t>-Assoziation unverändert </a:t>
            </a:r>
          </a:p>
          <a:p>
            <a:r>
              <a:rPr lang="de-DE" dirty="0"/>
              <a:t>Anschließend </a:t>
            </a:r>
            <a:r>
              <a:rPr lang="de-DE" sz="1200" kern="1200" dirty="0" err="1">
                <a:solidFill>
                  <a:schemeClr val="tx1"/>
                </a:solidFill>
                <a:latin typeface="+mn-lt"/>
                <a:ea typeface="+mn-ea"/>
                <a:cs typeface="+mn-cs"/>
              </a:rPr>
              <a:t>ZI_CDSOrder</a:t>
            </a:r>
            <a:r>
              <a:rPr lang="de-DE" dirty="0"/>
              <a:t> öffnen.</a:t>
            </a:r>
          </a:p>
          <a:p>
            <a:r>
              <a:rPr lang="de-DE" dirty="0"/>
              <a:t>Prüfen:</a:t>
            </a:r>
          </a:p>
          <a:p>
            <a:pPr lvl="0"/>
            <a:r>
              <a:rPr lang="de-DE" dirty="0"/>
              <a:t>Aufträge bleiben weiterhin auf Auftragsebene </a:t>
            </a:r>
          </a:p>
          <a:p>
            <a:pPr lvl="0"/>
            <a:r>
              <a:rPr lang="de-DE" dirty="0"/>
              <a:t>Anzahl der Aufträge verändert sich nicht </a:t>
            </a:r>
          </a:p>
          <a:p>
            <a:pPr lvl="0"/>
            <a:r>
              <a:rPr lang="de-DE" sz="1200" kern="1200" dirty="0">
                <a:solidFill>
                  <a:schemeClr val="tx1"/>
                </a:solidFill>
                <a:latin typeface="+mn-lt"/>
                <a:ea typeface="+mn-ea"/>
                <a:cs typeface="+mn-cs"/>
              </a:rPr>
              <a:t>_Items</a:t>
            </a:r>
            <a:r>
              <a:rPr lang="de-DE" dirty="0"/>
              <a:t> ist als To-Many-Assoziation vorhanden </a:t>
            </a:r>
          </a:p>
          <a:p>
            <a:pPr lvl="0"/>
            <a:r>
              <a:rPr lang="de-DE" dirty="0"/>
              <a:t>Navigation zu den Positionen, sofern die verwendete ADT-Version dies in der Data Preview unterstützt </a:t>
            </a:r>
          </a:p>
          <a:p>
            <a:pPr lvl="0"/>
            <a:r>
              <a:rPr lang="de-DE" dirty="0"/>
              <a:t>ein Auftrag kann mehrere Zielzeilen besitzen </a:t>
            </a:r>
          </a:p>
          <a:p>
            <a:r>
              <a:rPr lang="de-DE" b="1" dirty="0"/>
              <a:t>Begleitender Sprechtext</a:t>
            </a:r>
          </a:p>
          <a:p>
            <a:r>
              <a:rPr lang="de-DE" dirty="0"/>
              <a:t>In der Positions-View sehen wir weiterhin eine Zeile pro Position. Der Produktname wurde über eine To-</a:t>
            </a:r>
            <a:r>
              <a:rPr lang="de-DE" dirty="0" err="1"/>
              <a:t>One</a:t>
            </a:r>
            <a:r>
              <a:rPr lang="de-DE" dirty="0"/>
              <a:t>-Assoziation ergänzt, ohne die Anzahl der Datensätze zu verändern.</a:t>
            </a:r>
          </a:p>
          <a:p>
            <a:r>
              <a:rPr lang="de-DE" dirty="0"/>
              <a:t>Die Auftrags-View bleibt dagegen auf Auftragsebene. Durch die Definition von </a:t>
            </a:r>
            <a:r>
              <a:rPr lang="de-DE" sz="1200" kern="1200" dirty="0">
                <a:solidFill>
                  <a:schemeClr val="tx1"/>
                </a:solidFill>
                <a:latin typeface="+mn-lt"/>
                <a:ea typeface="+mn-ea"/>
                <a:cs typeface="+mn-cs"/>
              </a:rPr>
              <a:t>_Items</a:t>
            </a:r>
            <a:r>
              <a:rPr lang="de-DE" dirty="0"/>
              <a:t> werden die Positionen nicht automatisch in die Ergebnismenge hineingemischt.</a:t>
            </a:r>
          </a:p>
          <a:p>
            <a:r>
              <a:rPr lang="de-DE" dirty="0"/>
              <a:t>Die Assoziation beschreibt lediglich, welche Positionsmenge zu einem Auftrag gehört. Ein geeigneter Verbraucher kann dieser Beziehung bei Bedarf folgen.</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34</a:t>
            </a:fld>
            <a:endParaRPr lang="de-DE" dirty="0"/>
          </a:p>
        </p:txBody>
      </p:sp>
    </p:spTree>
    <p:extLst>
      <p:ext uri="{BB962C8B-B14F-4D97-AF65-F5344CB8AC3E}">
        <p14:creationId xmlns:p14="http://schemas.microsoft.com/office/powerpoint/2010/main" val="124921334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Unser CDS-Modell bildet jetzt den wesentlichen Ausschnitt des fachlichen Auftragsmodells ab.</a:t>
            </a:r>
          </a:p>
          <a:p>
            <a:endParaRPr lang="de-DE" dirty="0"/>
          </a:p>
          <a:p>
            <a:r>
              <a:rPr lang="de-DE" dirty="0"/>
              <a:t>Die Auftrags-View ist mit dem Kunden und den Positionen verbunden. Die Positions-View kennt das zugehörige Produkt und stellt dessen Bezeichnung direkt bereit.</a:t>
            </a:r>
          </a:p>
          <a:p>
            <a:endParaRPr lang="de-DE" dirty="0"/>
          </a:p>
          <a:p>
            <a:r>
              <a:rPr lang="de-DE" dirty="0"/>
              <a:t>Dabei haben wir zwei unterschiedliche Arten von Beziehungen eingesetzt. Kunde und Produkt sind To-</a:t>
            </a:r>
            <a:r>
              <a:rPr lang="de-DE" dirty="0" err="1"/>
              <a:t>One</a:t>
            </a:r>
            <a:r>
              <a:rPr lang="de-DE" dirty="0"/>
              <a:t>-Beziehungen. Ihre Elemente können wir als einzelne Werte in die jeweilige View aufnehmen.</a:t>
            </a:r>
          </a:p>
          <a:p>
            <a:endParaRPr lang="de-DE" dirty="0"/>
          </a:p>
          <a:p>
            <a:r>
              <a:rPr lang="de-DE" dirty="0"/>
              <a:t>Die Beziehung vom Auftrag zu seinen Positionen ist dagegen eine To-Many-Beziehung. Wir exponieren diese Beziehung, ohne die Positionen in die Ergebnisebene des Auftrags hineinzuziehen.</a:t>
            </a:r>
          </a:p>
          <a:p>
            <a:endParaRPr lang="de-DE" dirty="0"/>
          </a:p>
          <a:p>
            <a:r>
              <a:rPr lang="de-DE" dirty="0"/>
              <a:t>Damit ist das CDS-Datenmodell zunächst vollständig. Als Nächstes wechseln wir die Perspektive: Wir betrachten, wie ein ABAP-Programm die View </a:t>
            </a:r>
            <a:r>
              <a:rPr lang="de-DE" dirty="0" err="1"/>
              <a:t>Entities</a:t>
            </a:r>
            <a:r>
              <a:rPr lang="de-DE" dirty="0"/>
              <a:t> mit ABAP SQL liest und wie dabei auch Pfadausdrücke und Assoziationen genutzt werden können.</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35</a:t>
            </a:fld>
            <a:endParaRPr lang="de-DE" dirty="0"/>
          </a:p>
        </p:txBody>
      </p:sp>
    </p:spTree>
    <p:extLst>
      <p:ext uri="{BB962C8B-B14F-4D97-AF65-F5344CB8AC3E}">
        <p14:creationId xmlns:p14="http://schemas.microsoft.com/office/powerpoint/2010/main" val="411799480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Eine CDS View Entity kann in ABAP SQL grundsätzlich wie eine Datenbanktabelle als Datenquelle verwendet werden.</a:t>
            </a:r>
          </a:p>
          <a:p>
            <a:endParaRPr lang="de-DE" dirty="0"/>
          </a:p>
          <a:p>
            <a:r>
              <a:rPr lang="de-DE" dirty="0"/>
              <a:t>Hinter </a:t>
            </a:r>
            <a:r>
              <a:rPr lang="de-DE" sz="1200" kern="1200" dirty="0">
                <a:solidFill>
                  <a:schemeClr val="tx1"/>
                </a:solidFill>
                <a:latin typeface="+mn-lt"/>
                <a:ea typeface="+mn-ea"/>
                <a:cs typeface="+mn-cs"/>
              </a:rPr>
              <a:t>FROM</a:t>
            </a:r>
            <a:r>
              <a:rPr lang="de-DE" dirty="0"/>
              <a:t> geben wir den Namen </a:t>
            </a:r>
            <a:r>
              <a:rPr lang="de-DE" sz="1200" kern="1200" dirty="0" err="1">
                <a:solidFill>
                  <a:schemeClr val="tx1"/>
                </a:solidFill>
                <a:latin typeface="+mn-lt"/>
                <a:ea typeface="+mn-ea"/>
                <a:cs typeface="+mn-cs"/>
              </a:rPr>
              <a:t>ZI_CDSOrder</a:t>
            </a:r>
            <a:r>
              <a:rPr lang="de-DE" dirty="0"/>
              <a:t> an. In der Feldliste verwenden wir die Elemente der CDS-Schnittstelle, also beispielsweise </a:t>
            </a:r>
            <a:r>
              <a:rPr lang="de-DE" sz="1200" kern="1200" dirty="0" err="1">
                <a:solidFill>
                  <a:schemeClr val="tx1"/>
                </a:solidFill>
                <a:latin typeface="+mn-lt"/>
                <a:ea typeface="+mn-ea"/>
                <a:cs typeface="+mn-cs"/>
              </a:rPr>
              <a:t>OrderId</a:t>
            </a:r>
            <a:r>
              <a:rPr lang="de-DE" dirty="0"/>
              <a:t>, </a:t>
            </a:r>
            <a:r>
              <a:rPr lang="de-DE" sz="1200" kern="1200" dirty="0" err="1">
                <a:solidFill>
                  <a:schemeClr val="tx1"/>
                </a:solidFill>
                <a:latin typeface="+mn-lt"/>
                <a:ea typeface="+mn-ea"/>
                <a:cs typeface="+mn-cs"/>
              </a:rPr>
              <a:t>CustomerId</a:t>
            </a:r>
            <a:r>
              <a:rPr lang="de-DE" dirty="0"/>
              <a:t> und </a:t>
            </a:r>
            <a:r>
              <a:rPr lang="de-DE" sz="1200" kern="1200" dirty="0" err="1">
                <a:solidFill>
                  <a:schemeClr val="tx1"/>
                </a:solidFill>
                <a:latin typeface="+mn-lt"/>
                <a:ea typeface="+mn-ea"/>
                <a:cs typeface="+mn-cs"/>
              </a:rPr>
              <a:t>CustomerName</a:t>
            </a:r>
            <a:r>
              <a:rPr lang="de-DE" dirty="0"/>
              <a:t>.</a:t>
            </a:r>
          </a:p>
          <a:p>
            <a:endParaRPr lang="de-DE" dirty="0"/>
          </a:p>
          <a:p>
            <a:r>
              <a:rPr lang="de-DE" dirty="0"/>
              <a:t>Das ABAP-Programm muss nicht wissen, dass die Daten ursprünglich aus </a:t>
            </a:r>
            <a:r>
              <a:rPr lang="de-DE" sz="1200" kern="1200" dirty="0">
                <a:solidFill>
                  <a:schemeClr val="tx1"/>
                </a:solidFill>
                <a:latin typeface="+mn-lt"/>
                <a:ea typeface="+mn-ea"/>
                <a:cs typeface="+mn-cs"/>
              </a:rPr>
              <a:t>ZCDS_ORDER</a:t>
            </a:r>
            <a:r>
              <a:rPr lang="de-DE" dirty="0"/>
              <a:t> stammen. Ebenso muss es nicht wissen, dass der Kundenname über eine Assoziation zur Kunden-View ermittelt wird.</a:t>
            </a:r>
          </a:p>
          <a:p>
            <a:endParaRPr lang="de-DE" dirty="0"/>
          </a:p>
          <a:p>
            <a:r>
              <a:rPr lang="de-DE" dirty="0"/>
              <a:t>Auch die </a:t>
            </a:r>
            <a:r>
              <a:rPr lang="de-DE" sz="1200" kern="1200" dirty="0">
                <a:solidFill>
                  <a:schemeClr val="tx1"/>
                </a:solidFill>
                <a:latin typeface="+mn-lt"/>
                <a:ea typeface="+mn-ea"/>
                <a:cs typeface="+mn-cs"/>
              </a:rPr>
              <a:t>CASE</a:t>
            </a:r>
            <a:r>
              <a:rPr lang="de-DE" dirty="0"/>
              <a:t>-Ausdrücke, mit denen wir Auftragsart- und Statustexte erzeugt haben, werden nicht im ABAP-Programm wiederholt. Das Programm konsumiert einfach das Ergebnis des CDS-Datenmodells.</a:t>
            </a:r>
          </a:p>
          <a:p>
            <a:endParaRPr lang="de-DE" dirty="0"/>
          </a:p>
          <a:p>
            <a:r>
              <a:rPr lang="de-DE" dirty="0"/>
              <a:t>Damit erfüllt die CDS View Entity eine wichtige Aufgabe: Sie bildet zwischen Datenhaltung und Anwendung eine fachlich benannte, wiederverwendbare Schnittstelle.</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36</a:t>
            </a:fld>
            <a:endParaRPr lang="de-DE" dirty="0"/>
          </a:p>
        </p:txBody>
      </p:sp>
    </p:spTree>
    <p:extLst>
      <p:ext uri="{BB962C8B-B14F-4D97-AF65-F5344CB8AC3E}">
        <p14:creationId xmlns:p14="http://schemas.microsoft.com/office/powerpoint/2010/main" val="241325698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Aus Sicht des ABAP-Programms spielt es zunächst keine Rolle, wie ein CDS-Element entstanden ist.</a:t>
            </a:r>
          </a:p>
          <a:p>
            <a:endParaRPr lang="de-DE" dirty="0"/>
          </a:p>
          <a:p>
            <a:r>
              <a:rPr lang="de-DE" sz="1200" kern="1200" dirty="0" err="1">
                <a:solidFill>
                  <a:schemeClr val="tx1"/>
                </a:solidFill>
                <a:latin typeface="+mn-lt"/>
                <a:ea typeface="+mn-ea"/>
                <a:cs typeface="+mn-cs"/>
              </a:rPr>
              <a:t>OrderId</a:t>
            </a:r>
            <a:r>
              <a:rPr lang="de-DE" dirty="0"/>
              <a:t> und </a:t>
            </a:r>
            <a:r>
              <a:rPr lang="de-DE" sz="1200" kern="1200" dirty="0" err="1">
                <a:solidFill>
                  <a:schemeClr val="tx1"/>
                </a:solidFill>
                <a:latin typeface="+mn-lt"/>
                <a:ea typeface="+mn-ea"/>
                <a:cs typeface="+mn-cs"/>
              </a:rPr>
              <a:t>CustomerId</a:t>
            </a:r>
            <a:r>
              <a:rPr lang="de-DE" dirty="0"/>
              <a:t> stammen unmittelbar aus Feldern der Auftragstabelle und besitzen lediglich einen fachlichen Alias.</a:t>
            </a:r>
          </a:p>
          <a:p>
            <a:endParaRPr lang="de-DE" dirty="0"/>
          </a:p>
          <a:p>
            <a:r>
              <a:rPr lang="de-DE" sz="1200" kern="1200" dirty="0" err="1">
                <a:solidFill>
                  <a:schemeClr val="tx1"/>
                </a:solidFill>
                <a:latin typeface="+mn-lt"/>
                <a:ea typeface="+mn-ea"/>
                <a:cs typeface="+mn-cs"/>
              </a:rPr>
              <a:t>CustomerName</a:t>
            </a:r>
            <a:r>
              <a:rPr lang="de-DE" dirty="0"/>
              <a:t> wird über die Assoziation </a:t>
            </a:r>
            <a:r>
              <a:rPr lang="de-DE" sz="1200" kern="1200" dirty="0">
                <a:solidFill>
                  <a:schemeClr val="tx1"/>
                </a:solidFill>
                <a:latin typeface="+mn-lt"/>
                <a:ea typeface="+mn-ea"/>
                <a:cs typeface="+mn-cs"/>
              </a:rPr>
              <a:t>_Customer</a:t>
            </a:r>
            <a:r>
              <a:rPr lang="de-DE" dirty="0"/>
              <a:t> ermittelt. </a:t>
            </a:r>
            <a:r>
              <a:rPr lang="de-DE" sz="1200" kern="1200" dirty="0" err="1">
                <a:solidFill>
                  <a:schemeClr val="tx1"/>
                </a:solidFill>
                <a:latin typeface="+mn-lt"/>
                <a:ea typeface="+mn-ea"/>
                <a:cs typeface="+mn-cs"/>
              </a:rPr>
              <a:t>OrderTypeText</a:t>
            </a:r>
            <a:r>
              <a:rPr lang="de-DE" dirty="0"/>
              <a:t> entsteht durch einen Ausdruck innerhalb der View.</a:t>
            </a:r>
          </a:p>
          <a:p>
            <a:endParaRPr lang="de-DE" dirty="0"/>
          </a:p>
          <a:p>
            <a:r>
              <a:rPr lang="de-DE" dirty="0"/>
              <a:t>Trotz dieser unterschiedlichen Herkunft können alle Elemente auf dieselbe Weise in der Feldliste eines </a:t>
            </a:r>
            <a:r>
              <a:rPr lang="de-DE" sz="1200" kern="1200" dirty="0">
                <a:solidFill>
                  <a:schemeClr val="tx1"/>
                </a:solidFill>
                <a:latin typeface="+mn-lt"/>
                <a:ea typeface="+mn-ea"/>
                <a:cs typeface="+mn-cs"/>
              </a:rPr>
              <a:t>SELECT</a:t>
            </a:r>
            <a:r>
              <a:rPr lang="de-DE" dirty="0"/>
              <a:t> verwendet werden.</a:t>
            </a:r>
          </a:p>
          <a:p>
            <a:endParaRPr lang="de-DE" dirty="0"/>
          </a:p>
          <a:p>
            <a:r>
              <a:rPr lang="de-DE" dirty="0"/>
              <a:t>Genau darin liegt ein wesentlicher Vorteil des CDS-Modells: Die Anwendung arbeitet mit einer stabilen fachlichen Schnittstelle und nicht mit den technischen Details ihrer Implementierung.</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37</a:t>
            </a:fld>
            <a:endParaRPr lang="de-DE" dirty="0"/>
          </a:p>
        </p:txBody>
      </p:sp>
    </p:spTree>
    <p:extLst>
      <p:ext uri="{BB962C8B-B14F-4D97-AF65-F5344CB8AC3E}">
        <p14:creationId xmlns:p14="http://schemas.microsoft.com/office/powerpoint/2010/main" val="324009050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Der Zugriff auf eine CDS View Entity verwendet dieselben grundlegenden ABAP-SQL-Klauseln wie ein Zugriff auf Tabellen.</a:t>
            </a:r>
          </a:p>
          <a:p>
            <a:endParaRPr lang="de-DE" dirty="0"/>
          </a:p>
          <a:p>
            <a:r>
              <a:rPr lang="de-DE" dirty="0"/>
              <a:t>Mit </a:t>
            </a:r>
            <a:r>
              <a:rPr lang="de-DE" sz="1200" kern="1200" dirty="0">
                <a:solidFill>
                  <a:schemeClr val="tx1"/>
                </a:solidFill>
                <a:latin typeface="+mn-lt"/>
                <a:ea typeface="+mn-ea"/>
                <a:cs typeface="+mn-cs"/>
              </a:rPr>
              <a:t>WHERE</a:t>
            </a:r>
            <a:r>
              <a:rPr lang="de-DE" dirty="0"/>
              <a:t> schränken wir die Ergebnismenge ein. Dabei verwenden wir wiederum den CDS-Elementnamen </a:t>
            </a:r>
            <a:r>
              <a:rPr lang="de-DE" sz="1200" kern="1200" dirty="0" err="1">
                <a:solidFill>
                  <a:schemeClr val="tx1"/>
                </a:solidFill>
                <a:latin typeface="+mn-lt"/>
                <a:ea typeface="+mn-ea"/>
                <a:cs typeface="+mn-cs"/>
              </a:rPr>
              <a:t>CustomerId</a:t>
            </a:r>
            <a:r>
              <a:rPr lang="de-DE" dirty="0"/>
              <a:t>.</a:t>
            </a:r>
          </a:p>
          <a:p>
            <a:endParaRPr lang="de-DE" dirty="0"/>
          </a:p>
          <a:p>
            <a:r>
              <a:rPr lang="de-DE" dirty="0"/>
              <a:t>Die Variable </a:t>
            </a:r>
            <a:r>
              <a:rPr lang="de-DE" sz="1200" kern="1200" dirty="0" err="1">
                <a:solidFill>
                  <a:schemeClr val="tx1"/>
                </a:solidFill>
                <a:latin typeface="+mn-lt"/>
                <a:ea typeface="+mn-ea"/>
                <a:cs typeface="+mn-cs"/>
              </a:rPr>
              <a:t>customer_id</a:t>
            </a:r>
            <a:r>
              <a:rPr lang="de-DE" dirty="0"/>
              <a:t> ist eine ABAP-Variable. Deshalb wird sie innerhalb der SQL-Anweisung mit dem Escape-Zeichen </a:t>
            </a:r>
            <a:r>
              <a:rPr lang="de-DE" sz="1200" kern="1200" dirty="0">
                <a:solidFill>
                  <a:schemeClr val="tx1"/>
                </a:solidFill>
                <a:latin typeface="+mn-lt"/>
                <a:ea typeface="+mn-ea"/>
                <a:cs typeface="+mn-cs"/>
              </a:rPr>
              <a:t>@</a:t>
            </a:r>
            <a:r>
              <a:rPr lang="de-DE" dirty="0"/>
              <a:t> gekennzeichnet.</a:t>
            </a:r>
          </a:p>
          <a:p>
            <a:endParaRPr lang="de-DE" dirty="0"/>
          </a:p>
          <a:p>
            <a:r>
              <a:rPr lang="de-DE" dirty="0"/>
              <a:t>Mit </a:t>
            </a:r>
            <a:r>
              <a:rPr lang="de-DE" sz="1200" kern="1200" dirty="0">
                <a:solidFill>
                  <a:schemeClr val="tx1"/>
                </a:solidFill>
                <a:latin typeface="+mn-lt"/>
                <a:ea typeface="+mn-ea"/>
                <a:cs typeface="+mn-cs"/>
              </a:rPr>
              <a:t>ORDER BY</a:t>
            </a:r>
            <a:r>
              <a:rPr lang="de-DE" dirty="0"/>
              <a:t> legen wir die Reihenfolge des Ergebnisses fest. Ohne eine solche Angabe ist die Reihenfolge einer Datenbankabfrage grundsätzlich nicht garantiert.</a:t>
            </a:r>
          </a:p>
          <a:p>
            <a:endParaRPr lang="de-DE" dirty="0"/>
          </a:p>
          <a:p>
            <a:r>
              <a:rPr lang="de-DE" sz="1200" kern="1200" dirty="0">
                <a:solidFill>
                  <a:schemeClr val="tx1"/>
                </a:solidFill>
                <a:latin typeface="+mn-lt"/>
                <a:ea typeface="+mn-ea"/>
                <a:cs typeface="+mn-cs"/>
              </a:rPr>
              <a:t>INTO TABLE @DATA(orders)</a:t>
            </a:r>
            <a:r>
              <a:rPr lang="de-DE" dirty="0"/>
              <a:t> deklariert die interne Tabelle inline. Ihr Zeilentyp wird aus der angegebenen Feldliste abgeleitet. Das Ergebnis enthält daher nur die fünf ausgewählten Komponenten und nicht automatisch alle Elemente der View.</a:t>
            </a:r>
          </a:p>
          <a:p>
            <a:endParaRPr lang="de-DE" dirty="0"/>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38</a:t>
            </a:fld>
            <a:endParaRPr lang="de-DE" dirty="0"/>
          </a:p>
        </p:txBody>
      </p:sp>
    </p:spTree>
    <p:extLst>
      <p:ext uri="{BB962C8B-B14F-4D97-AF65-F5344CB8AC3E}">
        <p14:creationId xmlns:p14="http://schemas.microsoft.com/office/powerpoint/2010/main" val="209925556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Eine CDS View kann viele Elemente anbieten. Das bedeutet nicht, dass ein Verbraucher immer alle diese Elemente lesen sollte.</a:t>
            </a:r>
          </a:p>
          <a:p>
            <a:endParaRPr lang="de-DE" dirty="0"/>
          </a:p>
          <a:p>
            <a:r>
              <a:rPr lang="de-DE" dirty="0"/>
              <a:t>Mit </a:t>
            </a:r>
            <a:r>
              <a:rPr lang="de-DE" sz="1200" kern="1200" dirty="0">
                <a:solidFill>
                  <a:schemeClr val="tx1"/>
                </a:solidFill>
                <a:latin typeface="+mn-lt"/>
                <a:ea typeface="+mn-ea"/>
                <a:cs typeface="+mn-cs"/>
              </a:rPr>
              <a:t>FIELDS *</a:t>
            </a:r>
            <a:r>
              <a:rPr lang="de-DE" dirty="0"/>
              <a:t> erhalten wir alle skalaren Elemente der View. Das ist für einen schnellen Test bequem, aber für Anwendungscode häufig zu breit.</a:t>
            </a:r>
          </a:p>
          <a:p>
            <a:endParaRPr lang="de-DE" dirty="0"/>
          </a:p>
          <a:p>
            <a:r>
              <a:rPr lang="de-DE" dirty="0"/>
              <a:t>Besser ist eine gezielte Feldliste. Sie zeigt unmittelbar, welche Informationen das Programm tatsächlich benötigt. Außerdem werden keine unnötigen Daten von der Datenbank zum ABAP-Server transportiert.</a:t>
            </a:r>
          </a:p>
          <a:p>
            <a:endParaRPr lang="de-DE" dirty="0"/>
          </a:p>
          <a:p>
            <a:r>
              <a:rPr lang="de-DE" dirty="0"/>
              <a:t>Exponierte Assoziationen werden durch </a:t>
            </a:r>
            <a:r>
              <a:rPr lang="de-DE" sz="1200" kern="1200" dirty="0">
                <a:solidFill>
                  <a:schemeClr val="tx1"/>
                </a:solidFill>
                <a:latin typeface="+mn-lt"/>
                <a:ea typeface="+mn-ea"/>
                <a:cs typeface="+mn-cs"/>
              </a:rPr>
              <a:t>FIELDS *</a:t>
            </a:r>
            <a:r>
              <a:rPr lang="de-DE" dirty="0"/>
              <a:t> übrigens nicht als verschachtelte Datenstrukturen in die interne Tabelle übernommen. Eine Assoziation ist kein gewöhnliches skalares Element. Sie beschreibt einen möglichen Navigationsweg.</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39</a:t>
            </a:fld>
            <a:endParaRPr lang="de-DE" dirty="0"/>
          </a:p>
        </p:txBody>
      </p:sp>
    </p:spTree>
    <p:extLst>
      <p:ext uri="{BB962C8B-B14F-4D97-AF65-F5344CB8AC3E}">
        <p14:creationId xmlns:p14="http://schemas.microsoft.com/office/powerpoint/2010/main" val="157259192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Exponierte CDS-Assoziationen können auch unmittelbar in ABAP SQL verwendet werden.</a:t>
            </a:r>
          </a:p>
          <a:p>
            <a:endParaRPr lang="de-DE" dirty="0"/>
          </a:p>
          <a:p>
            <a:r>
              <a:rPr lang="de-DE" dirty="0"/>
              <a:t>Dabei ist eine Besonderheit der Syntax zu beachten: Innerhalb der CDS-Definition werden die Abschnitte eines Pfadausdrucks mit Punkten getrennt. In ABAP SQL werden Assoziationen innerhalb eines Pfades dagegen mit einem Backslash angegeben.</a:t>
            </a:r>
          </a:p>
          <a:p>
            <a:endParaRPr lang="de-DE" dirty="0"/>
          </a:p>
          <a:p>
            <a:r>
              <a:rPr lang="de-DE" sz="1200" kern="1200" dirty="0" err="1">
                <a:solidFill>
                  <a:schemeClr val="tx1"/>
                </a:solidFill>
                <a:latin typeface="+mn-lt"/>
                <a:ea typeface="+mn-ea"/>
                <a:cs typeface="+mn-cs"/>
              </a:rPr>
              <a:t>ZI_CDSOrder</a:t>
            </a:r>
            <a:r>
              <a:rPr lang="de-DE" sz="1200" kern="1200" dirty="0">
                <a:solidFill>
                  <a:schemeClr val="tx1"/>
                </a:solidFill>
                <a:latin typeface="+mn-lt"/>
                <a:ea typeface="+mn-ea"/>
                <a:cs typeface="+mn-cs"/>
              </a:rPr>
              <a:t>\_Items</a:t>
            </a:r>
            <a:r>
              <a:rPr lang="de-DE" dirty="0"/>
              <a:t> beginnt bei der Auftrags-View und folgt anschließend der exponierten Assoziation </a:t>
            </a:r>
            <a:r>
              <a:rPr lang="de-DE" sz="1200" kern="1200" dirty="0">
                <a:solidFill>
                  <a:schemeClr val="tx1"/>
                </a:solidFill>
                <a:latin typeface="+mn-lt"/>
                <a:ea typeface="+mn-ea"/>
                <a:cs typeface="+mn-cs"/>
              </a:rPr>
              <a:t>_Items</a:t>
            </a:r>
            <a:r>
              <a:rPr lang="de-DE" dirty="0"/>
              <a:t>. Die Zieldatenquelle dieses Pfades ist </a:t>
            </a:r>
            <a:r>
              <a:rPr lang="de-DE" sz="1200" kern="1200" dirty="0" err="1">
                <a:solidFill>
                  <a:schemeClr val="tx1"/>
                </a:solidFill>
                <a:latin typeface="+mn-lt"/>
                <a:ea typeface="+mn-ea"/>
                <a:cs typeface="+mn-cs"/>
              </a:rPr>
              <a:t>ZI_CDSOrderItem</a:t>
            </a:r>
            <a:r>
              <a:rPr lang="de-DE" dirty="0"/>
              <a:t>.</a:t>
            </a:r>
          </a:p>
          <a:p>
            <a:endParaRPr lang="de-DE" dirty="0"/>
          </a:p>
          <a:p>
            <a:r>
              <a:rPr lang="de-DE" dirty="0"/>
              <a:t>Da eine Datenquelle, die durch einen Pfadausdruck angegeben wird, mit einem Alias angesprochen werden muss, vergeben wir den Namen </a:t>
            </a:r>
            <a:r>
              <a:rPr lang="de-DE" sz="1200" kern="1200" dirty="0">
                <a:solidFill>
                  <a:schemeClr val="tx1"/>
                </a:solidFill>
                <a:latin typeface="+mn-lt"/>
                <a:ea typeface="+mn-ea"/>
                <a:cs typeface="+mn-cs"/>
              </a:rPr>
              <a:t>Item</a:t>
            </a:r>
            <a:r>
              <a:rPr lang="de-DE" dirty="0"/>
              <a:t>. Die einzelnen Elemente schreiben wir anschließend beispielsweise als </a:t>
            </a:r>
            <a:r>
              <a:rPr lang="de-DE" sz="1200" kern="1200" dirty="0" err="1">
                <a:solidFill>
                  <a:schemeClr val="tx1"/>
                </a:solidFill>
                <a:latin typeface="+mn-lt"/>
                <a:ea typeface="+mn-ea"/>
                <a:cs typeface="+mn-cs"/>
              </a:rPr>
              <a:t>Item~OrderId</a:t>
            </a:r>
            <a:r>
              <a:rPr lang="de-DE" dirty="0"/>
              <a:t>.</a:t>
            </a:r>
          </a:p>
          <a:p>
            <a:endParaRPr lang="de-DE" dirty="0"/>
          </a:p>
          <a:p>
            <a:r>
              <a:rPr lang="de-DE" dirty="0"/>
              <a:t>Die To-Many-Kardinalität ist hier sichtbar: Ein Auftrag kann mehrere Zielzeilen erzeugen. Das Ergebnis besitzt daher nicht mehr die Auftragsebene, sondern die Positionsebene.</a:t>
            </a:r>
          </a:p>
          <a:p>
            <a:endParaRPr lang="de-DE" dirty="0"/>
          </a:p>
          <a:p>
            <a:r>
              <a:rPr lang="de-DE" dirty="0"/>
              <a:t>Der Pfadausdruck nach </a:t>
            </a:r>
            <a:r>
              <a:rPr lang="de-DE" sz="1200" kern="1200" dirty="0">
                <a:solidFill>
                  <a:schemeClr val="tx1"/>
                </a:solidFill>
                <a:latin typeface="+mn-lt"/>
                <a:ea typeface="+mn-ea"/>
                <a:cs typeface="+mn-cs"/>
              </a:rPr>
              <a:t>FROM</a:t>
            </a:r>
            <a:r>
              <a:rPr lang="de-DE" dirty="0"/>
              <a:t> führt grundsätzlich zu einer inneren Verknüpfung. Ein Auftrag ohne Positionen taucht in dieser Ergebnismenge somit nicht auf.</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40</a:t>
            </a:fld>
            <a:endParaRPr lang="de-DE" dirty="0"/>
          </a:p>
        </p:txBody>
      </p:sp>
    </p:spTree>
    <p:extLst>
      <p:ext uri="{BB962C8B-B14F-4D97-AF65-F5344CB8AC3E}">
        <p14:creationId xmlns:p14="http://schemas.microsoft.com/office/powerpoint/2010/main" val="257143253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Auf die Positions-View können wir selbstverständlich auch direkt zugreifen. Wenn ein Programm allgemein Positionen verarbeiten soll, ist das häufig die einfachste und klarste Variante.</a:t>
            </a:r>
          </a:p>
          <a:p>
            <a:endParaRPr lang="de-DE" dirty="0"/>
          </a:p>
          <a:p>
            <a:r>
              <a:rPr lang="de-DE" dirty="0"/>
              <a:t>Der Assoziationspfad drückt dagegen aus, dass wir vom Auftrag zu seinen Positionen navigieren. Das Programm verwendet damit nicht nur die beiden View </a:t>
            </a:r>
            <a:r>
              <a:rPr lang="de-DE" dirty="0" err="1"/>
              <a:t>Entities</a:t>
            </a:r>
            <a:r>
              <a:rPr lang="de-DE" dirty="0"/>
              <a:t>, sondern ausdrücklich auch die Beziehung zwischen ihnen.</a:t>
            </a:r>
          </a:p>
          <a:p>
            <a:endParaRPr lang="de-DE" dirty="0"/>
          </a:p>
          <a:p>
            <a:r>
              <a:rPr lang="de-DE" dirty="0"/>
              <a:t>Die beiden Varianten liefern in unserem einfachen Modell möglicherweise dieselben Positionsdaten. Semantisch besitzen sie aber unterschiedliche Einstiegspunkte.</a:t>
            </a:r>
          </a:p>
          <a:p>
            <a:endParaRPr lang="de-DE" dirty="0"/>
          </a:p>
          <a:p>
            <a:r>
              <a:rPr lang="de-DE" dirty="0"/>
              <a:t>Welche Variante geeigneter ist, hängt von der Aufgabe des Programms ab. Assoziationen müssen nicht zwanghaft in jeder Abfrage verwendet werden. Sie bieten einen zusätzlichen, fachlich benannten Navigationsweg.</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41</a:t>
            </a:fld>
            <a:endParaRPr lang="de-DE" dirty="0"/>
          </a:p>
        </p:txBody>
      </p:sp>
    </p:spTree>
    <p:extLst>
      <p:ext uri="{BB962C8B-B14F-4D97-AF65-F5344CB8AC3E}">
        <p14:creationId xmlns:p14="http://schemas.microsoft.com/office/powerpoint/2010/main" val="123209524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Im nächsten Live-Coding erstellen wir eine ausführbare ABAP-Klasse.</a:t>
            </a:r>
          </a:p>
          <a:p>
            <a:endParaRPr lang="de-DE" dirty="0"/>
          </a:p>
          <a:p>
            <a:r>
              <a:rPr lang="de-DE" dirty="0"/>
              <a:t>Über das Interface </a:t>
            </a:r>
            <a:r>
              <a:rPr lang="de-DE" sz="1200" kern="1200" dirty="0">
                <a:solidFill>
                  <a:schemeClr val="tx1"/>
                </a:solidFill>
                <a:latin typeface="+mn-lt"/>
                <a:ea typeface="+mn-ea"/>
                <a:cs typeface="+mn-cs"/>
              </a:rPr>
              <a:t>IF_OO_ADT_CLASSRUN</a:t>
            </a:r>
            <a:r>
              <a:rPr lang="de-DE" dirty="0"/>
              <a:t> kann die Klasse direkt aus ADT gestartet werden. Die Ergebnisse schreiben wir in die Konsole. Dadurch benötigen wir weder eine Benutzeroberfläche noch einen Service.</a:t>
            </a:r>
          </a:p>
          <a:p>
            <a:endParaRPr lang="de-DE" dirty="0"/>
          </a:p>
          <a:p>
            <a:r>
              <a:rPr lang="de-DE" dirty="0"/>
              <a:t>Zunächst lesen wir einige Aufträge direkt aus </a:t>
            </a:r>
            <a:r>
              <a:rPr lang="de-DE" sz="1200" kern="1200" dirty="0" err="1">
                <a:solidFill>
                  <a:schemeClr val="tx1"/>
                </a:solidFill>
                <a:latin typeface="+mn-lt"/>
                <a:ea typeface="+mn-ea"/>
                <a:cs typeface="+mn-cs"/>
              </a:rPr>
              <a:t>ZI_CDSOrder</a:t>
            </a:r>
            <a:r>
              <a:rPr lang="de-DE" dirty="0"/>
              <a:t>. Anschließend lesen wir die Positionen einmal unmittelbar aus </a:t>
            </a:r>
            <a:r>
              <a:rPr lang="de-DE" sz="1200" kern="1200" dirty="0" err="1">
                <a:solidFill>
                  <a:schemeClr val="tx1"/>
                </a:solidFill>
                <a:latin typeface="+mn-lt"/>
                <a:ea typeface="+mn-ea"/>
                <a:cs typeface="+mn-cs"/>
              </a:rPr>
              <a:t>ZI_CDSOrderItem</a:t>
            </a:r>
            <a:r>
              <a:rPr lang="de-DE" dirty="0"/>
              <a:t> und einmal über die exponierte Assoziation </a:t>
            </a:r>
            <a:r>
              <a:rPr lang="de-DE" sz="1200" kern="1200" dirty="0">
                <a:solidFill>
                  <a:schemeClr val="tx1"/>
                </a:solidFill>
                <a:latin typeface="+mn-lt"/>
                <a:ea typeface="+mn-ea"/>
                <a:cs typeface="+mn-cs"/>
              </a:rPr>
              <a:t>_Items</a:t>
            </a:r>
            <a:r>
              <a:rPr lang="de-DE" dirty="0"/>
              <a:t>.</a:t>
            </a:r>
          </a:p>
          <a:p>
            <a:endParaRPr lang="de-DE" dirty="0"/>
          </a:p>
          <a:p>
            <a:r>
              <a:rPr lang="de-DE" dirty="0"/>
              <a:t>Damit können wir nicht nur die Syntax vergleichen, sondern auch prüfen, ob beide Zugriffswege die erwarteten Daten liefern.</a:t>
            </a:r>
          </a:p>
          <a:p>
            <a:endParaRPr lang="de-DE" b="1" dirty="0"/>
          </a:p>
          <a:p>
            <a:r>
              <a:rPr lang="de-DE" b="1" dirty="0"/>
              <a:t>Live-Coding 5: CDS-Daten aus ABAP lesen</a:t>
            </a:r>
          </a:p>
          <a:p>
            <a:r>
              <a:rPr lang="de-DE" b="1" dirty="0"/>
              <a:t>Ziel und Zeitbedarf</a:t>
            </a:r>
          </a:p>
          <a:p>
            <a:r>
              <a:rPr lang="de-DE" b="1" dirty="0"/>
              <a:t>Dauer:</a:t>
            </a:r>
            <a:r>
              <a:rPr lang="de-DE" dirty="0"/>
              <a:t> etwa 20 Minuten</a:t>
            </a:r>
            <a:br>
              <a:rPr lang="de-DE" dirty="0"/>
            </a:br>
            <a:r>
              <a:rPr lang="de-DE" b="1" dirty="0"/>
              <a:t>Ausgangsstand:</a:t>
            </a:r>
            <a:r>
              <a:rPr lang="de-DE" dirty="0"/>
              <a:t> verbundenes CDS-Modell aus Live-Coding 4</a:t>
            </a:r>
            <a:br>
              <a:rPr lang="de-DE" dirty="0"/>
            </a:br>
            <a:r>
              <a:rPr lang="de-DE" b="1" dirty="0"/>
              <a:t>Ergebnis:</a:t>
            </a:r>
            <a:r>
              <a:rPr lang="de-DE" dirty="0"/>
              <a:t> ausführbare ABAP-Klasse mit drei ABAP-SQL-Abfragen</a:t>
            </a:r>
          </a:p>
          <a:p>
            <a:endParaRPr lang="de-DE" b="1" dirty="0"/>
          </a:p>
          <a:p>
            <a:r>
              <a:rPr lang="de-DE" b="1" dirty="0"/>
              <a:t>1. ABAP-Klasse anlegen – ca. 3 Minuten</a:t>
            </a:r>
            <a:br>
              <a:rPr lang="de-DE" b="1" dirty="0"/>
            </a:br>
            <a:r>
              <a:rPr lang="de-DE" b="1" dirty="0"/>
              <a:t>Erläuterungen während der Demo</a:t>
            </a:r>
          </a:p>
          <a:p>
            <a:pPr lvl="0"/>
            <a:r>
              <a:rPr lang="de-DE" dirty="0"/>
              <a:t>Die Klasse ist öffentlich und </a:t>
            </a:r>
            <a:r>
              <a:rPr lang="de-DE" dirty="0" err="1"/>
              <a:t>instanziierbar</a:t>
            </a:r>
            <a:r>
              <a:rPr lang="de-DE" dirty="0"/>
              <a:t>. </a:t>
            </a:r>
          </a:p>
          <a:p>
            <a:pPr lvl="0"/>
            <a:r>
              <a:rPr lang="de-DE" sz="1200" kern="1200" dirty="0">
                <a:solidFill>
                  <a:schemeClr val="tx1"/>
                </a:solidFill>
                <a:latin typeface="+mn-lt"/>
                <a:ea typeface="+mn-ea"/>
                <a:cs typeface="+mn-cs"/>
              </a:rPr>
              <a:t>FINAL</a:t>
            </a:r>
            <a:r>
              <a:rPr lang="de-DE" dirty="0"/>
              <a:t> verhindert eine Ableitung, ist für die Demo aber nicht der entscheidende Punkt. </a:t>
            </a:r>
          </a:p>
          <a:p>
            <a:pPr lvl="0"/>
            <a:r>
              <a:rPr lang="de-DE" sz="1200" kern="1200" dirty="0">
                <a:solidFill>
                  <a:schemeClr val="tx1"/>
                </a:solidFill>
                <a:latin typeface="+mn-lt"/>
                <a:ea typeface="+mn-ea"/>
                <a:cs typeface="+mn-cs"/>
              </a:rPr>
              <a:t>IF_OO_ADT_CLASSRUN</a:t>
            </a:r>
            <a:r>
              <a:rPr lang="de-DE" dirty="0"/>
              <a:t> stellt die Methode </a:t>
            </a:r>
            <a:r>
              <a:rPr lang="de-DE" sz="1200" kern="1200" dirty="0" err="1">
                <a:solidFill>
                  <a:schemeClr val="tx1"/>
                </a:solidFill>
                <a:latin typeface="+mn-lt"/>
                <a:ea typeface="+mn-ea"/>
                <a:cs typeface="+mn-cs"/>
              </a:rPr>
              <a:t>main</a:t>
            </a:r>
            <a:r>
              <a:rPr lang="de-DE" dirty="0"/>
              <a:t> bereit. </a:t>
            </a:r>
          </a:p>
          <a:p>
            <a:pPr lvl="0"/>
            <a:r>
              <a:rPr lang="de-DE" dirty="0"/>
              <a:t>Der Parameter </a:t>
            </a:r>
            <a:r>
              <a:rPr lang="de-DE" sz="1200" kern="1200" dirty="0">
                <a:solidFill>
                  <a:schemeClr val="tx1"/>
                </a:solidFill>
                <a:latin typeface="+mn-lt"/>
                <a:ea typeface="+mn-ea"/>
                <a:cs typeface="+mn-cs"/>
              </a:rPr>
              <a:t>out</a:t>
            </a:r>
            <a:r>
              <a:rPr lang="de-DE" dirty="0"/>
              <a:t> erlaubt Ausgaben in der ADT-Konsole. </a:t>
            </a:r>
          </a:p>
          <a:p>
            <a:pPr lvl="0"/>
            <a:r>
              <a:rPr lang="de-DE" dirty="0"/>
              <a:t>Die Klasse lässt sich mit „Run As → ABAP </a:t>
            </a:r>
            <a:r>
              <a:rPr lang="de-DE" dirty="0" err="1"/>
              <a:t>Application</a:t>
            </a:r>
            <a:r>
              <a:rPr lang="de-DE" dirty="0"/>
              <a:t> (Console)“ starten.</a:t>
            </a:r>
          </a:p>
          <a:p>
            <a:pPr marL="228600" indent="-228600">
              <a:buAutoNum type="arabicPeriod"/>
            </a:pPr>
            <a:endParaRPr lang="de-DE" b="1" dirty="0"/>
          </a:p>
          <a:p>
            <a:pPr marL="0" indent="0">
              <a:buFont typeface="Arial" panose="020B0604020202020204" pitchFamily="34" charset="0"/>
              <a:buNone/>
            </a:pPr>
            <a:r>
              <a:rPr lang="de-DE" b="1" dirty="0"/>
              <a:t>2. Aufträge aus der View Entity lesen</a:t>
            </a:r>
          </a:p>
          <a:p>
            <a:r>
              <a:rPr lang="de-DE" b="1" dirty="0"/>
              <a:t>Erläuterungen während der Demo</a:t>
            </a:r>
          </a:p>
          <a:p>
            <a:pPr lvl="0"/>
            <a:r>
              <a:rPr lang="de-DE" sz="1200" kern="1200" dirty="0" err="1">
                <a:solidFill>
                  <a:schemeClr val="tx1"/>
                </a:solidFill>
                <a:latin typeface="+mn-lt"/>
                <a:ea typeface="+mn-ea"/>
                <a:cs typeface="+mn-cs"/>
              </a:rPr>
              <a:t>ZI_CDSOrder</a:t>
            </a:r>
            <a:r>
              <a:rPr lang="de-DE" dirty="0"/>
              <a:t> ist unmittelbar die Datenquelle. </a:t>
            </a:r>
          </a:p>
          <a:p>
            <a:pPr lvl="0"/>
            <a:r>
              <a:rPr lang="de-DE" dirty="0"/>
              <a:t>Die Feldliste verwendet ausschließlich CDS-Elementnamen. </a:t>
            </a:r>
          </a:p>
          <a:p>
            <a:pPr lvl="0"/>
            <a:r>
              <a:rPr lang="de-DE" sz="1200" kern="1200" dirty="0" err="1">
                <a:solidFill>
                  <a:schemeClr val="tx1"/>
                </a:solidFill>
                <a:latin typeface="+mn-lt"/>
                <a:ea typeface="+mn-ea"/>
                <a:cs typeface="+mn-cs"/>
              </a:rPr>
              <a:t>CustomerName</a:t>
            </a:r>
            <a:r>
              <a:rPr lang="de-DE" dirty="0"/>
              <a:t> stammt aus der Kundenassoziation. </a:t>
            </a:r>
          </a:p>
          <a:p>
            <a:pPr lvl="0"/>
            <a:r>
              <a:rPr lang="de-DE" sz="1200" kern="1200" dirty="0" err="1">
                <a:solidFill>
                  <a:schemeClr val="tx1"/>
                </a:solidFill>
                <a:latin typeface="+mn-lt"/>
                <a:ea typeface="+mn-ea"/>
                <a:cs typeface="+mn-cs"/>
              </a:rPr>
              <a:t>OrderTypeText</a:t>
            </a:r>
            <a:r>
              <a:rPr lang="de-DE" dirty="0"/>
              <a:t> und </a:t>
            </a:r>
            <a:r>
              <a:rPr lang="de-DE" sz="1200" kern="1200" dirty="0" err="1">
                <a:solidFill>
                  <a:schemeClr val="tx1"/>
                </a:solidFill>
                <a:latin typeface="+mn-lt"/>
                <a:ea typeface="+mn-ea"/>
                <a:cs typeface="+mn-cs"/>
              </a:rPr>
              <a:t>StatusText</a:t>
            </a:r>
            <a:r>
              <a:rPr lang="de-DE" dirty="0"/>
              <a:t> sind berechnete Elemente. </a:t>
            </a:r>
          </a:p>
          <a:p>
            <a:pPr lvl="0"/>
            <a:r>
              <a:rPr lang="de-DE" dirty="0"/>
              <a:t>Das ABAP-Programm enthält weder einen </a:t>
            </a:r>
            <a:r>
              <a:rPr lang="de-DE" dirty="0" err="1"/>
              <a:t>Join</a:t>
            </a:r>
            <a:r>
              <a:rPr lang="de-DE" dirty="0"/>
              <a:t> noch einen </a:t>
            </a:r>
            <a:r>
              <a:rPr lang="de-DE" sz="1200" kern="1200" dirty="0">
                <a:solidFill>
                  <a:schemeClr val="tx1"/>
                </a:solidFill>
                <a:latin typeface="+mn-lt"/>
                <a:ea typeface="+mn-ea"/>
                <a:cs typeface="+mn-cs"/>
              </a:rPr>
              <a:t>CASE</a:t>
            </a:r>
            <a:r>
              <a:rPr lang="de-DE" dirty="0"/>
              <a:t>-Ausdruck. </a:t>
            </a:r>
          </a:p>
          <a:p>
            <a:pPr lvl="0"/>
            <a:r>
              <a:rPr lang="de-DE" sz="1200" kern="1200" dirty="0">
                <a:solidFill>
                  <a:schemeClr val="tx1"/>
                </a:solidFill>
                <a:latin typeface="+mn-lt"/>
                <a:ea typeface="+mn-ea"/>
                <a:cs typeface="+mn-cs"/>
              </a:rPr>
              <a:t>ORDER BY </a:t>
            </a:r>
            <a:r>
              <a:rPr lang="de-DE" sz="1200" kern="1200" dirty="0" err="1">
                <a:solidFill>
                  <a:schemeClr val="tx1"/>
                </a:solidFill>
                <a:latin typeface="+mn-lt"/>
                <a:ea typeface="+mn-ea"/>
                <a:cs typeface="+mn-cs"/>
              </a:rPr>
              <a:t>OrderId</a:t>
            </a:r>
            <a:r>
              <a:rPr lang="de-DE" dirty="0"/>
              <a:t> garantiert die gezeigte Reihenfolge. </a:t>
            </a:r>
          </a:p>
          <a:p>
            <a:pPr lvl="0"/>
            <a:r>
              <a:rPr lang="de-DE" dirty="0"/>
              <a:t>Die interne Tabelle </a:t>
            </a:r>
            <a:r>
              <a:rPr lang="de-DE" sz="1200" kern="1200" dirty="0" err="1">
                <a:solidFill>
                  <a:schemeClr val="tx1"/>
                </a:solidFill>
                <a:latin typeface="+mn-lt"/>
                <a:ea typeface="+mn-ea"/>
                <a:cs typeface="+mn-cs"/>
              </a:rPr>
              <a:t>orders</a:t>
            </a:r>
            <a:r>
              <a:rPr lang="de-DE" dirty="0"/>
              <a:t> wird aus der Feldliste abgeleitet. </a:t>
            </a:r>
          </a:p>
          <a:p>
            <a:r>
              <a:rPr lang="de-DE" b="1" dirty="0"/>
              <a:t>Begleitender Sprechtext</a:t>
            </a:r>
          </a:p>
          <a:p>
            <a:r>
              <a:rPr lang="de-DE" dirty="0"/>
              <a:t>Die Herkunft eines Elements ist im ABAP-Programm nicht mehr sichtbar.</a:t>
            </a:r>
          </a:p>
          <a:p>
            <a:r>
              <a:rPr lang="de-DE" dirty="0"/>
              <a:t>Der Kundenname wurde innerhalb des CDS-Modells über eine Assoziation ermittelt. Die beiden Texte entstanden durch </a:t>
            </a:r>
            <a:r>
              <a:rPr lang="de-DE" sz="1200" kern="1200" dirty="0">
                <a:solidFill>
                  <a:schemeClr val="tx1"/>
                </a:solidFill>
                <a:latin typeface="+mn-lt"/>
                <a:ea typeface="+mn-ea"/>
                <a:cs typeface="+mn-cs"/>
              </a:rPr>
              <a:t>CASE</a:t>
            </a:r>
            <a:r>
              <a:rPr lang="de-DE" dirty="0"/>
              <a:t>-Ausdrücke. Trotzdem lesen wir alle Elemente auf dieselbe Weise.</a:t>
            </a:r>
          </a:p>
          <a:p>
            <a:r>
              <a:rPr lang="de-DE" dirty="0"/>
              <a:t>Genau dadurch wird die View Entity zu einer wiederverwendbaren Schnittstelle. Ändert sich später die technische Ermittlung eines Elements, muss der Verbraucher nicht zwangsläufig angepasst werden, solange Name und Typ des CDS-Elements stabil bleiben.</a:t>
            </a:r>
          </a:p>
          <a:p>
            <a:pPr marL="0" indent="0">
              <a:buNone/>
            </a:pPr>
            <a:endParaRPr lang="de-DE" b="1" dirty="0"/>
          </a:p>
          <a:p>
            <a:pPr marL="0" indent="0">
              <a:buNone/>
            </a:pPr>
            <a:r>
              <a:rPr lang="de-DE" b="1" dirty="0"/>
              <a:t>3. Abfrage auf einen Kunden einschränken – ca. 3 Minuten</a:t>
            </a:r>
          </a:p>
          <a:p>
            <a:r>
              <a:rPr lang="de-DE" b="1" dirty="0"/>
              <a:t>Erläuterungen während der Demo</a:t>
            </a:r>
          </a:p>
          <a:p>
            <a:pPr lvl="0"/>
            <a:r>
              <a:rPr lang="de-DE" dirty="0"/>
              <a:t>Der Typ der Variablen wird aus dem CDS-Element abgeleitet. </a:t>
            </a:r>
          </a:p>
          <a:p>
            <a:pPr lvl="0"/>
            <a:r>
              <a:rPr lang="de-DE" dirty="0"/>
              <a:t>Dadurch passt der technische Typ zur CDS-Schnittstelle. </a:t>
            </a:r>
          </a:p>
          <a:p>
            <a:pPr lvl="0"/>
            <a:r>
              <a:rPr lang="de-DE" sz="1200" kern="1200" dirty="0">
                <a:solidFill>
                  <a:schemeClr val="tx1"/>
                </a:solidFill>
                <a:latin typeface="+mn-lt"/>
                <a:ea typeface="+mn-ea"/>
                <a:cs typeface="+mn-cs"/>
              </a:rPr>
              <a:t>@customer_id</a:t>
            </a:r>
            <a:r>
              <a:rPr lang="de-DE" dirty="0"/>
              <a:t> bezeichnet eine ABAP-Hostvariable. </a:t>
            </a:r>
          </a:p>
          <a:p>
            <a:pPr lvl="0"/>
            <a:r>
              <a:rPr lang="de-DE" dirty="0"/>
              <a:t>Die Filterung erfolgt in der Datenbank. </a:t>
            </a:r>
          </a:p>
          <a:p>
            <a:pPr lvl="0"/>
            <a:r>
              <a:rPr lang="de-DE" dirty="0"/>
              <a:t>In die interne Tabelle gelangen nur passende Datensätze. </a:t>
            </a:r>
          </a:p>
          <a:p>
            <a:pPr lvl="0"/>
            <a:r>
              <a:rPr lang="de-DE" dirty="0"/>
              <a:t>Das String-Template wird ausschließlich für die Überschrift verwendet.</a:t>
            </a:r>
          </a:p>
          <a:p>
            <a:pPr lvl="0"/>
            <a:endParaRPr lang="de-DE" dirty="0"/>
          </a:p>
          <a:p>
            <a:r>
              <a:rPr lang="de-DE" b="1" dirty="0"/>
              <a:t>4. Positionen direkt aus der Positions-View lesen – ca. 3 Minuten</a:t>
            </a:r>
          </a:p>
          <a:p>
            <a:r>
              <a:rPr lang="de-DE" dirty="0"/>
              <a:t>Zunächst wird die Ziel-View unmittelbar gelesen:</a:t>
            </a:r>
          </a:p>
          <a:p>
            <a:pPr lvl="0"/>
            <a:endParaRPr lang="de-DE" dirty="0"/>
          </a:p>
          <a:p>
            <a:r>
              <a:rPr lang="de-DE" b="1" dirty="0"/>
              <a:t>Erläuterungen während der Demo</a:t>
            </a:r>
          </a:p>
          <a:p>
            <a:pPr lvl="0"/>
            <a:r>
              <a:rPr lang="de-DE" dirty="0"/>
              <a:t>Die Ergebnisebene ist eine Auftragsposition. </a:t>
            </a:r>
          </a:p>
          <a:p>
            <a:pPr lvl="0"/>
            <a:r>
              <a:rPr lang="de-DE" sz="1200" kern="1200" dirty="0" err="1">
                <a:solidFill>
                  <a:schemeClr val="tx1"/>
                </a:solidFill>
                <a:latin typeface="+mn-lt"/>
                <a:ea typeface="+mn-ea"/>
                <a:cs typeface="+mn-cs"/>
              </a:rPr>
              <a:t>OrderId</a:t>
            </a:r>
            <a:r>
              <a:rPr lang="de-DE" dirty="0"/>
              <a:t> kann in mehreren Zeilen vorkommen. </a:t>
            </a:r>
          </a:p>
          <a:p>
            <a:pPr lvl="0"/>
            <a:r>
              <a:rPr lang="de-DE" sz="1200" kern="1200" dirty="0" err="1">
                <a:solidFill>
                  <a:schemeClr val="tx1"/>
                </a:solidFill>
                <a:latin typeface="+mn-lt"/>
                <a:ea typeface="+mn-ea"/>
                <a:cs typeface="+mn-cs"/>
              </a:rPr>
              <a:t>ItemNumber</a:t>
            </a:r>
            <a:r>
              <a:rPr lang="de-DE" dirty="0"/>
              <a:t> unterscheidet die Positionen. </a:t>
            </a:r>
          </a:p>
          <a:p>
            <a:pPr lvl="0"/>
            <a:r>
              <a:rPr lang="de-DE" sz="1200" kern="1200" dirty="0" err="1">
                <a:solidFill>
                  <a:schemeClr val="tx1"/>
                </a:solidFill>
                <a:latin typeface="+mn-lt"/>
                <a:ea typeface="+mn-ea"/>
                <a:cs typeface="+mn-cs"/>
              </a:rPr>
              <a:t>ProductName</a:t>
            </a:r>
            <a:r>
              <a:rPr lang="de-DE" dirty="0"/>
              <a:t> wurde über </a:t>
            </a:r>
            <a:r>
              <a:rPr lang="de-DE" sz="1200" kern="1200" dirty="0">
                <a:solidFill>
                  <a:schemeClr val="tx1"/>
                </a:solidFill>
                <a:latin typeface="+mn-lt"/>
                <a:ea typeface="+mn-ea"/>
                <a:cs typeface="+mn-cs"/>
              </a:rPr>
              <a:t>_</a:t>
            </a:r>
            <a:r>
              <a:rPr lang="de-DE" sz="1200" kern="1200" dirty="0" err="1">
                <a:solidFill>
                  <a:schemeClr val="tx1"/>
                </a:solidFill>
                <a:latin typeface="+mn-lt"/>
                <a:ea typeface="+mn-ea"/>
                <a:cs typeface="+mn-cs"/>
              </a:rPr>
              <a:t>Product</a:t>
            </a:r>
            <a:r>
              <a:rPr lang="de-DE" dirty="0"/>
              <a:t> in der CDS View bereitgestellt. </a:t>
            </a:r>
          </a:p>
          <a:p>
            <a:pPr lvl="0"/>
            <a:r>
              <a:rPr lang="de-DE" dirty="0"/>
              <a:t>Auch hier benötigt das ABAP-Programm keinen </a:t>
            </a:r>
            <a:r>
              <a:rPr lang="de-DE" dirty="0" err="1"/>
              <a:t>Join</a:t>
            </a:r>
            <a:r>
              <a:rPr lang="de-DE" dirty="0"/>
              <a:t> zur Produkt-View.</a:t>
            </a:r>
          </a:p>
          <a:p>
            <a:pPr lvl="0"/>
            <a:endParaRPr lang="de-DE" dirty="0"/>
          </a:p>
          <a:p>
            <a:r>
              <a:rPr lang="de-DE" b="1" dirty="0"/>
              <a:t>5. Positionen über </a:t>
            </a:r>
            <a:r>
              <a:rPr lang="de-DE" sz="1200" b="1" kern="1200" dirty="0">
                <a:solidFill>
                  <a:schemeClr val="tx1"/>
                </a:solidFill>
                <a:latin typeface="+mn-lt"/>
                <a:ea typeface="+mn-ea"/>
                <a:cs typeface="+mn-cs"/>
              </a:rPr>
              <a:t>_Items</a:t>
            </a:r>
            <a:r>
              <a:rPr lang="de-DE" b="1" dirty="0"/>
              <a:t> lesen – ca. 4 Minuten</a:t>
            </a:r>
          </a:p>
          <a:p>
            <a:r>
              <a:rPr lang="de-DE" dirty="0"/>
              <a:t>Nun dieselben fachlichen Daten über den Assoziationspfad lesen:</a:t>
            </a:r>
          </a:p>
          <a:p>
            <a:r>
              <a:rPr lang="de-DE" b="1" dirty="0"/>
              <a:t>Wichtige Erläuterung</a:t>
            </a:r>
          </a:p>
          <a:p>
            <a:r>
              <a:rPr lang="de-DE" dirty="0"/>
              <a:t>Die beiden Abfragen sind nicht einfach zwei unterschiedliche Schreibweisen für jeden denkbaren Anwendungsfall.</a:t>
            </a:r>
          </a:p>
          <a:p>
            <a:r>
              <a:rPr lang="de-DE" dirty="0"/>
              <a:t>Der direkte Zugriff startet fachlich bei den Positionen:</a:t>
            </a:r>
          </a:p>
          <a:p>
            <a:pPr rtl="0"/>
            <a:r>
              <a:rPr lang="de-DE" sz="1200" kern="1200" dirty="0">
                <a:solidFill>
                  <a:schemeClr val="tx1"/>
                </a:solidFill>
                <a:latin typeface="+mn-lt"/>
                <a:ea typeface="+mn-ea"/>
                <a:cs typeface="+mn-cs"/>
              </a:rPr>
              <a:t>FROM </a:t>
            </a:r>
            <a:r>
              <a:rPr lang="de-DE" sz="1200" kern="1200" dirty="0" err="1">
                <a:solidFill>
                  <a:schemeClr val="tx1"/>
                </a:solidFill>
                <a:latin typeface="+mn-lt"/>
                <a:ea typeface="+mn-ea"/>
                <a:cs typeface="+mn-cs"/>
              </a:rPr>
              <a:t>ZI_CDSOrderItem</a:t>
            </a:r>
            <a:endParaRPr lang="de-DE" sz="1200" kern="1200" dirty="0">
              <a:solidFill>
                <a:schemeClr val="tx1"/>
              </a:solidFill>
              <a:latin typeface="+mn-lt"/>
              <a:ea typeface="+mn-ea"/>
              <a:cs typeface="+mn-cs"/>
            </a:endParaRPr>
          </a:p>
          <a:p>
            <a:r>
              <a:rPr lang="de-DE" dirty="0"/>
              <a:t>Der Pfadausdruck startet beim Auftrag und navigiert über dessen veröffentlichte Beziehung:</a:t>
            </a:r>
          </a:p>
          <a:p>
            <a:pPr rtl="0"/>
            <a:r>
              <a:rPr lang="de-DE" sz="1200" kern="1200" dirty="0">
                <a:solidFill>
                  <a:schemeClr val="tx1"/>
                </a:solidFill>
                <a:latin typeface="+mn-lt"/>
                <a:ea typeface="+mn-ea"/>
                <a:cs typeface="+mn-cs"/>
              </a:rPr>
              <a:t>FROM </a:t>
            </a:r>
            <a:r>
              <a:rPr lang="de-DE" sz="1200" kern="1200" dirty="0" err="1">
                <a:solidFill>
                  <a:schemeClr val="tx1"/>
                </a:solidFill>
                <a:latin typeface="+mn-lt"/>
                <a:ea typeface="+mn-ea"/>
                <a:cs typeface="+mn-cs"/>
              </a:rPr>
              <a:t>ZI_CDSOrder</a:t>
            </a:r>
            <a:r>
              <a:rPr lang="de-DE" sz="1200" kern="1200" dirty="0">
                <a:solidFill>
                  <a:schemeClr val="tx1"/>
                </a:solidFill>
                <a:latin typeface="+mn-lt"/>
                <a:ea typeface="+mn-ea"/>
                <a:cs typeface="+mn-cs"/>
              </a:rPr>
              <a:t>\_Items</a:t>
            </a:r>
          </a:p>
          <a:p>
            <a:r>
              <a:rPr lang="de-DE" dirty="0"/>
              <a:t>Die zweite Variante ist nur möglich, weil </a:t>
            </a:r>
            <a:r>
              <a:rPr lang="de-DE" sz="1200" kern="1200" dirty="0">
                <a:solidFill>
                  <a:schemeClr val="tx1"/>
                </a:solidFill>
                <a:latin typeface="+mn-lt"/>
                <a:ea typeface="+mn-ea"/>
                <a:cs typeface="+mn-cs"/>
              </a:rPr>
              <a:t>_Items</a:t>
            </a:r>
            <a:r>
              <a:rPr lang="de-DE" dirty="0"/>
              <a:t> in </a:t>
            </a:r>
            <a:r>
              <a:rPr lang="de-DE" sz="1200" kern="1200" dirty="0" err="1">
                <a:solidFill>
                  <a:schemeClr val="tx1"/>
                </a:solidFill>
                <a:latin typeface="+mn-lt"/>
                <a:ea typeface="+mn-ea"/>
                <a:cs typeface="+mn-cs"/>
              </a:rPr>
              <a:t>ZI_CDSOrder</a:t>
            </a:r>
            <a:r>
              <a:rPr lang="de-DE" dirty="0"/>
              <a:t> exponiert wurde.</a:t>
            </a:r>
          </a:p>
          <a:p>
            <a:endParaRPr lang="de-DE" dirty="0"/>
          </a:p>
          <a:p>
            <a:r>
              <a:rPr lang="de-DE" b="1" dirty="0"/>
              <a:t>6. To-Many-Wirkung demonstrieren – ca. 2 Minuten</a:t>
            </a:r>
          </a:p>
          <a:p>
            <a:r>
              <a:rPr lang="de-DE" dirty="0"/>
              <a:t>Die Einschränkung auf </a:t>
            </a:r>
            <a:r>
              <a:rPr lang="de-DE" sz="1200" kern="1200" dirty="0">
                <a:solidFill>
                  <a:schemeClr val="tx1"/>
                </a:solidFill>
                <a:latin typeface="+mn-lt"/>
                <a:ea typeface="+mn-ea"/>
                <a:cs typeface="+mn-cs"/>
              </a:rPr>
              <a:t>O10001</a:t>
            </a:r>
            <a:r>
              <a:rPr lang="de-DE" dirty="0"/>
              <a:t> vorübergehend entfernen:</a:t>
            </a:r>
          </a:p>
          <a:p>
            <a:pPr rtl="0"/>
            <a:r>
              <a:rPr lang="de-DE" sz="1200" kern="1200" dirty="0">
                <a:solidFill>
                  <a:schemeClr val="tx1"/>
                </a:solidFill>
                <a:latin typeface="+mn-lt"/>
                <a:ea typeface="+mn-ea"/>
                <a:cs typeface="+mn-cs"/>
              </a:rPr>
              <a:t>SELECT FROM </a:t>
            </a:r>
            <a:r>
              <a:rPr lang="de-DE" sz="1200" kern="1200" dirty="0" err="1">
                <a:solidFill>
                  <a:schemeClr val="tx1"/>
                </a:solidFill>
                <a:latin typeface="+mn-lt"/>
                <a:ea typeface="+mn-ea"/>
                <a:cs typeface="+mn-cs"/>
              </a:rPr>
              <a:t>ZI_CDSOrder</a:t>
            </a:r>
            <a:r>
              <a:rPr lang="de-DE" sz="1200" kern="1200" dirty="0">
                <a:solidFill>
                  <a:schemeClr val="tx1"/>
                </a:solidFill>
                <a:latin typeface="+mn-lt"/>
                <a:ea typeface="+mn-ea"/>
                <a:cs typeface="+mn-cs"/>
              </a:rPr>
              <a:t>\_Items AS Item</a:t>
            </a:r>
          </a:p>
          <a:p>
            <a:pPr rtl="0"/>
            <a:r>
              <a:rPr lang="de-DE" sz="1200" kern="1200" dirty="0">
                <a:solidFill>
                  <a:schemeClr val="tx1"/>
                </a:solidFill>
                <a:latin typeface="+mn-lt"/>
                <a:ea typeface="+mn-ea"/>
                <a:cs typeface="+mn-cs"/>
              </a:rPr>
              <a:t>  FIELDS </a:t>
            </a:r>
            <a:r>
              <a:rPr lang="de-DE" sz="1200" kern="1200" dirty="0" err="1">
                <a:solidFill>
                  <a:schemeClr val="tx1"/>
                </a:solidFill>
                <a:latin typeface="+mn-lt"/>
                <a:ea typeface="+mn-ea"/>
                <a:cs typeface="+mn-cs"/>
              </a:rPr>
              <a:t>Item~OrderId</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Item~ItemNumber</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Item~ProductName</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Item~Quantity</a:t>
            </a:r>
          </a:p>
          <a:p>
            <a:pPr rtl="0"/>
            <a:r>
              <a:rPr lang="de-DE" sz="1200" kern="1200" dirty="0">
                <a:solidFill>
                  <a:schemeClr val="tx1"/>
                </a:solidFill>
                <a:latin typeface="+mn-lt"/>
                <a:ea typeface="+mn-ea"/>
                <a:cs typeface="+mn-cs"/>
              </a:rPr>
              <a:t>  ORDER BY </a:t>
            </a:r>
            <a:r>
              <a:rPr lang="de-DE" sz="1200" kern="1200" dirty="0" err="1">
                <a:solidFill>
                  <a:schemeClr val="tx1"/>
                </a:solidFill>
                <a:latin typeface="+mn-lt"/>
                <a:ea typeface="+mn-ea"/>
                <a:cs typeface="+mn-cs"/>
              </a:rPr>
              <a:t>Item~OrderId</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Item~ItemNumber</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INTO TABLE @DATA(all_associated_items).</a:t>
            </a:r>
          </a:p>
          <a:p>
            <a:r>
              <a:rPr lang="de-DE" dirty="0"/>
              <a:t>Ausgeben:</a:t>
            </a:r>
          </a:p>
          <a:p>
            <a:pPr rtl="0"/>
            <a:r>
              <a:rPr lang="de-DE" sz="1200" kern="1200" dirty="0">
                <a:solidFill>
                  <a:schemeClr val="tx1"/>
                </a:solidFill>
                <a:latin typeface="+mn-lt"/>
                <a:ea typeface="+mn-ea"/>
                <a:cs typeface="+mn-cs"/>
              </a:rPr>
              <a:t>out-&gt;</a:t>
            </a:r>
            <a:r>
              <a:rPr lang="de-DE" sz="1200" kern="1200" dirty="0" err="1">
                <a:solidFill>
                  <a:schemeClr val="tx1"/>
                </a:solidFill>
                <a:latin typeface="+mn-lt"/>
                <a:ea typeface="+mn-ea"/>
                <a:cs typeface="+mn-cs"/>
              </a:rPr>
              <a:t>write</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name</a:t>
            </a:r>
            <a:r>
              <a:rPr lang="de-DE" sz="1200" kern="1200" dirty="0">
                <a:solidFill>
                  <a:schemeClr val="tx1"/>
                </a:solidFill>
                <a:latin typeface="+mn-lt"/>
                <a:ea typeface="+mn-ea"/>
                <a:cs typeface="+mn-cs"/>
              </a:rPr>
              <a:t> = 'Alle über _Items erreichbaren Positionen'</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data</a:t>
            </a:r>
            <a:r>
              <a:rPr lang="de-DE" sz="1200" kern="1200" dirty="0">
                <a:solidFill>
                  <a:schemeClr val="tx1"/>
                </a:solidFill>
                <a:latin typeface="+mn-lt"/>
                <a:ea typeface="+mn-ea"/>
                <a:cs typeface="+mn-cs"/>
              </a:rPr>
              <a:t> = </a:t>
            </a:r>
            <a:r>
              <a:rPr lang="de-DE" sz="1200" kern="1200" dirty="0" err="1">
                <a:solidFill>
                  <a:schemeClr val="tx1"/>
                </a:solidFill>
                <a:latin typeface="+mn-lt"/>
                <a:ea typeface="+mn-ea"/>
                <a:cs typeface="+mn-cs"/>
              </a:rPr>
              <a:t>all_associated_items</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a:t>
            </a:r>
          </a:p>
          <a:p>
            <a:r>
              <a:rPr lang="de-DE" b="1" dirty="0"/>
              <a:t>Beobachtung</a:t>
            </a:r>
          </a:p>
          <a:p>
            <a:pPr lvl="0"/>
            <a:r>
              <a:rPr lang="de-DE" sz="1200" kern="1200" dirty="0">
                <a:solidFill>
                  <a:schemeClr val="tx1"/>
                </a:solidFill>
                <a:latin typeface="+mn-lt"/>
                <a:ea typeface="+mn-ea"/>
                <a:cs typeface="+mn-cs"/>
              </a:rPr>
              <a:t>O10001</a:t>
            </a:r>
            <a:r>
              <a:rPr lang="de-DE" dirty="0"/>
              <a:t> erscheint zweimal. </a:t>
            </a:r>
          </a:p>
          <a:p>
            <a:pPr lvl="0"/>
            <a:r>
              <a:rPr lang="de-DE" dirty="0"/>
              <a:t>Andere Aufträge erscheinen entsprechend ihrer Positionsanzahl. </a:t>
            </a:r>
          </a:p>
          <a:p>
            <a:pPr lvl="0"/>
            <a:r>
              <a:rPr lang="de-DE" dirty="0"/>
              <a:t>Aufträge ohne Positionen erscheinen nicht. </a:t>
            </a:r>
          </a:p>
          <a:p>
            <a:pPr lvl="0"/>
            <a:r>
              <a:rPr lang="de-DE" dirty="0"/>
              <a:t>Jede Ergebniszeile entspricht einer Position. </a:t>
            </a:r>
          </a:p>
          <a:p>
            <a:pPr lvl="0"/>
            <a:r>
              <a:rPr lang="de-DE" dirty="0"/>
              <a:t>Die To-Many-Navigation verändert die Ergebnisebene. </a:t>
            </a:r>
          </a:p>
          <a:p>
            <a:r>
              <a:rPr lang="de-DE" b="1" dirty="0"/>
              <a:t>Begleitender Sprechtext</a:t>
            </a:r>
          </a:p>
          <a:p>
            <a:r>
              <a:rPr lang="de-DE" dirty="0"/>
              <a:t>Jetzt wird die Bedeutung der Kardinalität </a:t>
            </a:r>
            <a:r>
              <a:rPr lang="de-DE" sz="1200" kern="1200" dirty="0">
                <a:solidFill>
                  <a:schemeClr val="tx1"/>
                </a:solidFill>
                <a:latin typeface="+mn-lt"/>
                <a:ea typeface="+mn-ea"/>
                <a:cs typeface="+mn-cs"/>
              </a:rPr>
              <a:t>[0..*]</a:t>
            </a:r>
            <a:r>
              <a:rPr lang="de-DE" dirty="0"/>
              <a:t> im konsumierenden Programm sichtbar.</a:t>
            </a:r>
          </a:p>
          <a:p>
            <a:r>
              <a:rPr lang="de-DE" dirty="0"/>
              <a:t>Ein Auftrag kann mehrere Zielzeilen besitzen. Deshalb erscheint dieselbe Auftragsnummer in mehreren Ergebniszeilen.</a:t>
            </a:r>
          </a:p>
          <a:p>
            <a:r>
              <a:rPr lang="de-DE" dirty="0"/>
              <a:t>Ein Auftrag ohne Positionen liefert auf diesem Pfad keine Zeile, weil ein Pfadausdruck als Datenquelle grundsätzlich die Semantik einer inneren Verknüpfung besitzt.</a:t>
            </a:r>
          </a:p>
          <a:p>
            <a:r>
              <a:rPr lang="de-DE" dirty="0"/>
              <a:t>Wenn wir alle Aufträge einschließlich der Aufträge ohne Positionen benötigen, müssten wir die Abfrage anders formulieren, beispielsweise mit einer geeigneten äußeren Verknüpfung. Für die aktuelle Demo genügt der Navigationspfad.</a:t>
            </a:r>
          </a:p>
          <a:p>
            <a:pPr lvl="0"/>
            <a:endParaRPr lang="de-DE" dirty="0"/>
          </a:p>
          <a:p>
            <a:pPr lvl="0"/>
            <a:r>
              <a:rPr lang="de-DE" b="1" dirty="0"/>
              <a:t>7. Vollständige Klasse – ca. 1 Minute</a:t>
            </a:r>
          </a:p>
          <a:p>
            <a:pPr lvl="0"/>
            <a:endParaRPr lang="de-DE" b="1" dirty="0"/>
          </a:p>
          <a:p>
            <a:pPr lvl="0"/>
            <a:endParaRPr lang="de-DE" b="1" dirty="0"/>
          </a:p>
          <a:p>
            <a:pPr lvl="0"/>
            <a:endParaRPr lang="de-DE" dirty="0"/>
          </a:p>
          <a:p>
            <a:pPr marL="0" indent="0">
              <a:buNone/>
            </a:pPr>
            <a:endParaRPr lang="de-DE" b="1" dirty="0"/>
          </a:p>
          <a:p>
            <a:endParaRPr lang="de-DE" dirty="0"/>
          </a:p>
          <a:p>
            <a:endParaRPr lang="de-DE" dirty="0"/>
          </a:p>
          <a:p>
            <a:endParaRPr lang="de-DE" dirty="0"/>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42</a:t>
            </a:fld>
            <a:endParaRPr lang="de-DE" dirty="0"/>
          </a:p>
        </p:txBody>
      </p:sp>
    </p:spTree>
    <p:extLst>
      <p:ext uri="{BB962C8B-B14F-4D97-AF65-F5344CB8AC3E}">
        <p14:creationId xmlns:p14="http://schemas.microsoft.com/office/powerpoint/2010/main" val="189088661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Unser CDS-Modell wird jetzt von einem ABAP-Programm verwendet.</a:t>
            </a:r>
          </a:p>
          <a:p>
            <a:endParaRPr lang="de-DE" dirty="0"/>
          </a:p>
          <a:p>
            <a:r>
              <a:rPr lang="de-DE" dirty="0"/>
              <a:t>Die Anwendung liest Auftragsdaten aus </a:t>
            </a:r>
            <a:r>
              <a:rPr lang="de-DE" sz="1200" kern="1200" dirty="0" err="1">
                <a:solidFill>
                  <a:schemeClr val="tx1"/>
                </a:solidFill>
                <a:latin typeface="+mn-lt"/>
                <a:ea typeface="+mn-ea"/>
                <a:cs typeface="+mn-cs"/>
              </a:rPr>
              <a:t>ZI_CDSOrder</a:t>
            </a:r>
            <a:r>
              <a:rPr lang="de-DE" dirty="0"/>
              <a:t>, ohne die zugrunde liegenden Tabellen oder die Berechnungslogik zu kennen. Kundenname, Auftragsarttext und Statustext stehen als Bestandteile der CDS-Schnittstelle bereit.</a:t>
            </a:r>
          </a:p>
          <a:p>
            <a:endParaRPr lang="de-DE" dirty="0"/>
          </a:p>
          <a:p>
            <a:r>
              <a:rPr lang="de-DE" dirty="0"/>
              <a:t>Die Auftragspositionen haben wir zunächst direkt aus </a:t>
            </a:r>
            <a:r>
              <a:rPr lang="de-DE" sz="1200" kern="1200" dirty="0" err="1">
                <a:solidFill>
                  <a:schemeClr val="tx1"/>
                </a:solidFill>
                <a:latin typeface="+mn-lt"/>
                <a:ea typeface="+mn-ea"/>
                <a:cs typeface="+mn-cs"/>
              </a:rPr>
              <a:t>ZI_CDSOrderItem</a:t>
            </a:r>
            <a:r>
              <a:rPr lang="de-DE" dirty="0"/>
              <a:t> gelesen. Anschließend sind wir über die in </a:t>
            </a:r>
            <a:r>
              <a:rPr lang="de-DE" sz="1200" kern="1200" dirty="0" err="1">
                <a:solidFill>
                  <a:schemeClr val="tx1"/>
                </a:solidFill>
                <a:latin typeface="+mn-lt"/>
                <a:ea typeface="+mn-ea"/>
                <a:cs typeface="+mn-cs"/>
              </a:rPr>
              <a:t>ZI_CDSOrder</a:t>
            </a:r>
            <a:r>
              <a:rPr lang="de-DE" dirty="0"/>
              <a:t> exponierte Assoziation </a:t>
            </a:r>
            <a:r>
              <a:rPr lang="de-DE" sz="1200" kern="1200" dirty="0">
                <a:solidFill>
                  <a:schemeClr val="tx1"/>
                </a:solidFill>
                <a:latin typeface="+mn-lt"/>
                <a:ea typeface="+mn-ea"/>
                <a:cs typeface="+mn-cs"/>
              </a:rPr>
              <a:t>_Items</a:t>
            </a:r>
            <a:r>
              <a:rPr lang="de-DE" dirty="0"/>
              <a:t> zu derselben Ziel-View navigiert.</a:t>
            </a:r>
          </a:p>
          <a:p>
            <a:endParaRPr lang="de-DE" dirty="0"/>
          </a:p>
          <a:p>
            <a:r>
              <a:rPr lang="de-DE" dirty="0"/>
              <a:t>Damit haben wir sowohl To-</a:t>
            </a:r>
            <a:r>
              <a:rPr lang="de-DE" dirty="0" err="1"/>
              <a:t>One</a:t>
            </a:r>
            <a:r>
              <a:rPr lang="de-DE" dirty="0"/>
              <a:t>- als auch To-Many-Beziehungen praktisch konsumiert. Bei der To-Many-Navigation wurde deutlich, dass eine Beziehung zu mehreren Zielzeilen die Ergebnisebene verändert.</a:t>
            </a:r>
          </a:p>
          <a:p>
            <a:endParaRPr lang="de-DE" dirty="0"/>
          </a:p>
          <a:p>
            <a:r>
              <a:rPr lang="de-DE" dirty="0"/>
              <a:t>Bisher kann allerdings jeder Benutzer, der unser Programm ausführen darf, sämtliche von der View gelieferten Aufträge lesen. Nach der Pause ergänzen wir deshalb eine Zugriffskontrolle mit DCL und beobachten, wie sie sich auf denselben ABAP-SQL-Zugriff auswirkt.</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43</a:t>
            </a:fld>
            <a:endParaRPr lang="de-DE" dirty="0"/>
          </a:p>
        </p:txBody>
      </p:sp>
    </p:spTree>
    <p:extLst>
      <p:ext uri="{BB962C8B-B14F-4D97-AF65-F5344CB8AC3E}">
        <p14:creationId xmlns:p14="http://schemas.microsoft.com/office/powerpoint/2010/main" val="212052334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Der Zugriff auf die Daten einer CDS View Entity wird durch eine Rolle in einer CDS Zugriffskontrolle abgesichert.</a:t>
            </a:r>
          </a:p>
          <a:p>
            <a:endParaRPr lang="de-DE" dirty="0"/>
          </a:p>
          <a:p>
            <a:r>
              <a:rPr lang="de-DE" dirty="0"/>
              <a:t>Diese prüft gegen ein Berechtigungsobjekt, so wie wir das aus der klassischen ABAP-Programmierung kennen.</a:t>
            </a:r>
          </a:p>
          <a:p>
            <a:endParaRPr lang="de-DE" dirty="0"/>
          </a:p>
          <a:p>
            <a:r>
              <a:rPr lang="de-DE" dirty="0"/>
              <a:t>Die Berechtigungen, die konkrete Feldwerte für die Berechtigungsfelder eines Berechtigungsobjekts definieren, werden von IAM Apps verwaltet.</a:t>
            </a:r>
          </a:p>
          <a:p>
            <a:endParaRPr lang="de-DE" dirty="0"/>
          </a:p>
          <a:p>
            <a:r>
              <a:rPr lang="de-DE" dirty="0"/>
              <a:t>Diese IAM Apps werden IAM Businesskatalogen zugeordnet, die der Administrator im SAP Fiori Launchpad in Business Rollen aufnimmt.</a:t>
            </a:r>
          </a:p>
          <a:p>
            <a:endParaRPr lang="de-DE" dirty="0"/>
          </a:p>
          <a:p>
            <a:r>
              <a:rPr lang="de-DE" dirty="0"/>
              <a:t>Benutzer, die Mitglied in diesen Rollen sind dürfen also die Daten sehen, die durch die zugeordneten Berechtigungen freigegeben sind.</a:t>
            </a:r>
          </a:p>
        </p:txBody>
      </p:sp>
      <p:sp>
        <p:nvSpPr>
          <p:cNvPr id="4" name="Foliennummernplatzhalter 3"/>
          <p:cNvSpPr>
            <a:spLocks noGrp="1"/>
          </p:cNvSpPr>
          <p:nvPr>
            <p:ph type="sldNum" sz="quarter" idx="5"/>
          </p:nvPr>
        </p:nvSpPr>
        <p:spPr/>
        <p:txBody>
          <a:bodyPr/>
          <a:lstStyle/>
          <a:p>
            <a:fld id="{E9475E6B-8EF9-407D-AAC9-FC0EA114427C}" type="slidenum">
              <a:rPr lang="de-DE" smtClean="0"/>
              <a:t>44</a:t>
            </a:fld>
            <a:endParaRPr lang="de-DE" dirty="0"/>
          </a:p>
        </p:txBody>
      </p:sp>
    </p:spTree>
    <p:extLst>
      <p:ext uri="{BB962C8B-B14F-4D97-AF65-F5344CB8AC3E}">
        <p14:creationId xmlns:p14="http://schemas.microsoft.com/office/powerpoint/2010/main" val="275910572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Unser Berechtigungskonzept sieht vor, dass ein Benutzer nur Bestellungen von bestimmten Kunden bearbeiten kann.</a:t>
            </a:r>
          </a:p>
          <a:p>
            <a:endParaRPr lang="de-DE" dirty="0"/>
          </a:p>
          <a:p>
            <a:r>
              <a:rPr lang="de-DE" dirty="0"/>
              <a:t>Daher definieren wir das Berechtigungsfeld ZCUSTOMER für die Kundennummer und ordnen dieses Feld dem Berechtigungsobjekt Z_CDS_CUS zu.</a:t>
            </a:r>
          </a:p>
          <a:p>
            <a:endParaRPr lang="de-DE" dirty="0"/>
          </a:p>
          <a:p>
            <a:r>
              <a:rPr lang="de-DE" dirty="0"/>
              <a:t>Das Berechtigungsobjekt enthält zusätzlich zum Feld </a:t>
            </a:r>
            <a:r>
              <a:rPr lang="de-DE" sz="1200" kern="1200" dirty="0">
                <a:solidFill>
                  <a:schemeClr val="tx1"/>
                </a:solidFill>
                <a:latin typeface="+mn-lt"/>
                <a:ea typeface="+mn-ea"/>
                <a:cs typeface="+mn-cs"/>
              </a:rPr>
              <a:t>ZCUSTOMER</a:t>
            </a:r>
            <a:r>
              <a:rPr lang="de-DE" dirty="0"/>
              <a:t> für die Kundennummer noch das standardisierte Feld </a:t>
            </a:r>
            <a:r>
              <a:rPr lang="de-DE" sz="1200" kern="1200" dirty="0">
                <a:solidFill>
                  <a:schemeClr val="tx1"/>
                </a:solidFill>
                <a:latin typeface="+mn-lt"/>
                <a:ea typeface="+mn-ea"/>
                <a:cs typeface="+mn-cs"/>
              </a:rPr>
              <a:t>ACTVT</a:t>
            </a:r>
            <a:r>
              <a:rPr lang="de-DE" dirty="0"/>
              <a:t> für die Aktivität.</a:t>
            </a:r>
          </a:p>
          <a:p>
            <a:endParaRPr lang="de-DE" dirty="0"/>
          </a:p>
          <a:p>
            <a:r>
              <a:rPr lang="de-DE" dirty="0"/>
              <a:t>Die DCL-Regel ordnet das CDS-Element </a:t>
            </a:r>
            <a:r>
              <a:rPr lang="de-DE" sz="1200" kern="1200" dirty="0" err="1">
                <a:solidFill>
                  <a:schemeClr val="tx1"/>
                </a:solidFill>
                <a:latin typeface="+mn-lt"/>
                <a:ea typeface="+mn-ea"/>
                <a:cs typeface="+mn-cs"/>
              </a:rPr>
              <a:t>CustomerId</a:t>
            </a:r>
            <a:r>
              <a:rPr lang="de-DE" dirty="0"/>
              <a:t> dem Berechtigungsfeld </a:t>
            </a:r>
            <a:r>
              <a:rPr lang="de-DE" sz="1200" kern="1200" dirty="0">
                <a:solidFill>
                  <a:schemeClr val="tx1"/>
                </a:solidFill>
                <a:latin typeface="+mn-lt"/>
                <a:ea typeface="+mn-ea"/>
                <a:cs typeface="+mn-cs"/>
              </a:rPr>
              <a:t>ZCUSTOMER</a:t>
            </a:r>
            <a:r>
              <a:rPr lang="de-DE" dirty="0"/>
              <a:t> zu. Zusätzlich berücksichtigen wir nur Berechtigungen mit der Aktivität </a:t>
            </a:r>
            <a:r>
              <a:rPr lang="de-DE" sz="1200" kern="1200" dirty="0">
                <a:solidFill>
                  <a:schemeClr val="tx1"/>
                </a:solidFill>
                <a:latin typeface="+mn-lt"/>
                <a:ea typeface="+mn-ea"/>
                <a:cs typeface="+mn-cs"/>
              </a:rPr>
              <a:t>03</a:t>
            </a:r>
            <a:r>
              <a:rPr lang="de-DE" dirty="0"/>
              <a:t>, also Anzeigen.</a:t>
            </a:r>
          </a:p>
          <a:p>
            <a:r>
              <a:rPr lang="de-DE" dirty="0"/>
              <a:t>Besitzt der Benutzer für </a:t>
            </a:r>
            <a:r>
              <a:rPr lang="de-DE" sz="1200" kern="1200" dirty="0">
                <a:solidFill>
                  <a:schemeClr val="tx1"/>
                </a:solidFill>
                <a:latin typeface="+mn-lt"/>
                <a:ea typeface="+mn-ea"/>
                <a:cs typeface="+mn-cs"/>
              </a:rPr>
              <a:t>ZCUSTOMER</a:t>
            </a:r>
            <a:r>
              <a:rPr lang="de-DE" dirty="0"/>
              <a:t> den Wert </a:t>
            </a:r>
            <a:r>
              <a:rPr lang="de-DE" sz="1200" kern="1200" dirty="0">
                <a:solidFill>
                  <a:schemeClr val="tx1"/>
                </a:solidFill>
                <a:latin typeface="+mn-lt"/>
                <a:ea typeface="+mn-ea"/>
                <a:cs typeface="+mn-cs"/>
              </a:rPr>
              <a:t>C1000</a:t>
            </a:r>
            <a:r>
              <a:rPr lang="de-DE" dirty="0"/>
              <a:t>, wird daraus vereinfacht die zusätzliche Filterbedingung:</a:t>
            </a:r>
          </a:p>
          <a:p>
            <a:pPr rtl="0"/>
            <a:r>
              <a:rPr lang="de-DE" sz="1200" kern="1200" dirty="0" err="1">
                <a:solidFill>
                  <a:schemeClr val="tx1"/>
                </a:solidFill>
                <a:latin typeface="+mn-lt"/>
                <a:ea typeface="+mn-ea"/>
                <a:cs typeface="+mn-cs"/>
              </a:rPr>
              <a:t>CustomerId</a:t>
            </a:r>
            <a:r>
              <a:rPr lang="de-DE" sz="1200" kern="1200" dirty="0">
                <a:solidFill>
                  <a:schemeClr val="tx1"/>
                </a:solidFill>
                <a:latin typeface="+mn-lt"/>
                <a:ea typeface="+mn-ea"/>
                <a:cs typeface="+mn-cs"/>
              </a:rPr>
              <a:t> = 'C1000'</a:t>
            </a:r>
          </a:p>
          <a:p>
            <a:r>
              <a:rPr lang="de-DE" dirty="0"/>
              <a:t>Mehrere erlaubte Werte werden entsprechend berücksichtigt. Der Wert </a:t>
            </a:r>
            <a:r>
              <a:rPr lang="de-DE" sz="1200" kern="1200" dirty="0">
                <a:solidFill>
                  <a:schemeClr val="tx1"/>
                </a:solidFill>
                <a:latin typeface="+mn-lt"/>
                <a:ea typeface="+mn-ea"/>
                <a:cs typeface="+mn-cs"/>
              </a:rPr>
              <a:t>*</a:t>
            </a:r>
            <a:r>
              <a:rPr lang="de-DE" dirty="0"/>
              <a:t> kann alle Kundenwerte abdecken.</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45</a:t>
            </a:fld>
            <a:endParaRPr lang="de-DE" dirty="0"/>
          </a:p>
        </p:txBody>
      </p:sp>
    </p:spTree>
    <p:extLst>
      <p:ext uri="{BB962C8B-B14F-4D97-AF65-F5344CB8AC3E}">
        <p14:creationId xmlns:p14="http://schemas.microsoft.com/office/powerpoint/2010/main" val="117421235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Eine IAM App enthält ein oder mehrere Berechtigungen für ein oder mehrere Berechtigungsobjekte. Die Berechtigungen legen konkrete Feldwerte für die Berechtigungsfelder fest.</a:t>
            </a:r>
          </a:p>
          <a:p>
            <a:endParaRPr lang="de-DE" dirty="0"/>
          </a:p>
          <a:p>
            <a:r>
              <a:rPr lang="de-DE" dirty="0"/>
              <a:t>Die IAM App wird dann einem oder mehreren Businesskatalogen zugeordnet.</a:t>
            </a:r>
          </a:p>
        </p:txBody>
      </p:sp>
      <p:sp>
        <p:nvSpPr>
          <p:cNvPr id="4" name="Foliennummernplatzhalter 3"/>
          <p:cNvSpPr>
            <a:spLocks noGrp="1"/>
          </p:cNvSpPr>
          <p:nvPr>
            <p:ph type="sldNum" sz="quarter" idx="5"/>
          </p:nvPr>
        </p:nvSpPr>
        <p:spPr/>
        <p:txBody>
          <a:bodyPr/>
          <a:lstStyle/>
          <a:p>
            <a:fld id="{E9475E6B-8EF9-407D-AAC9-FC0EA114427C}" type="slidenum">
              <a:rPr lang="de-DE" smtClean="0"/>
              <a:t>46</a:t>
            </a:fld>
            <a:endParaRPr lang="de-DE" dirty="0"/>
          </a:p>
        </p:txBody>
      </p:sp>
    </p:spTree>
    <p:extLst>
      <p:ext uri="{BB962C8B-B14F-4D97-AF65-F5344CB8AC3E}">
        <p14:creationId xmlns:p14="http://schemas.microsoft.com/office/powerpoint/2010/main" val="346947303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Im Fiori Launchpad legt der Administrator Business-Rollen an und ordnet diesen Business-Kataloge und Business-User zu.</a:t>
            </a:r>
          </a:p>
        </p:txBody>
      </p:sp>
      <p:sp>
        <p:nvSpPr>
          <p:cNvPr id="4" name="Foliennummernplatzhalter 3"/>
          <p:cNvSpPr>
            <a:spLocks noGrp="1"/>
          </p:cNvSpPr>
          <p:nvPr>
            <p:ph type="sldNum" sz="quarter" idx="5"/>
          </p:nvPr>
        </p:nvSpPr>
        <p:spPr/>
        <p:txBody>
          <a:bodyPr/>
          <a:lstStyle/>
          <a:p>
            <a:fld id="{E9475E6B-8EF9-407D-AAC9-FC0EA114427C}" type="slidenum">
              <a:rPr lang="de-DE" smtClean="0"/>
              <a:t>47</a:t>
            </a:fld>
            <a:endParaRPr lang="de-DE" dirty="0"/>
          </a:p>
        </p:txBody>
      </p:sp>
    </p:spTree>
    <p:extLst>
      <p:ext uri="{BB962C8B-B14F-4D97-AF65-F5344CB8AC3E}">
        <p14:creationId xmlns:p14="http://schemas.microsoft.com/office/powerpoint/2010/main" val="153496315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Eine Zugriffskontrolle wird als eigenes Access-Control-Objekt in ADT angelegt.</a:t>
            </a:r>
          </a:p>
          <a:p>
            <a:endParaRPr lang="de-DE" sz="1200" kern="1200" dirty="0">
              <a:solidFill>
                <a:schemeClr val="tx1"/>
              </a:solidFill>
              <a:latin typeface="+mn-lt"/>
              <a:ea typeface="+mn-ea"/>
              <a:cs typeface="+mn-cs"/>
            </a:endParaRPr>
          </a:p>
          <a:p>
            <a:r>
              <a:rPr lang="de-DE" sz="1200" kern="1200" dirty="0">
                <a:solidFill>
                  <a:schemeClr val="tx1"/>
                </a:solidFill>
                <a:latin typeface="+mn-lt"/>
                <a:ea typeface="+mn-ea"/>
                <a:cs typeface="+mn-cs"/>
              </a:rPr>
              <a:t>@MappingRole: </a:t>
            </a:r>
            <a:r>
              <a:rPr lang="de-DE" sz="1200" kern="1200" dirty="0" err="1">
                <a:solidFill>
                  <a:schemeClr val="tx1"/>
                </a:solidFill>
                <a:latin typeface="+mn-lt"/>
                <a:ea typeface="+mn-ea"/>
                <a:cs typeface="+mn-cs"/>
              </a:rPr>
              <a:t>true</a:t>
            </a:r>
            <a:r>
              <a:rPr lang="de-DE" dirty="0"/>
              <a:t> bedeutet, dass diese Rolle allen Benutzern zugewiesen ist.</a:t>
            </a:r>
          </a:p>
          <a:p>
            <a:endParaRPr lang="de-DE" dirty="0"/>
          </a:p>
          <a:p>
            <a:r>
              <a:rPr lang="de-DE" dirty="0"/>
              <a:t>Die CDS-Rolle bildet CDS-Elemente auf klassische beziehungsweise PFCG-basierte Berechtigungen ab.</a:t>
            </a:r>
          </a:p>
          <a:p>
            <a:endParaRPr lang="de-DE" dirty="0"/>
          </a:p>
          <a:p>
            <a:r>
              <a:rPr lang="de-DE" dirty="0"/>
              <a:t>Mit </a:t>
            </a:r>
            <a:r>
              <a:rPr lang="de-DE" sz="1200" kern="1200" dirty="0" err="1">
                <a:solidFill>
                  <a:schemeClr val="tx1"/>
                </a:solidFill>
                <a:latin typeface="+mn-lt"/>
                <a:ea typeface="+mn-ea"/>
                <a:cs typeface="+mn-cs"/>
              </a:rPr>
              <a:t>grant</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select</a:t>
            </a:r>
            <a:r>
              <a:rPr lang="de-DE" sz="1200" kern="1200" dirty="0">
                <a:solidFill>
                  <a:schemeClr val="tx1"/>
                </a:solidFill>
                <a:latin typeface="+mn-lt"/>
                <a:ea typeface="+mn-ea"/>
                <a:cs typeface="+mn-cs"/>
              </a:rPr>
              <a:t> on </a:t>
            </a:r>
            <a:r>
              <a:rPr lang="de-DE" sz="1200" kern="1200" dirty="0" err="1">
                <a:solidFill>
                  <a:schemeClr val="tx1"/>
                </a:solidFill>
                <a:latin typeface="+mn-lt"/>
                <a:ea typeface="+mn-ea"/>
                <a:cs typeface="+mn-cs"/>
              </a:rPr>
              <a:t>ZI_CDSOrder</a:t>
            </a:r>
            <a:r>
              <a:rPr lang="de-DE" dirty="0"/>
              <a:t> bestimmen wir, für welche CDS-Entität die Regel gilt. Die </a:t>
            </a:r>
            <a:r>
              <a:rPr lang="de-DE" sz="1200" kern="1200" dirty="0" err="1">
                <a:solidFill>
                  <a:schemeClr val="tx1"/>
                </a:solidFill>
                <a:latin typeface="+mn-lt"/>
                <a:ea typeface="+mn-ea"/>
                <a:cs typeface="+mn-cs"/>
              </a:rPr>
              <a:t>where</a:t>
            </a:r>
            <a:r>
              <a:rPr lang="de-DE" dirty="0"/>
              <a:t>-Bedingung verknüpft anschließend </a:t>
            </a:r>
            <a:r>
              <a:rPr lang="de-DE" sz="1200" kern="1200" dirty="0" err="1">
                <a:solidFill>
                  <a:schemeClr val="tx1"/>
                </a:solidFill>
                <a:latin typeface="+mn-lt"/>
                <a:ea typeface="+mn-ea"/>
                <a:cs typeface="+mn-cs"/>
              </a:rPr>
              <a:t>CustomerId</a:t>
            </a:r>
            <a:r>
              <a:rPr lang="de-DE" dirty="0"/>
              <a:t> mit dem Berechtigungsfeld </a:t>
            </a:r>
            <a:r>
              <a:rPr lang="de-DE" sz="1200" kern="1200" dirty="0">
                <a:solidFill>
                  <a:schemeClr val="tx1"/>
                </a:solidFill>
                <a:latin typeface="+mn-lt"/>
                <a:ea typeface="+mn-ea"/>
                <a:cs typeface="+mn-cs"/>
              </a:rPr>
              <a:t>ZCUSTOMER</a:t>
            </a:r>
            <a:r>
              <a:rPr lang="de-DE" dirty="0"/>
              <a:t> des Objekts </a:t>
            </a:r>
            <a:r>
              <a:rPr lang="de-DE" sz="1200" kern="1200" dirty="0">
                <a:solidFill>
                  <a:schemeClr val="tx1"/>
                </a:solidFill>
                <a:latin typeface="+mn-lt"/>
                <a:ea typeface="+mn-ea"/>
                <a:cs typeface="+mn-cs"/>
              </a:rPr>
              <a:t>Z_CDS_CUS</a:t>
            </a:r>
            <a:r>
              <a:rPr lang="de-DE" dirty="0"/>
              <a:t>.</a:t>
            </a:r>
          </a:p>
          <a:p>
            <a:endParaRPr lang="de-DE" dirty="0"/>
          </a:p>
          <a:p>
            <a:r>
              <a:rPr lang="de-DE" sz="1200" kern="1200" dirty="0">
                <a:solidFill>
                  <a:schemeClr val="tx1"/>
                </a:solidFill>
                <a:latin typeface="+mn-lt"/>
                <a:ea typeface="+mn-ea"/>
                <a:cs typeface="+mn-cs"/>
              </a:rPr>
              <a:t>ACTVT = '03'</a:t>
            </a:r>
            <a:r>
              <a:rPr lang="de-DE" dirty="0"/>
              <a:t> ist keine weitere Zuordnung zu einem CDS-Element. Es ist eine feste Bedingung für die auszuwertenden Berechtigungsausprägungen.</a:t>
            </a:r>
          </a:p>
          <a:p>
            <a:endParaRPr lang="de-DE" dirty="0"/>
          </a:p>
          <a:p>
            <a:r>
              <a:rPr lang="de-DE" dirty="0"/>
              <a:t>Die DCL enthält kein ausdrückliches </a:t>
            </a:r>
            <a:r>
              <a:rPr lang="de-DE" sz="1200" kern="1200" dirty="0">
                <a:solidFill>
                  <a:schemeClr val="tx1"/>
                </a:solidFill>
                <a:latin typeface="+mn-lt"/>
                <a:ea typeface="+mn-ea"/>
                <a:cs typeface="+mn-cs"/>
              </a:rPr>
              <a:t>AUTHORITY-CHECK</a:t>
            </a:r>
            <a:r>
              <a:rPr lang="de-DE" dirty="0"/>
              <a:t>. Die Auswertung erfolgt automatisch, wenn die CDS View mit ABAP SQL gelesen wird.</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48</a:t>
            </a:fld>
            <a:endParaRPr lang="de-DE" dirty="0"/>
          </a:p>
        </p:txBody>
      </p:sp>
    </p:spTree>
    <p:extLst>
      <p:ext uri="{BB962C8B-B14F-4D97-AF65-F5344CB8AC3E}">
        <p14:creationId xmlns:p14="http://schemas.microsoft.com/office/powerpoint/2010/main" val="184231424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Der besondere Vorteil der CDS-Zugriffskontrolle besteht in ihrer impliziten Wirkung.</a:t>
            </a:r>
          </a:p>
          <a:p>
            <a:endParaRPr lang="de-DE" dirty="0"/>
          </a:p>
          <a:p>
            <a:r>
              <a:rPr lang="de-DE" dirty="0"/>
              <a:t>Unser ABAP-Programm bleibt unverändert. Es liest weiterhin aus </a:t>
            </a:r>
            <a:r>
              <a:rPr lang="de-DE" sz="1200" kern="1200" dirty="0" err="1">
                <a:solidFill>
                  <a:schemeClr val="tx1"/>
                </a:solidFill>
                <a:latin typeface="+mn-lt"/>
                <a:ea typeface="+mn-ea"/>
                <a:cs typeface="+mn-cs"/>
              </a:rPr>
              <a:t>ZI_CDSOrder</a:t>
            </a:r>
            <a:r>
              <a:rPr lang="de-DE" dirty="0"/>
              <a:t> und enthält weder das Berechtigungsobjekt noch eine kundenspezifische Filterbedingung.</a:t>
            </a:r>
          </a:p>
          <a:p>
            <a:endParaRPr lang="de-DE" dirty="0"/>
          </a:p>
          <a:p>
            <a:r>
              <a:rPr lang="de-DE" dirty="0"/>
              <a:t>Beim Ausführen des </a:t>
            </a:r>
            <a:r>
              <a:rPr lang="de-DE" sz="1200" kern="1200" dirty="0">
                <a:solidFill>
                  <a:schemeClr val="tx1"/>
                </a:solidFill>
                <a:latin typeface="+mn-lt"/>
                <a:ea typeface="+mn-ea"/>
                <a:cs typeface="+mn-cs"/>
              </a:rPr>
              <a:t>SELECT</a:t>
            </a:r>
            <a:r>
              <a:rPr lang="de-DE" dirty="0"/>
              <a:t> berücksichtigt das Laufzeitsystem jedoch die aktive DCL-Regel. Vereinfacht können wir uns vorstellen, dass die Datenbankabfrage um eine zusätzliche Bedingung für die erlaubten Kundennummern erweitert wird.</a:t>
            </a:r>
          </a:p>
          <a:p>
            <a:endParaRPr lang="de-DE" dirty="0"/>
          </a:p>
          <a:p>
            <a:r>
              <a:rPr lang="de-DE" dirty="0"/>
              <a:t>Dadurch muss die Zugriffskontrolle nicht in jedem konsumierenden Programm erneut implementiert werden.</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49</a:t>
            </a:fld>
            <a:endParaRPr lang="de-DE" dirty="0"/>
          </a:p>
        </p:txBody>
      </p:sp>
    </p:spTree>
    <p:extLst>
      <p:ext uri="{BB962C8B-B14F-4D97-AF65-F5344CB8AC3E}">
        <p14:creationId xmlns:p14="http://schemas.microsoft.com/office/powerpoint/2010/main" val="75040516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Für einen kontrollierten Vergleich können wir die View ein zweites Mal mit </a:t>
            </a:r>
            <a:r>
              <a:rPr lang="de-DE" sz="1200" kern="1200" dirty="0">
                <a:solidFill>
                  <a:schemeClr val="tx1"/>
                </a:solidFill>
                <a:latin typeface="+mn-lt"/>
                <a:ea typeface="+mn-ea"/>
                <a:cs typeface="+mn-cs"/>
              </a:rPr>
              <a:t>WITH PRIVILEGED ACCESS</a:t>
            </a:r>
            <a:r>
              <a:rPr lang="de-DE" dirty="0"/>
              <a:t> lesen.</a:t>
            </a:r>
          </a:p>
          <a:p>
            <a:endParaRPr lang="de-DE" dirty="0"/>
          </a:p>
          <a:p>
            <a:r>
              <a:rPr lang="de-DE" dirty="0"/>
              <a:t>Diese Ergänzung deaktiviert die implizite Zugriffskontrolle für diesen konkreten Zugriff. Sie eignet sich daher gut, um im Workshop die Wirkung der DCL sichtbar zu machen.</a:t>
            </a:r>
          </a:p>
          <a:p>
            <a:endParaRPr lang="de-DE" dirty="0"/>
          </a:p>
          <a:p>
            <a:r>
              <a:rPr lang="de-DE" dirty="0"/>
              <a:t>Im normalen Anwendungscode ist privilegierter Zugriff kein Ersatz für eine ordentliche Berechtigungskonzeption. Er sollte nur dort verwendet werden, wo der vollständige Zugriff fachlich und sicherheitstechnisch ausdrücklich vorgesehen ist.</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50</a:t>
            </a:fld>
            <a:endParaRPr lang="de-DE" dirty="0"/>
          </a:p>
        </p:txBody>
      </p:sp>
    </p:spTree>
    <p:extLst>
      <p:ext uri="{BB962C8B-B14F-4D97-AF65-F5344CB8AC3E}">
        <p14:creationId xmlns:p14="http://schemas.microsoft.com/office/powerpoint/2010/main" val="203335924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b="1" dirty="0"/>
              <a:t>Ziel und Zeitbedarf</a:t>
            </a:r>
          </a:p>
          <a:p>
            <a:r>
              <a:rPr lang="de-DE" b="1" dirty="0"/>
              <a:t>Dauer:</a:t>
            </a:r>
            <a:r>
              <a:rPr lang="de-DE" dirty="0"/>
              <a:t> etwa 10 Minuten</a:t>
            </a:r>
            <a:br>
              <a:rPr lang="de-DE" dirty="0"/>
            </a:br>
            <a:r>
              <a:rPr lang="de-DE" b="1" dirty="0"/>
              <a:t>Ausgangsstand:</a:t>
            </a:r>
            <a:r>
              <a:rPr lang="de-DE" dirty="0"/>
              <a:t> </a:t>
            </a:r>
            <a:r>
              <a:rPr lang="de-DE" sz="1200" kern="1200" dirty="0" err="1">
                <a:solidFill>
                  <a:schemeClr val="tx1"/>
                </a:solidFill>
                <a:latin typeface="+mn-lt"/>
                <a:ea typeface="+mn-ea"/>
                <a:cs typeface="+mn-cs"/>
              </a:rPr>
              <a:t>ZI_CDSOrder</a:t>
            </a:r>
            <a:r>
              <a:rPr lang="de-DE" dirty="0"/>
              <a:t> und </a:t>
            </a:r>
            <a:r>
              <a:rPr lang="de-DE" sz="1200" kern="1200" dirty="0">
                <a:solidFill>
                  <a:schemeClr val="tx1"/>
                </a:solidFill>
                <a:latin typeface="+mn-lt"/>
                <a:ea typeface="+mn-ea"/>
                <a:cs typeface="+mn-cs"/>
              </a:rPr>
              <a:t>ZCL_CDS_READ_ORDERS</a:t>
            </a:r>
            <a:r>
              <a:rPr lang="de-DE" dirty="0"/>
              <a:t> aus den vorherigen Live-</a:t>
            </a:r>
            <a:r>
              <a:rPr lang="de-DE" dirty="0" err="1"/>
              <a:t>Codings</a:t>
            </a:r>
            <a:br>
              <a:rPr lang="de-DE" dirty="0"/>
            </a:br>
            <a:r>
              <a:rPr lang="de-DE" b="1" dirty="0"/>
              <a:t>Ergebnis:</a:t>
            </a:r>
            <a:r>
              <a:rPr lang="de-DE" dirty="0"/>
              <a:t> Aufträge werden abhängig von den Kundenberechtigungen des aktuellen Benutzers gefiltert.</a:t>
            </a:r>
          </a:p>
          <a:p>
            <a:r>
              <a:rPr lang="de-DE" b="1" dirty="0"/>
              <a:t>Vorbereitung vor dem Workshop</a:t>
            </a:r>
          </a:p>
          <a:p>
            <a:r>
              <a:rPr lang="de-DE" dirty="0"/>
              <a:t>Die Anlage und Benutzerzuordnung der Berechtigungsobjekte sollte nicht Teil des zehnminütigen Live-</a:t>
            </a:r>
            <a:r>
              <a:rPr lang="de-DE" dirty="0" err="1"/>
              <a:t>Codings</a:t>
            </a:r>
            <a:r>
              <a:rPr lang="de-DE" dirty="0"/>
              <a:t> sein.</a:t>
            </a:r>
          </a:p>
          <a:p>
            <a:r>
              <a:rPr lang="de-DE" dirty="0"/>
              <a:t>Vorbereitet werden:</a:t>
            </a:r>
          </a:p>
          <a:p>
            <a:pPr rtl="0"/>
            <a:r>
              <a:rPr lang="de-DE" sz="1200" kern="1200" dirty="0">
                <a:solidFill>
                  <a:schemeClr val="tx1"/>
                </a:solidFill>
                <a:latin typeface="+mn-lt"/>
                <a:ea typeface="+mn-ea"/>
                <a:cs typeface="+mn-cs"/>
              </a:rPr>
              <a:t>Berechtigungsfeld:   ZCUSTOMER</a:t>
            </a:r>
          </a:p>
          <a:p>
            <a:pPr rtl="0"/>
            <a:r>
              <a:rPr lang="de-DE" sz="1200" kern="1200" dirty="0">
                <a:solidFill>
                  <a:schemeClr val="tx1"/>
                </a:solidFill>
                <a:latin typeface="+mn-lt"/>
                <a:ea typeface="+mn-ea"/>
                <a:cs typeface="+mn-cs"/>
              </a:rPr>
              <a:t>Berechtigungsobjekt: Z_CDS_CUS</a:t>
            </a:r>
          </a:p>
          <a:p>
            <a:pPr rtl="0"/>
            <a:r>
              <a:rPr lang="de-DE" sz="1200" kern="1200" dirty="0">
                <a:solidFill>
                  <a:schemeClr val="tx1"/>
                </a:solidFill>
                <a:latin typeface="+mn-lt"/>
                <a:ea typeface="+mn-ea"/>
                <a:cs typeface="+mn-cs"/>
              </a:rPr>
              <a:t>Aktivität:           ACTVT = 03</a:t>
            </a:r>
          </a:p>
          <a:p>
            <a:pPr rtl="0"/>
            <a:r>
              <a:rPr lang="de-DE" sz="1200" kern="1200" dirty="0">
                <a:solidFill>
                  <a:schemeClr val="tx1"/>
                </a:solidFill>
                <a:latin typeface="+mn-lt"/>
                <a:ea typeface="+mn-ea"/>
                <a:cs typeface="+mn-cs"/>
              </a:rPr>
              <a:t>Benutzerwert:        ZCUSTOMER = C1000</a:t>
            </a:r>
          </a:p>
          <a:p>
            <a:r>
              <a:rPr lang="de-DE" dirty="0"/>
              <a:t>Der verwendete Benutzer sollte damit nur Aufträge von </a:t>
            </a:r>
            <a:r>
              <a:rPr lang="de-DE" sz="1200" kern="1200" dirty="0">
                <a:solidFill>
                  <a:schemeClr val="tx1"/>
                </a:solidFill>
                <a:latin typeface="+mn-lt"/>
                <a:ea typeface="+mn-ea"/>
                <a:cs typeface="+mn-cs"/>
              </a:rPr>
              <a:t>C1000</a:t>
            </a:r>
            <a:r>
              <a:rPr lang="de-DE" dirty="0"/>
              <a:t> lesen dürfen.</a:t>
            </a:r>
          </a:p>
          <a:p>
            <a:r>
              <a:rPr lang="de-DE" dirty="0"/>
              <a:t>Im Beispieldatenbestand existieren außerdem Aufträge anderer Kunden, damit der Unterschied sichtbar wird.</a:t>
            </a:r>
          </a:p>
          <a:p>
            <a:br>
              <a:rPr lang="de-DE" dirty="0"/>
            </a:br>
            <a:endParaRPr lang="de-DE" dirty="0"/>
          </a:p>
          <a:p>
            <a:r>
              <a:rPr lang="de-DE" b="1" dirty="0"/>
              <a:t>1. Annotation der View ändern – ca. 1 Minute</a:t>
            </a:r>
          </a:p>
          <a:p>
            <a:r>
              <a:rPr lang="de-DE" dirty="0"/>
              <a:t>In </a:t>
            </a:r>
            <a:r>
              <a:rPr lang="de-DE" sz="1200" kern="1200" dirty="0" err="1">
                <a:solidFill>
                  <a:schemeClr val="tx1"/>
                </a:solidFill>
                <a:latin typeface="+mn-lt"/>
                <a:ea typeface="+mn-ea"/>
                <a:cs typeface="+mn-cs"/>
              </a:rPr>
              <a:t>ZI_CDSOrder</a:t>
            </a:r>
            <a:r>
              <a:rPr lang="de-DE" dirty="0"/>
              <a:t>:</a:t>
            </a:r>
          </a:p>
          <a:p>
            <a:r>
              <a:rPr lang="de-DE" dirty="0"/>
              <a:t>Bisher:</a:t>
            </a:r>
          </a:p>
          <a:p>
            <a:pPr rtl="0"/>
            <a:r>
              <a:rPr lang="de-DE" sz="1200" kern="1200" dirty="0">
                <a:solidFill>
                  <a:schemeClr val="tx1"/>
                </a:solidFill>
                <a:latin typeface="+mn-lt"/>
                <a:ea typeface="+mn-ea"/>
                <a:cs typeface="+mn-cs"/>
              </a:rPr>
              <a:t>@AccessControl.authorizationCheck: #NOT_REQUIRED</a:t>
            </a:r>
          </a:p>
          <a:p>
            <a:r>
              <a:rPr lang="de-DE" dirty="0"/>
              <a:t>Ändern in:</a:t>
            </a:r>
          </a:p>
          <a:p>
            <a:pPr rtl="0"/>
            <a:r>
              <a:rPr lang="de-DE" sz="1200" kern="1200" dirty="0">
                <a:solidFill>
                  <a:schemeClr val="tx1"/>
                </a:solidFill>
                <a:latin typeface="+mn-lt"/>
                <a:ea typeface="+mn-ea"/>
                <a:cs typeface="+mn-cs"/>
              </a:rPr>
              <a:t>@AccessControl.authorizationCheck: #CHECK</a:t>
            </a:r>
          </a:p>
          <a:p>
            <a:r>
              <a:rPr lang="de-DE" dirty="0"/>
              <a:t>Relevanter Kopf:</a:t>
            </a:r>
          </a:p>
          <a:p>
            <a:pPr rtl="0"/>
            <a:r>
              <a:rPr lang="de-DE" sz="1200" kern="1200" dirty="0">
                <a:solidFill>
                  <a:schemeClr val="tx1"/>
                </a:solidFill>
                <a:latin typeface="+mn-lt"/>
                <a:ea typeface="+mn-ea"/>
                <a:cs typeface="+mn-cs"/>
              </a:rPr>
              <a:t>@EndUserText.label: 'CDS Workshop: Aufträge'</a:t>
            </a:r>
          </a:p>
          <a:p>
            <a:pPr rtl="0"/>
            <a:r>
              <a:rPr lang="de-DE" sz="1200" kern="1200" dirty="0">
                <a:solidFill>
                  <a:schemeClr val="tx1"/>
                </a:solidFill>
                <a:latin typeface="+mn-lt"/>
                <a:ea typeface="+mn-ea"/>
                <a:cs typeface="+mn-cs"/>
              </a:rPr>
              <a:t>@AccessControl.authorizationCheck: #CHECK</a:t>
            </a:r>
          </a:p>
          <a:p>
            <a:pPr rtl="0"/>
            <a:r>
              <a:rPr lang="de-DE" sz="1200" kern="1200" dirty="0" err="1">
                <a:solidFill>
                  <a:schemeClr val="tx1"/>
                </a:solidFill>
                <a:latin typeface="+mn-lt"/>
                <a:ea typeface="+mn-ea"/>
                <a:cs typeface="+mn-cs"/>
              </a:rPr>
              <a:t>define</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view</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entity</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ZI_CDSOrder</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as </a:t>
            </a:r>
            <a:r>
              <a:rPr lang="de-DE" sz="1200" kern="1200" dirty="0" err="1">
                <a:solidFill>
                  <a:schemeClr val="tx1"/>
                </a:solidFill>
                <a:latin typeface="+mn-lt"/>
                <a:ea typeface="+mn-ea"/>
                <a:cs typeface="+mn-cs"/>
              </a:rPr>
              <a:t>select</a:t>
            </a:r>
            <a:r>
              <a:rPr lang="de-DE" sz="1200" kern="1200" dirty="0">
                <a:solidFill>
                  <a:schemeClr val="tx1"/>
                </a:solidFill>
                <a:latin typeface="+mn-lt"/>
                <a:ea typeface="+mn-ea"/>
                <a:cs typeface="+mn-cs"/>
              </a:rPr>
              <a:t> from </a:t>
            </a:r>
            <a:r>
              <a:rPr lang="de-DE" sz="1200" kern="1200" dirty="0" err="1">
                <a:solidFill>
                  <a:schemeClr val="tx1"/>
                </a:solidFill>
                <a:latin typeface="+mn-lt"/>
                <a:ea typeface="+mn-ea"/>
                <a:cs typeface="+mn-cs"/>
              </a:rPr>
              <a:t>zcds_order</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association</a:t>
            </a:r>
            <a:r>
              <a:rPr lang="de-DE" sz="1200" kern="1200" dirty="0">
                <a:solidFill>
                  <a:schemeClr val="tx1"/>
                </a:solidFill>
                <a:latin typeface="+mn-lt"/>
                <a:ea typeface="+mn-ea"/>
                <a:cs typeface="+mn-cs"/>
              </a:rPr>
              <a:t> [0..1] to </a:t>
            </a:r>
            <a:r>
              <a:rPr lang="de-DE" sz="1200" kern="1200" dirty="0" err="1">
                <a:solidFill>
                  <a:schemeClr val="tx1"/>
                </a:solidFill>
                <a:latin typeface="+mn-lt"/>
                <a:ea typeface="+mn-ea"/>
                <a:cs typeface="+mn-cs"/>
              </a:rPr>
              <a:t>ZI_CDSCustomer</a:t>
            </a:r>
            <a:r>
              <a:rPr lang="de-DE" sz="1200" kern="1200" dirty="0">
                <a:solidFill>
                  <a:schemeClr val="tx1"/>
                </a:solidFill>
                <a:latin typeface="+mn-lt"/>
                <a:ea typeface="+mn-ea"/>
                <a:cs typeface="+mn-cs"/>
              </a:rPr>
              <a:t> as _Customer</a:t>
            </a:r>
          </a:p>
          <a:p>
            <a:pPr rtl="0"/>
            <a:r>
              <a:rPr lang="de-DE" sz="1200" kern="1200" dirty="0">
                <a:solidFill>
                  <a:schemeClr val="tx1"/>
                </a:solidFill>
                <a:latin typeface="+mn-lt"/>
                <a:ea typeface="+mn-ea"/>
                <a:cs typeface="+mn-cs"/>
              </a:rPr>
              <a:t>    on $</a:t>
            </a:r>
            <a:r>
              <a:rPr lang="de-DE" sz="1200" kern="1200" dirty="0" err="1">
                <a:solidFill>
                  <a:schemeClr val="tx1"/>
                </a:solidFill>
                <a:latin typeface="+mn-lt"/>
                <a:ea typeface="+mn-ea"/>
                <a:cs typeface="+mn-cs"/>
              </a:rPr>
              <a:t>projection.CustomerId</a:t>
            </a:r>
            <a:r>
              <a:rPr lang="de-DE" sz="1200" kern="1200" dirty="0">
                <a:solidFill>
                  <a:schemeClr val="tx1"/>
                </a:solidFill>
                <a:latin typeface="+mn-lt"/>
                <a:ea typeface="+mn-ea"/>
                <a:cs typeface="+mn-cs"/>
              </a:rPr>
              <a:t> = _</a:t>
            </a:r>
            <a:r>
              <a:rPr lang="de-DE" sz="1200" kern="1200" dirty="0" err="1">
                <a:solidFill>
                  <a:schemeClr val="tx1"/>
                </a:solidFill>
                <a:latin typeface="+mn-lt"/>
                <a:ea typeface="+mn-ea"/>
                <a:cs typeface="+mn-cs"/>
              </a:rPr>
              <a:t>Customer.CustomerId</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association</a:t>
            </a:r>
            <a:r>
              <a:rPr lang="de-DE" sz="1200" kern="1200" dirty="0">
                <a:solidFill>
                  <a:schemeClr val="tx1"/>
                </a:solidFill>
                <a:latin typeface="+mn-lt"/>
                <a:ea typeface="+mn-ea"/>
                <a:cs typeface="+mn-cs"/>
              </a:rPr>
              <a:t> [0..*] to </a:t>
            </a:r>
            <a:r>
              <a:rPr lang="de-DE" sz="1200" kern="1200" dirty="0" err="1">
                <a:solidFill>
                  <a:schemeClr val="tx1"/>
                </a:solidFill>
                <a:latin typeface="+mn-lt"/>
                <a:ea typeface="+mn-ea"/>
                <a:cs typeface="+mn-cs"/>
              </a:rPr>
              <a:t>ZI_CDSOrderItem</a:t>
            </a:r>
            <a:r>
              <a:rPr lang="de-DE" sz="1200" kern="1200" dirty="0">
                <a:solidFill>
                  <a:schemeClr val="tx1"/>
                </a:solidFill>
                <a:latin typeface="+mn-lt"/>
                <a:ea typeface="+mn-ea"/>
                <a:cs typeface="+mn-cs"/>
              </a:rPr>
              <a:t> as _Items</a:t>
            </a:r>
          </a:p>
          <a:p>
            <a:pPr rtl="0"/>
            <a:r>
              <a:rPr lang="de-DE" sz="1200" kern="1200" dirty="0">
                <a:solidFill>
                  <a:schemeClr val="tx1"/>
                </a:solidFill>
                <a:latin typeface="+mn-lt"/>
                <a:ea typeface="+mn-ea"/>
                <a:cs typeface="+mn-cs"/>
              </a:rPr>
              <a:t>    on $</a:t>
            </a:r>
            <a:r>
              <a:rPr lang="de-DE" sz="1200" kern="1200" dirty="0" err="1">
                <a:solidFill>
                  <a:schemeClr val="tx1"/>
                </a:solidFill>
                <a:latin typeface="+mn-lt"/>
                <a:ea typeface="+mn-ea"/>
                <a:cs typeface="+mn-cs"/>
              </a:rPr>
              <a:t>projection.OrderId</a:t>
            </a:r>
            <a:r>
              <a:rPr lang="de-DE" sz="1200" kern="1200" dirty="0">
                <a:solidFill>
                  <a:schemeClr val="tx1"/>
                </a:solidFill>
                <a:latin typeface="+mn-lt"/>
                <a:ea typeface="+mn-ea"/>
                <a:cs typeface="+mn-cs"/>
              </a:rPr>
              <a:t> = _</a:t>
            </a:r>
            <a:r>
              <a:rPr lang="de-DE" sz="1200" kern="1200" dirty="0" err="1">
                <a:solidFill>
                  <a:schemeClr val="tx1"/>
                </a:solidFill>
                <a:latin typeface="+mn-lt"/>
                <a:ea typeface="+mn-ea"/>
                <a:cs typeface="+mn-cs"/>
              </a:rPr>
              <a:t>Items.OrderId</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 Elemente</a:t>
            </a:r>
          </a:p>
          <a:p>
            <a:pPr rtl="0"/>
            <a:r>
              <a:rPr lang="de-DE" sz="1200" kern="1200" dirty="0">
                <a:solidFill>
                  <a:schemeClr val="tx1"/>
                </a:solidFill>
                <a:latin typeface="+mn-lt"/>
                <a:ea typeface="+mn-ea"/>
                <a:cs typeface="+mn-cs"/>
              </a:rPr>
              <a:t>}</a:t>
            </a:r>
          </a:p>
          <a:p>
            <a:r>
              <a:rPr lang="de-DE" dirty="0"/>
              <a:t>Aktivieren:</a:t>
            </a:r>
          </a:p>
          <a:p>
            <a:pPr rtl="0"/>
            <a:r>
              <a:rPr lang="de-DE" sz="1200" kern="1200" dirty="0">
                <a:solidFill>
                  <a:schemeClr val="tx1"/>
                </a:solidFill>
                <a:latin typeface="+mn-lt"/>
                <a:ea typeface="+mn-ea"/>
                <a:cs typeface="+mn-cs"/>
              </a:rPr>
              <a:t>Ctrl+F3</a:t>
            </a:r>
          </a:p>
          <a:p>
            <a:r>
              <a:rPr lang="de-DE" b="1" dirty="0"/>
              <a:t>Erläuterungen</a:t>
            </a:r>
          </a:p>
          <a:p>
            <a:pPr lvl="0"/>
            <a:r>
              <a:rPr lang="de-DE" sz="1200" kern="1200" dirty="0">
                <a:solidFill>
                  <a:schemeClr val="tx1"/>
                </a:solidFill>
                <a:latin typeface="+mn-lt"/>
                <a:ea typeface="+mn-ea"/>
                <a:cs typeface="+mn-cs"/>
              </a:rPr>
              <a:t>#CHECK</a:t>
            </a:r>
            <a:r>
              <a:rPr lang="de-DE" dirty="0"/>
              <a:t> bedeutet, dass vorhandene DCL-Regeln beim Zugriff ausgewertet werden. </a:t>
            </a:r>
          </a:p>
          <a:p>
            <a:pPr lvl="0"/>
            <a:r>
              <a:rPr lang="de-DE" dirty="0"/>
              <a:t>Die Annotation enthält selbst noch keine Berechtigungsbedingung. </a:t>
            </a:r>
          </a:p>
          <a:p>
            <a:pPr lvl="0"/>
            <a:r>
              <a:rPr lang="de-DE" dirty="0"/>
              <a:t>Die eigentliche Regel steht in einem separaten Access-Control-Objekt. </a:t>
            </a:r>
          </a:p>
          <a:p>
            <a:pPr lvl="0"/>
            <a:r>
              <a:rPr lang="de-DE" dirty="0"/>
              <a:t>Die Datenstruktur der View ändert sich nicht. </a:t>
            </a:r>
          </a:p>
          <a:p>
            <a:r>
              <a:rPr lang="de-DE" b="1" dirty="0"/>
              <a:t>Wichtige Abgrenzung</a:t>
            </a:r>
          </a:p>
          <a:p>
            <a:r>
              <a:rPr lang="de-DE" sz="1200" kern="1200" dirty="0">
                <a:solidFill>
                  <a:schemeClr val="tx1"/>
                </a:solidFill>
                <a:latin typeface="+mn-lt"/>
                <a:ea typeface="+mn-ea"/>
                <a:cs typeface="+mn-cs"/>
              </a:rPr>
              <a:t>#NOT_REQUIRED</a:t>
            </a:r>
            <a:r>
              <a:rPr lang="de-DE" dirty="0"/>
              <a:t> bedeutet nicht einfach „DCL vorübergehend ausgeschaltet“, sondern dokumentiert, dass für die View keine Zugriffskontrolle erforderlich ist.</a:t>
            </a:r>
          </a:p>
          <a:p>
            <a:r>
              <a:rPr lang="de-DE" dirty="0"/>
              <a:t>Für eine fachlich geschützte View ist deshalb </a:t>
            </a:r>
            <a:r>
              <a:rPr lang="de-DE" sz="1200" kern="1200" dirty="0">
                <a:solidFill>
                  <a:schemeClr val="tx1"/>
                </a:solidFill>
                <a:latin typeface="+mn-lt"/>
                <a:ea typeface="+mn-ea"/>
                <a:cs typeface="+mn-cs"/>
              </a:rPr>
              <a:t>#CHECK</a:t>
            </a:r>
            <a:r>
              <a:rPr lang="de-DE" dirty="0"/>
              <a:t> die passende Einstellung.</a:t>
            </a:r>
          </a:p>
          <a:p>
            <a:br>
              <a:rPr lang="de-DE" dirty="0"/>
            </a:br>
            <a:endParaRPr lang="de-DE" dirty="0"/>
          </a:p>
          <a:p>
            <a:r>
              <a:rPr lang="de-DE" b="1" dirty="0"/>
              <a:t>2. Access Control anlegen – ca. 2 Minuten</a:t>
            </a:r>
          </a:p>
          <a:p>
            <a:r>
              <a:rPr lang="de-DE" dirty="0"/>
              <a:t>Im Paket </a:t>
            </a:r>
            <a:r>
              <a:rPr lang="de-DE" sz="1200" kern="1200" dirty="0">
                <a:solidFill>
                  <a:schemeClr val="tx1"/>
                </a:solidFill>
                <a:latin typeface="+mn-lt"/>
                <a:ea typeface="+mn-ea"/>
                <a:cs typeface="+mn-cs"/>
              </a:rPr>
              <a:t>ZCDS_WORKSHOP</a:t>
            </a:r>
            <a:r>
              <a:rPr lang="de-DE" dirty="0"/>
              <a:t>:</a:t>
            </a:r>
          </a:p>
          <a:p>
            <a:pPr rtl="0"/>
            <a:r>
              <a:rPr lang="de-DE" sz="1200" kern="1200" dirty="0">
                <a:solidFill>
                  <a:schemeClr val="tx1"/>
                </a:solidFill>
                <a:latin typeface="+mn-lt"/>
                <a:ea typeface="+mn-ea"/>
                <a:cs typeface="+mn-cs"/>
              </a:rPr>
              <a:t>New → Other ABAP Repository </a:t>
            </a:r>
            <a:r>
              <a:rPr lang="de-DE" sz="1200" kern="1200" dirty="0" err="1">
                <a:solidFill>
                  <a:schemeClr val="tx1"/>
                </a:solidFill>
                <a:latin typeface="+mn-lt"/>
                <a:ea typeface="+mn-ea"/>
                <a:cs typeface="+mn-cs"/>
              </a:rPr>
              <a:t>Object</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Core Data Services → Access Control</a:t>
            </a:r>
          </a:p>
          <a:p>
            <a:r>
              <a:rPr lang="de-DE" dirty="0"/>
              <a:t>Angaben:</a:t>
            </a:r>
          </a:p>
          <a:p>
            <a:pPr rtl="0"/>
            <a:r>
              <a:rPr lang="de-DE" sz="1200" kern="1200" dirty="0">
                <a:solidFill>
                  <a:schemeClr val="tx1"/>
                </a:solidFill>
                <a:latin typeface="+mn-lt"/>
                <a:ea typeface="+mn-ea"/>
                <a:cs typeface="+mn-cs"/>
              </a:rPr>
              <a:t>Name:        ZR_CDS_ORDER</a:t>
            </a:r>
          </a:p>
          <a:p>
            <a:pPr rtl="0"/>
            <a:r>
              <a:rPr lang="de-DE" sz="1200" kern="1200" dirty="0">
                <a:solidFill>
                  <a:schemeClr val="tx1"/>
                </a:solidFill>
                <a:latin typeface="+mn-lt"/>
                <a:ea typeface="+mn-ea"/>
                <a:cs typeface="+mn-cs"/>
              </a:rPr>
              <a:t>Description: CDS Workshop: Zugriff auf Aufträge</a:t>
            </a:r>
          </a:p>
          <a:p>
            <a:r>
              <a:rPr lang="de-DE" dirty="0"/>
              <a:t>Definition:</a:t>
            </a:r>
          </a:p>
          <a:p>
            <a:pPr rtl="0"/>
            <a:r>
              <a:rPr lang="de-DE" sz="1200" kern="1200" dirty="0">
                <a:solidFill>
                  <a:schemeClr val="tx1"/>
                </a:solidFill>
                <a:latin typeface="+mn-lt"/>
                <a:ea typeface="+mn-ea"/>
                <a:cs typeface="+mn-cs"/>
              </a:rPr>
              <a:t>@EndUserText.label: 'Zugriffsschutz für Aufträge'</a:t>
            </a:r>
          </a:p>
          <a:p>
            <a:pPr rtl="0"/>
            <a:r>
              <a:rPr lang="de-DE" sz="1200" kern="1200" dirty="0">
                <a:solidFill>
                  <a:schemeClr val="tx1"/>
                </a:solidFill>
                <a:latin typeface="+mn-lt"/>
                <a:ea typeface="+mn-ea"/>
                <a:cs typeface="+mn-cs"/>
              </a:rPr>
              <a:t>@MappingRole: </a:t>
            </a:r>
            <a:r>
              <a:rPr lang="de-DE" sz="1200" kern="1200" dirty="0" err="1">
                <a:solidFill>
                  <a:schemeClr val="tx1"/>
                </a:solidFill>
                <a:latin typeface="+mn-lt"/>
                <a:ea typeface="+mn-ea"/>
                <a:cs typeface="+mn-cs"/>
              </a:rPr>
              <a:t>true</a:t>
            </a:r>
            <a:endParaRPr lang="de-DE" sz="1200" kern="1200" dirty="0">
              <a:solidFill>
                <a:schemeClr val="tx1"/>
              </a:solidFill>
              <a:latin typeface="+mn-lt"/>
              <a:ea typeface="+mn-ea"/>
              <a:cs typeface="+mn-cs"/>
            </a:endParaRPr>
          </a:p>
          <a:p>
            <a:pPr rtl="0"/>
            <a:r>
              <a:rPr lang="de-DE" sz="1200" kern="1200" dirty="0" err="1">
                <a:solidFill>
                  <a:schemeClr val="tx1"/>
                </a:solidFill>
                <a:latin typeface="+mn-lt"/>
                <a:ea typeface="+mn-ea"/>
                <a:cs typeface="+mn-cs"/>
              </a:rPr>
              <a:t>define</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role</a:t>
            </a:r>
            <a:r>
              <a:rPr lang="de-DE" sz="1200" kern="1200" dirty="0">
                <a:solidFill>
                  <a:schemeClr val="tx1"/>
                </a:solidFill>
                <a:latin typeface="+mn-lt"/>
                <a:ea typeface="+mn-ea"/>
                <a:cs typeface="+mn-cs"/>
              </a:rPr>
              <a:t> ZR_CDS_ORDER</a:t>
            </a:r>
          </a:p>
          <a:p>
            <a:pPr rtl="0"/>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grant</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select</a:t>
            </a:r>
            <a:r>
              <a:rPr lang="de-DE" sz="1200" kern="1200" dirty="0">
                <a:solidFill>
                  <a:schemeClr val="tx1"/>
                </a:solidFill>
                <a:latin typeface="+mn-lt"/>
                <a:ea typeface="+mn-ea"/>
                <a:cs typeface="+mn-cs"/>
              </a:rPr>
              <a:t> on </a:t>
            </a:r>
            <a:r>
              <a:rPr lang="de-DE" sz="1200" kern="1200" dirty="0" err="1">
                <a:solidFill>
                  <a:schemeClr val="tx1"/>
                </a:solidFill>
                <a:latin typeface="+mn-lt"/>
                <a:ea typeface="+mn-ea"/>
                <a:cs typeface="+mn-cs"/>
              </a:rPr>
              <a:t>ZI_CDSOrder</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where</a:t>
            </a:r>
            <a:r>
              <a:rPr lang="de-DE" sz="1200" kern="1200" dirty="0">
                <a:solidFill>
                  <a:schemeClr val="tx1"/>
                </a:solidFill>
                <a:latin typeface="+mn-lt"/>
                <a:ea typeface="+mn-ea"/>
                <a:cs typeface="+mn-cs"/>
              </a:rPr>
              <a:t> ( </a:t>
            </a:r>
            <a:r>
              <a:rPr lang="de-DE" sz="1200" kern="1200" dirty="0" err="1">
                <a:solidFill>
                  <a:schemeClr val="tx1"/>
                </a:solidFill>
                <a:latin typeface="+mn-lt"/>
                <a:ea typeface="+mn-ea"/>
                <a:cs typeface="+mn-cs"/>
              </a:rPr>
              <a:t>CustomerId</a:t>
            </a:r>
            <a:r>
              <a:rPr lang="de-DE" sz="1200" kern="1200" dirty="0">
                <a:solidFill>
                  <a:schemeClr val="tx1"/>
                </a:solidFill>
                <a:latin typeface="+mn-lt"/>
                <a:ea typeface="+mn-ea"/>
                <a:cs typeface="+mn-cs"/>
              </a:rPr>
              <a:t> ) =</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aspect</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pfcg_auth</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Z_CDS_CUS,</a:t>
            </a:r>
          </a:p>
          <a:p>
            <a:pPr rtl="0"/>
            <a:r>
              <a:rPr lang="de-DE" sz="1200" kern="1200" dirty="0">
                <a:solidFill>
                  <a:schemeClr val="tx1"/>
                </a:solidFill>
                <a:latin typeface="+mn-lt"/>
                <a:ea typeface="+mn-ea"/>
                <a:cs typeface="+mn-cs"/>
              </a:rPr>
              <a:t>        ZCUSTOMER,</a:t>
            </a:r>
          </a:p>
          <a:p>
            <a:pPr rtl="0"/>
            <a:r>
              <a:rPr lang="de-DE" sz="1200" kern="1200" dirty="0">
                <a:solidFill>
                  <a:schemeClr val="tx1"/>
                </a:solidFill>
                <a:latin typeface="+mn-lt"/>
                <a:ea typeface="+mn-ea"/>
                <a:cs typeface="+mn-cs"/>
              </a:rPr>
              <a:t>        ACTVT = '03'</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a:t>
            </a:r>
          </a:p>
          <a:p>
            <a:r>
              <a:rPr lang="de-DE" dirty="0"/>
              <a:t>Aktivieren.</a:t>
            </a:r>
          </a:p>
          <a:p>
            <a:r>
              <a:rPr lang="de-DE" b="1" dirty="0"/>
              <a:t>Während des Tippens erläutern</a:t>
            </a:r>
          </a:p>
          <a:p>
            <a:pPr rtl="0"/>
            <a:r>
              <a:rPr lang="de-DE" sz="1200" kern="1200" dirty="0" err="1">
                <a:solidFill>
                  <a:schemeClr val="tx1"/>
                </a:solidFill>
                <a:latin typeface="+mn-lt"/>
                <a:ea typeface="+mn-ea"/>
                <a:cs typeface="+mn-cs"/>
              </a:rPr>
              <a:t>grant</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select</a:t>
            </a:r>
            <a:r>
              <a:rPr lang="de-DE" sz="1200" kern="1200" dirty="0">
                <a:solidFill>
                  <a:schemeClr val="tx1"/>
                </a:solidFill>
                <a:latin typeface="+mn-lt"/>
                <a:ea typeface="+mn-ea"/>
                <a:cs typeface="+mn-cs"/>
              </a:rPr>
              <a:t> on </a:t>
            </a:r>
            <a:r>
              <a:rPr lang="de-DE" sz="1200" kern="1200" dirty="0" err="1">
                <a:solidFill>
                  <a:schemeClr val="tx1"/>
                </a:solidFill>
                <a:latin typeface="+mn-lt"/>
                <a:ea typeface="+mn-ea"/>
                <a:cs typeface="+mn-cs"/>
              </a:rPr>
              <a:t>ZI_CDSOrder</a:t>
            </a:r>
            <a:endParaRPr lang="de-DE" sz="1200" kern="1200" dirty="0">
              <a:solidFill>
                <a:schemeClr val="tx1"/>
              </a:solidFill>
              <a:latin typeface="+mn-lt"/>
              <a:ea typeface="+mn-ea"/>
              <a:cs typeface="+mn-cs"/>
            </a:endParaRPr>
          </a:p>
          <a:p>
            <a:r>
              <a:rPr lang="de-DE" dirty="0"/>
              <a:t>Die Regel gilt für Lesezugriffe auf </a:t>
            </a:r>
            <a:r>
              <a:rPr lang="de-DE" sz="1200" kern="1200" dirty="0" err="1">
                <a:solidFill>
                  <a:schemeClr val="tx1"/>
                </a:solidFill>
                <a:latin typeface="+mn-lt"/>
                <a:ea typeface="+mn-ea"/>
                <a:cs typeface="+mn-cs"/>
              </a:rPr>
              <a:t>ZI_CDSOrder</a:t>
            </a:r>
            <a:r>
              <a:rPr lang="de-DE" dirty="0"/>
              <a:t>.</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CustomerId</a:t>
            </a:r>
            <a:r>
              <a:rPr lang="de-DE" sz="1200" kern="1200" dirty="0">
                <a:solidFill>
                  <a:schemeClr val="tx1"/>
                </a:solidFill>
                <a:latin typeface="+mn-lt"/>
                <a:ea typeface="+mn-ea"/>
                <a:cs typeface="+mn-cs"/>
              </a:rPr>
              <a:t> )</a:t>
            </a:r>
          </a:p>
          <a:p>
            <a:r>
              <a:rPr lang="de-DE" dirty="0"/>
              <a:t>Das zu schützende Element der CDS View.</a:t>
            </a:r>
          </a:p>
          <a:p>
            <a:pPr rtl="0"/>
            <a:r>
              <a:rPr lang="de-DE" sz="1200" kern="1200" dirty="0">
                <a:solidFill>
                  <a:schemeClr val="tx1"/>
                </a:solidFill>
                <a:latin typeface="+mn-lt"/>
                <a:ea typeface="+mn-ea"/>
                <a:cs typeface="+mn-cs"/>
              </a:rPr>
              <a:t>Z_CDS_CUS,</a:t>
            </a:r>
          </a:p>
          <a:p>
            <a:pPr rtl="0"/>
            <a:r>
              <a:rPr lang="de-DE" sz="1200" kern="1200" dirty="0">
                <a:solidFill>
                  <a:schemeClr val="tx1"/>
                </a:solidFill>
                <a:latin typeface="+mn-lt"/>
                <a:ea typeface="+mn-ea"/>
                <a:cs typeface="+mn-cs"/>
              </a:rPr>
              <a:t>ZCUSTOMER</a:t>
            </a:r>
          </a:p>
          <a:p>
            <a:r>
              <a:rPr lang="de-DE" dirty="0"/>
              <a:t>Berechtigungsobjekt und zugeordnetes Berechtigungsfeld.</a:t>
            </a:r>
          </a:p>
          <a:p>
            <a:pPr rtl="0"/>
            <a:r>
              <a:rPr lang="de-DE" sz="1200" kern="1200" dirty="0">
                <a:solidFill>
                  <a:schemeClr val="tx1"/>
                </a:solidFill>
                <a:latin typeface="+mn-lt"/>
                <a:ea typeface="+mn-ea"/>
                <a:cs typeface="+mn-cs"/>
              </a:rPr>
              <a:t>ACTVT = '03'</a:t>
            </a:r>
          </a:p>
          <a:p>
            <a:r>
              <a:rPr lang="de-DE" dirty="0"/>
              <a:t>Nur die Berechtigung zum Anzeigen wird berücksichtigt.</a:t>
            </a:r>
          </a:p>
          <a:p>
            <a:br>
              <a:rPr lang="de-DE" dirty="0"/>
            </a:br>
            <a:endParaRPr lang="de-DE" dirty="0"/>
          </a:p>
          <a:p>
            <a:r>
              <a:rPr lang="de-DE" b="1" dirty="0"/>
              <a:t>3. Data Preview prüfen – ca. 2 Minuten</a:t>
            </a:r>
          </a:p>
          <a:p>
            <a:r>
              <a:rPr lang="de-DE" dirty="0"/>
              <a:t>Data Preview für </a:t>
            </a:r>
            <a:r>
              <a:rPr lang="de-DE" sz="1200" kern="1200" dirty="0" err="1">
                <a:solidFill>
                  <a:schemeClr val="tx1"/>
                </a:solidFill>
                <a:latin typeface="+mn-lt"/>
                <a:ea typeface="+mn-ea"/>
                <a:cs typeface="+mn-cs"/>
              </a:rPr>
              <a:t>ZI_CDSOrder</a:t>
            </a:r>
            <a:r>
              <a:rPr lang="de-DE" dirty="0"/>
              <a:t> erneut öffnen.</a:t>
            </a:r>
          </a:p>
          <a:p>
            <a:r>
              <a:rPr lang="de-DE" dirty="0"/>
              <a:t>Erwartetes Ergebnis für einen Benutzer mit:</a:t>
            </a:r>
          </a:p>
          <a:p>
            <a:pPr rtl="0"/>
            <a:r>
              <a:rPr lang="de-DE" sz="1200" kern="1200" dirty="0">
                <a:solidFill>
                  <a:schemeClr val="tx1"/>
                </a:solidFill>
                <a:latin typeface="+mn-lt"/>
                <a:ea typeface="+mn-ea"/>
                <a:cs typeface="+mn-cs"/>
              </a:rPr>
              <a:t>ZCUSTOMER = C1000</a:t>
            </a:r>
          </a:p>
          <a:p>
            <a:pPr rtl="0"/>
            <a:r>
              <a:rPr lang="de-DE" sz="1200" kern="1200" dirty="0">
                <a:solidFill>
                  <a:schemeClr val="tx1"/>
                </a:solidFill>
                <a:latin typeface="+mn-lt"/>
                <a:ea typeface="+mn-ea"/>
                <a:cs typeface="+mn-cs"/>
              </a:rPr>
              <a:t>ACTVT     = 03</a:t>
            </a:r>
          </a:p>
          <a:p>
            <a:r>
              <a:rPr lang="de-DE" dirty="0" err="1"/>
              <a:t>OrderId</a:t>
            </a:r>
            <a:endParaRPr lang="de-DE" dirty="0"/>
          </a:p>
          <a:p>
            <a:r>
              <a:rPr lang="de-DE" dirty="0" err="1"/>
              <a:t>CustomerId</a:t>
            </a:r>
            <a:endParaRPr lang="de-DE" dirty="0"/>
          </a:p>
          <a:p>
            <a:r>
              <a:rPr lang="de-DE" dirty="0" err="1"/>
              <a:t>CustomerName</a:t>
            </a:r>
            <a:endParaRPr lang="de-DE" dirty="0"/>
          </a:p>
          <a:p>
            <a:r>
              <a:rPr lang="de-DE" dirty="0"/>
              <a:t>O10001C1000Müller GmbH</a:t>
            </a:r>
          </a:p>
          <a:p>
            <a:r>
              <a:rPr lang="de-DE" dirty="0"/>
              <a:t>O10003C1000Müller GmbH</a:t>
            </a:r>
          </a:p>
          <a:p>
            <a:r>
              <a:rPr lang="de-DE" dirty="0"/>
              <a:t>Nicht mehr sichtbar:</a:t>
            </a:r>
          </a:p>
          <a:p>
            <a:r>
              <a:rPr lang="de-DE" dirty="0" err="1"/>
              <a:t>OrderId</a:t>
            </a:r>
            <a:endParaRPr lang="de-DE" dirty="0"/>
          </a:p>
          <a:p>
            <a:r>
              <a:rPr lang="de-DE" dirty="0" err="1"/>
              <a:t>CustomerId</a:t>
            </a:r>
            <a:endParaRPr lang="de-DE" dirty="0"/>
          </a:p>
          <a:p>
            <a:r>
              <a:rPr lang="de-DE" dirty="0" err="1"/>
              <a:t>CustomerName</a:t>
            </a:r>
            <a:endParaRPr lang="de-DE" dirty="0"/>
          </a:p>
          <a:p>
            <a:r>
              <a:rPr lang="de-DE" dirty="0"/>
              <a:t>O10002C1100Nordlicht AG</a:t>
            </a:r>
          </a:p>
          <a:p>
            <a:r>
              <a:rPr lang="de-DE" b="1" dirty="0"/>
              <a:t>Erläuterungen</a:t>
            </a:r>
          </a:p>
          <a:p>
            <a:pPr lvl="0"/>
            <a:r>
              <a:rPr lang="de-DE" dirty="0"/>
              <a:t>Die CDS View enthält technisch weiterhin alle Aufträge. </a:t>
            </a:r>
          </a:p>
          <a:p>
            <a:pPr lvl="0"/>
            <a:r>
              <a:rPr lang="de-DE" dirty="0"/>
              <a:t>Die View-Definition besitzt keine feste Einschränkung auf </a:t>
            </a:r>
            <a:r>
              <a:rPr lang="de-DE" sz="1200" kern="1200" dirty="0">
                <a:solidFill>
                  <a:schemeClr val="tx1"/>
                </a:solidFill>
                <a:latin typeface="+mn-lt"/>
                <a:ea typeface="+mn-ea"/>
                <a:cs typeface="+mn-cs"/>
              </a:rPr>
              <a:t>C1000</a:t>
            </a:r>
            <a:r>
              <a:rPr lang="de-DE" dirty="0"/>
              <a:t>. </a:t>
            </a:r>
          </a:p>
          <a:p>
            <a:pPr lvl="0"/>
            <a:r>
              <a:rPr lang="de-DE" dirty="0"/>
              <a:t>Das Ergebnis hängt vom aktuellen Benutzer ab. </a:t>
            </a:r>
          </a:p>
          <a:p>
            <a:pPr lvl="0"/>
            <a:r>
              <a:rPr lang="de-DE" dirty="0"/>
              <a:t>Ein Benutzer mit einer anderen Berechtigung erhält eine andere Ergebnismenge. </a:t>
            </a:r>
          </a:p>
          <a:p>
            <a:pPr lvl="0"/>
            <a:r>
              <a:rPr lang="de-DE" dirty="0"/>
              <a:t>Ein Benutzer ohne passende Berechtigung erhält keine Aufträge. </a:t>
            </a:r>
          </a:p>
          <a:p>
            <a:r>
              <a:rPr lang="de-DE" b="1" dirty="0"/>
              <a:t>Falls die Data Preview alle Daten zeigt</a:t>
            </a:r>
          </a:p>
          <a:p>
            <a:r>
              <a:rPr lang="de-DE" dirty="0"/>
              <a:t>Abhängig von ADT-Version und gewählter Preview-Funktion kann die Zugriffskontrolle deaktiviert beziehungsweise ein privilegierter Zugriff eingestellt sein.</a:t>
            </a:r>
          </a:p>
          <a:p>
            <a:r>
              <a:rPr lang="de-DE" dirty="0"/>
              <a:t>Dann prüfen:</a:t>
            </a:r>
          </a:p>
          <a:p>
            <a:pPr lvl="0"/>
            <a:r>
              <a:rPr lang="de-DE" dirty="0"/>
              <a:t>Ist die DCL aktiviert? </a:t>
            </a:r>
          </a:p>
          <a:p>
            <a:pPr lvl="0"/>
            <a:r>
              <a:rPr lang="de-DE" dirty="0"/>
              <a:t>Steht an der View </a:t>
            </a:r>
            <a:r>
              <a:rPr lang="de-DE" sz="1200" kern="1200" dirty="0">
                <a:solidFill>
                  <a:schemeClr val="tx1"/>
                </a:solidFill>
                <a:latin typeface="+mn-lt"/>
                <a:ea typeface="+mn-ea"/>
                <a:cs typeface="+mn-cs"/>
              </a:rPr>
              <a:t>@AccessControl.authorizationCheck: #CHECK</a:t>
            </a:r>
            <a:r>
              <a:rPr lang="de-DE" dirty="0"/>
              <a:t>? </a:t>
            </a:r>
          </a:p>
          <a:p>
            <a:pPr lvl="0"/>
            <a:r>
              <a:rPr lang="de-DE" dirty="0"/>
              <a:t>Ist in der Data Preview die SQL-Zugriffskontrolle aktiviert? </a:t>
            </a:r>
          </a:p>
          <a:p>
            <a:pPr lvl="0"/>
            <a:r>
              <a:rPr lang="de-DE" dirty="0"/>
              <a:t>Besitzt der Benutzer möglicherweise </a:t>
            </a:r>
            <a:r>
              <a:rPr lang="de-DE" sz="1200" kern="1200" dirty="0">
                <a:solidFill>
                  <a:schemeClr val="tx1"/>
                </a:solidFill>
                <a:latin typeface="+mn-lt"/>
                <a:ea typeface="+mn-ea"/>
                <a:cs typeface="+mn-cs"/>
              </a:rPr>
              <a:t>ZCUSTOMER = '*'</a:t>
            </a:r>
            <a:r>
              <a:rPr lang="de-DE" dirty="0"/>
              <a:t>? </a:t>
            </a:r>
          </a:p>
          <a:p>
            <a:pPr lvl="0"/>
            <a:r>
              <a:rPr lang="de-DE" dirty="0"/>
              <a:t>Ist </a:t>
            </a:r>
            <a:r>
              <a:rPr lang="de-DE" sz="1200" kern="1200" dirty="0">
                <a:solidFill>
                  <a:schemeClr val="tx1"/>
                </a:solidFill>
                <a:latin typeface="+mn-lt"/>
                <a:ea typeface="+mn-ea"/>
                <a:cs typeface="+mn-cs"/>
              </a:rPr>
              <a:t>ACTVT = '03'</a:t>
            </a:r>
            <a:r>
              <a:rPr lang="de-DE" dirty="0"/>
              <a:t> tatsächlich zugeordnet? </a:t>
            </a:r>
          </a:p>
          <a:p>
            <a:r>
              <a:rPr lang="de-DE" dirty="0"/>
              <a:t>Für die eindeutige Demonstration verwenden wir zusätzlich die Konsolenklasse.</a:t>
            </a:r>
          </a:p>
          <a:p>
            <a:br>
              <a:rPr lang="de-DE" dirty="0"/>
            </a:br>
            <a:endParaRPr lang="de-DE" dirty="0"/>
          </a:p>
          <a:p>
            <a:r>
              <a:rPr lang="de-DE" b="1" dirty="0"/>
              <a:t>4. Normales Ergebnis in der ABAP-Klasse testen – ca. 2 Minuten</a:t>
            </a:r>
          </a:p>
          <a:p>
            <a:r>
              <a:rPr lang="de-DE" sz="1200" kern="1200" dirty="0">
                <a:solidFill>
                  <a:schemeClr val="tx1"/>
                </a:solidFill>
                <a:latin typeface="+mn-lt"/>
                <a:ea typeface="+mn-ea"/>
                <a:cs typeface="+mn-cs"/>
              </a:rPr>
              <a:t>ZCL_CDS_READ_ORDERS</a:t>
            </a:r>
            <a:r>
              <a:rPr lang="de-DE" dirty="0"/>
              <a:t> unverändert starten.</a:t>
            </a:r>
          </a:p>
          <a:p>
            <a:r>
              <a:rPr lang="de-DE" dirty="0"/>
              <a:t>Die bereits vorhandene Abfrage:</a:t>
            </a:r>
          </a:p>
          <a:p>
            <a:pPr rtl="0"/>
            <a:r>
              <a:rPr lang="de-DE" sz="1200" kern="1200" dirty="0">
                <a:solidFill>
                  <a:schemeClr val="tx1"/>
                </a:solidFill>
                <a:latin typeface="+mn-lt"/>
                <a:ea typeface="+mn-ea"/>
                <a:cs typeface="+mn-cs"/>
              </a:rPr>
              <a:t>SELECT FROM </a:t>
            </a:r>
            <a:r>
              <a:rPr lang="de-DE" sz="1200" kern="1200" dirty="0" err="1">
                <a:solidFill>
                  <a:schemeClr val="tx1"/>
                </a:solidFill>
                <a:latin typeface="+mn-lt"/>
                <a:ea typeface="+mn-ea"/>
                <a:cs typeface="+mn-cs"/>
              </a:rPr>
              <a:t>ZI_CDSOrder</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FIELDS </a:t>
            </a:r>
            <a:r>
              <a:rPr lang="de-DE" sz="1200" kern="1200" dirty="0" err="1">
                <a:solidFill>
                  <a:schemeClr val="tx1"/>
                </a:solidFill>
                <a:latin typeface="+mn-lt"/>
                <a:ea typeface="+mn-ea"/>
                <a:cs typeface="+mn-cs"/>
              </a:rPr>
              <a:t>OrderId</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CustomerId</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CustomerName</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OrderDate</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OrderTypeText</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StatusText</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GrossAmount</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CurrencyCode</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ORDER BY </a:t>
            </a:r>
            <a:r>
              <a:rPr lang="de-DE" sz="1200" kern="1200" dirty="0" err="1">
                <a:solidFill>
                  <a:schemeClr val="tx1"/>
                </a:solidFill>
                <a:latin typeface="+mn-lt"/>
                <a:ea typeface="+mn-ea"/>
                <a:cs typeface="+mn-cs"/>
              </a:rPr>
              <a:t>OrderId</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INTO TABLE @DATA(orders).</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out-&gt;</a:t>
            </a:r>
            <a:r>
              <a:rPr lang="de-DE" sz="1200" kern="1200" dirty="0" err="1">
                <a:solidFill>
                  <a:schemeClr val="tx1"/>
                </a:solidFill>
                <a:latin typeface="+mn-lt"/>
                <a:ea typeface="+mn-ea"/>
                <a:cs typeface="+mn-cs"/>
              </a:rPr>
              <a:t>write</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name</a:t>
            </a:r>
            <a:r>
              <a:rPr lang="de-DE" sz="1200" kern="1200" dirty="0">
                <a:solidFill>
                  <a:schemeClr val="tx1"/>
                </a:solidFill>
                <a:latin typeface="+mn-lt"/>
                <a:ea typeface="+mn-ea"/>
                <a:cs typeface="+mn-cs"/>
              </a:rPr>
              <a:t> = 'Berechtigte Aufträge'</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data</a:t>
            </a:r>
            <a:r>
              <a:rPr lang="de-DE" sz="1200" kern="1200" dirty="0">
                <a:solidFill>
                  <a:schemeClr val="tx1"/>
                </a:solidFill>
                <a:latin typeface="+mn-lt"/>
                <a:ea typeface="+mn-ea"/>
                <a:cs typeface="+mn-cs"/>
              </a:rPr>
              <a:t> = </a:t>
            </a:r>
            <a:r>
              <a:rPr lang="de-DE" sz="1200" kern="1200" dirty="0" err="1">
                <a:solidFill>
                  <a:schemeClr val="tx1"/>
                </a:solidFill>
                <a:latin typeface="+mn-lt"/>
                <a:ea typeface="+mn-ea"/>
                <a:cs typeface="+mn-cs"/>
              </a:rPr>
              <a:t>orders</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a:t>
            </a:r>
          </a:p>
          <a:p>
            <a:r>
              <a:rPr lang="de-DE" dirty="0"/>
              <a:t>liefert jetzt nur noch die berechtigten Aufträge.</a:t>
            </a:r>
          </a:p>
          <a:p>
            <a:r>
              <a:rPr lang="de-DE" b="1" dirty="0"/>
              <a:t>Beobachtung</a:t>
            </a:r>
          </a:p>
          <a:p>
            <a:r>
              <a:rPr lang="de-DE" dirty="0"/>
              <a:t>Das ABAP-Programm wurde nicht um einen kundenbezogenen Filter ergänzt. Trotzdem fehlt der Auftrag von </a:t>
            </a:r>
            <a:r>
              <a:rPr lang="de-DE" sz="1200" kern="1200" dirty="0">
                <a:solidFill>
                  <a:schemeClr val="tx1"/>
                </a:solidFill>
                <a:latin typeface="+mn-lt"/>
                <a:ea typeface="+mn-ea"/>
                <a:cs typeface="+mn-cs"/>
              </a:rPr>
              <a:t>C1100</a:t>
            </a:r>
            <a:r>
              <a:rPr lang="de-DE" dirty="0"/>
              <a:t>.</a:t>
            </a:r>
          </a:p>
          <a:p>
            <a:r>
              <a:rPr lang="de-DE" dirty="0"/>
              <a:t>Die Zugriffskontrolle wurde zentral im CDS-Modell ergänzt und wirkt automatisch auf den bestehenden ABAP-SQL-Zugriff.</a:t>
            </a:r>
          </a:p>
          <a:p>
            <a:br>
              <a:rPr lang="de-DE" dirty="0"/>
            </a:br>
            <a:endParaRPr lang="de-DE" dirty="0"/>
          </a:p>
          <a:p>
            <a:r>
              <a:rPr lang="de-DE" b="1" dirty="0"/>
              <a:t>5. Mit privilegiertem Zugriff vergleichen – ca. 2 Minuten</a:t>
            </a:r>
          </a:p>
          <a:p>
            <a:r>
              <a:rPr lang="de-DE" dirty="0"/>
              <a:t>Unterhalb der normalen Abfrage ergänzen:</a:t>
            </a:r>
          </a:p>
          <a:p>
            <a:pPr rtl="0"/>
            <a:r>
              <a:rPr lang="de-DE" sz="1200" kern="1200" dirty="0">
                <a:solidFill>
                  <a:schemeClr val="tx1"/>
                </a:solidFill>
                <a:latin typeface="+mn-lt"/>
                <a:ea typeface="+mn-ea"/>
                <a:cs typeface="+mn-cs"/>
              </a:rPr>
              <a:t>SELECT FROM </a:t>
            </a:r>
            <a:r>
              <a:rPr lang="de-DE" sz="1200" kern="1200" dirty="0" err="1">
                <a:solidFill>
                  <a:schemeClr val="tx1"/>
                </a:solidFill>
                <a:latin typeface="+mn-lt"/>
                <a:ea typeface="+mn-ea"/>
                <a:cs typeface="+mn-cs"/>
              </a:rPr>
              <a:t>ZI_CDSOrder</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WITH PRIVILEGED ACCESS</a:t>
            </a:r>
          </a:p>
          <a:p>
            <a:pPr rtl="0"/>
            <a:r>
              <a:rPr lang="de-DE" sz="1200" kern="1200" dirty="0">
                <a:solidFill>
                  <a:schemeClr val="tx1"/>
                </a:solidFill>
                <a:latin typeface="+mn-lt"/>
                <a:ea typeface="+mn-ea"/>
                <a:cs typeface="+mn-cs"/>
              </a:rPr>
              <a:t>  FIELDS </a:t>
            </a:r>
            <a:r>
              <a:rPr lang="de-DE" sz="1200" kern="1200" dirty="0" err="1">
                <a:solidFill>
                  <a:schemeClr val="tx1"/>
                </a:solidFill>
                <a:latin typeface="+mn-lt"/>
                <a:ea typeface="+mn-ea"/>
                <a:cs typeface="+mn-cs"/>
              </a:rPr>
              <a:t>OrderId</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CustomerId</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CustomerName</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OrderDate</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GrossAmount</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CurrencyCode</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ORDER BY </a:t>
            </a:r>
            <a:r>
              <a:rPr lang="de-DE" sz="1200" kern="1200" dirty="0" err="1">
                <a:solidFill>
                  <a:schemeClr val="tx1"/>
                </a:solidFill>
                <a:latin typeface="+mn-lt"/>
                <a:ea typeface="+mn-ea"/>
                <a:cs typeface="+mn-cs"/>
              </a:rPr>
              <a:t>OrderId</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INTO TABLE @DATA(all_orders).</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out-&gt;</a:t>
            </a:r>
            <a:r>
              <a:rPr lang="de-DE" sz="1200" kern="1200" dirty="0" err="1">
                <a:solidFill>
                  <a:schemeClr val="tx1"/>
                </a:solidFill>
                <a:latin typeface="+mn-lt"/>
                <a:ea typeface="+mn-ea"/>
                <a:cs typeface="+mn-cs"/>
              </a:rPr>
              <a:t>write</a:t>
            </a:r>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name</a:t>
            </a:r>
            <a:r>
              <a:rPr lang="de-DE" sz="1200" kern="1200" dirty="0">
                <a:solidFill>
                  <a:schemeClr val="tx1"/>
                </a:solidFill>
                <a:latin typeface="+mn-lt"/>
                <a:ea typeface="+mn-ea"/>
                <a:cs typeface="+mn-cs"/>
              </a:rPr>
              <a:t> = 'Alle Aufträge – privilegierter Zugriff'</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data</a:t>
            </a:r>
            <a:r>
              <a:rPr lang="de-DE" sz="1200" kern="1200" dirty="0">
                <a:solidFill>
                  <a:schemeClr val="tx1"/>
                </a:solidFill>
                <a:latin typeface="+mn-lt"/>
                <a:ea typeface="+mn-ea"/>
                <a:cs typeface="+mn-cs"/>
              </a:rPr>
              <a:t> = </a:t>
            </a:r>
            <a:r>
              <a:rPr lang="de-DE" sz="1200" kern="1200" dirty="0" err="1">
                <a:solidFill>
                  <a:schemeClr val="tx1"/>
                </a:solidFill>
                <a:latin typeface="+mn-lt"/>
                <a:ea typeface="+mn-ea"/>
                <a:cs typeface="+mn-cs"/>
              </a:rPr>
              <a:t>all_orders</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a:t>
            </a:r>
          </a:p>
          <a:p>
            <a:r>
              <a:rPr lang="de-DE" dirty="0"/>
              <a:t>Klasse aktivieren und erneut starten.</a:t>
            </a:r>
          </a:p>
          <a:p>
            <a:r>
              <a:rPr lang="de-DE" b="1" dirty="0"/>
              <a:t>Erwarteter Vergleich</a:t>
            </a:r>
          </a:p>
          <a:p>
            <a:r>
              <a:rPr lang="de-DE" dirty="0"/>
              <a:t>Normales Ergebnis:</a:t>
            </a:r>
          </a:p>
          <a:p>
            <a:r>
              <a:rPr lang="de-DE" dirty="0" err="1"/>
              <a:t>OrderId</a:t>
            </a:r>
            <a:endParaRPr lang="de-DE" dirty="0"/>
          </a:p>
          <a:p>
            <a:r>
              <a:rPr lang="de-DE" dirty="0" err="1"/>
              <a:t>CustomerId</a:t>
            </a:r>
            <a:endParaRPr lang="de-DE" dirty="0"/>
          </a:p>
          <a:p>
            <a:r>
              <a:rPr lang="de-DE" dirty="0"/>
              <a:t>O10001C1000</a:t>
            </a:r>
          </a:p>
          <a:p>
            <a:r>
              <a:rPr lang="de-DE" dirty="0"/>
              <a:t>O10003C1000</a:t>
            </a:r>
          </a:p>
          <a:p>
            <a:r>
              <a:rPr lang="de-DE" dirty="0"/>
              <a:t>Privilegiertes Ergebnis:</a:t>
            </a:r>
          </a:p>
          <a:p>
            <a:r>
              <a:rPr lang="de-DE" dirty="0" err="1"/>
              <a:t>OrderId</a:t>
            </a:r>
            <a:endParaRPr lang="de-DE" dirty="0"/>
          </a:p>
          <a:p>
            <a:r>
              <a:rPr lang="de-DE" dirty="0" err="1"/>
              <a:t>CustomerId</a:t>
            </a:r>
            <a:endParaRPr lang="de-DE" dirty="0"/>
          </a:p>
          <a:p>
            <a:r>
              <a:rPr lang="de-DE" dirty="0"/>
              <a:t>O10001C1000</a:t>
            </a:r>
          </a:p>
          <a:p>
            <a:r>
              <a:rPr lang="de-DE" dirty="0"/>
              <a:t>O10002C1100</a:t>
            </a:r>
          </a:p>
          <a:p>
            <a:r>
              <a:rPr lang="de-DE" dirty="0"/>
              <a:t>O10003C1000</a:t>
            </a:r>
          </a:p>
          <a:p>
            <a:r>
              <a:rPr lang="de-DE" b="1" dirty="0"/>
              <a:t>Begleitender Sprechtext</a:t>
            </a:r>
          </a:p>
          <a:p>
            <a:r>
              <a:rPr lang="de-DE" dirty="0"/>
              <a:t>Beide Abfragen verwenden dieselbe View Entity und dieselbe Feldliste.</a:t>
            </a:r>
          </a:p>
          <a:p>
            <a:r>
              <a:rPr lang="de-DE" dirty="0"/>
              <a:t>Der einzige Unterschied ist </a:t>
            </a:r>
            <a:r>
              <a:rPr lang="de-DE" sz="1200" kern="1200" dirty="0">
                <a:solidFill>
                  <a:schemeClr val="tx1"/>
                </a:solidFill>
                <a:latin typeface="+mn-lt"/>
                <a:ea typeface="+mn-ea"/>
                <a:cs typeface="+mn-cs"/>
              </a:rPr>
              <a:t>WITH PRIVILEGED ACCESS</a:t>
            </a:r>
            <a:r>
              <a:rPr lang="de-DE" dirty="0"/>
              <a:t>. Die erste Abfrage wertet die DCL aus und liefert nur die für den aktuellen Benutzer erlaubten Aufträge. Die zweite Abfrage umgeht die CDS-Zugriffskontrolle und zeigt deshalb den vollständigen Datenbestand.</a:t>
            </a:r>
          </a:p>
          <a:p>
            <a:r>
              <a:rPr lang="de-DE" dirty="0"/>
              <a:t>Damit lässt sich die Wirkung der DCL unmittelbar nachweisen.</a:t>
            </a:r>
          </a:p>
          <a:p>
            <a:br>
              <a:rPr lang="de-DE" dirty="0"/>
            </a:br>
            <a:endParaRPr lang="de-DE" dirty="0"/>
          </a:p>
          <a:p>
            <a:r>
              <a:rPr lang="de-DE" b="1" dirty="0"/>
              <a:t>6. Berechtigungswert verändern – optional, ca. 1 Minute</a:t>
            </a:r>
          </a:p>
          <a:p>
            <a:r>
              <a:rPr lang="de-DE" dirty="0"/>
              <a:t>Sofern die Benutzerzuordnung schnell geändert werden kann, bieten sich folgende Varianten an:</a:t>
            </a:r>
          </a:p>
          <a:p>
            <a:r>
              <a:rPr lang="de-DE" sz="1200" kern="1200" dirty="0">
                <a:solidFill>
                  <a:schemeClr val="tx1"/>
                </a:solidFill>
                <a:latin typeface="+mn-lt"/>
                <a:ea typeface="+mn-ea"/>
                <a:cs typeface="+mn-cs"/>
              </a:rPr>
              <a:t>ZCUSTOMER</a:t>
            </a:r>
            <a:endParaRPr lang="de-DE" dirty="0"/>
          </a:p>
          <a:p>
            <a:r>
              <a:rPr lang="de-DE" dirty="0"/>
              <a:t>Erwartetes Ergebnis</a:t>
            </a:r>
          </a:p>
          <a:p>
            <a:r>
              <a:rPr lang="de-DE" sz="1200" kern="1200" dirty="0">
                <a:solidFill>
                  <a:schemeClr val="tx1"/>
                </a:solidFill>
                <a:latin typeface="+mn-lt"/>
                <a:ea typeface="+mn-ea"/>
                <a:cs typeface="+mn-cs"/>
              </a:rPr>
              <a:t>C1000</a:t>
            </a:r>
            <a:r>
              <a:rPr lang="de-DE" dirty="0"/>
              <a:t>nur Aufträge von </a:t>
            </a:r>
            <a:r>
              <a:rPr lang="de-DE" sz="1200" kern="1200" dirty="0">
                <a:solidFill>
                  <a:schemeClr val="tx1"/>
                </a:solidFill>
                <a:latin typeface="+mn-lt"/>
                <a:ea typeface="+mn-ea"/>
                <a:cs typeface="+mn-cs"/>
              </a:rPr>
              <a:t>C1000</a:t>
            </a:r>
            <a:endParaRPr lang="de-DE" dirty="0"/>
          </a:p>
          <a:p>
            <a:r>
              <a:rPr lang="de-DE" sz="1200" kern="1200" dirty="0">
                <a:solidFill>
                  <a:schemeClr val="tx1"/>
                </a:solidFill>
                <a:latin typeface="+mn-lt"/>
                <a:ea typeface="+mn-ea"/>
                <a:cs typeface="+mn-cs"/>
              </a:rPr>
              <a:t>C1100</a:t>
            </a:r>
            <a:r>
              <a:rPr lang="de-DE" dirty="0"/>
              <a:t>nur Aufträge von </a:t>
            </a:r>
            <a:r>
              <a:rPr lang="de-DE" sz="1200" kern="1200" dirty="0">
                <a:solidFill>
                  <a:schemeClr val="tx1"/>
                </a:solidFill>
                <a:latin typeface="+mn-lt"/>
                <a:ea typeface="+mn-ea"/>
                <a:cs typeface="+mn-cs"/>
              </a:rPr>
              <a:t>C1100</a:t>
            </a:r>
            <a:endParaRPr lang="de-DE" dirty="0"/>
          </a:p>
          <a:p>
            <a:r>
              <a:rPr lang="de-DE" sz="1200" kern="1200" dirty="0">
                <a:solidFill>
                  <a:schemeClr val="tx1"/>
                </a:solidFill>
                <a:latin typeface="+mn-lt"/>
                <a:ea typeface="+mn-ea"/>
                <a:cs typeface="+mn-cs"/>
              </a:rPr>
              <a:t>C1*</a:t>
            </a:r>
            <a:r>
              <a:rPr lang="de-DE" dirty="0"/>
              <a:t>alle Kunden, deren Nummer mit </a:t>
            </a:r>
            <a:r>
              <a:rPr lang="de-DE" sz="1200" kern="1200" dirty="0">
                <a:solidFill>
                  <a:schemeClr val="tx1"/>
                </a:solidFill>
                <a:latin typeface="+mn-lt"/>
                <a:ea typeface="+mn-ea"/>
                <a:cs typeface="+mn-cs"/>
              </a:rPr>
              <a:t>C1</a:t>
            </a:r>
            <a:r>
              <a:rPr lang="de-DE" dirty="0"/>
              <a:t> beginnt</a:t>
            </a:r>
          </a:p>
          <a:p>
            <a:r>
              <a:rPr lang="de-DE" sz="1200" kern="1200" dirty="0">
                <a:solidFill>
                  <a:schemeClr val="tx1"/>
                </a:solidFill>
                <a:latin typeface="+mn-lt"/>
                <a:ea typeface="+mn-ea"/>
                <a:cs typeface="+mn-cs"/>
              </a:rPr>
              <a:t>*</a:t>
            </a:r>
            <a:r>
              <a:rPr lang="de-DE" dirty="0"/>
              <a:t>alle Kunden</a:t>
            </a:r>
          </a:p>
          <a:p>
            <a:r>
              <a:rPr lang="de-DE" dirty="0"/>
              <a:t>kein Wertkeine Aufträge</a:t>
            </a:r>
          </a:p>
          <a:p>
            <a:r>
              <a:rPr lang="de-DE" dirty="0"/>
              <a:t>Für das zehnminütige Live-Coding genügt normalerweise der Vergleich zwischen normalem und privilegiertem Zugriff.</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51</a:t>
            </a:fld>
            <a:endParaRPr lang="de-DE" dirty="0"/>
          </a:p>
        </p:txBody>
      </p:sp>
    </p:spTree>
    <p:extLst>
      <p:ext uri="{BB962C8B-B14F-4D97-AF65-F5344CB8AC3E}">
        <p14:creationId xmlns:p14="http://schemas.microsoft.com/office/powerpoint/2010/main" val="246922573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An dieser Stelle ist eine wichtige Einschränkung notwendig.</a:t>
            </a:r>
          </a:p>
          <a:p>
            <a:endParaRPr lang="de-DE" dirty="0"/>
          </a:p>
          <a:p>
            <a:r>
              <a:rPr lang="de-DE" dirty="0"/>
              <a:t>Wir haben </a:t>
            </a:r>
            <a:r>
              <a:rPr lang="de-DE" sz="1200" kern="1200" dirty="0" err="1">
                <a:solidFill>
                  <a:schemeClr val="tx1"/>
                </a:solidFill>
                <a:latin typeface="+mn-lt"/>
                <a:ea typeface="+mn-ea"/>
                <a:cs typeface="+mn-cs"/>
              </a:rPr>
              <a:t>ZI_CDSOrder</a:t>
            </a:r>
            <a:r>
              <a:rPr lang="de-DE" dirty="0"/>
              <a:t> geschützt. Das bedeutet nicht automatisch, dass jeder denkbare Zugriff auf die zugrunde liegenden Daten geschützt ist.</a:t>
            </a:r>
          </a:p>
          <a:p>
            <a:endParaRPr lang="de-DE" dirty="0"/>
          </a:p>
          <a:p>
            <a:r>
              <a:rPr lang="de-DE" dirty="0"/>
              <a:t>Ein direkter Zugriff auf die Tabelle </a:t>
            </a:r>
            <a:r>
              <a:rPr lang="de-DE" sz="1200" kern="1200" dirty="0">
                <a:solidFill>
                  <a:schemeClr val="tx1"/>
                </a:solidFill>
                <a:latin typeface="+mn-lt"/>
                <a:ea typeface="+mn-ea"/>
                <a:cs typeface="+mn-cs"/>
              </a:rPr>
              <a:t>ZCDS_ORDER</a:t>
            </a:r>
            <a:r>
              <a:rPr lang="de-DE" dirty="0"/>
              <a:t> unterliegt nicht dieser DCL. Ebenso wird </a:t>
            </a:r>
            <a:r>
              <a:rPr lang="de-DE" sz="1200" kern="1200" dirty="0" err="1">
                <a:solidFill>
                  <a:schemeClr val="tx1"/>
                </a:solidFill>
                <a:latin typeface="+mn-lt"/>
                <a:ea typeface="+mn-ea"/>
                <a:cs typeface="+mn-cs"/>
              </a:rPr>
              <a:t>ZI_CDSOrderItem</a:t>
            </a:r>
            <a:r>
              <a:rPr lang="de-DE" dirty="0"/>
              <a:t> durch die Regel für </a:t>
            </a:r>
            <a:r>
              <a:rPr lang="de-DE" sz="1200" kern="1200" dirty="0" err="1">
                <a:solidFill>
                  <a:schemeClr val="tx1"/>
                </a:solidFill>
                <a:latin typeface="+mn-lt"/>
                <a:ea typeface="+mn-ea"/>
                <a:cs typeface="+mn-cs"/>
              </a:rPr>
              <a:t>ZI_CDSOrder</a:t>
            </a:r>
            <a:r>
              <a:rPr lang="de-DE" dirty="0"/>
              <a:t> nicht automatisch zu einer eigenständig geschützten View.</a:t>
            </a:r>
          </a:p>
          <a:p>
            <a:endParaRPr lang="de-DE" dirty="0"/>
          </a:p>
          <a:p>
            <a:r>
              <a:rPr lang="de-DE" dirty="0"/>
              <a:t>Unsere Konsolenklasse enthält weiterhin einen direkten Zugriff auf </a:t>
            </a:r>
            <a:r>
              <a:rPr lang="de-DE" sz="1200" kern="1200" dirty="0" err="1">
                <a:solidFill>
                  <a:schemeClr val="tx1"/>
                </a:solidFill>
                <a:latin typeface="+mn-lt"/>
                <a:ea typeface="+mn-ea"/>
                <a:cs typeface="+mn-cs"/>
              </a:rPr>
              <a:t>ZI_CDSOrderItem</a:t>
            </a:r>
            <a:r>
              <a:rPr lang="de-DE" dirty="0"/>
              <a:t>. Dieser Zugriff müsste in einer produktiven Anwendung separat abgesichert oder über eine entsprechend geschützte Verbrauchsschicht verhindert werden.</a:t>
            </a:r>
          </a:p>
          <a:p>
            <a:endParaRPr lang="de-DE" dirty="0"/>
          </a:p>
          <a:p>
            <a:r>
              <a:rPr lang="de-DE" dirty="0"/>
              <a:t>DCL ist deshalb kein magischer globaler Schutz für alle technisch verwandten Datenquellen. Bei der Berechtigungskonzeption müssen wir festlegen, welche CDS-Entitäten als freigegebene Einstiegspunkte dienen und wie jede davon geschützt wird.</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52</a:t>
            </a:fld>
            <a:endParaRPr lang="de-DE" dirty="0"/>
          </a:p>
        </p:txBody>
      </p:sp>
    </p:spTree>
    <p:extLst>
      <p:ext uri="{BB962C8B-B14F-4D97-AF65-F5344CB8AC3E}">
        <p14:creationId xmlns:p14="http://schemas.microsoft.com/office/powerpoint/2010/main" val="413483606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Diese fünf Punkte sind für die praktische Arbeit besonders wichtig.</a:t>
            </a:r>
          </a:p>
          <a:p>
            <a:r>
              <a:rPr lang="de-DE" dirty="0"/>
              <a:t>Die Annotation und die DCL erfüllen unterschiedliche Aufgaben. Auch eine aktive DCL ersetzt nicht die Zuordnung der benötigten Berechtigungen zum Benutzer.</a:t>
            </a:r>
          </a:p>
          <a:p>
            <a:r>
              <a:rPr lang="de-DE" dirty="0"/>
              <a:t>Ein leeres Ergebnis kann fachlich korrekt sein: Der Benutzer besitzt dann keine passende Berechtigung. Deshalb sollte eine Anwendung zwischen „keine fachlichen Daten vorhanden“ und „keine sichtbaren Daten vorhanden“ nicht leichtfertig unterscheiden wollen – sie kennt aus gutem Grund nur die freigegebene Ergebnismenge.</a:t>
            </a:r>
          </a:p>
          <a:p>
            <a:r>
              <a:rPr lang="de-DE" dirty="0"/>
              <a:t>Besonders wichtig ist außerdem die Betrachtung aller konsumierbaren CDS-Entitäten. Eine ungeschützte alternative View kann ein ansonsten sorgfältiges Berechtigungskonzept umgehen.</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53</a:t>
            </a:fld>
            <a:endParaRPr lang="de-DE" dirty="0"/>
          </a:p>
        </p:txBody>
      </p:sp>
    </p:spTree>
    <p:extLst>
      <p:ext uri="{BB962C8B-B14F-4D97-AF65-F5344CB8AC3E}">
        <p14:creationId xmlns:p14="http://schemas.microsoft.com/office/powerpoint/2010/main" val="2301734480"/>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Damit ist der erste Teil der Kursreihe abgeschlossen.</a:t>
            </a:r>
          </a:p>
          <a:p>
            <a:endParaRPr lang="de-DE" dirty="0"/>
          </a:p>
          <a:p>
            <a:r>
              <a:rPr lang="de-DE" dirty="0"/>
              <a:t>Ausgehend von einfachen Datenbanktabellen haben wir ein verbundenes CDS-Modell aufgebaut. Die technischen Tabellenfelder wurden über fachlich verständliche CDS-Elemente angeboten. Berechnete Elemente und Assoziationen verlagern wiederverwendbare Logik in das Datenmodell.</a:t>
            </a:r>
          </a:p>
          <a:p>
            <a:endParaRPr lang="de-DE" dirty="0"/>
          </a:p>
          <a:p>
            <a:r>
              <a:rPr lang="de-DE" dirty="0"/>
              <a:t>Anschließend haben wir die View </a:t>
            </a:r>
            <a:r>
              <a:rPr lang="de-DE" dirty="0" err="1"/>
              <a:t>Entities</a:t>
            </a:r>
            <a:r>
              <a:rPr lang="de-DE" dirty="0"/>
              <a:t> mit ABAP SQL konsumiert. Dabei konnten wir sowohl direkt auf Views zugreifen als auch einer exponierten Assoziation folgen.</a:t>
            </a:r>
          </a:p>
          <a:p>
            <a:endParaRPr lang="de-DE" dirty="0"/>
          </a:p>
          <a:p>
            <a:r>
              <a:rPr lang="de-DE" dirty="0"/>
              <a:t>Zum Abschluss haben wir </a:t>
            </a:r>
            <a:r>
              <a:rPr lang="de-DE" sz="1200" kern="1200" dirty="0" err="1">
                <a:solidFill>
                  <a:schemeClr val="tx1"/>
                </a:solidFill>
                <a:latin typeface="+mn-lt"/>
                <a:ea typeface="+mn-ea"/>
                <a:cs typeface="+mn-cs"/>
              </a:rPr>
              <a:t>ZI_CDSOrder</a:t>
            </a:r>
            <a:r>
              <a:rPr lang="de-DE" dirty="0"/>
              <a:t> mit einer DCL-Rolle geschützt. Dieselbe ABAP-SQL-Abfrage liefert nun abhängig von den Berechtigungen des aktuellen Benutzers unterschiedliche Ergebnismengen.</a:t>
            </a:r>
          </a:p>
          <a:p>
            <a:endParaRPr lang="de-DE" dirty="0"/>
          </a:p>
          <a:p>
            <a:r>
              <a:rPr lang="de-DE" dirty="0"/>
              <a:t>In Teil 2 gehen wir über dieses grundlegende Datenmodell hinaus. Dort beschäftigen wir uns mit erweiterten Ausdrücken, Aggregationen, Parametern und weiteren Möglichkeiten, datenintensive Verarbeitung in die CDS-Schicht zu verlagern.</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54</a:t>
            </a:fld>
            <a:endParaRPr lang="de-DE" dirty="0"/>
          </a:p>
        </p:txBody>
      </p:sp>
    </p:spTree>
    <p:extLst>
      <p:ext uri="{BB962C8B-B14F-4D97-AF65-F5344CB8AC3E}">
        <p14:creationId xmlns:p14="http://schemas.microsoft.com/office/powerpoint/2010/main" val="4090149730"/>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55</a:t>
            </a:fld>
            <a:endParaRPr lang="de-DE" dirty="0"/>
          </a:p>
        </p:txBody>
      </p:sp>
    </p:spTree>
    <p:extLst>
      <p:ext uri="{BB962C8B-B14F-4D97-AF65-F5344CB8AC3E}">
        <p14:creationId xmlns:p14="http://schemas.microsoft.com/office/powerpoint/2010/main" val="734982894"/>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56</a:t>
            </a:fld>
            <a:endParaRPr lang="de-DE" dirty="0"/>
          </a:p>
        </p:txBody>
      </p:sp>
    </p:spTree>
    <p:extLst>
      <p:ext uri="{BB962C8B-B14F-4D97-AF65-F5344CB8AC3E}">
        <p14:creationId xmlns:p14="http://schemas.microsoft.com/office/powerpoint/2010/main" val="3229934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6CBA5C6-AA22-3537-BFD8-3B3B96B501E9}"/>
              </a:ext>
            </a:extLst>
          </p:cNvPr>
          <p:cNvSpPr>
            <a:spLocks noGrp="1"/>
          </p:cNvSpPr>
          <p:nvPr>
            <p:ph type="ctrTitle"/>
          </p:nvPr>
        </p:nvSpPr>
        <p:spPr>
          <a:xfrm>
            <a:off x="1524000" y="1122363"/>
            <a:ext cx="9144000" cy="2387600"/>
          </a:xfrm>
        </p:spPr>
        <p:txBody>
          <a:bodyPr anchor="b"/>
          <a:lstStyle>
            <a:lvl1pPr algn="ctr">
              <a:defRPr sz="6000"/>
            </a:lvl1pPr>
          </a:lstStyle>
          <a:p>
            <a:r>
              <a:rPr lang="de-DE"/>
              <a:t>Mastertitelformat bearbeiten</a:t>
            </a:r>
          </a:p>
        </p:txBody>
      </p:sp>
      <p:sp>
        <p:nvSpPr>
          <p:cNvPr id="3" name="Untertitel 2">
            <a:extLst>
              <a:ext uri="{FF2B5EF4-FFF2-40B4-BE49-F238E27FC236}">
                <a16:creationId xmlns:a16="http://schemas.microsoft.com/office/drawing/2014/main" id="{0BB920B5-11DB-39F1-438C-45576462E47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p>
        </p:txBody>
      </p:sp>
      <p:sp>
        <p:nvSpPr>
          <p:cNvPr id="4" name="Datumsplatzhalter 3">
            <a:extLst>
              <a:ext uri="{FF2B5EF4-FFF2-40B4-BE49-F238E27FC236}">
                <a16:creationId xmlns:a16="http://schemas.microsoft.com/office/drawing/2014/main" id="{CFFC1068-AC93-FA27-6824-B39557D75988}"/>
              </a:ext>
            </a:extLst>
          </p:cNvPr>
          <p:cNvSpPr>
            <a:spLocks noGrp="1"/>
          </p:cNvSpPr>
          <p:nvPr>
            <p:ph type="dt" sz="half" idx="10"/>
          </p:nvPr>
        </p:nvSpPr>
        <p:spPr>
          <a:xfrm>
            <a:off x="838200" y="6356350"/>
            <a:ext cx="2743200" cy="365125"/>
          </a:xfrm>
          <a:prstGeom prst="rect">
            <a:avLst/>
          </a:prstGeom>
        </p:spPr>
        <p:txBody>
          <a:bodyPr/>
          <a:lstStyle/>
          <a:p>
            <a:fld id="{A9536FE4-5786-419D-BEFC-501822F05845}" type="datetime1">
              <a:rPr lang="de-DE" smtClean="0"/>
              <a:t>01.08.2026</a:t>
            </a:fld>
            <a:endParaRPr lang="de-DE" dirty="0"/>
          </a:p>
        </p:txBody>
      </p:sp>
      <p:sp>
        <p:nvSpPr>
          <p:cNvPr id="5" name="Fußzeilenplatzhalter 4">
            <a:extLst>
              <a:ext uri="{FF2B5EF4-FFF2-40B4-BE49-F238E27FC236}">
                <a16:creationId xmlns:a16="http://schemas.microsoft.com/office/drawing/2014/main" id="{B79C8490-17D4-2876-2238-01DFC41C9E76}"/>
              </a:ext>
            </a:extLst>
          </p:cNvPr>
          <p:cNvSpPr>
            <a:spLocks noGrp="1"/>
          </p:cNvSpPr>
          <p:nvPr>
            <p:ph type="ftr" sz="quarter" idx="11"/>
          </p:nvPr>
        </p:nvSpPr>
        <p:spPr/>
        <p:txBody>
          <a:bodyPr/>
          <a:lstStyle/>
          <a:p>
            <a:endParaRPr lang="de-DE" dirty="0"/>
          </a:p>
        </p:txBody>
      </p:sp>
      <p:sp>
        <p:nvSpPr>
          <p:cNvPr id="6" name="Foliennummernplatzhalter 5">
            <a:extLst>
              <a:ext uri="{FF2B5EF4-FFF2-40B4-BE49-F238E27FC236}">
                <a16:creationId xmlns:a16="http://schemas.microsoft.com/office/drawing/2014/main" id="{CDC8C4AA-D2D4-85E2-46CC-A17FD346EBEE}"/>
              </a:ext>
            </a:extLst>
          </p:cNvPr>
          <p:cNvSpPr>
            <a:spLocks noGrp="1"/>
          </p:cNvSpPr>
          <p:nvPr>
            <p:ph type="sldNum" sz="quarter" idx="12"/>
          </p:nvPr>
        </p:nvSpPr>
        <p:spPr/>
        <p:txBody>
          <a:bodyPr/>
          <a:lstStyle/>
          <a:p>
            <a:fld id="{A45C8BF5-653B-41D0-99F2-8CC2D2A1F005}" type="slidenum">
              <a:rPr lang="de-DE" smtClean="0"/>
              <a:t>‹Nr.›</a:t>
            </a:fld>
            <a:endParaRPr lang="de-DE" dirty="0"/>
          </a:p>
        </p:txBody>
      </p:sp>
    </p:spTree>
    <p:extLst>
      <p:ext uri="{BB962C8B-B14F-4D97-AF65-F5344CB8AC3E}">
        <p14:creationId xmlns:p14="http://schemas.microsoft.com/office/powerpoint/2010/main" val="20992421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1BE5684-8251-E29F-5A2A-12D2C04081D0}"/>
              </a:ext>
            </a:extLst>
          </p:cNvPr>
          <p:cNvSpPr>
            <a:spLocks noGrp="1"/>
          </p:cNvSpPr>
          <p:nvPr>
            <p:ph type="title"/>
          </p:nvPr>
        </p:nvSpPr>
        <p:spPr/>
        <p:txBody>
          <a:bodyPr lIns="0"/>
          <a:lstStyle/>
          <a:p>
            <a:r>
              <a:rPr lang="de-DE" dirty="0"/>
              <a:t>Mastertitelformat bearbeiten</a:t>
            </a:r>
          </a:p>
        </p:txBody>
      </p:sp>
      <p:sp>
        <p:nvSpPr>
          <p:cNvPr id="3" name="Inhaltsplatzhalter 2">
            <a:extLst>
              <a:ext uri="{FF2B5EF4-FFF2-40B4-BE49-F238E27FC236}">
                <a16:creationId xmlns:a16="http://schemas.microsoft.com/office/drawing/2014/main" id="{667783B3-FAFD-8C19-FBB1-16BFD18789E9}"/>
              </a:ext>
            </a:extLst>
          </p:cNvPr>
          <p:cNvSpPr>
            <a:spLocks noGrp="1"/>
          </p:cNvSpPr>
          <p:nvPr>
            <p:ph idx="1"/>
          </p:nvPr>
        </p:nvSpPr>
        <p:spPr/>
        <p:txBody>
          <a:bodyPr lIns="0"/>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Datumsplatzhalter 3">
            <a:extLst>
              <a:ext uri="{FF2B5EF4-FFF2-40B4-BE49-F238E27FC236}">
                <a16:creationId xmlns:a16="http://schemas.microsoft.com/office/drawing/2014/main" id="{D51285BF-5671-0420-60D5-884EC2F6FF5E}"/>
              </a:ext>
            </a:extLst>
          </p:cNvPr>
          <p:cNvSpPr>
            <a:spLocks noGrp="1"/>
          </p:cNvSpPr>
          <p:nvPr>
            <p:ph type="dt" sz="half" idx="10"/>
          </p:nvPr>
        </p:nvSpPr>
        <p:spPr>
          <a:xfrm>
            <a:off x="838200" y="6356350"/>
            <a:ext cx="2743200" cy="365125"/>
          </a:xfrm>
          <a:prstGeom prst="rect">
            <a:avLst/>
          </a:prstGeom>
        </p:spPr>
        <p:txBody>
          <a:bodyPr/>
          <a:lstStyle/>
          <a:p>
            <a:fld id="{15B639AA-02E9-47DF-BFAD-69C50BB74770}" type="datetime1">
              <a:rPr lang="de-DE" smtClean="0"/>
              <a:t>01.08.2026</a:t>
            </a:fld>
            <a:endParaRPr lang="de-DE" dirty="0"/>
          </a:p>
        </p:txBody>
      </p:sp>
      <p:sp>
        <p:nvSpPr>
          <p:cNvPr id="5" name="Fußzeilenplatzhalter 4">
            <a:extLst>
              <a:ext uri="{FF2B5EF4-FFF2-40B4-BE49-F238E27FC236}">
                <a16:creationId xmlns:a16="http://schemas.microsoft.com/office/drawing/2014/main" id="{10F8A230-46A9-6446-6656-1613579BA8AC}"/>
              </a:ext>
            </a:extLst>
          </p:cNvPr>
          <p:cNvSpPr>
            <a:spLocks noGrp="1"/>
          </p:cNvSpPr>
          <p:nvPr>
            <p:ph type="ftr" sz="quarter" idx="11"/>
          </p:nvPr>
        </p:nvSpPr>
        <p:spPr/>
        <p:txBody>
          <a:bodyPr/>
          <a:lstStyle/>
          <a:p>
            <a:endParaRPr lang="de-DE" dirty="0"/>
          </a:p>
        </p:txBody>
      </p:sp>
      <p:sp>
        <p:nvSpPr>
          <p:cNvPr id="6" name="Foliennummernplatzhalter 5">
            <a:extLst>
              <a:ext uri="{FF2B5EF4-FFF2-40B4-BE49-F238E27FC236}">
                <a16:creationId xmlns:a16="http://schemas.microsoft.com/office/drawing/2014/main" id="{8FF5EC8A-A7F1-7E1D-EF78-D2BD6560E815}"/>
              </a:ext>
            </a:extLst>
          </p:cNvPr>
          <p:cNvSpPr>
            <a:spLocks noGrp="1"/>
          </p:cNvSpPr>
          <p:nvPr>
            <p:ph type="sldNum" sz="quarter" idx="12"/>
          </p:nvPr>
        </p:nvSpPr>
        <p:spPr/>
        <p:txBody>
          <a:bodyPr/>
          <a:lstStyle/>
          <a:p>
            <a:fld id="{A45C8BF5-653B-41D0-99F2-8CC2D2A1F005}" type="slidenum">
              <a:rPr lang="de-DE" smtClean="0"/>
              <a:t>‹Nr.›</a:t>
            </a:fld>
            <a:endParaRPr lang="de-DE" dirty="0"/>
          </a:p>
        </p:txBody>
      </p:sp>
    </p:spTree>
    <p:extLst>
      <p:ext uri="{BB962C8B-B14F-4D97-AF65-F5344CB8AC3E}">
        <p14:creationId xmlns:p14="http://schemas.microsoft.com/office/powerpoint/2010/main" val="17896564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4DD6CEF-83A0-8501-0860-64379D07AD5C}"/>
              </a:ext>
            </a:extLst>
          </p:cNvPr>
          <p:cNvSpPr>
            <a:spLocks noGrp="1"/>
          </p:cNvSpPr>
          <p:nvPr>
            <p:ph type="title"/>
          </p:nvPr>
        </p:nvSpPr>
        <p:spPr>
          <a:xfrm>
            <a:off x="831850" y="1709738"/>
            <a:ext cx="10515600" cy="2852737"/>
          </a:xfrm>
        </p:spPr>
        <p:txBody>
          <a:bodyPr lIns="0" anchor="b"/>
          <a:lstStyle>
            <a:lvl1pPr>
              <a:defRPr sz="6000"/>
            </a:lvl1pPr>
          </a:lstStyle>
          <a:p>
            <a:r>
              <a:rPr lang="de-DE" dirty="0"/>
              <a:t>Mastertitelformat bearbeiten</a:t>
            </a:r>
          </a:p>
        </p:txBody>
      </p:sp>
      <p:sp>
        <p:nvSpPr>
          <p:cNvPr id="3" name="Textplatzhalter 2">
            <a:extLst>
              <a:ext uri="{FF2B5EF4-FFF2-40B4-BE49-F238E27FC236}">
                <a16:creationId xmlns:a16="http://schemas.microsoft.com/office/drawing/2014/main" id="{E2CA302A-1DF6-5BFE-AAB4-243E6F266692}"/>
              </a:ext>
            </a:extLst>
          </p:cNvPr>
          <p:cNvSpPr>
            <a:spLocks noGrp="1"/>
          </p:cNvSpPr>
          <p:nvPr>
            <p:ph type="body" idx="1"/>
          </p:nvPr>
        </p:nvSpPr>
        <p:spPr>
          <a:xfrm>
            <a:off x="831850" y="4589463"/>
            <a:ext cx="10515600" cy="1500187"/>
          </a:xfrm>
        </p:spPr>
        <p:txBody>
          <a:bodyPr lIns="0"/>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de-DE" dirty="0"/>
              <a:t>Mastertextformat bearbeiten</a:t>
            </a:r>
          </a:p>
        </p:txBody>
      </p:sp>
      <p:sp>
        <p:nvSpPr>
          <p:cNvPr id="4" name="Datumsplatzhalter 3">
            <a:extLst>
              <a:ext uri="{FF2B5EF4-FFF2-40B4-BE49-F238E27FC236}">
                <a16:creationId xmlns:a16="http://schemas.microsoft.com/office/drawing/2014/main" id="{ACB97290-D9D2-BDEA-B544-9D80C7C92688}"/>
              </a:ext>
            </a:extLst>
          </p:cNvPr>
          <p:cNvSpPr>
            <a:spLocks noGrp="1"/>
          </p:cNvSpPr>
          <p:nvPr>
            <p:ph type="dt" sz="half" idx="10"/>
          </p:nvPr>
        </p:nvSpPr>
        <p:spPr>
          <a:xfrm>
            <a:off x="838200" y="6356350"/>
            <a:ext cx="2743200" cy="365125"/>
          </a:xfrm>
          <a:prstGeom prst="rect">
            <a:avLst/>
          </a:prstGeom>
        </p:spPr>
        <p:txBody>
          <a:bodyPr/>
          <a:lstStyle/>
          <a:p>
            <a:fld id="{2791E82D-3FE7-482A-9BEE-155BD834B8C0}" type="datetime1">
              <a:rPr lang="de-DE" smtClean="0"/>
              <a:t>01.08.2026</a:t>
            </a:fld>
            <a:endParaRPr lang="de-DE" dirty="0"/>
          </a:p>
        </p:txBody>
      </p:sp>
      <p:sp>
        <p:nvSpPr>
          <p:cNvPr id="5" name="Fußzeilenplatzhalter 4">
            <a:extLst>
              <a:ext uri="{FF2B5EF4-FFF2-40B4-BE49-F238E27FC236}">
                <a16:creationId xmlns:a16="http://schemas.microsoft.com/office/drawing/2014/main" id="{BCBA3C84-9825-0644-758D-17885723D524}"/>
              </a:ext>
            </a:extLst>
          </p:cNvPr>
          <p:cNvSpPr>
            <a:spLocks noGrp="1"/>
          </p:cNvSpPr>
          <p:nvPr>
            <p:ph type="ftr" sz="quarter" idx="11"/>
          </p:nvPr>
        </p:nvSpPr>
        <p:spPr/>
        <p:txBody>
          <a:bodyPr/>
          <a:lstStyle/>
          <a:p>
            <a:endParaRPr lang="de-DE" dirty="0"/>
          </a:p>
        </p:txBody>
      </p:sp>
      <p:sp>
        <p:nvSpPr>
          <p:cNvPr id="6" name="Foliennummernplatzhalter 5">
            <a:extLst>
              <a:ext uri="{FF2B5EF4-FFF2-40B4-BE49-F238E27FC236}">
                <a16:creationId xmlns:a16="http://schemas.microsoft.com/office/drawing/2014/main" id="{B93EE689-D1AA-12E2-15CE-D86564CA263F}"/>
              </a:ext>
            </a:extLst>
          </p:cNvPr>
          <p:cNvSpPr>
            <a:spLocks noGrp="1"/>
          </p:cNvSpPr>
          <p:nvPr>
            <p:ph type="sldNum" sz="quarter" idx="12"/>
          </p:nvPr>
        </p:nvSpPr>
        <p:spPr/>
        <p:txBody>
          <a:bodyPr/>
          <a:lstStyle/>
          <a:p>
            <a:fld id="{A45C8BF5-653B-41D0-99F2-8CC2D2A1F005}" type="slidenum">
              <a:rPr lang="de-DE" smtClean="0"/>
              <a:t>‹Nr.›</a:t>
            </a:fld>
            <a:endParaRPr lang="de-DE" dirty="0"/>
          </a:p>
        </p:txBody>
      </p:sp>
    </p:spTree>
    <p:extLst>
      <p:ext uri="{BB962C8B-B14F-4D97-AF65-F5344CB8AC3E}">
        <p14:creationId xmlns:p14="http://schemas.microsoft.com/office/powerpoint/2010/main" val="30954750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6193A0F-F7B1-1AEE-20A3-08A6B8BEEF86}"/>
              </a:ext>
            </a:extLst>
          </p:cNvPr>
          <p:cNvSpPr>
            <a:spLocks noGrp="1"/>
          </p:cNvSpPr>
          <p:nvPr>
            <p:ph type="title"/>
          </p:nvPr>
        </p:nvSpPr>
        <p:spPr/>
        <p:txBody>
          <a:bodyPr lIns="0"/>
          <a:lstStyle/>
          <a:p>
            <a:r>
              <a:rPr lang="de-DE" dirty="0"/>
              <a:t>Mastertitelformat bearbeiten</a:t>
            </a:r>
          </a:p>
        </p:txBody>
      </p:sp>
      <p:sp>
        <p:nvSpPr>
          <p:cNvPr id="3" name="Inhaltsplatzhalter 2">
            <a:extLst>
              <a:ext uri="{FF2B5EF4-FFF2-40B4-BE49-F238E27FC236}">
                <a16:creationId xmlns:a16="http://schemas.microsoft.com/office/drawing/2014/main" id="{1B48FD81-6911-F9F5-18A9-321A9DE0310A}"/>
              </a:ext>
            </a:extLst>
          </p:cNvPr>
          <p:cNvSpPr>
            <a:spLocks noGrp="1"/>
          </p:cNvSpPr>
          <p:nvPr>
            <p:ph sz="half" idx="1"/>
          </p:nvPr>
        </p:nvSpPr>
        <p:spPr>
          <a:xfrm>
            <a:off x="838200" y="1825625"/>
            <a:ext cx="5181600" cy="4351338"/>
          </a:xfrm>
        </p:spPr>
        <p:txBody>
          <a:bodyPr lIns="0"/>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Inhaltsplatzhalter 3">
            <a:extLst>
              <a:ext uri="{FF2B5EF4-FFF2-40B4-BE49-F238E27FC236}">
                <a16:creationId xmlns:a16="http://schemas.microsoft.com/office/drawing/2014/main" id="{055F3876-CC10-CBB5-5183-554DDD8485F2}"/>
              </a:ext>
            </a:extLst>
          </p:cNvPr>
          <p:cNvSpPr>
            <a:spLocks noGrp="1"/>
          </p:cNvSpPr>
          <p:nvPr>
            <p:ph sz="half" idx="2"/>
          </p:nvPr>
        </p:nvSpPr>
        <p:spPr>
          <a:xfrm>
            <a:off x="6172200" y="1825625"/>
            <a:ext cx="5181600" cy="4351338"/>
          </a:xfrm>
        </p:spPr>
        <p:txBody>
          <a:bodyPr lIns="0"/>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5" name="Datumsplatzhalter 4">
            <a:extLst>
              <a:ext uri="{FF2B5EF4-FFF2-40B4-BE49-F238E27FC236}">
                <a16:creationId xmlns:a16="http://schemas.microsoft.com/office/drawing/2014/main" id="{85613C97-875A-9A9D-9134-D376362DB8D2}"/>
              </a:ext>
            </a:extLst>
          </p:cNvPr>
          <p:cNvSpPr>
            <a:spLocks noGrp="1"/>
          </p:cNvSpPr>
          <p:nvPr>
            <p:ph type="dt" sz="half" idx="10"/>
          </p:nvPr>
        </p:nvSpPr>
        <p:spPr>
          <a:xfrm>
            <a:off x="838200" y="6356350"/>
            <a:ext cx="2743200" cy="365125"/>
          </a:xfrm>
          <a:prstGeom prst="rect">
            <a:avLst/>
          </a:prstGeom>
        </p:spPr>
        <p:txBody>
          <a:bodyPr/>
          <a:lstStyle/>
          <a:p>
            <a:fld id="{A9B7B6AC-FEDE-4E87-906B-CA84082377CE}" type="datetime1">
              <a:rPr lang="de-DE" smtClean="0"/>
              <a:t>01.08.2026</a:t>
            </a:fld>
            <a:endParaRPr lang="de-DE" dirty="0"/>
          </a:p>
        </p:txBody>
      </p:sp>
      <p:sp>
        <p:nvSpPr>
          <p:cNvPr id="6" name="Fußzeilenplatzhalter 5">
            <a:extLst>
              <a:ext uri="{FF2B5EF4-FFF2-40B4-BE49-F238E27FC236}">
                <a16:creationId xmlns:a16="http://schemas.microsoft.com/office/drawing/2014/main" id="{D7EB2499-5D99-DB45-0226-CBBFB473779A}"/>
              </a:ext>
            </a:extLst>
          </p:cNvPr>
          <p:cNvSpPr>
            <a:spLocks noGrp="1"/>
          </p:cNvSpPr>
          <p:nvPr>
            <p:ph type="ftr" sz="quarter" idx="11"/>
          </p:nvPr>
        </p:nvSpPr>
        <p:spPr/>
        <p:txBody>
          <a:bodyPr lIns="0"/>
          <a:lstStyle/>
          <a:p>
            <a:endParaRPr lang="de-DE" dirty="0"/>
          </a:p>
        </p:txBody>
      </p:sp>
      <p:sp>
        <p:nvSpPr>
          <p:cNvPr id="7" name="Foliennummernplatzhalter 6">
            <a:extLst>
              <a:ext uri="{FF2B5EF4-FFF2-40B4-BE49-F238E27FC236}">
                <a16:creationId xmlns:a16="http://schemas.microsoft.com/office/drawing/2014/main" id="{E20C516F-6889-2622-CB47-71F4A953FC9A}"/>
              </a:ext>
            </a:extLst>
          </p:cNvPr>
          <p:cNvSpPr>
            <a:spLocks noGrp="1"/>
          </p:cNvSpPr>
          <p:nvPr>
            <p:ph type="sldNum" sz="quarter" idx="12"/>
          </p:nvPr>
        </p:nvSpPr>
        <p:spPr/>
        <p:txBody>
          <a:bodyPr/>
          <a:lstStyle/>
          <a:p>
            <a:fld id="{A45C8BF5-653B-41D0-99F2-8CC2D2A1F005}" type="slidenum">
              <a:rPr lang="de-DE" smtClean="0"/>
              <a:t>‹Nr.›</a:t>
            </a:fld>
            <a:endParaRPr lang="de-DE" dirty="0"/>
          </a:p>
        </p:txBody>
      </p:sp>
    </p:spTree>
    <p:extLst>
      <p:ext uri="{BB962C8B-B14F-4D97-AF65-F5344CB8AC3E}">
        <p14:creationId xmlns:p14="http://schemas.microsoft.com/office/powerpoint/2010/main" val="22025267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2E41093-F901-B522-3FF7-96221A8DB03C}"/>
              </a:ext>
            </a:extLst>
          </p:cNvPr>
          <p:cNvSpPr>
            <a:spLocks noGrp="1"/>
          </p:cNvSpPr>
          <p:nvPr>
            <p:ph type="title"/>
          </p:nvPr>
        </p:nvSpPr>
        <p:spPr>
          <a:xfrm>
            <a:off x="839788" y="365125"/>
            <a:ext cx="10515600" cy="1325563"/>
          </a:xfrm>
        </p:spPr>
        <p:txBody>
          <a:bodyPr lIns="0"/>
          <a:lstStyle/>
          <a:p>
            <a:r>
              <a:rPr lang="de-DE" dirty="0"/>
              <a:t>Mastertitelformat bearbeiten</a:t>
            </a:r>
          </a:p>
        </p:txBody>
      </p:sp>
      <p:sp>
        <p:nvSpPr>
          <p:cNvPr id="3" name="Textplatzhalter 2">
            <a:extLst>
              <a:ext uri="{FF2B5EF4-FFF2-40B4-BE49-F238E27FC236}">
                <a16:creationId xmlns:a16="http://schemas.microsoft.com/office/drawing/2014/main" id="{BCCE7358-7990-7D06-C065-9F0FA0E951D6}"/>
              </a:ext>
            </a:extLst>
          </p:cNvPr>
          <p:cNvSpPr>
            <a:spLocks noGrp="1"/>
          </p:cNvSpPr>
          <p:nvPr>
            <p:ph type="body" idx="1"/>
          </p:nvPr>
        </p:nvSpPr>
        <p:spPr>
          <a:xfrm>
            <a:off x="839788" y="1681163"/>
            <a:ext cx="5157787" cy="823912"/>
          </a:xfrm>
        </p:spPr>
        <p:txBody>
          <a:bodyPr lIns="0"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dirty="0"/>
              <a:t>Mastertextformat bearbeiten</a:t>
            </a:r>
          </a:p>
        </p:txBody>
      </p:sp>
      <p:sp>
        <p:nvSpPr>
          <p:cNvPr id="4" name="Inhaltsplatzhalter 3">
            <a:extLst>
              <a:ext uri="{FF2B5EF4-FFF2-40B4-BE49-F238E27FC236}">
                <a16:creationId xmlns:a16="http://schemas.microsoft.com/office/drawing/2014/main" id="{DCD64BAF-9E55-00A2-B16E-2A2AB1FFE3B9}"/>
              </a:ext>
            </a:extLst>
          </p:cNvPr>
          <p:cNvSpPr>
            <a:spLocks noGrp="1"/>
          </p:cNvSpPr>
          <p:nvPr>
            <p:ph sz="half" idx="2"/>
          </p:nvPr>
        </p:nvSpPr>
        <p:spPr>
          <a:xfrm>
            <a:off x="839788" y="2505075"/>
            <a:ext cx="5157787" cy="3684588"/>
          </a:xfrm>
        </p:spPr>
        <p:txBody>
          <a:bodyPr lIns="0"/>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5" name="Textplatzhalter 4">
            <a:extLst>
              <a:ext uri="{FF2B5EF4-FFF2-40B4-BE49-F238E27FC236}">
                <a16:creationId xmlns:a16="http://schemas.microsoft.com/office/drawing/2014/main" id="{DE21E76C-E1A6-92CB-1A6C-39DF9EA616BD}"/>
              </a:ext>
            </a:extLst>
          </p:cNvPr>
          <p:cNvSpPr>
            <a:spLocks noGrp="1"/>
          </p:cNvSpPr>
          <p:nvPr>
            <p:ph type="body" sz="quarter" idx="3"/>
          </p:nvPr>
        </p:nvSpPr>
        <p:spPr>
          <a:xfrm>
            <a:off x="6172200" y="1681163"/>
            <a:ext cx="5183188" cy="823912"/>
          </a:xfrm>
        </p:spPr>
        <p:txBody>
          <a:bodyPr lIns="0"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dirty="0"/>
              <a:t>Mastertextformat bearbeiten</a:t>
            </a:r>
          </a:p>
        </p:txBody>
      </p:sp>
      <p:sp>
        <p:nvSpPr>
          <p:cNvPr id="6" name="Inhaltsplatzhalter 5">
            <a:extLst>
              <a:ext uri="{FF2B5EF4-FFF2-40B4-BE49-F238E27FC236}">
                <a16:creationId xmlns:a16="http://schemas.microsoft.com/office/drawing/2014/main" id="{F6B46EFD-F626-D064-BAEC-144DDDBFFA8D}"/>
              </a:ext>
            </a:extLst>
          </p:cNvPr>
          <p:cNvSpPr>
            <a:spLocks noGrp="1"/>
          </p:cNvSpPr>
          <p:nvPr>
            <p:ph sz="quarter" idx="4"/>
          </p:nvPr>
        </p:nvSpPr>
        <p:spPr>
          <a:xfrm>
            <a:off x="6172200" y="2505075"/>
            <a:ext cx="5183188" cy="3684588"/>
          </a:xfrm>
        </p:spPr>
        <p:txBody>
          <a:bodyPr lIns="0"/>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7" name="Datumsplatzhalter 6">
            <a:extLst>
              <a:ext uri="{FF2B5EF4-FFF2-40B4-BE49-F238E27FC236}">
                <a16:creationId xmlns:a16="http://schemas.microsoft.com/office/drawing/2014/main" id="{157E90FD-0856-7859-83CD-8CF6B71937D5}"/>
              </a:ext>
            </a:extLst>
          </p:cNvPr>
          <p:cNvSpPr>
            <a:spLocks noGrp="1"/>
          </p:cNvSpPr>
          <p:nvPr>
            <p:ph type="dt" sz="half" idx="10"/>
          </p:nvPr>
        </p:nvSpPr>
        <p:spPr>
          <a:xfrm>
            <a:off x="838200" y="6356350"/>
            <a:ext cx="2743200" cy="365125"/>
          </a:xfrm>
          <a:prstGeom prst="rect">
            <a:avLst/>
          </a:prstGeom>
        </p:spPr>
        <p:txBody>
          <a:bodyPr/>
          <a:lstStyle/>
          <a:p>
            <a:fld id="{797C16CE-5020-4093-8D5C-EC8F7F3E68A7}" type="datetime1">
              <a:rPr lang="de-DE" smtClean="0"/>
              <a:t>01.08.2026</a:t>
            </a:fld>
            <a:endParaRPr lang="de-DE" dirty="0"/>
          </a:p>
        </p:txBody>
      </p:sp>
      <p:sp>
        <p:nvSpPr>
          <p:cNvPr id="8" name="Fußzeilenplatzhalter 7">
            <a:extLst>
              <a:ext uri="{FF2B5EF4-FFF2-40B4-BE49-F238E27FC236}">
                <a16:creationId xmlns:a16="http://schemas.microsoft.com/office/drawing/2014/main" id="{6C00833E-7D6F-81E1-4D90-3D401D8335DA}"/>
              </a:ext>
            </a:extLst>
          </p:cNvPr>
          <p:cNvSpPr>
            <a:spLocks noGrp="1"/>
          </p:cNvSpPr>
          <p:nvPr>
            <p:ph type="ftr" sz="quarter" idx="11"/>
          </p:nvPr>
        </p:nvSpPr>
        <p:spPr/>
        <p:txBody>
          <a:bodyPr/>
          <a:lstStyle/>
          <a:p>
            <a:endParaRPr lang="de-DE" dirty="0"/>
          </a:p>
        </p:txBody>
      </p:sp>
      <p:sp>
        <p:nvSpPr>
          <p:cNvPr id="9" name="Foliennummernplatzhalter 8">
            <a:extLst>
              <a:ext uri="{FF2B5EF4-FFF2-40B4-BE49-F238E27FC236}">
                <a16:creationId xmlns:a16="http://schemas.microsoft.com/office/drawing/2014/main" id="{E8F1E2F3-CA87-290B-D146-1A4186D490D8}"/>
              </a:ext>
            </a:extLst>
          </p:cNvPr>
          <p:cNvSpPr>
            <a:spLocks noGrp="1"/>
          </p:cNvSpPr>
          <p:nvPr>
            <p:ph type="sldNum" sz="quarter" idx="12"/>
          </p:nvPr>
        </p:nvSpPr>
        <p:spPr/>
        <p:txBody>
          <a:bodyPr/>
          <a:lstStyle/>
          <a:p>
            <a:fld id="{A45C8BF5-653B-41D0-99F2-8CC2D2A1F005}" type="slidenum">
              <a:rPr lang="de-DE" smtClean="0"/>
              <a:t>‹Nr.›</a:t>
            </a:fld>
            <a:endParaRPr lang="de-DE" dirty="0"/>
          </a:p>
        </p:txBody>
      </p:sp>
    </p:spTree>
    <p:extLst>
      <p:ext uri="{BB962C8B-B14F-4D97-AF65-F5344CB8AC3E}">
        <p14:creationId xmlns:p14="http://schemas.microsoft.com/office/powerpoint/2010/main" val="35269408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C98D28F-6483-5658-A729-17CF97AEC628}"/>
              </a:ext>
            </a:extLst>
          </p:cNvPr>
          <p:cNvSpPr>
            <a:spLocks noGrp="1"/>
          </p:cNvSpPr>
          <p:nvPr>
            <p:ph type="title"/>
          </p:nvPr>
        </p:nvSpPr>
        <p:spPr/>
        <p:txBody>
          <a:bodyPr lIns="0"/>
          <a:lstStyle/>
          <a:p>
            <a:r>
              <a:rPr lang="de-DE" dirty="0"/>
              <a:t>Mastertitelformat bearbeiten</a:t>
            </a:r>
          </a:p>
        </p:txBody>
      </p:sp>
      <p:sp>
        <p:nvSpPr>
          <p:cNvPr id="3" name="Datumsplatzhalter 2">
            <a:extLst>
              <a:ext uri="{FF2B5EF4-FFF2-40B4-BE49-F238E27FC236}">
                <a16:creationId xmlns:a16="http://schemas.microsoft.com/office/drawing/2014/main" id="{4C9EC290-D7B2-8C57-8382-57338C82EA19}"/>
              </a:ext>
            </a:extLst>
          </p:cNvPr>
          <p:cNvSpPr>
            <a:spLocks noGrp="1"/>
          </p:cNvSpPr>
          <p:nvPr>
            <p:ph type="dt" sz="half" idx="10"/>
          </p:nvPr>
        </p:nvSpPr>
        <p:spPr>
          <a:xfrm>
            <a:off x="838200" y="6356350"/>
            <a:ext cx="2743200" cy="365125"/>
          </a:xfrm>
          <a:prstGeom prst="rect">
            <a:avLst/>
          </a:prstGeom>
        </p:spPr>
        <p:txBody>
          <a:bodyPr/>
          <a:lstStyle/>
          <a:p>
            <a:fld id="{25819BBE-EF90-431C-8C14-C0758E0ADB00}" type="datetime1">
              <a:rPr lang="de-DE" smtClean="0"/>
              <a:t>01.08.2026</a:t>
            </a:fld>
            <a:endParaRPr lang="de-DE" dirty="0"/>
          </a:p>
        </p:txBody>
      </p:sp>
      <p:sp>
        <p:nvSpPr>
          <p:cNvPr id="4" name="Fußzeilenplatzhalter 3">
            <a:extLst>
              <a:ext uri="{FF2B5EF4-FFF2-40B4-BE49-F238E27FC236}">
                <a16:creationId xmlns:a16="http://schemas.microsoft.com/office/drawing/2014/main" id="{7D12D6A7-2ABD-D449-DE85-D48F9F3B693E}"/>
              </a:ext>
            </a:extLst>
          </p:cNvPr>
          <p:cNvSpPr>
            <a:spLocks noGrp="1"/>
          </p:cNvSpPr>
          <p:nvPr>
            <p:ph type="ftr" sz="quarter" idx="11"/>
          </p:nvPr>
        </p:nvSpPr>
        <p:spPr/>
        <p:txBody>
          <a:bodyPr/>
          <a:lstStyle/>
          <a:p>
            <a:endParaRPr lang="de-DE" dirty="0"/>
          </a:p>
        </p:txBody>
      </p:sp>
      <p:sp>
        <p:nvSpPr>
          <p:cNvPr id="5" name="Foliennummernplatzhalter 4">
            <a:extLst>
              <a:ext uri="{FF2B5EF4-FFF2-40B4-BE49-F238E27FC236}">
                <a16:creationId xmlns:a16="http://schemas.microsoft.com/office/drawing/2014/main" id="{AAF8C156-EB81-B362-55E9-C503F2568A8A}"/>
              </a:ext>
            </a:extLst>
          </p:cNvPr>
          <p:cNvSpPr>
            <a:spLocks noGrp="1"/>
          </p:cNvSpPr>
          <p:nvPr>
            <p:ph type="sldNum" sz="quarter" idx="12"/>
          </p:nvPr>
        </p:nvSpPr>
        <p:spPr/>
        <p:txBody>
          <a:bodyPr/>
          <a:lstStyle/>
          <a:p>
            <a:fld id="{A45C8BF5-653B-41D0-99F2-8CC2D2A1F005}" type="slidenum">
              <a:rPr lang="de-DE" smtClean="0"/>
              <a:t>‹Nr.›</a:t>
            </a:fld>
            <a:endParaRPr lang="de-DE" dirty="0"/>
          </a:p>
        </p:txBody>
      </p:sp>
    </p:spTree>
    <p:extLst>
      <p:ext uri="{BB962C8B-B14F-4D97-AF65-F5344CB8AC3E}">
        <p14:creationId xmlns:p14="http://schemas.microsoft.com/office/powerpoint/2010/main" val="34623159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B7A5C929-59B7-1FAF-6FF9-600F932477B4}"/>
              </a:ext>
            </a:extLst>
          </p:cNvPr>
          <p:cNvSpPr>
            <a:spLocks noGrp="1"/>
          </p:cNvSpPr>
          <p:nvPr>
            <p:ph type="dt" sz="half" idx="10"/>
          </p:nvPr>
        </p:nvSpPr>
        <p:spPr>
          <a:xfrm>
            <a:off x="838200" y="6356350"/>
            <a:ext cx="2743200" cy="365125"/>
          </a:xfrm>
          <a:prstGeom prst="rect">
            <a:avLst/>
          </a:prstGeom>
        </p:spPr>
        <p:txBody>
          <a:bodyPr/>
          <a:lstStyle/>
          <a:p>
            <a:fld id="{291CE142-BB2A-4BDF-83C5-943C5DEBC55E}" type="datetime1">
              <a:rPr lang="de-DE" smtClean="0"/>
              <a:t>01.08.2026</a:t>
            </a:fld>
            <a:endParaRPr lang="de-DE" dirty="0"/>
          </a:p>
        </p:txBody>
      </p:sp>
      <p:sp>
        <p:nvSpPr>
          <p:cNvPr id="3" name="Fußzeilenplatzhalter 2">
            <a:extLst>
              <a:ext uri="{FF2B5EF4-FFF2-40B4-BE49-F238E27FC236}">
                <a16:creationId xmlns:a16="http://schemas.microsoft.com/office/drawing/2014/main" id="{C07468D1-61BD-A655-E9CD-070D574FE9A5}"/>
              </a:ext>
            </a:extLst>
          </p:cNvPr>
          <p:cNvSpPr>
            <a:spLocks noGrp="1"/>
          </p:cNvSpPr>
          <p:nvPr>
            <p:ph type="ftr" sz="quarter" idx="11"/>
          </p:nvPr>
        </p:nvSpPr>
        <p:spPr/>
        <p:txBody>
          <a:bodyPr/>
          <a:lstStyle/>
          <a:p>
            <a:endParaRPr lang="de-DE" dirty="0"/>
          </a:p>
        </p:txBody>
      </p:sp>
      <p:sp>
        <p:nvSpPr>
          <p:cNvPr id="4" name="Foliennummernplatzhalter 3">
            <a:extLst>
              <a:ext uri="{FF2B5EF4-FFF2-40B4-BE49-F238E27FC236}">
                <a16:creationId xmlns:a16="http://schemas.microsoft.com/office/drawing/2014/main" id="{7AF0701C-EC72-D386-DC42-C6FDC64DF221}"/>
              </a:ext>
            </a:extLst>
          </p:cNvPr>
          <p:cNvSpPr>
            <a:spLocks noGrp="1"/>
          </p:cNvSpPr>
          <p:nvPr>
            <p:ph type="sldNum" sz="quarter" idx="12"/>
          </p:nvPr>
        </p:nvSpPr>
        <p:spPr/>
        <p:txBody>
          <a:bodyPr/>
          <a:lstStyle/>
          <a:p>
            <a:fld id="{A45C8BF5-653B-41D0-99F2-8CC2D2A1F005}" type="slidenum">
              <a:rPr lang="de-DE" smtClean="0"/>
              <a:t>‹Nr.›</a:t>
            </a:fld>
            <a:endParaRPr lang="de-DE" dirty="0"/>
          </a:p>
        </p:txBody>
      </p:sp>
    </p:spTree>
    <p:extLst>
      <p:ext uri="{BB962C8B-B14F-4D97-AF65-F5344CB8AC3E}">
        <p14:creationId xmlns:p14="http://schemas.microsoft.com/office/powerpoint/2010/main" val="4808034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1224BF-C075-F58A-8F07-C0E2D66891F1}"/>
              </a:ext>
            </a:extLst>
          </p:cNvPr>
          <p:cNvSpPr>
            <a:spLocks noGrp="1"/>
          </p:cNvSpPr>
          <p:nvPr>
            <p:ph type="title"/>
          </p:nvPr>
        </p:nvSpPr>
        <p:spPr>
          <a:xfrm>
            <a:off x="839788" y="457200"/>
            <a:ext cx="3932237" cy="1600200"/>
          </a:xfrm>
        </p:spPr>
        <p:txBody>
          <a:bodyPr lIns="0" anchor="b"/>
          <a:lstStyle>
            <a:lvl1pPr>
              <a:defRPr sz="3200"/>
            </a:lvl1pPr>
          </a:lstStyle>
          <a:p>
            <a:r>
              <a:rPr lang="de-DE" dirty="0"/>
              <a:t>Mastertitelformat bearbeiten</a:t>
            </a:r>
          </a:p>
        </p:txBody>
      </p:sp>
      <p:sp>
        <p:nvSpPr>
          <p:cNvPr id="3" name="Inhaltsplatzhalter 2">
            <a:extLst>
              <a:ext uri="{FF2B5EF4-FFF2-40B4-BE49-F238E27FC236}">
                <a16:creationId xmlns:a16="http://schemas.microsoft.com/office/drawing/2014/main" id="{30D79D7D-CA98-A993-95BA-71CC42B94BD9}"/>
              </a:ext>
            </a:extLst>
          </p:cNvPr>
          <p:cNvSpPr>
            <a:spLocks noGrp="1"/>
          </p:cNvSpPr>
          <p:nvPr>
            <p:ph idx="1"/>
          </p:nvPr>
        </p:nvSpPr>
        <p:spPr>
          <a:xfrm>
            <a:off x="5183188" y="987425"/>
            <a:ext cx="6172200" cy="4873625"/>
          </a:xfrm>
        </p:spPr>
        <p:txBody>
          <a:bodyPr lIns="0"/>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Textplatzhalter 3">
            <a:extLst>
              <a:ext uri="{FF2B5EF4-FFF2-40B4-BE49-F238E27FC236}">
                <a16:creationId xmlns:a16="http://schemas.microsoft.com/office/drawing/2014/main" id="{3E5B85EE-8521-41AF-7854-5DDCC58A34E3}"/>
              </a:ext>
            </a:extLst>
          </p:cNvPr>
          <p:cNvSpPr>
            <a:spLocks noGrp="1"/>
          </p:cNvSpPr>
          <p:nvPr>
            <p:ph type="body" sz="half" idx="2"/>
          </p:nvPr>
        </p:nvSpPr>
        <p:spPr>
          <a:xfrm>
            <a:off x="839788" y="2057400"/>
            <a:ext cx="3932237" cy="3811588"/>
          </a:xfrm>
        </p:spPr>
        <p:txBody>
          <a:bodyPr lIns="0"/>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dirty="0"/>
              <a:t>Mastertextformat bearbeiten</a:t>
            </a:r>
          </a:p>
        </p:txBody>
      </p:sp>
      <p:sp>
        <p:nvSpPr>
          <p:cNvPr id="5" name="Datumsplatzhalter 4">
            <a:extLst>
              <a:ext uri="{FF2B5EF4-FFF2-40B4-BE49-F238E27FC236}">
                <a16:creationId xmlns:a16="http://schemas.microsoft.com/office/drawing/2014/main" id="{E8286844-0BC0-0AD3-C849-FD4DDE3B55E5}"/>
              </a:ext>
            </a:extLst>
          </p:cNvPr>
          <p:cNvSpPr>
            <a:spLocks noGrp="1"/>
          </p:cNvSpPr>
          <p:nvPr>
            <p:ph type="dt" sz="half" idx="10"/>
          </p:nvPr>
        </p:nvSpPr>
        <p:spPr>
          <a:xfrm>
            <a:off x="838200" y="6356350"/>
            <a:ext cx="2743200" cy="365125"/>
          </a:xfrm>
          <a:prstGeom prst="rect">
            <a:avLst/>
          </a:prstGeom>
        </p:spPr>
        <p:txBody>
          <a:bodyPr/>
          <a:lstStyle/>
          <a:p>
            <a:fld id="{1F5E831C-3B82-4066-A869-E07623BB2494}" type="datetime1">
              <a:rPr lang="de-DE" smtClean="0"/>
              <a:t>01.08.2026</a:t>
            </a:fld>
            <a:endParaRPr lang="de-DE" dirty="0"/>
          </a:p>
        </p:txBody>
      </p:sp>
      <p:sp>
        <p:nvSpPr>
          <p:cNvPr id="6" name="Fußzeilenplatzhalter 5">
            <a:extLst>
              <a:ext uri="{FF2B5EF4-FFF2-40B4-BE49-F238E27FC236}">
                <a16:creationId xmlns:a16="http://schemas.microsoft.com/office/drawing/2014/main" id="{E9456BFB-2BB6-627E-E63D-BF8857430835}"/>
              </a:ext>
            </a:extLst>
          </p:cNvPr>
          <p:cNvSpPr>
            <a:spLocks noGrp="1"/>
          </p:cNvSpPr>
          <p:nvPr>
            <p:ph type="ftr" sz="quarter" idx="11"/>
          </p:nvPr>
        </p:nvSpPr>
        <p:spPr/>
        <p:txBody>
          <a:bodyPr/>
          <a:lstStyle/>
          <a:p>
            <a:endParaRPr lang="de-DE" dirty="0"/>
          </a:p>
        </p:txBody>
      </p:sp>
      <p:sp>
        <p:nvSpPr>
          <p:cNvPr id="7" name="Foliennummernplatzhalter 6">
            <a:extLst>
              <a:ext uri="{FF2B5EF4-FFF2-40B4-BE49-F238E27FC236}">
                <a16:creationId xmlns:a16="http://schemas.microsoft.com/office/drawing/2014/main" id="{B9EA5C65-BB23-3D6D-4552-C05EA62C2A2A}"/>
              </a:ext>
            </a:extLst>
          </p:cNvPr>
          <p:cNvSpPr>
            <a:spLocks noGrp="1"/>
          </p:cNvSpPr>
          <p:nvPr>
            <p:ph type="sldNum" sz="quarter" idx="12"/>
          </p:nvPr>
        </p:nvSpPr>
        <p:spPr/>
        <p:txBody>
          <a:bodyPr/>
          <a:lstStyle/>
          <a:p>
            <a:fld id="{A45C8BF5-653B-41D0-99F2-8CC2D2A1F005}" type="slidenum">
              <a:rPr lang="de-DE" smtClean="0"/>
              <a:t>‹Nr.›</a:t>
            </a:fld>
            <a:endParaRPr lang="de-DE" dirty="0"/>
          </a:p>
        </p:txBody>
      </p:sp>
    </p:spTree>
    <p:extLst>
      <p:ext uri="{BB962C8B-B14F-4D97-AF65-F5344CB8AC3E}">
        <p14:creationId xmlns:p14="http://schemas.microsoft.com/office/powerpoint/2010/main" val="25734787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F3CC994-77BF-7CD2-9FFC-F77FD81379C3}"/>
              </a:ext>
            </a:extLst>
          </p:cNvPr>
          <p:cNvSpPr>
            <a:spLocks noGrp="1"/>
          </p:cNvSpPr>
          <p:nvPr>
            <p:ph type="title"/>
          </p:nvPr>
        </p:nvSpPr>
        <p:spPr>
          <a:xfrm>
            <a:off x="839788" y="457200"/>
            <a:ext cx="3932237" cy="1600200"/>
          </a:xfrm>
        </p:spPr>
        <p:txBody>
          <a:bodyPr lIns="0" anchor="b"/>
          <a:lstStyle>
            <a:lvl1pPr>
              <a:defRPr sz="3200"/>
            </a:lvl1pPr>
          </a:lstStyle>
          <a:p>
            <a:r>
              <a:rPr lang="de-DE" dirty="0"/>
              <a:t>Mastertitelformat bearbeiten</a:t>
            </a:r>
          </a:p>
        </p:txBody>
      </p:sp>
      <p:sp>
        <p:nvSpPr>
          <p:cNvPr id="3" name="Bildplatzhalter 2">
            <a:extLst>
              <a:ext uri="{FF2B5EF4-FFF2-40B4-BE49-F238E27FC236}">
                <a16:creationId xmlns:a16="http://schemas.microsoft.com/office/drawing/2014/main" id="{82B47D57-842E-720E-BE3C-5FC783A439B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DE" dirty="0"/>
          </a:p>
        </p:txBody>
      </p:sp>
      <p:sp>
        <p:nvSpPr>
          <p:cNvPr id="4" name="Textplatzhalter 3">
            <a:extLst>
              <a:ext uri="{FF2B5EF4-FFF2-40B4-BE49-F238E27FC236}">
                <a16:creationId xmlns:a16="http://schemas.microsoft.com/office/drawing/2014/main" id="{88154144-9441-01CD-B5F6-58145AAB8C27}"/>
              </a:ext>
            </a:extLst>
          </p:cNvPr>
          <p:cNvSpPr>
            <a:spLocks noGrp="1"/>
          </p:cNvSpPr>
          <p:nvPr>
            <p:ph type="body" sz="half" idx="2"/>
          </p:nvPr>
        </p:nvSpPr>
        <p:spPr>
          <a:xfrm>
            <a:off x="839788" y="2057400"/>
            <a:ext cx="3932237" cy="3811588"/>
          </a:xfrm>
        </p:spPr>
        <p:txBody>
          <a:bodyPr lIns="0"/>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dirty="0"/>
              <a:t>Mastertextformat bearbeiten</a:t>
            </a:r>
          </a:p>
        </p:txBody>
      </p:sp>
      <p:sp>
        <p:nvSpPr>
          <p:cNvPr id="5" name="Datumsplatzhalter 4">
            <a:extLst>
              <a:ext uri="{FF2B5EF4-FFF2-40B4-BE49-F238E27FC236}">
                <a16:creationId xmlns:a16="http://schemas.microsoft.com/office/drawing/2014/main" id="{39939527-D869-E5B6-5154-59D45B037311}"/>
              </a:ext>
            </a:extLst>
          </p:cNvPr>
          <p:cNvSpPr>
            <a:spLocks noGrp="1"/>
          </p:cNvSpPr>
          <p:nvPr>
            <p:ph type="dt" sz="half" idx="10"/>
          </p:nvPr>
        </p:nvSpPr>
        <p:spPr>
          <a:xfrm>
            <a:off x="838200" y="6356350"/>
            <a:ext cx="2743200" cy="365125"/>
          </a:xfrm>
          <a:prstGeom prst="rect">
            <a:avLst/>
          </a:prstGeom>
        </p:spPr>
        <p:txBody>
          <a:bodyPr/>
          <a:lstStyle/>
          <a:p>
            <a:fld id="{FFF409A1-0DE6-4B32-B92B-C95B22F64BE0}" type="datetime1">
              <a:rPr lang="de-DE" smtClean="0"/>
              <a:t>01.08.2026</a:t>
            </a:fld>
            <a:endParaRPr lang="de-DE" dirty="0"/>
          </a:p>
        </p:txBody>
      </p:sp>
      <p:sp>
        <p:nvSpPr>
          <p:cNvPr id="6" name="Fußzeilenplatzhalter 5">
            <a:extLst>
              <a:ext uri="{FF2B5EF4-FFF2-40B4-BE49-F238E27FC236}">
                <a16:creationId xmlns:a16="http://schemas.microsoft.com/office/drawing/2014/main" id="{4210ED70-0049-547C-8C4A-F92106835E2F}"/>
              </a:ext>
            </a:extLst>
          </p:cNvPr>
          <p:cNvSpPr>
            <a:spLocks noGrp="1"/>
          </p:cNvSpPr>
          <p:nvPr>
            <p:ph type="ftr" sz="quarter" idx="11"/>
          </p:nvPr>
        </p:nvSpPr>
        <p:spPr/>
        <p:txBody>
          <a:bodyPr/>
          <a:lstStyle/>
          <a:p>
            <a:endParaRPr lang="de-DE" dirty="0"/>
          </a:p>
        </p:txBody>
      </p:sp>
      <p:sp>
        <p:nvSpPr>
          <p:cNvPr id="7" name="Foliennummernplatzhalter 6">
            <a:extLst>
              <a:ext uri="{FF2B5EF4-FFF2-40B4-BE49-F238E27FC236}">
                <a16:creationId xmlns:a16="http://schemas.microsoft.com/office/drawing/2014/main" id="{387AA5B5-6E70-90F4-35CF-DE1E28E576C2}"/>
              </a:ext>
            </a:extLst>
          </p:cNvPr>
          <p:cNvSpPr>
            <a:spLocks noGrp="1"/>
          </p:cNvSpPr>
          <p:nvPr>
            <p:ph type="sldNum" sz="quarter" idx="12"/>
          </p:nvPr>
        </p:nvSpPr>
        <p:spPr/>
        <p:txBody>
          <a:bodyPr/>
          <a:lstStyle/>
          <a:p>
            <a:fld id="{A45C8BF5-653B-41D0-99F2-8CC2D2A1F005}" type="slidenum">
              <a:rPr lang="de-DE" smtClean="0"/>
              <a:t>‹Nr.›</a:t>
            </a:fld>
            <a:endParaRPr lang="de-DE" dirty="0"/>
          </a:p>
        </p:txBody>
      </p:sp>
    </p:spTree>
    <p:extLst>
      <p:ext uri="{BB962C8B-B14F-4D97-AF65-F5344CB8AC3E}">
        <p14:creationId xmlns:p14="http://schemas.microsoft.com/office/powerpoint/2010/main" val="34892995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C10608B-DF17-3949-88AE-9CD937E6C54A}"/>
              </a:ext>
            </a:extLst>
          </p:cNvPr>
          <p:cNvSpPr>
            <a:spLocks noGrp="1"/>
          </p:cNvSpPr>
          <p:nvPr>
            <p:ph type="title"/>
          </p:nvPr>
        </p:nvSpPr>
        <p:spPr/>
        <p:txBody>
          <a:bodyPr lIns="0"/>
          <a:lstStyle/>
          <a:p>
            <a:r>
              <a:rPr lang="de-DE" dirty="0"/>
              <a:t>Mastertitelformat bearbeiten</a:t>
            </a:r>
          </a:p>
        </p:txBody>
      </p:sp>
      <p:sp>
        <p:nvSpPr>
          <p:cNvPr id="3" name="Vertikaler Textplatzhalter 2">
            <a:extLst>
              <a:ext uri="{FF2B5EF4-FFF2-40B4-BE49-F238E27FC236}">
                <a16:creationId xmlns:a16="http://schemas.microsoft.com/office/drawing/2014/main" id="{5B03D809-8F02-38B3-E70B-B1C42DCDB5F6}"/>
              </a:ext>
            </a:extLst>
          </p:cNvPr>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7CE5C240-12FE-F728-9A85-67681C695451}"/>
              </a:ext>
            </a:extLst>
          </p:cNvPr>
          <p:cNvSpPr>
            <a:spLocks noGrp="1"/>
          </p:cNvSpPr>
          <p:nvPr>
            <p:ph type="dt" sz="half" idx="10"/>
          </p:nvPr>
        </p:nvSpPr>
        <p:spPr>
          <a:xfrm>
            <a:off x="838200" y="6356350"/>
            <a:ext cx="2743200" cy="365125"/>
          </a:xfrm>
          <a:prstGeom prst="rect">
            <a:avLst/>
          </a:prstGeom>
        </p:spPr>
        <p:txBody>
          <a:bodyPr/>
          <a:lstStyle/>
          <a:p>
            <a:fld id="{0572F267-975B-4E02-B9DF-060D495BECA9}" type="datetime1">
              <a:rPr lang="de-DE" smtClean="0"/>
              <a:t>01.08.2026</a:t>
            </a:fld>
            <a:endParaRPr lang="de-DE" dirty="0"/>
          </a:p>
        </p:txBody>
      </p:sp>
      <p:sp>
        <p:nvSpPr>
          <p:cNvPr id="5" name="Fußzeilenplatzhalter 4">
            <a:extLst>
              <a:ext uri="{FF2B5EF4-FFF2-40B4-BE49-F238E27FC236}">
                <a16:creationId xmlns:a16="http://schemas.microsoft.com/office/drawing/2014/main" id="{CFE7DFB3-CBD1-7DBA-7736-3A621E022248}"/>
              </a:ext>
            </a:extLst>
          </p:cNvPr>
          <p:cNvSpPr>
            <a:spLocks noGrp="1"/>
          </p:cNvSpPr>
          <p:nvPr>
            <p:ph type="ftr" sz="quarter" idx="11"/>
          </p:nvPr>
        </p:nvSpPr>
        <p:spPr/>
        <p:txBody>
          <a:bodyPr/>
          <a:lstStyle/>
          <a:p>
            <a:endParaRPr lang="de-DE" dirty="0"/>
          </a:p>
        </p:txBody>
      </p:sp>
      <p:sp>
        <p:nvSpPr>
          <p:cNvPr id="6" name="Foliennummernplatzhalter 5">
            <a:extLst>
              <a:ext uri="{FF2B5EF4-FFF2-40B4-BE49-F238E27FC236}">
                <a16:creationId xmlns:a16="http://schemas.microsoft.com/office/drawing/2014/main" id="{8A63F9B0-5C73-F2EC-F9E5-0A2B01F0E9B1}"/>
              </a:ext>
            </a:extLst>
          </p:cNvPr>
          <p:cNvSpPr>
            <a:spLocks noGrp="1"/>
          </p:cNvSpPr>
          <p:nvPr>
            <p:ph type="sldNum" sz="quarter" idx="12"/>
          </p:nvPr>
        </p:nvSpPr>
        <p:spPr/>
        <p:txBody>
          <a:bodyPr/>
          <a:lstStyle/>
          <a:p>
            <a:fld id="{A45C8BF5-653B-41D0-99F2-8CC2D2A1F005}" type="slidenum">
              <a:rPr lang="de-DE" smtClean="0"/>
              <a:t>‹Nr.›</a:t>
            </a:fld>
            <a:endParaRPr lang="de-DE" dirty="0"/>
          </a:p>
        </p:txBody>
      </p:sp>
    </p:spTree>
    <p:extLst>
      <p:ext uri="{BB962C8B-B14F-4D97-AF65-F5344CB8AC3E}">
        <p14:creationId xmlns:p14="http://schemas.microsoft.com/office/powerpoint/2010/main" val="15459937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a:extLst>
              <a:ext uri="{FF2B5EF4-FFF2-40B4-BE49-F238E27FC236}">
                <a16:creationId xmlns:a16="http://schemas.microsoft.com/office/drawing/2014/main" id="{BDF20870-C991-BB7D-37CA-5663C66AAD93}"/>
              </a:ext>
            </a:extLst>
          </p:cNvPr>
          <p:cNvSpPr>
            <a:spLocks noGrp="1"/>
          </p:cNvSpPr>
          <p:nvPr>
            <p:ph type="title" orient="vert"/>
          </p:nvPr>
        </p:nvSpPr>
        <p:spPr>
          <a:xfrm>
            <a:off x="8724900" y="365125"/>
            <a:ext cx="2628900" cy="5811838"/>
          </a:xfrm>
        </p:spPr>
        <p:txBody>
          <a:bodyPr vert="eaVert"/>
          <a:lstStyle/>
          <a:p>
            <a:r>
              <a:rPr lang="de-DE"/>
              <a:t>Mastertitelformat bearbeiten</a:t>
            </a:r>
          </a:p>
        </p:txBody>
      </p:sp>
      <p:sp>
        <p:nvSpPr>
          <p:cNvPr id="3" name="Vertikaler Textplatzhalter 2">
            <a:extLst>
              <a:ext uri="{FF2B5EF4-FFF2-40B4-BE49-F238E27FC236}">
                <a16:creationId xmlns:a16="http://schemas.microsoft.com/office/drawing/2014/main" id="{80AA1D4A-469B-8B67-93C6-B20E99986BDC}"/>
              </a:ext>
            </a:extLst>
          </p:cNvPr>
          <p:cNvSpPr>
            <a:spLocks noGrp="1"/>
          </p:cNvSpPr>
          <p:nvPr>
            <p:ph type="body" orient="vert" idx="1"/>
          </p:nvPr>
        </p:nvSpPr>
        <p:spPr>
          <a:xfrm>
            <a:off x="838200" y="365125"/>
            <a:ext cx="7734300" cy="5811838"/>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68722488-7B5B-4F01-97FA-120B2F236DEF}"/>
              </a:ext>
            </a:extLst>
          </p:cNvPr>
          <p:cNvSpPr>
            <a:spLocks noGrp="1"/>
          </p:cNvSpPr>
          <p:nvPr>
            <p:ph type="dt" sz="half" idx="10"/>
          </p:nvPr>
        </p:nvSpPr>
        <p:spPr>
          <a:xfrm>
            <a:off x="838200" y="6356350"/>
            <a:ext cx="2743200" cy="365125"/>
          </a:xfrm>
          <a:prstGeom prst="rect">
            <a:avLst/>
          </a:prstGeom>
        </p:spPr>
        <p:txBody>
          <a:bodyPr/>
          <a:lstStyle/>
          <a:p>
            <a:fld id="{296E7FD8-1F1E-4498-9E5E-8106F53A13B7}" type="datetime1">
              <a:rPr lang="de-DE" smtClean="0"/>
              <a:t>01.08.2026</a:t>
            </a:fld>
            <a:endParaRPr lang="de-DE" dirty="0"/>
          </a:p>
        </p:txBody>
      </p:sp>
      <p:sp>
        <p:nvSpPr>
          <p:cNvPr id="5" name="Fußzeilenplatzhalter 4">
            <a:extLst>
              <a:ext uri="{FF2B5EF4-FFF2-40B4-BE49-F238E27FC236}">
                <a16:creationId xmlns:a16="http://schemas.microsoft.com/office/drawing/2014/main" id="{5B4430E0-C88C-2C32-86F9-083731CC100A}"/>
              </a:ext>
            </a:extLst>
          </p:cNvPr>
          <p:cNvSpPr>
            <a:spLocks noGrp="1"/>
          </p:cNvSpPr>
          <p:nvPr>
            <p:ph type="ftr" sz="quarter" idx="11"/>
          </p:nvPr>
        </p:nvSpPr>
        <p:spPr/>
        <p:txBody>
          <a:bodyPr/>
          <a:lstStyle/>
          <a:p>
            <a:endParaRPr lang="de-DE" dirty="0"/>
          </a:p>
        </p:txBody>
      </p:sp>
      <p:sp>
        <p:nvSpPr>
          <p:cNvPr id="6" name="Foliennummernplatzhalter 5">
            <a:extLst>
              <a:ext uri="{FF2B5EF4-FFF2-40B4-BE49-F238E27FC236}">
                <a16:creationId xmlns:a16="http://schemas.microsoft.com/office/drawing/2014/main" id="{DE5ED0A9-0C8C-4924-6C68-84F845E101DC}"/>
              </a:ext>
            </a:extLst>
          </p:cNvPr>
          <p:cNvSpPr>
            <a:spLocks noGrp="1"/>
          </p:cNvSpPr>
          <p:nvPr>
            <p:ph type="sldNum" sz="quarter" idx="12"/>
          </p:nvPr>
        </p:nvSpPr>
        <p:spPr/>
        <p:txBody>
          <a:bodyPr/>
          <a:lstStyle/>
          <a:p>
            <a:fld id="{A45C8BF5-653B-41D0-99F2-8CC2D2A1F005}" type="slidenum">
              <a:rPr lang="de-DE" smtClean="0"/>
              <a:t>‹Nr.›</a:t>
            </a:fld>
            <a:endParaRPr lang="de-DE" dirty="0"/>
          </a:p>
        </p:txBody>
      </p:sp>
    </p:spTree>
    <p:extLst>
      <p:ext uri="{BB962C8B-B14F-4D97-AF65-F5344CB8AC3E}">
        <p14:creationId xmlns:p14="http://schemas.microsoft.com/office/powerpoint/2010/main" val="28776113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F635E341-9ED9-6696-8DA2-032A86DC8F6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a:t>Mastertitelformat bearbeiten</a:t>
            </a:r>
          </a:p>
        </p:txBody>
      </p:sp>
      <p:sp>
        <p:nvSpPr>
          <p:cNvPr id="3" name="Textplatzhalter 2">
            <a:extLst>
              <a:ext uri="{FF2B5EF4-FFF2-40B4-BE49-F238E27FC236}">
                <a16:creationId xmlns:a16="http://schemas.microsoft.com/office/drawing/2014/main" id="{A3A44B57-4588-B8C3-8B70-EC09D67D97A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Fußzeilenplatzhalter 4">
            <a:extLst>
              <a:ext uri="{FF2B5EF4-FFF2-40B4-BE49-F238E27FC236}">
                <a16:creationId xmlns:a16="http://schemas.microsoft.com/office/drawing/2014/main" id="{00B379F4-2229-9BCB-0F89-3BA278B2B640}"/>
              </a:ext>
            </a:extLst>
          </p:cNvPr>
          <p:cNvSpPr>
            <a:spLocks noGrp="1"/>
          </p:cNvSpPr>
          <p:nvPr>
            <p:ph type="ftr" sz="quarter" idx="3"/>
          </p:nvPr>
        </p:nvSpPr>
        <p:spPr>
          <a:xfrm>
            <a:off x="838200" y="6356350"/>
            <a:ext cx="73152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de-DE" dirty="0"/>
          </a:p>
        </p:txBody>
      </p:sp>
      <p:sp>
        <p:nvSpPr>
          <p:cNvPr id="6" name="Foliennummernplatzhalter 5">
            <a:extLst>
              <a:ext uri="{FF2B5EF4-FFF2-40B4-BE49-F238E27FC236}">
                <a16:creationId xmlns:a16="http://schemas.microsoft.com/office/drawing/2014/main" id="{F6F9FE7F-7BDB-3B51-66E5-941A97A3A31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45C8BF5-653B-41D0-99F2-8CC2D2A1F005}" type="slidenum">
              <a:rPr lang="de-DE" smtClean="0"/>
              <a:t>‹Nr.›</a:t>
            </a:fld>
            <a:endParaRPr lang="de-DE" dirty="0"/>
          </a:p>
        </p:txBody>
      </p:sp>
    </p:spTree>
    <p:extLst>
      <p:ext uri="{BB962C8B-B14F-4D97-AF65-F5344CB8AC3E}">
        <p14:creationId xmlns:p14="http://schemas.microsoft.com/office/powerpoint/2010/main" val="33490859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4.xml"/><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hyperlink" Target="https://help.sap.com/docs/btp/sap-business-technology-platform/authorization-basics" TargetMode="External"/><Relationship Id="rId2" Type="http://schemas.openxmlformats.org/officeDocument/2006/relationships/notesSlide" Target="../notesSlides/notesSlide43.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4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4.xml"/><Relationship Id="rId1" Type="http://schemas.openxmlformats.org/officeDocument/2006/relationships/slideLayout" Target="../slideLayouts/slideLayout4.xml"/><Relationship Id="rId4" Type="http://schemas.openxmlformats.org/officeDocument/2006/relationships/image" Target="../media/image11.png"/></Relationships>
</file>

<file path=ppt/slides/_rels/slide4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5.xml"/><Relationship Id="rId1" Type="http://schemas.openxmlformats.org/officeDocument/2006/relationships/slideLayout" Target="../slideLayouts/slideLayout4.xml"/><Relationship Id="rId4" Type="http://schemas.openxmlformats.org/officeDocument/2006/relationships/image" Target="../media/image13.png"/></Relationships>
</file>

<file path=ppt/slides/_rels/slide4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hyperlink" Target="https://www.rheinwerk-verlag.de/core-data-services-fuer-abap/" TargetMode="External"/><Relationship Id="rId2" Type="http://schemas.openxmlformats.org/officeDocument/2006/relationships/notesSlide" Target="../notesSlides/notesSlide54.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hyperlink" Target="https://training.sap.com/course/s4d430-data-modelling-in-abap-dictionary-and-abap-core-data-services-classroom-024-de-de" TargetMode="External"/><Relationship Id="rId4" Type="http://schemas.openxmlformats.org/officeDocument/2006/relationships/hyperlink" Target="https://learning.sap.com/courses/building-data-models-with-the-abap-dictionary-and-abap-core-data-services" TargetMode="External"/></Relationships>
</file>

<file path=ppt/slides/_rels/slide56.xml.rels><?xml version="1.0" encoding="UTF-8" standalone="yes"?>
<Relationships xmlns="http://schemas.openxmlformats.org/package/2006/relationships"><Relationship Id="rId3" Type="http://schemas.openxmlformats.org/officeDocument/2006/relationships/hyperlink" Target="https://github.com/MichaelWegelin/cds-workshop.git" TargetMode="External"/><Relationship Id="rId2" Type="http://schemas.openxmlformats.org/officeDocument/2006/relationships/notesSlide" Target="../notesSlides/notesSlide55.xml"/><Relationship Id="rId1" Type="http://schemas.openxmlformats.org/officeDocument/2006/relationships/slideLayout" Target="../slideLayouts/slideLayout2.xml"/><Relationship Id="rId4" Type="http://schemas.openxmlformats.org/officeDocument/2006/relationships/image" Target="../media/image1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5145329-41F4-501E-FB56-244ED2737B99}"/>
              </a:ext>
            </a:extLst>
          </p:cNvPr>
          <p:cNvSpPr>
            <a:spLocks noGrp="1"/>
          </p:cNvSpPr>
          <p:nvPr>
            <p:ph type="ctrTitle"/>
          </p:nvPr>
        </p:nvSpPr>
        <p:spPr/>
        <p:txBody>
          <a:bodyPr/>
          <a:lstStyle/>
          <a:p>
            <a:r>
              <a:rPr lang="de-DE" dirty="0"/>
              <a:t>Einführung in ABAP Core Data Services</a:t>
            </a:r>
          </a:p>
        </p:txBody>
      </p:sp>
      <p:sp>
        <p:nvSpPr>
          <p:cNvPr id="3" name="Untertitel 2">
            <a:extLst>
              <a:ext uri="{FF2B5EF4-FFF2-40B4-BE49-F238E27FC236}">
                <a16:creationId xmlns:a16="http://schemas.microsoft.com/office/drawing/2014/main" id="{602C510F-AB78-3A01-3A34-CB0CE8198C66}"/>
              </a:ext>
            </a:extLst>
          </p:cNvPr>
          <p:cNvSpPr>
            <a:spLocks noGrp="1"/>
          </p:cNvSpPr>
          <p:nvPr>
            <p:ph type="subTitle" idx="1"/>
          </p:nvPr>
        </p:nvSpPr>
        <p:spPr/>
        <p:txBody>
          <a:bodyPr/>
          <a:lstStyle/>
          <a:p>
            <a:r>
              <a:rPr lang="de-DE" dirty="0"/>
              <a:t>CDS View </a:t>
            </a:r>
            <a:r>
              <a:rPr lang="de-DE" dirty="0" err="1"/>
              <a:t>Entities</a:t>
            </a:r>
            <a:r>
              <a:rPr lang="de-DE" dirty="0"/>
              <a:t>, Zugriffskontrolle und Assoziationen</a:t>
            </a:r>
          </a:p>
        </p:txBody>
      </p:sp>
    </p:spTree>
    <p:extLst>
      <p:ext uri="{BB962C8B-B14F-4D97-AF65-F5344CB8AC3E}">
        <p14:creationId xmlns:p14="http://schemas.microsoft.com/office/powerpoint/2010/main" val="6253992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EFADA1E8-AC5F-1BA7-2DB9-FF684ED6E5D9}"/>
              </a:ext>
            </a:extLst>
          </p:cNvPr>
          <p:cNvSpPr>
            <a:spLocks noGrp="1"/>
          </p:cNvSpPr>
          <p:nvPr>
            <p:ph type="title"/>
          </p:nvPr>
        </p:nvSpPr>
        <p:spPr/>
        <p:txBody>
          <a:bodyPr/>
          <a:lstStyle/>
          <a:p>
            <a:r>
              <a:rPr lang="de-DE" dirty="0"/>
              <a:t>Vom Datenbankzugriff zum semantischen Datenmodell</a:t>
            </a:r>
          </a:p>
        </p:txBody>
      </p:sp>
      <p:sp>
        <p:nvSpPr>
          <p:cNvPr id="5" name="Inhaltsplatzhalter 4">
            <a:extLst>
              <a:ext uri="{FF2B5EF4-FFF2-40B4-BE49-F238E27FC236}">
                <a16:creationId xmlns:a16="http://schemas.microsoft.com/office/drawing/2014/main" id="{E0CC596D-566C-A44C-5FDD-BCE18BC98293}"/>
              </a:ext>
            </a:extLst>
          </p:cNvPr>
          <p:cNvSpPr>
            <a:spLocks noGrp="1"/>
          </p:cNvSpPr>
          <p:nvPr>
            <p:ph idx="1"/>
          </p:nvPr>
        </p:nvSpPr>
        <p:spPr/>
        <p:txBody>
          <a:bodyPr/>
          <a:lstStyle/>
          <a:p>
            <a:r>
              <a:rPr lang="de-DE" dirty="0"/>
              <a:t>Erste CDS View Entity erstellen</a:t>
            </a:r>
          </a:p>
          <a:p>
            <a:r>
              <a:rPr lang="de-DE" dirty="0"/>
              <a:t>Daten auswählen und aufbereiten</a:t>
            </a:r>
          </a:p>
          <a:p>
            <a:r>
              <a:rPr lang="de-DE" dirty="0"/>
              <a:t>Beziehungen und Assoziationen modellieren</a:t>
            </a:r>
          </a:p>
          <a:p>
            <a:r>
              <a:rPr lang="de-DE" dirty="0"/>
              <a:t>CDS-Daten aus ABAP lesen</a:t>
            </a:r>
          </a:p>
          <a:p>
            <a:r>
              <a:rPr lang="de-DE" dirty="0"/>
              <a:t>Datenzugriff mit DCLS schützen</a:t>
            </a:r>
          </a:p>
        </p:txBody>
      </p:sp>
    </p:spTree>
    <p:extLst>
      <p:ext uri="{BB962C8B-B14F-4D97-AF65-F5344CB8AC3E}">
        <p14:creationId xmlns:p14="http://schemas.microsoft.com/office/powerpoint/2010/main" val="25788045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0EA6CD4-A995-4470-5365-444BEE6BDC70}"/>
              </a:ext>
            </a:extLst>
          </p:cNvPr>
          <p:cNvSpPr>
            <a:spLocks noGrp="1"/>
          </p:cNvSpPr>
          <p:nvPr>
            <p:ph type="title"/>
          </p:nvPr>
        </p:nvSpPr>
        <p:spPr/>
        <p:txBody>
          <a:bodyPr/>
          <a:lstStyle/>
          <a:p>
            <a:r>
              <a:rPr lang="de-DE" dirty="0"/>
              <a:t>Warum brauchen wir ein Datenmodell?</a:t>
            </a:r>
          </a:p>
        </p:txBody>
      </p:sp>
      <p:sp>
        <p:nvSpPr>
          <p:cNvPr id="4" name="Inhaltsplatzhalter 3">
            <a:extLst>
              <a:ext uri="{FF2B5EF4-FFF2-40B4-BE49-F238E27FC236}">
                <a16:creationId xmlns:a16="http://schemas.microsoft.com/office/drawing/2014/main" id="{E1519B0D-BAA7-B081-0111-6286EADD95CC}"/>
              </a:ext>
            </a:extLst>
          </p:cNvPr>
          <p:cNvSpPr>
            <a:spLocks noGrp="1"/>
          </p:cNvSpPr>
          <p:nvPr>
            <p:ph sz="half" idx="1"/>
          </p:nvPr>
        </p:nvSpPr>
        <p:spPr/>
        <p:txBody>
          <a:bodyPr>
            <a:normAutofit/>
          </a:bodyPr>
          <a:lstStyle/>
          <a:p>
            <a:pPr marL="0" indent="0">
              <a:buNone/>
            </a:pPr>
            <a:r>
              <a:rPr lang="de-DE" dirty="0"/>
              <a:t>Eine Datenbanktabelle beschreibt vor allem:</a:t>
            </a:r>
          </a:p>
          <a:p>
            <a:pPr lvl="0"/>
            <a:r>
              <a:rPr lang="de-DE" dirty="0"/>
              <a:t>technische Speicherung </a:t>
            </a:r>
          </a:p>
          <a:p>
            <a:pPr lvl="0"/>
            <a:r>
              <a:rPr lang="de-DE" dirty="0"/>
              <a:t>Datentypen </a:t>
            </a:r>
          </a:p>
          <a:p>
            <a:pPr lvl="0"/>
            <a:r>
              <a:rPr lang="de-DE" dirty="0"/>
              <a:t>Schlüssel </a:t>
            </a:r>
          </a:p>
          <a:p>
            <a:pPr lvl="0"/>
            <a:r>
              <a:rPr lang="de-DE" dirty="0"/>
              <a:t>persistente Daten </a:t>
            </a:r>
          </a:p>
          <a:p>
            <a:endParaRPr lang="de-DE" dirty="0"/>
          </a:p>
        </p:txBody>
      </p:sp>
      <p:sp>
        <p:nvSpPr>
          <p:cNvPr id="5" name="Inhaltsplatzhalter 4">
            <a:extLst>
              <a:ext uri="{FF2B5EF4-FFF2-40B4-BE49-F238E27FC236}">
                <a16:creationId xmlns:a16="http://schemas.microsoft.com/office/drawing/2014/main" id="{52C230A6-ADC7-451D-EF2C-3A91084A4FF3}"/>
              </a:ext>
            </a:extLst>
          </p:cNvPr>
          <p:cNvSpPr>
            <a:spLocks noGrp="1"/>
          </p:cNvSpPr>
          <p:nvPr>
            <p:ph sz="half" idx="2"/>
          </p:nvPr>
        </p:nvSpPr>
        <p:spPr/>
        <p:txBody>
          <a:bodyPr>
            <a:normAutofit/>
          </a:bodyPr>
          <a:lstStyle/>
          <a:p>
            <a:pPr marL="0" indent="0">
              <a:buNone/>
            </a:pPr>
            <a:r>
              <a:rPr lang="de-DE" dirty="0"/>
              <a:t>Eine Anwendung benötigt zusätzlich:</a:t>
            </a:r>
          </a:p>
          <a:p>
            <a:pPr lvl="0"/>
            <a:r>
              <a:rPr lang="de-DE" dirty="0"/>
              <a:t>fachlich verständliche Namen </a:t>
            </a:r>
          </a:p>
          <a:p>
            <a:pPr lvl="0"/>
            <a:r>
              <a:rPr lang="de-DE" dirty="0"/>
              <a:t>berechnete Informationen </a:t>
            </a:r>
          </a:p>
          <a:p>
            <a:pPr lvl="0"/>
            <a:r>
              <a:rPr lang="de-DE" dirty="0"/>
              <a:t>Beziehungen zu anderen Objekten </a:t>
            </a:r>
          </a:p>
          <a:p>
            <a:pPr lvl="0"/>
            <a:r>
              <a:rPr lang="de-DE" dirty="0"/>
              <a:t>Semantik und Metadaten </a:t>
            </a:r>
          </a:p>
          <a:p>
            <a:pPr lvl="0"/>
            <a:r>
              <a:rPr lang="de-DE" dirty="0"/>
              <a:t>Zugriffsschutz </a:t>
            </a:r>
          </a:p>
          <a:p>
            <a:endParaRPr lang="de-DE" dirty="0"/>
          </a:p>
        </p:txBody>
      </p:sp>
      <p:sp>
        <p:nvSpPr>
          <p:cNvPr id="7" name="Textfeld 6">
            <a:extLst>
              <a:ext uri="{FF2B5EF4-FFF2-40B4-BE49-F238E27FC236}">
                <a16:creationId xmlns:a16="http://schemas.microsoft.com/office/drawing/2014/main" id="{3779BB50-4619-4492-8B33-F903438A548A}"/>
              </a:ext>
            </a:extLst>
          </p:cNvPr>
          <p:cNvSpPr txBox="1"/>
          <p:nvPr/>
        </p:nvSpPr>
        <p:spPr>
          <a:xfrm>
            <a:off x="838200" y="5699909"/>
            <a:ext cx="10515600" cy="954107"/>
          </a:xfrm>
          <a:prstGeom prst="rect">
            <a:avLst/>
          </a:prstGeom>
          <a:noFill/>
        </p:spPr>
        <p:txBody>
          <a:bodyPr wrap="square">
            <a:spAutoFit/>
          </a:bodyPr>
          <a:lstStyle/>
          <a:p>
            <a:r>
              <a:rPr lang="de-DE" sz="2800" b="1" dirty="0">
                <a:highlight>
                  <a:srgbClr val="FFFF00"/>
                </a:highlight>
              </a:rPr>
              <a:t>CDS ergänzt die technische Datenhaltung um ein fachliches Datenmodell.</a:t>
            </a:r>
            <a:endParaRPr lang="de-DE" sz="2800" dirty="0">
              <a:highlight>
                <a:srgbClr val="FFFF00"/>
              </a:highlight>
            </a:endParaRPr>
          </a:p>
        </p:txBody>
      </p:sp>
    </p:spTree>
    <p:extLst>
      <p:ext uri="{BB962C8B-B14F-4D97-AF65-F5344CB8AC3E}">
        <p14:creationId xmlns:p14="http://schemas.microsoft.com/office/powerpoint/2010/main" val="13846034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0F9BF34-28E8-3607-1AC8-D62629D7C28C}"/>
              </a:ext>
            </a:extLst>
          </p:cNvPr>
          <p:cNvSpPr>
            <a:spLocks noGrp="1"/>
          </p:cNvSpPr>
          <p:nvPr>
            <p:ph type="title"/>
          </p:nvPr>
        </p:nvSpPr>
        <p:spPr/>
        <p:txBody>
          <a:bodyPr/>
          <a:lstStyle/>
          <a:p>
            <a:r>
              <a:rPr lang="de-DE" dirty="0"/>
              <a:t>Was ist eine CDS View Entity?</a:t>
            </a:r>
          </a:p>
        </p:txBody>
      </p:sp>
      <p:sp>
        <p:nvSpPr>
          <p:cNvPr id="4" name="Inhaltsplatzhalter 3">
            <a:extLst>
              <a:ext uri="{FF2B5EF4-FFF2-40B4-BE49-F238E27FC236}">
                <a16:creationId xmlns:a16="http://schemas.microsoft.com/office/drawing/2014/main" id="{F4A997D5-79B5-C6B1-BDFA-45B1D563284E}"/>
              </a:ext>
            </a:extLst>
          </p:cNvPr>
          <p:cNvSpPr>
            <a:spLocks noGrp="1"/>
          </p:cNvSpPr>
          <p:nvPr>
            <p:ph sz="half" idx="1"/>
          </p:nvPr>
        </p:nvSpPr>
        <p:spPr/>
        <p:txBody>
          <a:bodyPr/>
          <a:lstStyle/>
          <a:p>
            <a:pPr marL="0" indent="0">
              <a:buNone/>
            </a:pPr>
            <a:r>
              <a:rPr lang="de-DE" dirty="0"/>
              <a:t>Eine CDS View Entity ist …</a:t>
            </a:r>
          </a:p>
          <a:p>
            <a:pPr lvl="0"/>
            <a:r>
              <a:rPr lang="de-DE" dirty="0"/>
              <a:t>eine deklarative Datendefinition </a:t>
            </a:r>
          </a:p>
          <a:p>
            <a:pPr lvl="0"/>
            <a:r>
              <a:rPr lang="de-DE" dirty="0"/>
              <a:t>eine Sicht auf eine oder mehrere Datenquellen </a:t>
            </a:r>
          </a:p>
          <a:p>
            <a:pPr lvl="0"/>
            <a:r>
              <a:rPr lang="de-DE" dirty="0"/>
              <a:t>ein wiederverwendbares Entwicklungsobjekt </a:t>
            </a:r>
          </a:p>
          <a:p>
            <a:pPr lvl="0"/>
            <a:r>
              <a:rPr lang="de-DE" dirty="0"/>
              <a:t>durch Annotationen mit Metadaten </a:t>
            </a:r>
            <a:r>
              <a:rPr lang="de-DE" dirty="0" err="1"/>
              <a:t>anreicherbar</a:t>
            </a:r>
            <a:r>
              <a:rPr lang="de-DE" dirty="0"/>
              <a:t> </a:t>
            </a:r>
          </a:p>
          <a:p>
            <a:pPr lvl="0"/>
            <a:r>
              <a:rPr lang="de-DE" dirty="0"/>
              <a:t>direkt mit ABAP SQL lesbar</a:t>
            </a:r>
          </a:p>
          <a:p>
            <a:endParaRPr lang="de-DE" dirty="0"/>
          </a:p>
        </p:txBody>
      </p:sp>
      <p:pic>
        <p:nvPicPr>
          <p:cNvPr id="7" name="Inhaltsplatzhalter 6">
            <a:extLst>
              <a:ext uri="{FF2B5EF4-FFF2-40B4-BE49-F238E27FC236}">
                <a16:creationId xmlns:a16="http://schemas.microsoft.com/office/drawing/2014/main" id="{1C68CC3A-FC11-8846-ABED-647CD54806DA}"/>
              </a:ext>
            </a:extLst>
          </p:cNvPr>
          <p:cNvPicPr>
            <a:picLocks noGrp="1" noChangeAspect="1"/>
          </p:cNvPicPr>
          <p:nvPr>
            <p:ph sz="half" idx="2"/>
          </p:nvPr>
        </p:nvPicPr>
        <p:blipFill>
          <a:blip r:embed="rId3"/>
          <a:stretch>
            <a:fillRect/>
          </a:stretch>
        </p:blipFill>
        <p:spPr>
          <a:xfrm>
            <a:off x="6692142" y="1825624"/>
            <a:ext cx="4187763" cy="1603375"/>
          </a:xfrm>
          <a:prstGeom prst="rect">
            <a:avLst/>
          </a:prstGeom>
        </p:spPr>
      </p:pic>
    </p:spTree>
    <p:extLst>
      <p:ext uri="{BB962C8B-B14F-4D97-AF65-F5344CB8AC3E}">
        <p14:creationId xmlns:p14="http://schemas.microsoft.com/office/powerpoint/2010/main" val="30009147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015783C-A561-2FA9-40EF-059AE078A960}"/>
              </a:ext>
            </a:extLst>
          </p:cNvPr>
          <p:cNvSpPr>
            <a:spLocks noGrp="1"/>
          </p:cNvSpPr>
          <p:nvPr>
            <p:ph type="title"/>
          </p:nvPr>
        </p:nvSpPr>
        <p:spPr/>
        <p:txBody>
          <a:bodyPr/>
          <a:lstStyle/>
          <a:p>
            <a:r>
              <a:rPr lang="de-DE" dirty="0"/>
              <a:t>CDS View Entity und klassische CDS View</a:t>
            </a:r>
          </a:p>
        </p:txBody>
      </p:sp>
      <p:graphicFrame>
        <p:nvGraphicFramePr>
          <p:cNvPr id="4" name="Inhaltsplatzhalter 3">
            <a:extLst>
              <a:ext uri="{FF2B5EF4-FFF2-40B4-BE49-F238E27FC236}">
                <a16:creationId xmlns:a16="http://schemas.microsoft.com/office/drawing/2014/main" id="{B63DD7A9-8649-DF15-CE4C-94709DEB7C4F}"/>
              </a:ext>
            </a:extLst>
          </p:cNvPr>
          <p:cNvGraphicFramePr>
            <a:graphicFrameLocks noGrp="1"/>
          </p:cNvGraphicFramePr>
          <p:nvPr>
            <p:ph idx="1"/>
            <p:extLst>
              <p:ext uri="{D42A27DB-BD31-4B8C-83A1-F6EECF244321}">
                <p14:modId xmlns:p14="http://schemas.microsoft.com/office/powerpoint/2010/main" val="2723345466"/>
              </p:ext>
            </p:extLst>
          </p:nvPr>
        </p:nvGraphicFramePr>
        <p:xfrm>
          <a:off x="838200" y="1825625"/>
          <a:ext cx="10515600" cy="2225040"/>
        </p:xfrm>
        <a:graphic>
          <a:graphicData uri="http://schemas.openxmlformats.org/drawingml/2006/table">
            <a:tbl>
              <a:tblPr firstRow="1" bandRow="1">
                <a:tableStyleId>{5C22544A-7EE6-4342-B048-85BDC9FD1C3A}</a:tableStyleId>
              </a:tblPr>
              <a:tblGrid>
                <a:gridCol w="5257800">
                  <a:extLst>
                    <a:ext uri="{9D8B030D-6E8A-4147-A177-3AD203B41FA5}">
                      <a16:colId xmlns:a16="http://schemas.microsoft.com/office/drawing/2014/main" val="1505087696"/>
                    </a:ext>
                  </a:extLst>
                </a:gridCol>
                <a:gridCol w="5257800">
                  <a:extLst>
                    <a:ext uri="{9D8B030D-6E8A-4147-A177-3AD203B41FA5}">
                      <a16:colId xmlns:a16="http://schemas.microsoft.com/office/drawing/2014/main" val="2181835758"/>
                    </a:ext>
                  </a:extLst>
                </a:gridCol>
              </a:tblGrid>
              <a:tr h="370840">
                <a:tc>
                  <a:txBody>
                    <a:bodyPr/>
                    <a:lstStyle/>
                    <a:p>
                      <a:r>
                        <a:rPr lang="de-DE" dirty="0"/>
                        <a:t>Klassische CDS View</a:t>
                      </a:r>
                    </a:p>
                  </a:txBody>
                  <a:tcPr/>
                </a:tc>
                <a:tc>
                  <a:txBody>
                    <a:bodyPr/>
                    <a:lstStyle/>
                    <a:p>
                      <a:r>
                        <a:rPr lang="de-DE" dirty="0"/>
                        <a:t>CDS View Entity</a:t>
                      </a:r>
                    </a:p>
                  </a:txBody>
                  <a:tcPr/>
                </a:tc>
                <a:extLst>
                  <a:ext uri="{0D108BD9-81ED-4DB2-BD59-A6C34878D82A}">
                    <a16:rowId xmlns:a16="http://schemas.microsoft.com/office/drawing/2014/main" val="1955066274"/>
                  </a:ext>
                </a:extLst>
              </a:tr>
              <a:tr h="370840">
                <a:tc>
                  <a:txBody>
                    <a:bodyPr/>
                    <a:lstStyle/>
                    <a:p>
                      <a:r>
                        <a:rPr lang="de-DE" dirty="0" err="1">
                          <a:latin typeface="Courier New" panose="02070309020205020404" pitchFamily="49" charset="0"/>
                          <a:cs typeface="Courier New" panose="02070309020205020404" pitchFamily="49" charset="0"/>
                        </a:rPr>
                        <a:t>define</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view</a:t>
                      </a:r>
                      <a:endParaRPr lang="de-DE" dirty="0">
                        <a:latin typeface="Courier New" panose="02070309020205020404" pitchFamily="49" charset="0"/>
                        <a:cs typeface="Courier New" panose="02070309020205020404" pitchFamily="49" charset="0"/>
                      </a:endParaRPr>
                    </a:p>
                  </a:txBody>
                  <a:tcPr/>
                </a:tc>
                <a:tc>
                  <a:txBody>
                    <a:bodyPr/>
                    <a:lstStyle/>
                    <a:p>
                      <a:r>
                        <a:rPr lang="de-DE" dirty="0" err="1">
                          <a:latin typeface="Courier New" panose="02070309020205020404" pitchFamily="49" charset="0"/>
                          <a:cs typeface="Courier New" panose="02070309020205020404" pitchFamily="49" charset="0"/>
                        </a:rPr>
                        <a:t>define</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view</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entity</a:t>
                      </a:r>
                      <a:endParaRPr lang="de-DE" dirty="0">
                        <a:latin typeface="Courier New" panose="02070309020205020404" pitchFamily="49" charset="0"/>
                        <a:cs typeface="Courier New" panose="02070309020205020404" pitchFamily="49" charset="0"/>
                      </a:endParaRPr>
                    </a:p>
                  </a:txBody>
                  <a:tcPr/>
                </a:tc>
                <a:extLst>
                  <a:ext uri="{0D108BD9-81ED-4DB2-BD59-A6C34878D82A}">
                    <a16:rowId xmlns:a16="http://schemas.microsoft.com/office/drawing/2014/main" val="1183424162"/>
                  </a:ext>
                </a:extLst>
              </a:tr>
              <a:tr h="370840">
                <a:tc>
                  <a:txBody>
                    <a:bodyPr/>
                    <a:lstStyle/>
                    <a:p>
                      <a:r>
                        <a:rPr lang="de-DE" dirty="0"/>
                        <a:t>zusätzliche SQL-View erforderlich</a:t>
                      </a:r>
                    </a:p>
                  </a:txBody>
                  <a:tcPr/>
                </a:tc>
                <a:tc>
                  <a:txBody>
                    <a:bodyPr/>
                    <a:lstStyle/>
                    <a:p>
                      <a:r>
                        <a:rPr lang="de-DE" dirty="0"/>
                        <a:t>keine SQL-View-Angabe</a:t>
                      </a:r>
                    </a:p>
                  </a:txBody>
                  <a:tcPr/>
                </a:tc>
                <a:extLst>
                  <a:ext uri="{0D108BD9-81ED-4DB2-BD59-A6C34878D82A}">
                    <a16:rowId xmlns:a16="http://schemas.microsoft.com/office/drawing/2014/main" val="1690336143"/>
                  </a:ext>
                </a:extLst>
              </a:tr>
              <a:tr h="370840">
                <a:tc>
                  <a:txBody>
                    <a:bodyPr/>
                    <a:lstStyle/>
                    <a:p>
                      <a:r>
                        <a:rPr lang="de-DE" dirty="0"/>
                        <a:t>@AbapCatalog.sqlViewName</a:t>
                      </a:r>
                    </a:p>
                  </a:txBody>
                  <a:tcPr/>
                </a:tc>
                <a:tc>
                  <a:txBody>
                    <a:bodyPr/>
                    <a:lstStyle/>
                    <a:p>
                      <a:r>
                        <a:rPr lang="de-DE" dirty="0"/>
                        <a:t>nicht erforderlich</a:t>
                      </a:r>
                    </a:p>
                  </a:txBody>
                  <a:tcPr/>
                </a:tc>
                <a:extLst>
                  <a:ext uri="{0D108BD9-81ED-4DB2-BD59-A6C34878D82A}">
                    <a16:rowId xmlns:a16="http://schemas.microsoft.com/office/drawing/2014/main" val="2278873133"/>
                  </a:ext>
                </a:extLst>
              </a:tr>
              <a:tr h="370840">
                <a:tc>
                  <a:txBody>
                    <a:bodyPr/>
                    <a:lstStyle/>
                    <a:p>
                      <a:r>
                        <a:rPr lang="de-DE" dirty="0"/>
                        <a:t>älteres CDS-Modell</a:t>
                      </a:r>
                    </a:p>
                  </a:txBody>
                  <a:tcPr/>
                </a:tc>
                <a:tc>
                  <a:txBody>
                    <a:bodyPr/>
                    <a:lstStyle/>
                    <a:p>
                      <a:r>
                        <a:rPr lang="de-DE" dirty="0"/>
                        <a:t>aktuelles Entwicklungsmodell</a:t>
                      </a:r>
                    </a:p>
                  </a:txBody>
                  <a:tcPr/>
                </a:tc>
                <a:extLst>
                  <a:ext uri="{0D108BD9-81ED-4DB2-BD59-A6C34878D82A}">
                    <a16:rowId xmlns:a16="http://schemas.microsoft.com/office/drawing/2014/main" val="2337229006"/>
                  </a:ext>
                </a:extLst>
              </a:tr>
              <a:tr h="370840">
                <a:tc>
                  <a:txBody>
                    <a:bodyPr/>
                    <a:lstStyle/>
                    <a:p>
                      <a:r>
                        <a:rPr lang="de-DE" dirty="0"/>
                        <a:t>teilweise andere Annotationen</a:t>
                      </a:r>
                    </a:p>
                  </a:txBody>
                  <a:tcPr/>
                </a:tc>
                <a:tc>
                  <a:txBody>
                    <a:bodyPr/>
                    <a:lstStyle/>
                    <a:p>
                      <a:r>
                        <a:rPr lang="de-DE" dirty="0"/>
                        <a:t>auf View </a:t>
                      </a:r>
                      <a:r>
                        <a:rPr lang="de-DE" dirty="0" err="1"/>
                        <a:t>Entities</a:t>
                      </a:r>
                      <a:r>
                        <a:rPr lang="de-DE" dirty="0"/>
                        <a:t> abgestimmte Syntax</a:t>
                      </a:r>
                    </a:p>
                  </a:txBody>
                  <a:tcPr/>
                </a:tc>
                <a:extLst>
                  <a:ext uri="{0D108BD9-81ED-4DB2-BD59-A6C34878D82A}">
                    <a16:rowId xmlns:a16="http://schemas.microsoft.com/office/drawing/2014/main" val="2189837921"/>
                  </a:ext>
                </a:extLst>
              </a:tr>
            </a:tbl>
          </a:graphicData>
        </a:graphic>
      </p:graphicFrame>
      <p:sp>
        <p:nvSpPr>
          <p:cNvPr id="8" name="Textfeld 7">
            <a:extLst>
              <a:ext uri="{FF2B5EF4-FFF2-40B4-BE49-F238E27FC236}">
                <a16:creationId xmlns:a16="http://schemas.microsoft.com/office/drawing/2014/main" id="{0C5417F0-5A23-B298-5AA4-1083855DE2EE}"/>
              </a:ext>
            </a:extLst>
          </p:cNvPr>
          <p:cNvSpPr txBox="1"/>
          <p:nvPr/>
        </p:nvSpPr>
        <p:spPr>
          <a:xfrm>
            <a:off x="838199" y="5039405"/>
            <a:ext cx="10515599" cy="461665"/>
          </a:xfrm>
          <a:prstGeom prst="rect">
            <a:avLst/>
          </a:prstGeom>
          <a:noFill/>
        </p:spPr>
        <p:txBody>
          <a:bodyPr wrap="square">
            <a:spAutoFit/>
          </a:bodyPr>
          <a:lstStyle/>
          <a:p>
            <a:r>
              <a:rPr lang="de-DE" sz="2400" dirty="0">
                <a:highlight>
                  <a:srgbClr val="FFFF00"/>
                </a:highlight>
              </a:rPr>
              <a:t>Für neue Entwicklungen verwenden wir CDS View </a:t>
            </a:r>
            <a:r>
              <a:rPr lang="de-DE" sz="2400" dirty="0" err="1">
                <a:highlight>
                  <a:srgbClr val="FFFF00"/>
                </a:highlight>
              </a:rPr>
              <a:t>Entities</a:t>
            </a:r>
            <a:r>
              <a:rPr lang="de-DE" sz="2400" dirty="0">
                <a:highlight>
                  <a:srgbClr val="FFFF00"/>
                </a:highlight>
              </a:rPr>
              <a:t>.</a:t>
            </a:r>
          </a:p>
        </p:txBody>
      </p:sp>
    </p:spTree>
    <p:extLst>
      <p:ext uri="{BB962C8B-B14F-4D97-AF65-F5344CB8AC3E}">
        <p14:creationId xmlns:p14="http://schemas.microsoft.com/office/powerpoint/2010/main" val="35343222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34EFD91-959C-8CD5-5FAB-5A8267BBCC6B}"/>
              </a:ext>
            </a:extLst>
          </p:cNvPr>
          <p:cNvSpPr>
            <a:spLocks noGrp="1"/>
          </p:cNvSpPr>
          <p:nvPr>
            <p:ph type="title"/>
          </p:nvPr>
        </p:nvSpPr>
        <p:spPr/>
        <p:txBody>
          <a:bodyPr/>
          <a:lstStyle/>
          <a:p>
            <a:r>
              <a:rPr lang="de-DE" dirty="0"/>
              <a:t>Unser Beispiel: ein kleines Vertriebsmodell</a:t>
            </a:r>
          </a:p>
        </p:txBody>
      </p:sp>
      <p:pic>
        <p:nvPicPr>
          <p:cNvPr id="7" name="Inhaltsplatzhalter 6">
            <a:extLst>
              <a:ext uri="{FF2B5EF4-FFF2-40B4-BE49-F238E27FC236}">
                <a16:creationId xmlns:a16="http://schemas.microsoft.com/office/drawing/2014/main" id="{62863CF1-B738-1FBC-B668-278159CD33BB}"/>
              </a:ext>
            </a:extLst>
          </p:cNvPr>
          <p:cNvPicPr>
            <a:picLocks noGrp="1" noChangeAspect="1"/>
          </p:cNvPicPr>
          <p:nvPr>
            <p:ph idx="1"/>
          </p:nvPr>
        </p:nvPicPr>
        <p:blipFill>
          <a:blip r:embed="rId3"/>
          <a:stretch>
            <a:fillRect/>
          </a:stretch>
        </p:blipFill>
        <p:spPr>
          <a:xfrm>
            <a:off x="838200" y="2138003"/>
            <a:ext cx="10515600" cy="3726581"/>
          </a:xfrm>
          <a:prstGeom prst="rect">
            <a:avLst/>
          </a:prstGeom>
        </p:spPr>
      </p:pic>
    </p:spTree>
    <p:extLst>
      <p:ext uri="{BB962C8B-B14F-4D97-AF65-F5344CB8AC3E}">
        <p14:creationId xmlns:p14="http://schemas.microsoft.com/office/powerpoint/2010/main" val="30793813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C2FE50D-F20B-9E61-493A-14F2042B106B}"/>
              </a:ext>
            </a:extLst>
          </p:cNvPr>
          <p:cNvSpPr>
            <a:spLocks noGrp="1"/>
          </p:cNvSpPr>
          <p:nvPr>
            <p:ph type="title"/>
          </p:nvPr>
        </p:nvSpPr>
        <p:spPr/>
        <p:txBody>
          <a:bodyPr/>
          <a:lstStyle/>
          <a:p>
            <a:r>
              <a:rPr lang="de-DE" dirty="0"/>
              <a:t>Vom Auftrag zum verbundenen CDS-Modell</a:t>
            </a:r>
          </a:p>
        </p:txBody>
      </p:sp>
      <p:sp>
        <p:nvSpPr>
          <p:cNvPr id="3" name="Inhaltsplatzhalter 2">
            <a:extLst>
              <a:ext uri="{FF2B5EF4-FFF2-40B4-BE49-F238E27FC236}">
                <a16:creationId xmlns:a16="http://schemas.microsoft.com/office/drawing/2014/main" id="{FE519DBA-23A4-0D4A-A4BC-682A889B2BA6}"/>
              </a:ext>
            </a:extLst>
          </p:cNvPr>
          <p:cNvSpPr>
            <a:spLocks noGrp="1"/>
          </p:cNvSpPr>
          <p:nvPr>
            <p:ph idx="1"/>
          </p:nvPr>
        </p:nvSpPr>
        <p:spPr/>
        <p:txBody>
          <a:bodyPr/>
          <a:lstStyle/>
          <a:p>
            <a:pPr marL="0" indent="0">
              <a:buNone/>
            </a:pPr>
            <a:r>
              <a:rPr lang="de-DE" dirty="0"/>
              <a:t>Heute entsteht schrittweise:</a:t>
            </a:r>
          </a:p>
          <a:p>
            <a:pPr marL="514350" lvl="0" indent="-514350">
              <a:buFont typeface="+mj-lt"/>
              <a:buAutoNum type="arabicPeriod"/>
            </a:pPr>
            <a:r>
              <a:rPr lang="de-DE" dirty="0"/>
              <a:t>Auftrag als erste View Entity </a:t>
            </a:r>
          </a:p>
          <a:p>
            <a:pPr marL="514350" lvl="0" indent="-514350">
              <a:buFont typeface="+mj-lt"/>
              <a:buAutoNum type="arabicPeriod"/>
            </a:pPr>
            <a:r>
              <a:rPr lang="de-DE" dirty="0"/>
              <a:t>fachlich aufbereitete Elemente </a:t>
            </a:r>
          </a:p>
          <a:p>
            <a:pPr marL="514350" lvl="0" indent="-514350">
              <a:buFont typeface="+mj-lt"/>
              <a:buAutoNum type="arabicPeriod"/>
            </a:pPr>
            <a:r>
              <a:rPr lang="de-DE" dirty="0"/>
              <a:t>Auftrag mit Kunde </a:t>
            </a:r>
          </a:p>
          <a:p>
            <a:pPr marL="514350" lvl="0" indent="-514350">
              <a:buFont typeface="+mj-lt"/>
              <a:buAutoNum type="arabicPeriod"/>
            </a:pPr>
            <a:r>
              <a:rPr lang="de-DE" dirty="0"/>
              <a:t>Auftrag mit Positionen und Produkten </a:t>
            </a:r>
          </a:p>
          <a:p>
            <a:pPr marL="514350" lvl="0" indent="-514350">
              <a:buFont typeface="+mj-lt"/>
              <a:buAutoNum type="arabicPeriod"/>
            </a:pPr>
            <a:r>
              <a:rPr lang="de-DE" dirty="0"/>
              <a:t>Zugriff aus ABAP </a:t>
            </a:r>
          </a:p>
          <a:p>
            <a:pPr marL="514350" lvl="0" indent="-514350">
              <a:buFont typeface="+mj-lt"/>
              <a:buAutoNum type="arabicPeriod"/>
            </a:pPr>
            <a:r>
              <a:rPr lang="de-DE" dirty="0"/>
              <a:t>Zugriffskontrolle mit DCL</a:t>
            </a:r>
          </a:p>
          <a:p>
            <a:endParaRPr lang="de-DE" dirty="0"/>
          </a:p>
        </p:txBody>
      </p:sp>
    </p:spTree>
    <p:extLst>
      <p:ext uri="{BB962C8B-B14F-4D97-AF65-F5344CB8AC3E}">
        <p14:creationId xmlns:p14="http://schemas.microsoft.com/office/powerpoint/2010/main" val="40319688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B579598-B238-35DE-6607-5786F678DA63}"/>
              </a:ext>
            </a:extLst>
          </p:cNvPr>
          <p:cNvSpPr>
            <a:spLocks noGrp="1"/>
          </p:cNvSpPr>
          <p:nvPr>
            <p:ph type="title"/>
          </p:nvPr>
        </p:nvSpPr>
        <p:spPr/>
        <p:txBody>
          <a:bodyPr/>
          <a:lstStyle/>
          <a:p>
            <a:r>
              <a:rPr lang="de-DE" dirty="0"/>
              <a:t>Live-Coding 1: Die erste CDS View Entity</a:t>
            </a:r>
          </a:p>
        </p:txBody>
      </p:sp>
      <p:sp>
        <p:nvSpPr>
          <p:cNvPr id="3" name="Inhaltsplatzhalter 2">
            <a:extLst>
              <a:ext uri="{FF2B5EF4-FFF2-40B4-BE49-F238E27FC236}">
                <a16:creationId xmlns:a16="http://schemas.microsoft.com/office/drawing/2014/main" id="{B83BE80A-6E11-CA9D-BD2C-BD08D8FF7D48}"/>
              </a:ext>
            </a:extLst>
          </p:cNvPr>
          <p:cNvSpPr>
            <a:spLocks noGrp="1"/>
          </p:cNvSpPr>
          <p:nvPr>
            <p:ph idx="1"/>
          </p:nvPr>
        </p:nvSpPr>
        <p:spPr/>
        <p:txBody>
          <a:bodyPr>
            <a:normAutofit fontScale="85000" lnSpcReduction="20000"/>
          </a:bodyPr>
          <a:lstStyle/>
          <a:p>
            <a:pPr marL="0" indent="0">
              <a:buNone/>
            </a:pPr>
            <a:r>
              <a:rPr lang="de-DE" b="1" dirty="0"/>
              <a:t>Ziel</a:t>
            </a:r>
            <a:endParaRPr lang="de-DE" dirty="0"/>
          </a:p>
          <a:p>
            <a:pPr marL="0" indent="0">
              <a:buNone/>
            </a:pPr>
            <a:r>
              <a:rPr lang="de-DE" dirty="0"/>
              <a:t>Eine CDS View Entity auf ZCDS_ORDER erstellen</a:t>
            </a:r>
          </a:p>
          <a:p>
            <a:pPr marL="0" indent="0">
              <a:buNone/>
            </a:pPr>
            <a:r>
              <a:rPr lang="de-DE" b="1" dirty="0"/>
              <a:t>Dabei verwenden wir:</a:t>
            </a:r>
            <a:endParaRPr lang="de-DE" dirty="0"/>
          </a:p>
          <a:p>
            <a:pPr lvl="0"/>
            <a:r>
              <a:rPr lang="de-DE" dirty="0"/>
              <a:t>Data Definition in ADT </a:t>
            </a:r>
          </a:p>
          <a:p>
            <a:pPr lvl="0"/>
            <a:r>
              <a:rPr lang="de-DE" dirty="0" err="1">
                <a:latin typeface="Courier New" panose="02070309020205020404" pitchFamily="49" charset="0"/>
                <a:cs typeface="Courier New" panose="02070309020205020404" pitchFamily="49" charset="0"/>
              </a:rPr>
              <a:t>define</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view</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entity</a:t>
            </a:r>
            <a:r>
              <a:rPr lang="de-DE" dirty="0">
                <a:latin typeface="Courier New" panose="02070309020205020404" pitchFamily="49" charset="0"/>
                <a:cs typeface="Courier New" panose="02070309020205020404" pitchFamily="49" charset="0"/>
              </a:rPr>
              <a:t> </a:t>
            </a:r>
          </a:p>
          <a:p>
            <a:pPr lvl="0"/>
            <a:r>
              <a:rPr lang="de-DE" dirty="0" err="1">
                <a:latin typeface="Courier New" panose="02070309020205020404" pitchFamily="49" charset="0"/>
                <a:cs typeface="Courier New" panose="02070309020205020404" pitchFamily="49" charset="0"/>
              </a:rPr>
              <a:t>select</a:t>
            </a:r>
            <a:r>
              <a:rPr lang="de-DE" dirty="0">
                <a:latin typeface="Courier New" panose="02070309020205020404" pitchFamily="49" charset="0"/>
                <a:cs typeface="Courier New" panose="02070309020205020404" pitchFamily="49" charset="0"/>
              </a:rPr>
              <a:t> from </a:t>
            </a:r>
          </a:p>
          <a:p>
            <a:pPr lvl="0"/>
            <a:r>
              <a:rPr lang="de-DE" dirty="0"/>
              <a:t>Elemente und Schlüssel </a:t>
            </a:r>
          </a:p>
          <a:p>
            <a:pPr lvl="0"/>
            <a:r>
              <a:rPr lang="de-DE" dirty="0"/>
              <a:t>Aliase </a:t>
            </a:r>
          </a:p>
          <a:p>
            <a:pPr lvl="0"/>
            <a:r>
              <a:rPr lang="de-DE" dirty="0"/>
              <a:t>Annotationen </a:t>
            </a:r>
          </a:p>
          <a:p>
            <a:pPr lvl="0"/>
            <a:r>
              <a:rPr lang="de-DE" dirty="0"/>
              <a:t>Data Preview </a:t>
            </a:r>
          </a:p>
          <a:p>
            <a:pPr marL="0" indent="0">
              <a:buNone/>
            </a:pPr>
            <a:r>
              <a:rPr lang="de-DE" b="1" dirty="0"/>
              <a:t>Ergebnis:</a:t>
            </a:r>
            <a:r>
              <a:rPr lang="de-DE" dirty="0"/>
              <a:t> </a:t>
            </a:r>
            <a:r>
              <a:rPr lang="de-DE" dirty="0" err="1">
                <a:latin typeface="Courier New" panose="02070309020205020404" pitchFamily="49" charset="0"/>
                <a:cs typeface="Courier New" panose="02070309020205020404" pitchFamily="49" charset="0"/>
              </a:rPr>
              <a:t>ZI_CDSOrder</a:t>
            </a:r>
            <a:endParaRPr lang="de-DE" dirty="0">
              <a:latin typeface="Courier New" panose="02070309020205020404" pitchFamily="49" charset="0"/>
              <a:cs typeface="Courier New" panose="02070309020205020404" pitchFamily="49" charset="0"/>
            </a:endParaRPr>
          </a:p>
          <a:p>
            <a:endParaRPr lang="de-DE" dirty="0"/>
          </a:p>
        </p:txBody>
      </p:sp>
    </p:spTree>
    <p:extLst>
      <p:ext uri="{BB962C8B-B14F-4D97-AF65-F5344CB8AC3E}">
        <p14:creationId xmlns:p14="http://schemas.microsoft.com/office/powerpoint/2010/main" val="17193475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0656BBB-2851-24F8-9DF7-BAFD26241E9E}"/>
              </a:ext>
            </a:extLst>
          </p:cNvPr>
          <p:cNvSpPr>
            <a:spLocks noGrp="1"/>
          </p:cNvSpPr>
          <p:nvPr>
            <p:ph type="title"/>
          </p:nvPr>
        </p:nvSpPr>
        <p:spPr/>
        <p:txBody>
          <a:bodyPr/>
          <a:lstStyle/>
          <a:p>
            <a:r>
              <a:rPr lang="de-DE" b="1" dirty="0"/>
              <a:t>Unsere erste View Entity</a:t>
            </a:r>
            <a:endParaRPr lang="de-DE" dirty="0"/>
          </a:p>
        </p:txBody>
      </p:sp>
      <p:sp>
        <p:nvSpPr>
          <p:cNvPr id="4" name="Inhaltsplatzhalter 3">
            <a:extLst>
              <a:ext uri="{FF2B5EF4-FFF2-40B4-BE49-F238E27FC236}">
                <a16:creationId xmlns:a16="http://schemas.microsoft.com/office/drawing/2014/main" id="{D4626FBF-5D2C-56C6-4AA7-EF8E92238F9A}"/>
              </a:ext>
            </a:extLst>
          </p:cNvPr>
          <p:cNvSpPr>
            <a:spLocks noGrp="1"/>
          </p:cNvSpPr>
          <p:nvPr>
            <p:ph sz="half" idx="1"/>
          </p:nvPr>
        </p:nvSpPr>
        <p:spPr/>
        <p:txBody>
          <a:bodyPr/>
          <a:lstStyle/>
          <a:p>
            <a:pPr marL="0" indent="0">
              <a:buNone/>
            </a:pPr>
            <a:r>
              <a:rPr lang="de-DE" dirty="0"/>
              <a:t>Erreicht:</a:t>
            </a:r>
          </a:p>
          <a:p>
            <a:pPr lvl="0"/>
            <a:r>
              <a:rPr lang="de-DE" dirty="0"/>
              <a:t>Datenquelle ausgewählt </a:t>
            </a:r>
          </a:p>
          <a:p>
            <a:pPr lvl="0"/>
            <a:r>
              <a:rPr lang="de-DE" dirty="0"/>
              <a:t>Elemente projiziert </a:t>
            </a:r>
          </a:p>
          <a:p>
            <a:pPr lvl="0"/>
            <a:r>
              <a:rPr lang="de-DE" dirty="0"/>
              <a:t>Schlüssel gekennzeichnet </a:t>
            </a:r>
          </a:p>
          <a:p>
            <a:pPr lvl="0"/>
            <a:r>
              <a:rPr lang="de-DE" dirty="0"/>
              <a:t>technische Feldnamen ersetzt </a:t>
            </a:r>
          </a:p>
          <a:p>
            <a:pPr lvl="0"/>
            <a:r>
              <a:rPr lang="de-DE" dirty="0"/>
              <a:t>Ergebnis in ADT geprüft </a:t>
            </a:r>
          </a:p>
          <a:p>
            <a:pPr marL="0" indent="0">
              <a:buNone/>
            </a:pPr>
            <a:endParaRPr lang="de-DE" dirty="0"/>
          </a:p>
        </p:txBody>
      </p:sp>
      <p:pic>
        <p:nvPicPr>
          <p:cNvPr id="13" name="Inhaltsplatzhalter 12">
            <a:extLst>
              <a:ext uri="{FF2B5EF4-FFF2-40B4-BE49-F238E27FC236}">
                <a16:creationId xmlns:a16="http://schemas.microsoft.com/office/drawing/2014/main" id="{8AD75F14-6742-F165-FD42-20413DF19F75}"/>
              </a:ext>
            </a:extLst>
          </p:cNvPr>
          <p:cNvPicPr>
            <a:picLocks noGrp="1" noChangeAspect="1"/>
          </p:cNvPicPr>
          <p:nvPr>
            <p:ph sz="half" idx="2"/>
          </p:nvPr>
        </p:nvPicPr>
        <p:blipFill>
          <a:blip r:embed="rId3"/>
          <a:stretch>
            <a:fillRect/>
          </a:stretch>
        </p:blipFill>
        <p:spPr>
          <a:xfrm>
            <a:off x="6287670" y="1825625"/>
            <a:ext cx="4782217" cy="2943636"/>
          </a:xfrm>
          <a:prstGeom prst="rect">
            <a:avLst/>
          </a:prstGeom>
        </p:spPr>
      </p:pic>
    </p:spTree>
    <p:extLst>
      <p:ext uri="{BB962C8B-B14F-4D97-AF65-F5344CB8AC3E}">
        <p14:creationId xmlns:p14="http://schemas.microsoft.com/office/powerpoint/2010/main" val="12024439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1EB9375-D421-5090-A976-9B4BAD95E735}"/>
              </a:ext>
            </a:extLst>
          </p:cNvPr>
          <p:cNvSpPr>
            <a:spLocks noGrp="1"/>
          </p:cNvSpPr>
          <p:nvPr>
            <p:ph type="title"/>
          </p:nvPr>
        </p:nvSpPr>
        <p:spPr/>
        <p:txBody>
          <a:bodyPr/>
          <a:lstStyle/>
          <a:p>
            <a:r>
              <a:rPr lang="de-DE" dirty="0"/>
              <a:t>Die Bestandteile einer View Entity</a:t>
            </a:r>
          </a:p>
        </p:txBody>
      </p:sp>
      <p:sp>
        <p:nvSpPr>
          <p:cNvPr id="3" name="Inhaltsplatzhalter 2">
            <a:extLst>
              <a:ext uri="{FF2B5EF4-FFF2-40B4-BE49-F238E27FC236}">
                <a16:creationId xmlns:a16="http://schemas.microsoft.com/office/drawing/2014/main" id="{1B0AF2AD-1957-51D3-2AA3-C509E8043677}"/>
              </a:ext>
            </a:extLst>
          </p:cNvPr>
          <p:cNvSpPr>
            <a:spLocks noGrp="1"/>
          </p:cNvSpPr>
          <p:nvPr>
            <p:ph sz="half" idx="1"/>
          </p:nvPr>
        </p:nvSpPr>
        <p:spPr/>
        <p:txBody>
          <a:bodyPr/>
          <a:lstStyle/>
          <a:p>
            <a:pPr marL="0" indent="0">
              <a:buNone/>
            </a:pPr>
            <a:r>
              <a:rPr lang="de-DE" dirty="0"/>
              <a:t>Eine View Entity besteht aus:</a:t>
            </a:r>
          </a:p>
          <a:p>
            <a:pPr lvl="0"/>
            <a:r>
              <a:rPr lang="de-DE" dirty="0"/>
              <a:t>Annotationen </a:t>
            </a:r>
          </a:p>
          <a:p>
            <a:pPr lvl="0"/>
            <a:r>
              <a:rPr lang="de-DE" dirty="0"/>
              <a:t>Name der View Entity </a:t>
            </a:r>
          </a:p>
          <a:p>
            <a:pPr lvl="0"/>
            <a:r>
              <a:rPr lang="de-DE" dirty="0"/>
              <a:t>Datenquelle </a:t>
            </a:r>
          </a:p>
          <a:p>
            <a:pPr lvl="0"/>
            <a:r>
              <a:rPr lang="de-DE" dirty="0"/>
              <a:t>Elementliste </a:t>
            </a:r>
          </a:p>
          <a:p>
            <a:pPr lvl="0"/>
            <a:r>
              <a:rPr lang="de-DE" dirty="0"/>
              <a:t>optionalen Ausdrücken, Filtern und Beziehungen</a:t>
            </a:r>
          </a:p>
          <a:p>
            <a:endParaRPr lang="de-DE" dirty="0"/>
          </a:p>
        </p:txBody>
      </p:sp>
      <p:pic>
        <p:nvPicPr>
          <p:cNvPr id="10" name="Inhaltsplatzhalter 9">
            <a:extLst>
              <a:ext uri="{FF2B5EF4-FFF2-40B4-BE49-F238E27FC236}">
                <a16:creationId xmlns:a16="http://schemas.microsoft.com/office/drawing/2014/main" id="{0DCF7B6C-8B89-F7B7-93DB-1E1C0A3F4A42}"/>
              </a:ext>
            </a:extLst>
          </p:cNvPr>
          <p:cNvPicPr>
            <a:picLocks noGrp="1" noChangeAspect="1"/>
          </p:cNvPicPr>
          <p:nvPr>
            <p:ph sz="half" idx="2"/>
          </p:nvPr>
        </p:nvPicPr>
        <p:blipFill>
          <a:blip r:embed="rId3"/>
          <a:stretch>
            <a:fillRect/>
          </a:stretch>
        </p:blipFill>
        <p:spPr>
          <a:xfrm>
            <a:off x="6371891" y="2529476"/>
            <a:ext cx="4782217" cy="2943636"/>
          </a:xfrm>
          <a:prstGeom prst="rect">
            <a:avLst/>
          </a:prstGeom>
        </p:spPr>
      </p:pic>
    </p:spTree>
    <p:extLst>
      <p:ext uri="{BB962C8B-B14F-4D97-AF65-F5344CB8AC3E}">
        <p14:creationId xmlns:p14="http://schemas.microsoft.com/office/powerpoint/2010/main" val="17860747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F121DB-E525-E291-4E59-05CF383547CD}"/>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4E0F01AB-C162-DE15-FBA0-462E3A86364E}"/>
              </a:ext>
            </a:extLst>
          </p:cNvPr>
          <p:cNvSpPr>
            <a:spLocks noGrp="1"/>
          </p:cNvSpPr>
          <p:nvPr>
            <p:ph type="title"/>
          </p:nvPr>
        </p:nvSpPr>
        <p:spPr/>
        <p:txBody>
          <a:bodyPr/>
          <a:lstStyle/>
          <a:p>
            <a:r>
              <a:rPr lang="de-DE" dirty="0"/>
              <a:t>Projektion: Welche Daten stellen wir bereit?</a:t>
            </a:r>
          </a:p>
        </p:txBody>
      </p:sp>
      <p:sp>
        <p:nvSpPr>
          <p:cNvPr id="3" name="Inhaltsplatzhalter 2">
            <a:extLst>
              <a:ext uri="{FF2B5EF4-FFF2-40B4-BE49-F238E27FC236}">
                <a16:creationId xmlns:a16="http://schemas.microsoft.com/office/drawing/2014/main" id="{546E1A31-ECDF-012F-8EDE-CEAB7C3C461B}"/>
              </a:ext>
            </a:extLst>
          </p:cNvPr>
          <p:cNvSpPr>
            <a:spLocks noGrp="1"/>
          </p:cNvSpPr>
          <p:nvPr>
            <p:ph sz="half" idx="1"/>
          </p:nvPr>
        </p:nvSpPr>
        <p:spPr/>
        <p:txBody>
          <a:bodyPr/>
          <a:lstStyle/>
          <a:p>
            <a:pPr marL="0" indent="0">
              <a:buNone/>
            </a:pPr>
            <a:r>
              <a:rPr lang="de-DE" dirty="0"/>
              <a:t>Die Projektion bestimmt:</a:t>
            </a:r>
          </a:p>
          <a:p>
            <a:pPr lvl="0"/>
            <a:r>
              <a:rPr lang="de-DE" dirty="0"/>
              <a:t>welche Elemente sichtbar sind </a:t>
            </a:r>
          </a:p>
          <a:p>
            <a:pPr lvl="0"/>
            <a:r>
              <a:rPr lang="de-DE" dirty="0"/>
              <a:t>wie die Elemente heißen </a:t>
            </a:r>
          </a:p>
          <a:p>
            <a:pPr lvl="0"/>
            <a:r>
              <a:rPr lang="de-DE" dirty="0"/>
              <a:t>welche Reihenfolge sie besitzen </a:t>
            </a:r>
          </a:p>
          <a:p>
            <a:pPr lvl="0"/>
            <a:r>
              <a:rPr lang="de-DE" dirty="0"/>
              <a:t>welche berechneten Werte hinzukommen </a:t>
            </a:r>
          </a:p>
          <a:p>
            <a:pPr lvl="0"/>
            <a:r>
              <a:rPr lang="de-DE" dirty="0"/>
              <a:t>welche Beziehungen veröffentlicht werden</a:t>
            </a:r>
          </a:p>
          <a:p>
            <a:endParaRPr lang="de-DE" dirty="0"/>
          </a:p>
        </p:txBody>
      </p:sp>
      <p:sp>
        <p:nvSpPr>
          <p:cNvPr id="5" name="Textfeld 4">
            <a:extLst>
              <a:ext uri="{FF2B5EF4-FFF2-40B4-BE49-F238E27FC236}">
                <a16:creationId xmlns:a16="http://schemas.microsoft.com/office/drawing/2014/main" id="{F63DA366-2743-B446-2A68-E4E82C847657}"/>
              </a:ext>
            </a:extLst>
          </p:cNvPr>
          <p:cNvSpPr txBox="1"/>
          <p:nvPr/>
        </p:nvSpPr>
        <p:spPr>
          <a:xfrm>
            <a:off x="838200" y="6153523"/>
            <a:ext cx="10108362" cy="461665"/>
          </a:xfrm>
          <a:prstGeom prst="rect">
            <a:avLst/>
          </a:prstGeom>
          <a:noFill/>
        </p:spPr>
        <p:txBody>
          <a:bodyPr wrap="square">
            <a:spAutoFit/>
          </a:bodyPr>
          <a:lstStyle/>
          <a:p>
            <a:r>
              <a:rPr lang="de-DE" sz="2400" dirty="0">
                <a:highlight>
                  <a:srgbClr val="FFFF00"/>
                </a:highlight>
              </a:rPr>
              <a:t>Nicht jedes Feld der Datenquelle muss exponiert werden.</a:t>
            </a:r>
          </a:p>
        </p:txBody>
      </p:sp>
      <p:pic>
        <p:nvPicPr>
          <p:cNvPr id="10" name="Inhaltsplatzhalter 9">
            <a:extLst>
              <a:ext uri="{FF2B5EF4-FFF2-40B4-BE49-F238E27FC236}">
                <a16:creationId xmlns:a16="http://schemas.microsoft.com/office/drawing/2014/main" id="{1224BFE9-EC9D-C03C-9A32-93CD6A9C9CFE}"/>
              </a:ext>
            </a:extLst>
          </p:cNvPr>
          <p:cNvPicPr>
            <a:picLocks noGrp="1" noChangeAspect="1"/>
          </p:cNvPicPr>
          <p:nvPr>
            <p:ph sz="half" idx="2"/>
          </p:nvPr>
        </p:nvPicPr>
        <p:blipFill>
          <a:blip r:embed="rId3"/>
          <a:stretch>
            <a:fillRect/>
          </a:stretch>
        </p:blipFill>
        <p:spPr>
          <a:xfrm>
            <a:off x="6371891" y="2529476"/>
            <a:ext cx="4782217" cy="2943636"/>
          </a:xfrm>
          <a:prstGeom prst="rect">
            <a:avLst/>
          </a:prstGeom>
        </p:spPr>
      </p:pic>
    </p:spTree>
    <p:extLst>
      <p:ext uri="{BB962C8B-B14F-4D97-AF65-F5344CB8AC3E}">
        <p14:creationId xmlns:p14="http://schemas.microsoft.com/office/powerpoint/2010/main" val="29532638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9A91B33-DB69-37F2-98BA-660F9A319AC2}"/>
              </a:ext>
            </a:extLst>
          </p:cNvPr>
          <p:cNvSpPr>
            <a:spLocks noGrp="1"/>
          </p:cNvSpPr>
          <p:nvPr>
            <p:ph type="title"/>
          </p:nvPr>
        </p:nvSpPr>
        <p:spPr/>
        <p:txBody>
          <a:bodyPr/>
          <a:lstStyle/>
          <a:p>
            <a:r>
              <a:rPr lang="de-DE" dirty="0"/>
              <a:t>Aliase als öffentliche Elementname</a:t>
            </a:r>
          </a:p>
        </p:txBody>
      </p:sp>
      <p:sp>
        <p:nvSpPr>
          <p:cNvPr id="3" name="Inhaltsplatzhalter 2">
            <a:extLst>
              <a:ext uri="{FF2B5EF4-FFF2-40B4-BE49-F238E27FC236}">
                <a16:creationId xmlns:a16="http://schemas.microsoft.com/office/drawing/2014/main" id="{286CB198-8E0A-24F2-9F0C-3271688E06E7}"/>
              </a:ext>
            </a:extLst>
          </p:cNvPr>
          <p:cNvSpPr>
            <a:spLocks noGrp="1"/>
          </p:cNvSpPr>
          <p:nvPr>
            <p:ph sz="half" idx="1"/>
          </p:nvPr>
        </p:nvSpPr>
        <p:spPr/>
        <p:txBody>
          <a:bodyPr/>
          <a:lstStyle/>
          <a:p>
            <a:pPr marL="0" indent="0">
              <a:buNone/>
            </a:pPr>
            <a:r>
              <a:rPr lang="de-DE" dirty="0"/>
              <a:t>Aliase …</a:t>
            </a:r>
          </a:p>
          <a:p>
            <a:pPr lvl="0"/>
            <a:r>
              <a:rPr lang="de-DE" dirty="0"/>
              <a:t>lösen Verbraucher von technischen Feldnamen </a:t>
            </a:r>
          </a:p>
          <a:p>
            <a:pPr lvl="0"/>
            <a:r>
              <a:rPr lang="de-DE" dirty="0"/>
              <a:t>verbessern die Lesbarkeit </a:t>
            </a:r>
          </a:p>
          <a:p>
            <a:pPr lvl="0"/>
            <a:r>
              <a:rPr lang="de-DE" dirty="0"/>
              <a:t>werden in ABAP SQL und Pfadausdrücken verwendet </a:t>
            </a:r>
          </a:p>
          <a:p>
            <a:pPr lvl="0"/>
            <a:r>
              <a:rPr lang="de-DE" dirty="0"/>
              <a:t>gehören zur öffentlichen Schnittstelle der View</a:t>
            </a:r>
          </a:p>
          <a:p>
            <a:endParaRPr lang="de-DE" dirty="0"/>
          </a:p>
        </p:txBody>
      </p:sp>
      <p:graphicFrame>
        <p:nvGraphicFramePr>
          <p:cNvPr id="5" name="Inhaltsplatzhalter 4">
            <a:extLst>
              <a:ext uri="{FF2B5EF4-FFF2-40B4-BE49-F238E27FC236}">
                <a16:creationId xmlns:a16="http://schemas.microsoft.com/office/drawing/2014/main" id="{F9AA36D5-163B-4E1F-F3FD-C05B2FFCA97F}"/>
              </a:ext>
            </a:extLst>
          </p:cNvPr>
          <p:cNvGraphicFramePr>
            <a:graphicFrameLocks noGrp="1"/>
          </p:cNvGraphicFramePr>
          <p:nvPr>
            <p:ph sz="half" idx="2"/>
            <p:extLst>
              <p:ext uri="{D42A27DB-BD31-4B8C-83A1-F6EECF244321}">
                <p14:modId xmlns:p14="http://schemas.microsoft.com/office/powerpoint/2010/main" val="3924486988"/>
              </p:ext>
            </p:extLst>
          </p:nvPr>
        </p:nvGraphicFramePr>
        <p:xfrm>
          <a:off x="6172200" y="1825625"/>
          <a:ext cx="5181600" cy="1483360"/>
        </p:xfrm>
        <a:graphic>
          <a:graphicData uri="http://schemas.openxmlformats.org/drawingml/2006/table">
            <a:tbl>
              <a:tblPr firstRow="1" bandRow="1">
                <a:tableStyleId>{5C22544A-7EE6-4342-B048-85BDC9FD1C3A}</a:tableStyleId>
              </a:tblPr>
              <a:tblGrid>
                <a:gridCol w="2590800">
                  <a:extLst>
                    <a:ext uri="{9D8B030D-6E8A-4147-A177-3AD203B41FA5}">
                      <a16:colId xmlns:a16="http://schemas.microsoft.com/office/drawing/2014/main" val="3964479476"/>
                    </a:ext>
                  </a:extLst>
                </a:gridCol>
                <a:gridCol w="2590800">
                  <a:extLst>
                    <a:ext uri="{9D8B030D-6E8A-4147-A177-3AD203B41FA5}">
                      <a16:colId xmlns:a16="http://schemas.microsoft.com/office/drawing/2014/main" val="4230462345"/>
                    </a:ext>
                  </a:extLst>
                </a:gridCol>
              </a:tblGrid>
              <a:tr h="370840">
                <a:tc>
                  <a:txBody>
                    <a:bodyPr/>
                    <a:lstStyle/>
                    <a:p>
                      <a:r>
                        <a:rPr lang="de-DE" dirty="0"/>
                        <a:t>Datenquelle</a:t>
                      </a:r>
                    </a:p>
                  </a:txBody>
                  <a:tcPr/>
                </a:tc>
                <a:tc>
                  <a:txBody>
                    <a:bodyPr/>
                    <a:lstStyle/>
                    <a:p>
                      <a:r>
                        <a:rPr lang="de-DE" dirty="0"/>
                        <a:t>View Entity</a:t>
                      </a:r>
                    </a:p>
                  </a:txBody>
                  <a:tcPr/>
                </a:tc>
                <a:extLst>
                  <a:ext uri="{0D108BD9-81ED-4DB2-BD59-A6C34878D82A}">
                    <a16:rowId xmlns:a16="http://schemas.microsoft.com/office/drawing/2014/main" val="2937377332"/>
                  </a:ext>
                </a:extLst>
              </a:tr>
              <a:tr h="370840">
                <a:tc>
                  <a:txBody>
                    <a:bodyPr/>
                    <a:lstStyle/>
                    <a:p>
                      <a:r>
                        <a:rPr lang="de-DE" dirty="0" err="1"/>
                        <a:t>order_id</a:t>
                      </a:r>
                      <a:endParaRPr lang="de-DE" dirty="0"/>
                    </a:p>
                  </a:txBody>
                  <a:tcPr/>
                </a:tc>
                <a:tc>
                  <a:txBody>
                    <a:bodyPr/>
                    <a:lstStyle/>
                    <a:p>
                      <a:r>
                        <a:rPr lang="de-DE" dirty="0" err="1"/>
                        <a:t>OrderId</a:t>
                      </a:r>
                      <a:endParaRPr lang="de-DE" dirty="0"/>
                    </a:p>
                  </a:txBody>
                  <a:tcPr/>
                </a:tc>
                <a:extLst>
                  <a:ext uri="{0D108BD9-81ED-4DB2-BD59-A6C34878D82A}">
                    <a16:rowId xmlns:a16="http://schemas.microsoft.com/office/drawing/2014/main" val="3425597794"/>
                  </a:ext>
                </a:extLst>
              </a:tr>
              <a:tr h="370840">
                <a:tc>
                  <a:txBody>
                    <a:bodyPr/>
                    <a:lstStyle/>
                    <a:p>
                      <a:r>
                        <a:rPr lang="de-DE" dirty="0" err="1"/>
                        <a:t>customer_id</a:t>
                      </a:r>
                      <a:endParaRPr lang="de-DE" dirty="0"/>
                    </a:p>
                  </a:txBody>
                  <a:tcPr/>
                </a:tc>
                <a:tc>
                  <a:txBody>
                    <a:bodyPr/>
                    <a:lstStyle/>
                    <a:p>
                      <a:r>
                        <a:rPr lang="de-DE" dirty="0" err="1"/>
                        <a:t>CustomerId</a:t>
                      </a:r>
                      <a:endParaRPr lang="de-DE" dirty="0"/>
                    </a:p>
                  </a:txBody>
                  <a:tcPr/>
                </a:tc>
                <a:extLst>
                  <a:ext uri="{0D108BD9-81ED-4DB2-BD59-A6C34878D82A}">
                    <a16:rowId xmlns:a16="http://schemas.microsoft.com/office/drawing/2014/main" val="943280498"/>
                  </a:ext>
                </a:extLst>
              </a:tr>
              <a:tr h="370840">
                <a:tc>
                  <a:txBody>
                    <a:bodyPr/>
                    <a:lstStyle/>
                    <a:p>
                      <a:r>
                        <a:rPr lang="de-DE" dirty="0" err="1"/>
                        <a:t>sales_organization</a:t>
                      </a:r>
                      <a:endParaRPr lang="de-DE" dirty="0"/>
                    </a:p>
                  </a:txBody>
                  <a:tcPr/>
                </a:tc>
                <a:tc>
                  <a:txBody>
                    <a:bodyPr/>
                    <a:lstStyle/>
                    <a:p>
                      <a:r>
                        <a:rPr lang="de-DE" dirty="0" err="1"/>
                        <a:t>SalesOrganization</a:t>
                      </a:r>
                      <a:endParaRPr lang="de-DE" dirty="0"/>
                    </a:p>
                  </a:txBody>
                  <a:tcPr/>
                </a:tc>
                <a:extLst>
                  <a:ext uri="{0D108BD9-81ED-4DB2-BD59-A6C34878D82A}">
                    <a16:rowId xmlns:a16="http://schemas.microsoft.com/office/drawing/2014/main" val="2388755360"/>
                  </a:ext>
                </a:extLst>
              </a:tr>
            </a:tbl>
          </a:graphicData>
        </a:graphic>
      </p:graphicFrame>
    </p:spTree>
    <p:extLst>
      <p:ext uri="{BB962C8B-B14F-4D97-AF65-F5344CB8AC3E}">
        <p14:creationId xmlns:p14="http://schemas.microsoft.com/office/powerpoint/2010/main" val="38462003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B380A63-A6C9-5A66-58DE-FB3D40C8C8A7}"/>
              </a:ext>
            </a:extLst>
          </p:cNvPr>
          <p:cNvSpPr>
            <a:spLocks noGrp="1"/>
          </p:cNvSpPr>
          <p:nvPr>
            <p:ph type="title"/>
          </p:nvPr>
        </p:nvSpPr>
        <p:spPr/>
        <p:txBody>
          <a:bodyPr/>
          <a:lstStyle/>
          <a:p>
            <a:r>
              <a:rPr lang="de-DE" dirty="0"/>
              <a:t>Was bedeutet </a:t>
            </a:r>
            <a:r>
              <a:rPr lang="de-DE" dirty="0" err="1">
                <a:latin typeface="Courier New" panose="02070309020205020404" pitchFamily="49" charset="0"/>
                <a:cs typeface="Courier New" panose="02070309020205020404" pitchFamily="49" charset="0"/>
              </a:rPr>
              <a:t>key</a:t>
            </a:r>
            <a:r>
              <a:rPr lang="de-DE" dirty="0"/>
              <a:t> in einer CDS View Entity?</a:t>
            </a:r>
          </a:p>
        </p:txBody>
      </p:sp>
      <p:sp>
        <p:nvSpPr>
          <p:cNvPr id="3" name="Inhaltsplatzhalter 2">
            <a:extLst>
              <a:ext uri="{FF2B5EF4-FFF2-40B4-BE49-F238E27FC236}">
                <a16:creationId xmlns:a16="http://schemas.microsoft.com/office/drawing/2014/main" id="{CD24B78F-99BF-1DC9-C157-E97D916ED510}"/>
              </a:ext>
            </a:extLst>
          </p:cNvPr>
          <p:cNvSpPr>
            <a:spLocks noGrp="1"/>
          </p:cNvSpPr>
          <p:nvPr>
            <p:ph idx="1"/>
          </p:nvPr>
        </p:nvSpPr>
        <p:spPr/>
        <p:txBody>
          <a:bodyPr>
            <a:normAutofit/>
          </a:bodyPr>
          <a:lstStyle/>
          <a:p>
            <a:pPr marL="0" indent="0">
              <a:buNone/>
            </a:pPr>
            <a:r>
              <a:rPr lang="de-DE" dirty="0"/>
              <a:t>Der CDS-Schlüssel …</a:t>
            </a:r>
          </a:p>
          <a:p>
            <a:pPr lvl="0"/>
            <a:r>
              <a:rPr lang="de-DE" dirty="0"/>
              <a:t>beschreibt die erwartete fachliche Eindeutigkeit </a:t>
            </a:r>
          </a:p>
          <a:p>
            <a:pPr lvl="0"/>
            <a:r>
              <a:rPr lang="de-DE" dirty="0"/>
              <a:t>ist Bestandteil der Metadaten der View </a:t>
            </a:r>
          </a:p>
          <a:p>
            <a:pPr lvl="0"/>
            <a:r>
              <a:rPr lang="de-DE" dirty="0"/>
              <a:t>wird von abhängigen Frameworks ausgewertet </a:t>
            </a:r>
          </a:p>
          <a:p>
            <a:pPr lvl="0"/>
            <a:r>
              <a:rPr lang="de-DE" dirty="0"/>
              <a:t>erzeugt keinen neuen Datenbankschlüssel </a:t>
            </a:r>
          </a:p>
          <a:p>
            <a:pPr lvl="0"/>
            <a:r>
              <a:rPr lang="de-DE" dirty="0"/>
              <a:t>erzwingt keine Eindeutigkeit des Ergebnisses</a:t>
            </a:r>
          </a:p>
          <a:p>
            <a:endParaRPr lang="de-DE" dirty="0"/>
          </a:p>
        </p:txBody>
      </p:sp>
      <p:sp>
        <p:nvSpPr>
          <p:cNvPr id="6" name="Textfeld 5">
            <a:extLst>
              <a:ext uri="{FF2B5EF4-FFF2-40B4-BE49-F238E27FC236}">
                <a16:creationId xmlns:a16="http://schemas.microsoft.com/office/drawing/2014/main" id="{BEC6E517-D85E-C3EF-D858-6189C423FE05}"/>
              </a:ext>
            </a:extLst>
          </p:cNvPr>
          <p:cNvSpPr txBox="1"/>
          <p:nvPr/>
        </p:nvSpPr>
        <p:spPr>
          <a:xfrm>
            <a:off x="838199" y="5290651"/>
            <a:ext cx="10515599" cy="461665"/>
          </a:xfrm>
          <a:prstGeom prst="rect">
            <a:avLst/>
          </a:prstGeom>
          <a:noFill/>
        </p:spPr>
        <p:txBody>
          <a:bodyPr wrap="square">
            <a:spAutoFit/>
          </a:bodyPr>
          <a:lstStyle/>
          <a:p>
            <a:r>
              <a:rPr lang="de-DE" sz="2400" dirty="0">
                <a:highlight>
                  <a:srgbClr val="FFFF00"/>
                </a:highlight>
              </a:rPr>
              <a:t>Der Entwickler ist für einen korrekten Schlüssel verantwortlich.</a:t>
            </a:r>
          </a:p>
        </p:txBody>
      </p:sp>
    </p:spTree>
    <p:extLst>
      <p:ext uri="{BB962C8B-B14F-4D97-AF65-F5344CB8AC3E}">
        <p14:creationId xmlns:p14="http://schemas.microsoft.com/office/powerpoint/2010/main" val="24300943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D55B0ED-6E39-3BE0-5D3A-D47AE06FA3F0}"/>
              </a:ext>
            </a:extLst>
          </p:cNvPr>
          <p:cNvSpPr>
            <a:spLocks noGrp="1"/>
          </p:cNvSpPr>
          <p:nvPr>
            <p:ph type="title"/>
          </p:nvPr>
        </p:nvSpPr>
        <p:spPr/>
        <p:txBody>
          <a:bodyPr/>
          <a:lstStyle/>
          <a:p>
            <a:r>
              <a:rPr lang="de-DE" dirty="0"/>
              <a:t>Annotationen ergänzen Metadaten</a:t>
            </a:r>
          </a:p>
        </p:txBody>
      </p:sp>
      <p:sp>
        <p:nvSpPr>
          <p:cNvPr id="3" name="Inhaltsplatzhalter 2">
            <a:extLst>
              <a:ext uri="{FF2B5EF4-FFF2-40B4-BE49-F238E27FC236}">
                <a16:creationId xmlns:a16="http://schemas.microsoft.com/office/drawing/2014/main" id="{A08DEB7C-7981-7F07-B55B-98B18D849253}"/>
              </a:ext>
            </a:extLst>
          </p:cNvPr>
          <p:cNvSpPr>
            <a:spLocks noGrp="1"/>
          </p:cNvSpPr>
          <p:nvPr>
            <p:ph sz="half" idx="1"/>
          </p:nvPr>
        </p:nvSpPr>
        <p:spPr/>
        <p:txBody>
          <a:bodyPr/>
          <a:lstStyle/>
          <a:p>
            <a:pPr marL="0" indent="0">
              <a:buNone/>
            </a:pPr>
            <a:r>
              <a:rPr lang="de-DE" dirty="0"/>
              <a:t>Annotationen können sich beziehen auf:</a:t>
            </a:r>
          </a:p>
          <a:p>
            <a:pPr lvl="0"/>
            <a:r>
              <a:rPr lang="de-DE" dirty="0"/>
              <a:t>die gesamte View </a:t>
            </a:r>
          </a:p>
          <a:p>
            <a:pPr lvl="0"/>
            <a:r>
              <a:rPr lang="de-DE" dirty="0"/>
              <a:t>einzelne Elemente </a:t>
            </a:r>
          </a:p>
          <a:p>
            <a:pPr lvl="0"/>
            <a:r>
              <a:rPr lang="de-DE" dirty="0"/>
              <a:t>Parameter </a:t>
            </a:r>
          </a:p>
          <a:p>
            <a:pPr lvl="0"/>
            <a:r>
              <a:rPr lang="de-DE" dirty="0"/>
              <a:t>Assoziationen</a:t>
            </a:r>
          </a:p>
          <a:p>
            <a:pPr marL="0" indent="0">
              <a:buNone/>
            </a:pPr>
            <a:endParaRPr lang="de-DE" dirty="0"/>
          </a:p>
        </p:txBody>
      </p:sp>
      <p:sp>
        <p:nvSpPr>
          <p:cNvPr id="4" name="Inhaltsplatzhalter 3">
            <a:extLst>
              <a:ext uri="{FF2B5EF4-FFF2-40B4-BE49-F238E27FC236}">
                <a16:creationId xmlns:a16="http://schemas.microsoft.com/office/drawing/2014/main" id="{4899A8C0-295C-4388-DF62-E00653FF31B6}"/>
              </a:ext>
            </a:extLst>
          </p:cNvPr>
          <p:cNvSpPr>
            <a:spLocks noGrp="1"/>
          </p:cNvSpPr>
          <p:nvPr>
            <p:ph sz="half" idx="2"/>
          </p:nvPr>
        </p:nvSpPr>
        <p:spPr/>
        <p:txBody>
          <a:bodyPr/>
          <a:lstStyle/>
          <a:p>
            <a:endParaRPr lang="de-DE" dirty="0"/>
          </a:p>
        </p:txBody>
      </p:sp>
      <p:pic>
        <p:nvPicPr>
          <p:cNvPr id="8" name="Grafik 7">
            <a:extLst>
              <a:ext uri="{FF2B5EF4-FFF2-40B4-BE49-F238E27FC236}">
                <a16:creationId xmlns:a16="http://schemas.microsoft.com/office/drawing/2014/main" id="{DAF9FB5E-9D73-1277-CDF8-FB495A9FC66C}"/>
              </a:ext>
            </a:extLst>
          </p:cNvPr>
          <p:cNvPicPr>
            <a:picLocks noChangeAspect="1"/>
          </p:cNvPicPr>
          <p:nvPr/>
        </p:nvPicPr>
        <p:blipFill>
          <a:blip r:embed="rId3"/>
          <a:stretch>
            <a:fillRect/>
          </a:stretch>
        </p:blipFill>
        <p:spPr>
          <a:xfrm>
            <a:off x="6151498" y="3290932"/>
            <a:ext cx="5160898" cy="801382"/>
          </a:xfrm>
          <a:prstGeom prst="rect">
            <a:avLst/>
          </a:prstGeom>
        </p:spPr>
      </p:pic>
      <p:pic>
        <p:nvPicPr>
          <p:cNvPr id="10" name="Grafik 9">
            <a:extLst>
              <a:ext uri="{FF2B5EF4-FFF2-40B4-BE49-F238E27FC236}">
                <a16:creationId xmlns:a16="http://schemas.microsoft.com/office/drawing/2014/main" id="{26D30E99-B1C5-694D-1B19-C4EF55D5FE57}"/>
              </a:ext>
            </a:extLst>
          </p:cNvPr>
          <p:cNvPicPr>
            <a:picLocks noChangeAspect="1"/>
          </p:cNvPicPr>
          <p:nvPr/>
        </p:nvPicPr>
        <p:blipFill>
          <a:blip r:embed="rId4"/>
          <a:stretch>
            <a:fillRect/>
          </a:stretch>
        </p:blipFill>
        <p:spPr>
          <a:xfrm>
            <a:off x="6172199" y="1833492"/>
            <a:ext cx="5181601" cy="725214"/>
          </a:xfrm>
          <a:prstGeom prst="rect">
            <a:avLst/>
          </a:prstGeom>
        </p:spPr>
      </p:pic>
    </p:spTree>
    <p:extLst>
      <p:ext uri="{BB962C8B-B14F-4D97-AF65-F5344CB8AC3E}">
        <p14:creationId xmlns:p14="http://schemas.microsoft.com/office/powerpoint/2010/main" val="35906922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22C8286-7624-1828-DDA2-0DFB42C154BC}"/>
              </a:ext>
            </a:extLst>
          </p:cNvPr>
          <p:cNvSpPr>
            <a:spLocks noGrp="1"/>
          </p:cNvSpPr>
          <p:nvPr>
            <p:ph type="title"/>
          </p:nvPr>
        </p:nvSpPr>
        <p:spPr/>
        <p:txBody>
          <a:bodyPr/>
          <a:lstStyle/>
          <a:p>
            <a:r>
              <a:rPr lang="de-DE" dirty="0"/>
              <a:t>Grundlegende und verbraucherspezifische Annotationen</a:t>
            </a:r>
          </a:p>
        </p:txBody>
      </p:sp>
      <p:graphicFrame>
        <p:nvGraphicFramePr>
          <p:cNvPr id="6" name="Inhaltsplatzhalter 5">
            <a:extLst>
              <a:ext uri="{FF2B5EF4-FFF2-40B4-BE49-F238E27FC236}">
                <a16:creationId xmlns:a16="http://schemas.microsoft.com/office/drawing/2014/main" id="{A80394FA-4A6A-8D75-F6A4-CF5DD90B3A20}"/>
              </a:ext>
            </a:extLst>
          </p:cNvPr>
          <p:cNvGraphicFramePr>
            <a:graphicFrameLocks noGrp="1"/>
          </p:cNvGraphicFramePr>
          <p:nvPr>
            <p:ph idx="1"/>
            <p:extLst>
              <p:ext uri="{D42A27DB-BD31-4B8C-83A1-F6EECF244321}">
                <p14:modId xmlns:p14="http://schemas.microsoft.com/office/powerpoint/2010/main" val="1666391496"/>
              </p:ext>
            </p:extLst>
          </p:nvPr>
        </p:nvGraphicFramePr>
        <p:xfrm>
          <a:off x="838200" y="1825625"/>
          <a:ext cx="10515597" cy="2225040"/>
        </p:xfrm>
        <a:graphic>
          <a:graphicData uri="http://schemas.openxmlformats.org/drawingml/2006/table">
            <a:tbl>
              <a:tblPr firstRow="1" bandRow="1">
                <a:tableStyleId>{5C22544A-7EE6-4342-B048-85BDC9FD1C3A}</a:tableStyleId>
              </a:tblPr>
              <a:tblGrid>
                <a:gridCol w="2309734">
                  <a:extLst>
                    <a:ext uri="{9D8B030D-6E8A-4147-A177-3AD203B41FA5}">
                      <a16:colId xmlns:a16="http://schemas.microsoft.com/office/drawing/2014/main" val="1925154807"/>
                    </a:ext>
                  </a:extLst>
                </a:gridCol>
                <a:gridCol w="4700664">
                  <a:extLst>
                    <a:ext uri="{9D8B030D-6E8A-4147-A177-3AD203B41FA5}">
                      <a16:colId xmlns:a16="http://schemas.microsoft.com/office/drawing/2014/main" val="2056895762"/>
                    </a:ext>
                  </a:extLst>
                </a:gridCol>
                <a:gridCol w="3505199">
                  <a:extLst>
                    <a:ext uri="{9D8B030D-6E8A-4147-A177-3AD203B41FA5}">
                      <a16:colId xmlns:a16="http://schemas.microsoft.com/office/drawing/2014/main" val="3968368608"/>
                    </a:ext>
                  </a:extLst>
                </a:gridCol>
              </a:tblGrid>
              <a:tr h="370840">
                <a:tc>
                  <a:txBody>
                    <a:bodyPr/>
                    <a:lstStyle/>
                    <a:p>
                      <a:r>
                        <a:rPr lang="de-DE" dirty="0"/>
                        <a:t>Kategorie</a:t>
                      </a:r>
                    </a:p>
                  </a:txBody>
                  <a:tcPr/>
                </a:tc>
                <a:tc>
                  <a:txBody>
                    <a:bodyPr/>
                    <a:lstStyle/>
                    <a:p>
                      <a:r>
                        <a:rPr lang="de-DE" dirty="0"/>
                        <a:t>Beispiel</a:t>
                      </a:r>
                    </a:p>
                  </a:txBody>
                  <a:tcPr/>
                </a:tc>
                <a:tc>
                  <a:txBody>
                    <a:bodyPr/>
                    <a:lstStyle/>
                    <a:p>
                      <a:r>
                        <a:rPr lang="de-DE" dirty="0"/>
                        <a:t>Zweck</a:t>
                      </a:r>
                    </a:p>
                  </a:txBody>
                  <a:tcPr/>
                </a:tc>
                <a:extLst>
                  <a:ext uri="{0D108BD9-81ED-4DB2-BD59-A6C34878D82A}">
                    <a16:rowId xmlns:a16="http://schemas.microsoft.com/office/drawing/2014/main" val="2509555843"/>
                  </a:ext>
                </a:extLst>
              </a:tr>
              <a:tr h="370840">
                <a:tc>
                  <a:txBody>
                    <a:bodyPr/>
                    <a:lstStyle/>
                    <a:p>
                      <a:r>
                        <a:rPr lang="de-DE" dirty="0"/>
                        <a:t>Beschreibung</a:t>
                      </a:r>
                    </a:p>
                  </a:txBody>
                  <a:tcPr/>
                </a:tc>
                <a:tc>
                  <a:txBody>
                    <a:bodyPr/>
                    <a:lstStyle/>
                    <a:p>
                      <a:r>
                        <a:rPr lang="de-DE" dirty="0">
                          <a:latin typeface="Courier New" panose="02070309020205020404" pitchFamily="49" charset="0"/>
                          <a:cs typeface="Courier New" panose="02070309020205020404" pitchFamily="49" charset="0"/>
                        </a:rPr>
                        <a:t>@EndUserText.label</a:t>
                      </a:r>
                    </a:p>
                  </a:txBody>
                  <a:tcPr/>
                </a:tc>
                <a:tc>
                  <a:txBody>
                    <a:bodyPr/>
                    <a:lstStyle/>
                    <a:p>
                      <a:r>
                        <a:rPr lang="de-DE" dirty="0"/>
                        <a:t>verständliche Bezeichnung</a:t>
                      </a:r>
                    </a:p>
                  </a:txBody>
                  <a:tcPr/>
                </a:tc>
                <a:extLst>
                  <a:ext uri="{0D108BD9-81ED-4DB2-BD59-A6C34878D82A}">
                    <a16:rowId xmlns:a16="http://schemas.microsoft.com/office/drawing/2014/main" val="2712600404"/>
                  </a:ext>
                </a:extLst>
              </a:tr>
              <a:tr h="370840">
                <a:tc>
                  <a:txBody>
                    <a:bodyPr/>
                    <a:lstStyle/>
                    <a:p>
                      <a:r>
                        <a:rPr lang="de-DE" dirty="0"/>
                        <a:t>Zugriffskontrolle</a:t>
                      </a:r>
                    </a:p>
                  </a:txBody>
                  <a:tcPr/>
                </a:tc>
                <a:tc>
                  <a:txBody>
                    <a:bodyPr/>
                    <a:lstStyle/>
                    <a:p>
                      <a:r>
                        <a:rPr lang="de-DE" dirty="0">
                          <a:latin typeface="Courier New" panose="02070309020205020404" pitchFamily="49" charset="0"/>
                          <a:cs typeface="Courier New" panose="02070309020205020404" pitchFamily="49" charset="0"/>
                        </a:rPr>
                        <a:t>@AccessControl.authorizationCheck</a:t>
                      </a:r>
                    </a:p>
                  </a:txBody>
                  <a:tcPr/>
                </a:tc>
                <a:tc>
                  <a:txBody>
                    <a:bodyPr/>
                    <a:lstStyle/>
                    <a:p>
                      <a:r>
                        <a:rPr lang="de-DE" dirty="0"/>
                        <a:t>DCL-Prüfung steuern</a:t>
                      </a:r>
                    </a:p>
                  </a:txBody>
                  <a:tcPr/>
                </a:tc>
                <a:extLst>
                  <a:ext uri="{0D108BD9-81ED-4DB2-BD59-A6C34878D82A}">
                    <a16:rowId xmlns:a16="http://schemas.microsoft.com/office/drawing/2014/main" val="1994923985"/>
                  </a:ext>
                </a:extLst>
              </a:tr>
              <a:tr h="370840">
                <a:tc>
                  <a:txBody>
                    <a:bodyPr/>
                    <a:lstStyle/>
                    <a:p>
                      <a:r>
                        <a:rPr lang="de-DE" dirty="0"/>
                        <a:t>Semantik</a:t>
                      </a:r>
                    </a:p>
                  </a:txBody>
                  <a:tcPr/>
                </a:tc>
                <a:tc>
                  <a:txBody>
                    <a:bodyPr/>
                    <a:lstStyle/>
                    <a:p>
                      <a:r>
                        <a:rPr lang="de-DE" dirty="0">
                          <a:latin typeface="Courier New" panose="02070309020205020404" pitchFamily="49" charset="0"/>
                          <a:cs typeface="Courier New" panose="02070309020205020404" pitchFamily="49" charset="0"/>
                        </a:rPr>
                        <a:t>@Semantics.amount.currencyCode</a:t>
                      </a:r>
                    </a:p>
                  </a:txBody>
                  <a:tcPr/>
                </a:tc>
                <a:tc>
                  <a:txBody>
                    <a:bodyPr/>
                    <a:lstStyle/>
                    <a:p>
                      <a:r>
                        <a:rPr lang="de-DE" dirty="0"/>
                        <a:t>Betrag und Währung verbinden</a:t>
                      </a:r>
                    </a:p>
                  </a:txBody>
                  <a:tcPr/>
                </a:tc>
                <a:extLst>
                  <a:ext uri="{0D108BD9-81ED-4DB2-BD59-A6C34878D82A}">
                    <a16:rowId xmlns:a16="http://schemas.microsoft.com/office/drawing/2014/main" val="764011962"/>
                  </a:ext>
                </a:extLst>
              </a:tr>
              <a:tr h="370840">
                <a:tc>
                  <a:txBody>
                    <a:bodyPr/>
                    <a:lstStyle/>
                    <a:p>
                      <a:r>
                        <a:rPr lang="de-DE" dirty="0"/>
                        <a:t>Benutzeroberfläche</a:t>
                      </a:r>
                    </a:p>
                  </a:txBody>
                  <a:tcPr/>
                </a:tc>
                <a:tc>
                  <a:txBody>
                    <a:bodyPr/>
                    <a:lstStyle/>
                    <a:p>
                      <a:r>
                        <a:rPr lang="de-DE" dirty="0">
                          <a:latin typeface="Courier New" panose="02070309020205020404" pitchFamily="49" charset="0"/>
                          <a:cs typeface="Courier New" panose="02070309020205020404" pitchFamily="49" charset="0"/>
                        </a:rPr>
                        <a:t>@UI.lineItem</a:t>
                      </a:r>
                    </a:p>
                  </a:txBody>
                  <a:tcPr/>
                </a:tc>
                <a:tc>
                  <a:txBody>
                    <a:bodyPr/>
                    <a:lstStyle/>
                    <a:p>
                      <a:r>
                        <a:rPr lang="de-DE" dirty="0"/>
                        <a:t>Darstellung in Fiori Elements</a:t>
                      </a:r>
                    </a:p>
                  </a:txBody>
                  <a:tcPr/>
                </a:tc>
                <a:extLst>
                  <a:ext uri="{0D108BD9-81ED-4DB2-BD59-A6C34878D82A}">
                    <a16:rowId xmlns:a16="http://schemas.microsoft.com/office/drawing/2014/main" val="3355013560"/>
                  </a:ext>
                </a:extLst>
              </a:tr>
              <a:tr h="370840">
                <a:tc>
                  <a:txBody>
                    <a:bodyPr/>
                    <a:lstStyle/>
                    <a:p>
                      <a:r>
                        <a:rPr lang="de-DE" dirty="0"/>
                        <a:t>Analytik</a:t>
                      </a:r>
                    </a:p>
                  </a:txBody>
                  <a:tcPr/>
                </a:tc>
                <a:tc>
                  <a:txBody>
                    <a:bodyPr/>
                    <a:lstStyle/>
                    <a:p>
                      <a:r>
                        <a:rPr lang="de-DE" dirty="0">
                          <a:latin typeface="Courier New" panose="02070309020205020404" pitchFamily="49" charset="0"/>
                          <a:cs typeface="Courier New" panose="02070309020205020404" pitchFamily="49" charset="0"/>
                        </a:rPr>
                        <a:t>@Analytics.dataCategory</a:t>
                      </a:r>
                    </a:p>
                  </a:txBody>
                  <a:tcPr/>
                </a:tc>
                <a:tc>
                  <a:txBody>
                    <a:bodyPr/>
                    <a:lstStyle/>
                    <a:p>
                      <a:r>
                        <a:rPr lang="de-DE" dirty="0"/>
                        <a:t>analytische Bedeutung</a:t>
                      </a:r>
                    </a:p>
                  </a:txBody>
                  <a:tcPr/>
                </a:tc>
                <a:extLst>
                  <a:ext uri="{0D108BD9-81ED-4DB2-BD59-A6C34878D82A}">
                    <a16:rowId xmlns:a16="http://schemas.microsoft.com/office/drawing/2014/main" val="1774268937"/>
                  </a:ext>
                </a:extLst>
              </a:tr>
            </a:tbl>
          </a:graphicData>
        </a:graphic>
      </p:graphicFrame>
    </p:spTree>
    <p:extLst>
      <p:ext uri="{BB962C8B-B14F-4D97-AF65-F5344CB8AC3E}">
        <p14:creationId xmlns:p14="http://schemas.microsoft.com/office/powerpoint/2010/main" val="10005597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FA65658-A075-8870-CAA5-B26175956961}"/>
              </a:ext>
            </a:extLst>
          </p:cNvPr>
          <p:cNvSpPr>
            <a:spLocks noGrp="1"/>
          </p:cNvSpPr>
          <p:nvPr>
            <p:ph type="title"/>
          </p:nvPr>
        </p:nvSpPr>
        <p:spPr/>
        <p:txBody>
          <a:bodyPr/>
          <a:lstStyle/>
          <a:p>
            <a:r>
              <a:rPr lang="de-DE" dirty="0"/>
              <a:t>Elemente können aus Ausdrücken entstehen</a:t>
            </a:r>
          </a:p>
        </p:txBody>
      </p:sp>
      <p:sp>
        <p:nvSpPr>
          <p:cNvPr id="6" name="Inhaltsplatzhalter 5">
            <a:extLst>
              <a:ext uri="{FF2B5EF4-FFF2-40B4-BE49-F238E27FC236}">
                <a16:creationId xmlns:a16="http://schemas.microsoft.com/office/drawing/2014/main" id="{BF4FFC50-8951-75CD-57FA-A643817E7385}"/>
              </a:ext>
            </a:extLst>
          </p:cNvPr>
          <p:cNvSpPr>
            <a:spLocks noGrp="1"/>
          </p:cNvSpPr>
          <p:nvPr>
            <p:ph sz="half" idx="1"/>
          </p:nvPr>
        </p:nvSpPr>
        <p:spPr/>
        <p:txBody>
          <a:bodyPr>
            <a:normAutofit fontScale="92500"/>
          </a:bodyPr>
          <a:lstStyle/>
          <a:p>
            <a:pPr marL="0" indent="0">
              <a:buNone/>
            </a:pPr>
            <a:r>
              <a:rPr lang="de-DE" dirty="0"/>
              <a:t>Ein Element muss nicht direkt aus einer Tabellenspalte stammen. Dadurch kann eine View Entity:</a:t>
            </a:r>
          </a:p>
          <a:p>
            <a:pPr lvl="0"/>
            <a:r>
              <a:rPr lang="de-DE" dirty="0"/>
              <a:t>technische Werte übersetzen </a:t>
            </a:r>
          </a:p>
          <a:p>
            <a:pPr lvl="0"/>
            <a:r>
              <a:rPr lang="de-DE" dirty="0"/>
              <a:t>Werte berechnen </a:t>
            </a:r>
          </a:p>
          <a:p>
            <a:pPr lvl="0"/>
            <a:r>
              <a:rPr lang="de-DE" dirty="0"/>
              <a:t>Datentypen umwandeln </a:t>
            </a:r>
          </a:p>
          <a:p>
            <a:pPr lvl="0"/>
            <a:r>
              <a:rPr lang="de-DE" dirty="0"/>
              <a:t>Zeichenketten zusammensetzen </a:t>
            </a:r>
          </a:p>
          <a:p>
            <a:pPr lvl="0"/>
            <a:r>
              <a:rPr lang="de-DE" dirty="0"/>
              <a:t>Funktionen auf der Datenbank ausführen</a:t>
            </a:r>
          </a:p>
          <a:p>
            <a:pPr marL="0" indent="0">
              <a:buNone/>
            </a:pPr>
            <a:endParaRPr lang="de-DE" dirty="0"/>
          </a:p>
          <a:p>
            <a:pPr marL="0" indent="0">
              <a:buNone/>
            </a:pPr>
            <a:endParaRPr lang="de-DE" dirty="0"/>
          </a:p>
        </p:txBody>
      </p:sp>
      <p:pic>
        <p:nvPicPr>
          <p:cNvPr id="13" name="Inhaltsplatzhalter 12">
            <a:extLst>
              <a:ext uri="{FF2B5EF4-FFF2-40B4-BE49-F238E27FC236}">
                <a16:creationId xmlns:a16="http://schemas.microsoft.com/office/drawing/2014/main" id="{656D7772-6921-91EB-D4C5-BE2BA3964B2C}"/>
              </a:ext>
            </a:extLst>
          </p:cNvPr>
          <p:cNvPicPr>
            <a:picLocks noGrp="1" noChangeAspect="1"/>
          </p:cNvPicPr>
          <p:nvPr>
            <p:ph sz="half" idx="2"/>
          </p:nvPr>
        </p:nvPicPr>
        <p:blipFill>
          <a:blip r:embed="rId3"/>
          <a:stretch>
            <a:fillRect/>
          </a:stretch>
        </p:blipFill>
        <p:spPr>
          <a:xfrm>
            <a:off x="6172202" y="1690688"/>
            <a:ext cx="5046294" cy="1738312"/>
          </a:xfrm>
          <a:prstGeom prst="rect">
            <a:avLst/>
          </a:prstGeom>
        </p:spPr>
      </p:pic>
    </p:spTree>
    <p:extLst>
      <p:ext uri="{BB962C8B-B14F-4D97-AF65-F5344CB8AC3E}">
        <p14:creationId xmlns:p14="http://schemas.microsoft.com/office/powerpoint/2010/main" val="42157829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A1C4F15-23AE-6AC2-6FC7-95499BF7294E}"/>
              </a:ext>
            </a:extLst>
          </p:cNvPr>
          <p:cNvSpPr>
            <a:spLocks noGrp="1"/>
          </p:cNvSpPr>
          <p:nvPr>
            <p:ph type="title"/>
          </p:nvPr>
        </p:nvSpPr>
        <p:spPr/>
        <p:txBody>
          <a:bodyPr/>
          <a:lstStyle/>
          <a:p>
            <a:r>
              <a:rPr lang="de-DE" dirty="0"/>
              <a:t>Ziel von Live-Coding 2</a:t>
            </a:r>
          </a:p>
        </p:txBody>
      </p:sp>
      <p:sp>
        <p:nvSpPr>
          <p:cNvPr id="3" name="Inhaltsplatzhalter 2">
            <a:extLst>
              <a:ext uri="{FF2B5EF4-FFF2-40B4-BE49-F238E27FC236}">
                <a16:creationId xmlns:a16="http://schemas.microsoft.com/office/drawing/2014/main" id="{C234D5C7-E846-55C3-48D1-EE70061A48E7}"/>
              </a:ext>
            </a:extLst>
          </p:cNvPr>
          <p:cNvSpPr>
            <a:spLocks noGrp="1"/>
          </p:cNvSpPr>
          <p:nvPr>
            <p:ph idx="1"/>
          </p:nvPr>
        </p:nvSpPr>
        <p:spPr/>
        <p:txBody>
          <a:bodyPr/>
          <a:lstStyle/>
          <a:p>
            <a:pPr marL="0" indent="0">
              <a:buNone/>
            </a:pPr>
            <a:r>
              <a:rPr lang="de-DE" dirty="0"/>
              <a:t>Wir erweitern </a:t>
            </a:r>
            <a:r>
              <a:rPr lang="de-DE" dirty="0" err="1"/>
              <a:t>ZI_CDSOrder</a:t>
            </a:r>
            <a:r>
              <a:rPr lang="de-DE" dirty="0"/>
              <a:t> um:</a:t>
            </a:r>
          </a:p>
          <a:p>
            <a:pPr lvl="0"/>
            <a:r>
              <a:rPr lang="de-DE" dirty="0"/>
              <a:t>Beschriftungen für ausgewählte Elemente </a:t>
            </a:r>
          </a:p>
          <a:p>
            <a:pPr lvl="0"/>
            <a:r>
              <a:rPr lang="de-DE" dirty="0"/>
              <a:t>verständliche Auftragsarten </a:t>
            </a:r>
          </a:p>
          <a:p>
            <a:pPr lvl="0"/>
            <a:r>
              <a:rPr lang="de-DE" dirty="0"/>
              <a:t>verständliche Statusbezeichnungen </a:t>
            </a:r>
          </a:p>
          <a:p>
            <a:pPr lvl="0"/>
            <a:r>
              <a:rPr lang="de-DE" dirty="0"/>
              <a:t>Prüfung der Metadaten und Daten</a:t>
            </a:r>
          </a:p>
          <a:p>
            <a:endParaRPr lang="de-DE" dirty="0"/>
          </a:p>
        </p:txBody>
      </p:sp>
    </p:spTree>
    <p:extLst>
      <p:ext uri="{BB962C8B-B14F-4D97-AF65-F5344CB8AC3E}">
        <p14:creationId xmlns:p14="http://schemas.microsoft.com/office/powerpoint/2010/main" val="9424898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D9753CE-2A6C-54A8-DDFA-F68065C615C4}"/>
              </a:ext>
            </a:extLst>
          </p:cNvPr>
          <p:cNvSpPr>
            <a:spLocks noGrp="1"/>
          </p:cNvSpPr>
          <p:nvPr>
            <p:ph type="title"/>
          </p:nvPr>
        </p:nvSpPr>
        <p:spPr/>
        <p:txBody>
          <a:bodyPr/>
          <a:lstStyle/>
          <a:p>
            <a:r>
              <a:rPr lang="de-DE" b="1" dirty="0"/>
              <a:t>Zwischenstand nach Live-Coding 2</a:t>
            </a:r>
            <a:br>
              <a:rPr lang="de-DE" b="1" dirty="0"/>
            </a:br>
            <a:endParaRPr lang="de-DE" dirty="0"/>
          </a:p>
        </p:txBody>
      </p:sp>
      <p:sp>
        <p:nvSpPr>
          <p:cNvPr id="3" name="Inhaltsplatzhalter 2">
            <a:extLst>
              <a:ext uri="{FF2B5EF4-FFF2-40B4-BE49-F238E27FC236}">
                <a16:creationId xmlns:a16="http://schemas.microsoft.com/office/drawing/2014/main" id="{AE8C12F3-A6AB-4636-2341-4D24FDBAB6B9}"/>
              </a:ext>
            </a:extLst>
          </p:cNvPr>
          <p:cNvSpPr>
            <a:spLocks noGrp="1"/>
          </p:cNvSpPr>
          <p:nvPr>
            <p:ph idx="1"/>
          </p:nvPr>
        </p:nvSpPr>
        <p:spPr/>
        <p:txBody>
          <a:bodyPr>
            <a:normAutofit/>
          </a:bodyPr>
          <a:lstStyle/>
          <a:p>
            <a:pPr marL="0" indent="0">
              <a:buNone/>
            </a:pPr>
            <a:r>
              <a:rPr lang="de-DE" dirty="0"/>
              <a:t>Unsere View Entity bietet jetzt:</a:t>
            </a:r>
          </a:p>
          <a:p>
            <a:pPr lvl="0"/>
            <a:r>
              <a:rPr lang="de-DE" dirty="0"/>
              <a:t>eine bewusst gewählte Projektion </a:t>
            </a:r>
          </a:p>
          <a:p>
            <a:pPr lvl="0"/>
            <a:r>
              <a:rPr lang="de-DE" dirty="0"/>
              <a:t>fachlich verständliche Elementnamen </a:t>
            </a:r>
          </a:p>
          <a:p>
            <a:pPr lvl="0"/>
            <a:r>
              <a:rPr lang="de-DE" dirty="0"/>
              <a:t>einen dokumentierten CDS-Schlüssel </a:t>
            </a:r>
          </a:p>
          <a:p>
            <a:pPr lvl="0"/>
            <a:r>
              <a:rPr lang="de-DE" dirty="0"/>
              <a:t>Beschriftungen für wichtige Elemente </a:t>
            </a:r>
          </a:p>
          <a:p>
            <a:pPr lvl="0"/>
            <a:r>
              <a:rPr lang="de-DE" dirty="0"/>
              <a:t>technische Werte und Anzeigetexte </a:t>
            </a:r>
          </a:p>
          <a:p>
            <a:pPr lvl="0"/>
            <a:r>
              <a:rPr lang="de-DE" dirty="0"/>
              <a:t>erste berechnete Elemente </a:t>
            </a:r>
          </a:p>
          <a:p>
            <a:endParaRPr lang="de-DE" dirty="0"/>
          </a:p>
        </p:txBody>
      </p:sp>
      <p:sp>
        <p:nvSpPr>
          <p:cNvPr id="6" name="Textfeld 5">
            <a:extLst>
              <a:ext uri="{FF2B5EF4-FFF2-40B4-BE49-F238E27FC236}">
                <a16:creationId xmlns:a16="http://schemas.microsoft.com/office/drawing/2014/main" id="{87517C1F-B93C-9DE8-23B0-9E3935EB754A}"/>
              </a:ext>
            </a:extLst>
          </p:cNvPr>
          <p:cNvSpPr txBox="1"/>
          <p:nvPr/>
        </p:nvSpPr>
        <p:spPr>
          <a:xfrm>
            <a:off x="838200" y="5807631"/>
            <a:ext cx="6093500" cy="461665"/>
          </a:xfrm>
          <a:prstGeom prst="rect">
            <a:avLst/>
          </a:prstGeom>
          <a:noFill/>
        </p:spPr>
        <p:txBody>
          <a:bodyPr wrap="square">
            <a:spAutoFit/>
          </a:bodyPr>
          <a:lstStyle/>
          <a:p>
            <a:r>
              <a:rPr lang="de-DE" sz="2400" dirty="0">
                <a:highlight>
                  <a:srgbClr val="FFFF00"/>
                </a:highlight>
              </a:rPr>
              <a:t>Noch fehlt die Verbindung zum Kunden.</a:t>
            </a:r>
          </a:p>
        </p:txBody>
      </p:sp>
    </p:spTree>
    <p:extLst>
      <p:ext uri="{BB962C8B-B14F-4D97-AF65-F5344CB8AC3E}">
        <p14:creationId xmlns:p14="http://schemas.microsoft.com/office/powerpoint/2010/main" val="28778705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B57C6F4-C563-F695-0EA9-678C5F77A2E2}"/>
              </a:ext>
            </a:extLst>
          </p:cNvPr>
          <p:cNvSpPr>
            <a:spLocks noGrp="1"/>
          </p:cNvSpPr>
          <p:nvPr>
            <p:ph type="title"/>
          </p:nvPr>
        </p:nvSpPr>
        <p:spPr/>
        <p:txBody>
          <a:bodyPr/>
          <a:lstStyle/>
          <a:p>
            <a:r>
              <a:rPr lang="de-DE" dirty="0"/>
              <a:t>Beziehungen gehören zum Datenmodell</a:t>
            </a:r>
          </a:p>
        </p:txBody>
      </p:sp>
      <p:sp>
        <p:nvSpPr>
          <p:cNvPr id="3" name="Inhaltsplatzhalter 2">
            <a:extLst>
              <a:ext uri="{FF2B5EF4-FFF2-40B4-BE49-F238E27FC236}">
                <a16:creationId xmlns:a16="http://schemas.microsoft.com/office/drawing/2014/main" id="{7865B9CC-0960-E184-91F3-3BC28AC4B07F}"/>
              </a:ext>
            </a:extLst>
          </p:cNvPr>
          <p:cNvSpPr>
            <a:spLocks noGrp="1"/>
          </p:cNvSpPr>
          <p:nvPr>
            <p:ph sz="half" idx="1"/>
          </p:nvPr>
        </p:nvSpPr>
        <p:spPr/>
        <p:txBody>
          <a:bodyPr>
            <a:normAutofit/>
          </a:bodyPr>
          <a:lstStyle/>
          <a:p>
            <a:pPr marL="0" indent="0">
              <a:buNone/>
            </a:pPr>
            <a:r>
              <a:rPr lang="de-DE" dirty="0"/>
              <a:t>Ohne modellierte Beziehung muss jeder Verbraucher:</a:t>
            </a:r>
          </a:p>
          <a:p>
            <a:pPr lvl="0"/>
            <a:r>
              <a:rPr lang="de-DE" dirty="0"/>
              <a:t>beide Datenquellen kennen </a:t>
            </a:r>
          </a:p>
          <a:p>
            <a:pPr lvl="0"/>
            <a:r>
              <a:rPr lang="de-DE" dirty="0"/>
              <a:t>die passenden Felder ermitteln </a:t>
            </a:r>
          </a:p>
          <a:p>
            <a:pPr lvl="0"/>
            <a:r>
              <a:rPr lang="de-DE" dirty="0"/>
              <a:t>die Verknüpfungsbedingung formulieren </a:t>
            </a:r>
          </a:p>
          <a:p>
            <a:pPr lvl="0"/>
            <a:r>
              <a:rPr lang="de-DE" dirty="0"/>
              <a:t>mit fehlenden Datensätzen umgehen </a:t>
            </a:r>
          </a:p>
          <a:p>
            <a:pPr marL="0" indent="0">
              <a:buNone/>
            </a:pPr>
            <a:endParaRPr lang="de-DE" dirty="0"/>
          </a:p>
          <a:p>
            <a:pPr marL="0" indent="0">
              <a:buNone/>
            </a:pPr>
            <a:endParaRPr lang="de-DE" dirty="0"/>
          </a:p>
        </p:txBody>
      </p:sp>
      <p:sp>
        <p:nvSpPr>
          <p:cNvPr id="6" name="Inhaltsplatzhalter 5">
            <a:extLst>
              <a:ext uri="{FF2B5EF4-FFF2-40B4-BE49-F238E27FC236}">
                <a16:creationId xmlns:a16="http://schemas.microsoft.com/office/drawing/2014/main" id="{8EB0F5CF-B46F-023E-9B87-8D547E59B74C}"/>
              </a:ext>
            </a:extLst>
          </p:cNvPr>
          <p:cNvSpPr>
            <a:spLocks noGrp="1"/>
          </p:cNvSpPr>
          <p:nvPr>
            <p:ph sz="half" idx="2"/>
          </p:nvPr>
        </p:nvSpPr>
        <p:spPr/>
        <p:txBody>
          <a:bodyPr>
            <a:normAutofit/>
          </a:bodyPr>
          <a:lstStyle/>
          <a:p>
            <a:pPr marL="0" indent="0">
              <a:buNone/>
            </a:pPr>
            <a:r>
              <a:rPr lang="de-DE" dirty="0"/>
              <a:t>Ausgangssituation:</a:t>
            </a:r>
          </a:p>
          <a:p>
            <a:pPr marL="0" indent="0">
              <a:buNone/>
            </a:pPr>
            <a:r>
              <a:rPr lang="de-DE" sz="2200" dirty="0">
                <a:latin typeface="Courier New" panose="02070309020205020404" pitchFamily="49" charset="0"/>
                <a:cs typeface="Courier New" panose="02070309020205020404" pitchFamily="49" charset="0"/>
              </a:rPr>
              <a:t>ZCDS_ORDER-CUSTOMER_ID</a:t>
            </a:r>
            <a:br>
              <a:rPr lang="de-DE" sz="2200" dirty="0">
                <a:latin typeface="Courier New" panose="02070309020205020404" pitchFamily="49" charset="0"/>
                <a:cs typeface="Courier New" panose="02070309020205020404" pitchFamily="49" charset="0"/>
              </a:rPr>
            </a:br>
            <a:r>
              <a:rPr lang="de-DE" sz="2200" dirty="0">
                <a:latin typeface="Courier New" panose="02070309020205020404" pitchFamily="49" charset="0"/>
                <a:cs typeface="Courier New" panose="02070309020205020404" pitchFamily="49" charset="0"/>
              </a:rPr>
              <a:t>ZCDS_CUSTOMER-CUSTOMER_ID</a:t>
            </a:r>
          </a:p>
          <a:p>
            <a:pPr marL="0" indent="0">
              <a:buNone/>
            </a:pPr>
            <a:endParaRPr lang="de-DE" dirty="0"/>
          </a:p>
          <a:p>
            <a:pPr marL="0" indent="0">
              <a:buNone/>
            </a:pPr>
            <a:r>
              <a:rPr lang="de-DE" dirty="0"/>
              <a:t>Mit CDS modellieren wir die Beziehung einmal:</a:t>
            </a:r>
          </a:p>
          <a:p>
            <a:pPr marL="0" indent="0">
              <a:buNone/>
            </a:pPr>
            <a:r>
              <a:rPr lang="de-DE" sz="2400" dirty="0" err="1">
                <a:latin typeface="Courier New" panose="02070309020205020404" pitchFamily="49" charset="0"/>
                <a:cs typeface="Courier New" panose="02070309020205020404" pitchFamily="49" charset="0"/>
              </a:rPr>
              <a:t>association</a:t>
            </a:r>
            <a:r>
              <a:rPr lang="de-DE" sz="2400" dirty="0">
                <a:latin typeface="Courier New" panose="02070309020205020404" pitchFamily="49" charset="0"/>
                <a:cs typeface="Courier New" panose="02070309020205020404" pitchFamily="49" charset="0"/>
              </a:rPr>
              <a:t> [0..1] to</a:t>
            </a:r>
            <a:br>
              <a:rPr lang="de-DE" sz="2400" dirty="0">
                <a:latin typeface="Courier New" panose="02070309020205020404" pitchFamily="49" charset="0"/>
                <a:cs typeface="Courier New" panose="02070309020205020404" pitchFamily="49" charset="0"/>
              </a:rPr>
            </a:br>
            <a:r>
              <a:rPr lang="de-DE" sz="2400" dirty="0" err="1">
                <a:latin typeface="Courier New" panose="02070309020205020404" pitchFamily="49" charset="0"/>
                <a:cs typeface="Courier New" panose="02070309020205020404" pitchFamily="49" charset="0"/>
              </a:rPr>
              <a:t>ZI_CDSCustomer</a:t>
            </a:r>
            <a:r>
              <a:rPr lang="de-DE" sz="2400" dirty="0">
                <a:latin typeface="Courier New" panose="02070309020205020404" pitchFamily="49" charset="0"/>
                <a:cs typeface="Courier New" panose="02070309020205020404" pitchFamily="49" charset="0"/>
              </a:rPr>
              <a:t> as _Customer</a:t>
            </a:r>
            <a:br>
              <a:rPr lang="de-DE" sz="2400" dirty="0">
                <a:latin typeface="Courier New" panose="02070309020205020404" pitchFamily="49" charset="0"/>
                <a:cs typeface="Courier New" panose="02070309020205020404" pitchFamily="49" charset="0"/>
              </a:rPr>
            </a:br>
            <a:r>
              <a:rPr lang="de-DE" sz="2400" dirty="0">
                <a:latin typeface="Courier New" panose="02070309020205020404" pitchFamily="49" charset="0"/>
                <a:cs typeface="Courier New" panose="02070309020205020404" pitchFamily="49" charset="0"/>
              </a:rPr>
              <a:t>on $</a:t>
            </a:r>
            <a:r>
              <a:rPr lang="de-DE" sz="2400" dirty="0" err="1">
                <a:latin typeface="Courier New" panose="02070309020205020404" pitchFamily="49" charset="0"/>
                <a:cs typeface="Courier New" panose="02070309020205020404" pitchFamily="49" charset="0"/>
              </a:rPr>
              <a:t>projection.CustomerId</a:t>
            </a:r>
            <a:r>
              <a:rPr lang="de-DE" sz="2400" dirty="0">
                <a:latin typeface="Courier New" panose="02070309020205020404" pitchFamily="49" charset="0"/>
                <a:cs typeface="Courier New" panose="02070309020205020404" pitchFamily="49" charset="0"/>
              </a:rPr>
              <a:t> =</a:t>
            </a:r>
            <a:br>
              <a:rPr lang="de-DE" sz="2400" dirty="0">
                <a:latin typeface="Courier New" panose="02070309020205020404" pitchFamily="49" charset="0"/>
                <a:cs typeface="Courier New" panose="02070309020205020404" pitchFamily="49" charset="0"/>
              </a:rPr>
            </a:br>
            <a:r>
              <a:rPr lang="de-DE" sz="2400" dirty="0">
                <a:latin typeface="Courier New" panose="02070309020205020404" pitchFamily="49" charset="0"/>
                <a:cs typeface="Courier New" panose="02070309020205020404" pitchFamily="49" charset="0"/>
              </a:rPr>
              <a:t>   _</a:t>
            </a:r>
            <a:r>
              <a:rPr lang="de-DE" sz="2400" dirty="0" err="1">
                <a:latin typeface="Courier New" panose="02070309020205020404" pitchFamily="49" charset="0"/>
                <a:cs typeface="Courier New" panose="02070309020205020404" pitchFamily="49" charset="0"/>
              </a:rPr>
              <a:t>Customer.CustomerId</a:t>
            </a:r>
            <a:endParaRPr lang="de-DE" sz="2400" dirty="0">
              <a:latin typeface="Courier New" panose="02070309020205020404" pitchFamily="49" charset="0"/>
              <a:cs typeface="Courier New" panose="02070309020205020404" pitchFamily="49" charset="0"/>
            </a:endParaRPr>
          </a:p>
          <a:p>
            <a:pPr marL="0" indent="0">
              <a:buNone/>
            </a:pPr>
            <a:endParaRPr lang="de-DE" dirty="0">
              <a:latin typeface="Courier New" panose="02070309020205020404" pitchFamily="49" charset="0"/>
              <a:cs typeface="Courier New" panose="02070309020205020404" pitchFamily="49" charset="0"/>
            </a:endParaRPr>
          </a:p>
          <a:p>
            <a:pPr marL="0" indent="0">
              <a:buNone/>
            </a:pPr>
            <a:endParaRPr lang="de-DE" dirty="0">
              <a:latin typeface="Courier New" panose="02070309020205020404" pitchFamily="49" charset="0"/>
              <a:cs typeface="Courier New" panose="02070309020205020404" pitchFamily="49" charset="0"/>
            </a:endParaRPr>
          </a:p>
          <a:p>
            <a:pPr marL="0" indent="0">
              <a:buNone/>
            </a:pPr>
            <a:endParaRPr lang="de-DE" dirty="0"/>
          </a:p>
          <a:p>
            <a:pPr marL="0" indent="0">
              <a:buNone/>
            </a:pPr>
            <a:endParaRPr lang="de-DE" dirty="0"/>
          </a:p>
        </p:txBody>
      </p:sp>
      <p:sp>
        <p:nvSpPr>
          <p:cNvPr id="8" name="Textfeld 7">
            <a:extLst>
              <a:ext uri="{FF2B5EF4-FFF2-40B4-BE49-F238E27FC236}">
                <a16:creationId xmlns:a16="http://schemas.microsoft.com/office/drawing/2014/main" id="{A635A3EB-7AD2-DBD0-CC58-28F4A824A2BE}"/>
              </a:ext>
            </a:extLst>
          </p:cNvPr>
          <p:cNvSpPr txBox="1"/>
          <p:nvPr/>
        </p:nvSpPr>
        <p:spPr>
          <a:xfrm>
            <a:off x="838200" y="5992297"/>
            <a:ext cx="10515599" cy="461665"/>
          </a:xfrm>
          <a:prstGeom prst="rect">
            <a:avLst/>
          </a:prstGeom>
          <a:noFill/>
        </p:spPr>
        <p:txBody>
          <a:bodyPr wrap="square">
            <a:spAutoFit/>
          </a:bodyPr>
          <a:lstStyle/>
          <a:p>
            <a:r>
              <a:rPr lang="de-DE" sz="2400" dirty="0">
                <a:highlight>
                  <a:srgbClr val="FFFF00"/>
                </a:highlight>
              </a:rPr>
              <a:t>Die Beziehung wird Bestandteil des wiederverwendbaren Datenmodells.</a:t>
            </a:r>
          </a:p>
        </p:txBody>
      </p:sp>
    </p:spTree>
    <p:extLst>
      <p:ext uri="{BB962C8B-B14F-4D97-AF65-F5344CB8AC3E}">
        <p14:creationId xmlns:p14="http://schemas.microsoft.com/office/powerpoint/2010/main" val="39187757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4AEA8CC-A5BF-C3BE-C194-2ABBB7CD10C9}"/>
              </a:ext>
            </a:extLst>
          </p:cNvPr>
          <p:cNvSpPr>
            <a:spLocks noGrp="1"/>
          </p:cNvSpPr>
          <p:nvPr>
            <p:ph type="title"/>
          </p:nvPr>
        </p:nvSpPr>
        <p:spPr/>
        <p:txBody>
          <a:bodyPr/>
          <a:lstStyle/>
          <a:p>
            <a:r>
              <a:rPr lang="de-DE" dirty="0"/>
              <a:t>Was ist eine CDS-Assoziation?</a:t>
            </a:r>
          </a:p>
        </p:txBody>
      </p:sp>
      <p:sp>
        <p:nvSpPr>
          <p:cNvPr id="4" name="Inhaltsplatzhalter 3">
            <a:extLst>
              <a:ext uri="{FF2B5EF4-FFF2-40B4-BE49-F238E27FC236}">
                <a16:creationId xmlns:a16="http://schemas.microsoft.com/office/drawing/2014/main" id="{DCA40AAE-1400-0003-DF59-14584950693C}"/>
              </a:ext>
            </a:extLst>
          </p:cNvPr>
          <p:cNvSpPr>
            <a:spLocks noGrp="1"/>
          </p:cNvSpPr>
          <p:nvPr>
            <p:ph sz="half" idx="1"/>
          </p:nvPr>
        </p:nvSpPr>
        <p:spPr/>
        <p:txBody>
          <a:bodyPr/>
          <a:lstStyle/>
          <a:p>
            <a:pPr marL="0" indent="0">
              <a:buNone/>
            </a:pPr>
            <a:r>
              <a:rPr lang="de-DE" dirty="0"/>
              <a:t>Eine Assoziation ist:</a:t>
            </a:r>
          </a:p>
          <a:p>
            <a:pPr lvl="0"/>
            <a:r>
              <a:rPr lang="de-DE" dirty="0"/>
              <a:t>eine benannte Beziehung zu einer Zielquelle </a:t>
            </a:r>
          </a:p>
          <a:p>
            <a:pPr lvl="0"/>
            <a:r>
              <a:rPr lang="de-DE" dirty="0"/>
              <a:t>innerhalb der View über Pfadausdrücke nutzbar </a:t>
            </a:r>
          </a:p>
          <a:p>
            <a:pPr lvl="0"/>
            <a:r>
              <a:rPr lang="de-DE" dirty="0"/>
              <a:t>optional für andere Verbraucher </a:t>
            </a:r>
            <a:r>
              <a:rPr lang="de-DE" dirty="0" err="1"/>
              <a:t>exponierbar</a:t>
            </a:r>
            <a:r>
              <a:rPr lang="de-DE" dirty="0"/>
              <a:t> </a:t>
            </a:r>
          </a:p>
          <a:p>
            <a:pPr lvl="0"/>
            <a:r>
              <a:rPr lang="de-DE" dirty="0"/>
              <a:t>erst bei ihrer Verwendung datenwirksam</a:t>
            </a:r>
          </a:p>
          <a:p>
            <a:endParaRPr lang="de-DE" dirty="0"/>
          </a:p>
        </p:txBody>
      </p:sp>
      <p:graphicFrame>
        <p:nvGraphicFramePr>
          <p:cNvPr id="8" name="Inhaltsplatzhalter 7">
            <a:extLst>
              <a:ext uri="{FF2B5EF4-FFF2-40B4-BE49-F238E27FC236}">
                <a16:creationId xmlns:a16="http://schemas.microsoft.com/office/drawing/2014/main" id="{0DF1E038-0D2E-E004-6488-3C51D032A768}"/>
              </a:ext>
            </a:extLst>
          </p:cNvPr>
          <p:cNvGraphicFramePr>
            <a:graphicFrameLocks noGrp="1"/>
          </p:cNvGraphicFramePr>
          <p:nvPr>
            <p:ph sz="half" idx="2"/>
            <p:extLst>
              <p:ext uri="{D42A27DB-BD31-4B8C-83A1-F6EECF244321}">
                <p14:modId xmlns:p14="http://schemas.microsoft.com/office/powerpoint/2010/main" val="2506508109"/>
              </p:ext>
            </p:extLst>
          </p:nvPr>
        </p:nvGraphicFramePr>
        <p:xfrm>
          <a:off x="6172200" y="2874935"/>
          <a:ext cx="5685020" cy="2225040"/>
        </p:xfrm>
        <a:graphic>
          <a:graphicData uri="http://schemas.openxmlformats.org/drawingml/2006/table">
            <a:tbl>
              <a:tblPr firstRow="1" bandRow="1">
                <a:tableStyleId>{5C22544A-7EE6-4342-B048-85BDC9FD1C3A}</a:tableStyleId>
              </a:tblPr>
              <a:tblGrid>
                <a:gridCol w="2842510">
                  <a:extLst>
                    <a:ext uri="{9D8B030D-6E8A-4147-A177-3AD203B41FA5}">
                      <a16:colId xmlns:a16="http://schemas.microsoft.com/office/drawing/2014/main" val="1912295562"/>
                    </a:ext>
                  </a:extLst>
                </a:gridCol>
                <a:gridCol w="2842510">
                  <a:extLst>
                    <a:ext uri="{9D8B030D-6E8A-4147-A177-3AD203B41FA5}">
                      <a16:colId xmlns:a16="http://schemas.microsoft.com/office/drawing/2014/main" val="1382976062"/>
                    </a:ext>
                  </a:extLst>
                </a:gridCol>
              </a:tblGrid>
              <a:tr h="370840">
                <a:tc>
                  <a:txBody>
                    <a:bodyPr/>
                    <a:lstStyle/>
                    <a:p>
                      <a:r>
                        <a:rPr lang="de-DE" dirty="0"/>
                        <a:t>Bestandteil</a:t>
                      </a:r>
                    </a:p>
                  </a:txBody>
                  <a:tcPr/>
                </a:tc>
                <a:tc>
                  <a:txBody>
                    <a:bodyPr/>
                    <a:lstStyle/>
                    <a:p>
                      <a:r>
                        <a:rPr lang="de-DE" dirty="0"/>
                        <a:t>Bedeutung</a:t>
                      </a:r>
                    </a:p>
                  </a:txBody>
                  <a:tcPr/>
                </a:tc>
                <a:extLst>
                  <a:ext uri="{0D108BD9-81ED-4DB2-BD59-A6C34878D82A}">
                    <a16:rowId xmlns:a16="http://schemas.microsoft.com/office/drawing/2014/main" val="3721342657"/>
                  </a:ext>
                </a:extLst>
              </a:tr>
              <a:tr h="370840">
                <a:tc>
                  <a:txBody>
                    <a:bodyPr/>
                    <a:lstStyle/>
                    <a:p>
                      <a:r>
                        <a:rPr lang="de-DE" dirty="0" err="1">
                          <a:latin typeface="Courier New" panose="02070309020205020404" pitchFamily="49" charset="0"/>
                          <a:cs typeface="Courier New" panose="02070309020205020404" pitchFamily="49" charset="0"/>
                        </a:rPr>
                        <a:t>association</a:t>
                      </a:r>
                      <a:endParaRPr lang="de-DE" dirty="0">
                        <a:latin typeface="Courier New" panose="02070309020205020404" pitchFamily="49" charset="0"/>
                        <a:cs typeface="Courier New" panose="02070309020205020404" pitchFamily="49" charset="0"/>
                      </a:endParaRPr>
                    </a:p>
                  </a:txBody>
                  <a:tcPr/>
                </a:tc>
                <a:tc>
                  <a:txBody>
                    <a:bodyPr/>
                    <a:lstStyle/>
                    <a:p>
                      <a:r>
                        <a:rPr lang="de-DE" dirty="0"/>
                        <a:t>Definition einer Beziehung</a:t>
                      </a:r>
                    </a:p>
                  </a:txBody>
                  <a:tcPr/>
                </a:tc>
                <a:extLst>
                  <a:ext uri="{0D108BD9-81ED-4DB2-BD59-A6C34878D82A}">
                    <a16:rowId xmlns:a16="http://schemas.microsoft.com/office/drawing/2014/main" val="2364048282"/>
                  </a:ext>
                </a:extLst>
              </a:tr>
              <a:tr h="370840">
                <a:tc>
                  <a:txBody>
                    <a:bodyPr/>
                    <a:lstStyle/>
                    <a:p>
                      <a:r>
                        <a:rPr lang="de-DE" dirty="0">
                          <a:latin typeface="Courier New" panose="02070309020205020404" pitchFamily="49" charset="0"/>
                          <a:cs typeface="Courier New" panose="02070309020205020404" pitchFamily="49" charset="0"/>
                        </a:rPr>
                        <a:t>[1..1]</a:t>
                      </a:r>
                    </a:p>
                  </a:txBody>
                  <a:tcPr/>
                </a:tc>
                <a:tc>
                  <a:txBody>
                    <a:bodyPr/>
                    <a:lstStyle/>
                    <a:p>
                      <a:r>
                        <a:rPr lang="de-DE" dirty="0"/>
                        <a:t>erwartete Kardinalität</a:t>
                      </a:r>
                    </a:p>
                  </a:txBody>
                  <a:tcPr/>
                </a:tc>
                <a:extLst>
                  <a:ext uri="{0D108BD9-81ED-4DB2-BD59-A6C34878D82A}">
                    <a16:rowId xmlns:a16="http://schemas.microsoft.com/office/drawing/2014/main" val="2504361021"/>
                  </a:ext>
                </a:extLst>
              </a:tr>
              <a:tr h="370840">
                <a:tc>
                  <a:txBody>
                    <a:bodyPr/>
                    <a:lstStyle/>
                    <a:p>
                      <a:r>
                        <a:rPr lang="de-DE" dirty="0">
                          <a:latin typeface="Courier New" panose="02070309020205020404" pitchFamily="49" charset="0"/>
                          <a:cs typeface="Courier New" panose="02070309020205020404" pitchFamily="49" charset="0"/>
                        </a:rPr>
                        <a:t>to </a:t>
                      </a:r>
                      <a:r>
                        <a:rPr lang="de-DE" dirty="0" err="1">
                          <a:latin typeface="Courier New" panose="02070309020205020404" pitchFamily="49" charset="0"/>
                          <a:cs typeface="Courier New" panose="02070309020205020404" pitchFamily="49" charset="0"/>
                        </a:rPr>
                        <a:t>ZI_CDSCustomer</a:t>
                      </a:r>
                      <a:endParaRPr lang="de-DE" dirty="0">
                        <a:latin typeface="Courier New" panose="02070309020205020404" pitchFamily="49" charset="0"/>
                        <a:cs typeface="Courier New" panose="02070309020205020404" pitchFamily="49" charset="0"/>
                      </a:endParaRPr>
                    </a:p>
                  </a:txBody>
                  <a:tcPr/>
                </a:tc>
                <a:tc>
                  <a:txBody>
                    <a:bodyPr/>
                    <a:lstStyle/>
                    <a:p>
                      <a:r>
                        <a:rPr lang="de-DE" dirty="0"/>
                        <a:t>Ziel der Beziehung</a:t>
                      </a:r>
                    </a:p>
                  </a:txBody>
                  <a:tcPr/>
                </a:tc>
                <a:extLst>
                  <a:ext uri="{0D108BD9-81ED-4DB2-BD59-A6C34878D82A}">
                    <a16:rowId xmlns:a16="http://schemas.microsoft.com/office/drawing/2014/main" val="2997259593"/>
                  </a:ext>
                </a:extLst>
              </a:tr>
              <a:tr h="370840">
                <a:tc>
                  <a:txBody>
                    <a:bodyPr/>
                    <a:lstStyle/>
                    <a:p>
                      <a:r>
                        <a:rPr lang="de-DE" dirty="0">
                          <a:latin typeface="Courier New" panose="02070309020205020404" pitchFamily="49" charset="0"/>
                          <a:cs typeface="Courier New" panose="02070309020205020404" pitchFamily="49" charset="0"/>
                        </a:rPr>
                        <a:t>as _Customer</a:t>
                      </a:r>
                    </a:p>
                  </a:txBody>
                  <a:tcPr/>
                </a:tc>
                <a:tc>
                  <a:txBody>
                    <a:bodyPr/>
                    <a:lstStyle/>
                    <a:p>
                      <a:r>
                        <a:rPr lang="de-DE" dirty="0"/>
                        <a:t>Name der Assoziation</a:t>
                      </a:r>
                    </a:p>
                  </a:txBody>
                  <a:tcPr/>
                </a:tc>
                <a:extLst>
                  <a:ext uri="{0D108BD9-81ED-4DB2-BD59-A6C34878D82A}">
                    <a16:rowId xmlns:a16="http://schemas.microsoft.com/office/drawing/2014/main" val="2282957194"/>
                  </a:ext>
                </a:extLst>
              </a:tr>
              <a:tr h="370840">
                <a:tc>
                  <a:txBody>
                    <a:bodyPr/>
                    <a:lstStyle/>
                    <a:p>
                      <a:r>
                        <a:rPr lang="de-DE" dirty="0">
                          <a:latin typeface="Courier New" panose="02070309020205020404" pitchFamily="49" charset="0"/>
                          <a:cs typeface="Courier New" panose="02070309020205020404" pitchFamily="49" charset="0"/>
                        </a:rPr>
                        <a:t>on ...</a:t>
                      </a:r>
                    </a:p>
                  </a:txBody>
                  <a:tcPr/>
                </a:tc>
                <a:tc>
                  <a:txBody>
                    <a:bodyPr/>
                    <a:lstStyle/>
                    <a:p>
                      <a:r>
                        <a:rPr lang="de-DE" dirty="0"/>
                        <a:t>Verknüpfungsbedingung</a:t>
                      </a:r>
                    </a:p>
                  </a:txBody>
                  <a:tcPr/>
                </a:tc>
                <a:extLst>
                  <a:ext uri="{0D108BD9-81ED-4DB2-BD59-A6C34878D82A}">
                    <a16:rowId xmlns:a16="http://schemas.microsoft.com/office/drawing/2014/main" val="912310186"/>
                  </a:ext>
                </a:extLst>
              </a:tr>
            </a:tbl>
          </a:graphicData>
        </a:graphic>
      </p:graphicFrame>
      <p:pic>
        <p:nvPicPr>
          <p:cNvPr id="10" name="Grafik 9">
            <a:extLst>
              <a:ext uri="{FF2B5EF4-FFF2-40B4-BE49-F238E27FC236}">
                <a16:creationId xmlns:a16="http://schemas.microsoft.com/office/drawing/2014/main" id="{6229E48D-3278-EB41-6684-C0E9AF64D729}"/>
              </a:ext>
            </a:extLst>
          </p:cNvPr>
          <p:cNvPicPr>
            <a:picLocks noChangeAspect="1"/>
          </p:cNvPicPr>
          <p:nvPr/>
        </p:nvPicPr>
        <p:blipFill>
          <a:blip r:embed="rId3"/>
          <a:stretch>
            <a:fillRect/>
          </a:stretch>
        </p:blipFill>
        <p:spPr>
          <a:xfrm>
            <a:off x="6019800" y="1825624"/>
            <a:ext cx="5928666" cy="508501"/>
          </a:xfrm>
          <a:prstGeom prst="rect">
            <a:avLst/>
          </a:prstGeom>
        </p:spPr>
      </p:pic>
    </p:spTree>
    <p:extLst>
      <p:ext uri="{BB962C8B-B14F-4D97-AF65-F5344CB8AC3E}">
        <p14:creationId xmlns:p14="http://schemas.microsoft.com/office/powerpoint/2010/main" val="5645265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AB6D1BB-F57C-87A0-D045-D7983992888B}"/>
              </a:ext>
            </a:extLst>
          </p:cNvPr>
          <p:cNvSpPr>
            <a:spLocks noGrp="1"/>
          </p:cNvSpPr>
          <p:nvPr>
            <p:ph type="title"/>
          </p:nvPr>
        </p:nvSpPr>
        <p:spPr/>
        <p:txBody>
          <a:bodyPr/>
          <a:lstStyle/>
          <a:p>
            <a:r>
              <a:rPr lang="de-DE" dirty="0"/>
              <a:t>Assoziation und </a:t>
            </a:r>
            <a:r>
              <a:rPr lang="de-DE" dirty="0" err="1"/>
              <a:t>Join</a:t>
            </a:r>
            <a:endParaRPr lang="de-DE" dirty="0"/>
          </a:p>
        </p:txBody>
      </p:sp>
      <p:graphicFrame>
        <p:nvGraphicFramePr>
          <p:cNvPr id="4" name="Inhaltsplatzhalter 3">
            <a:extLst>
              <a:ext uri="{FF2B5EF4-FFF2-40B4-BE49-F238E27FC236}">
                <a16:creationId xmlns:a16="http://schemas.microsoft.com/office/drawing/2014/main" id="{DC3E2098-1C7B-C94E-EC78-8BFD6AE7AB6A}"/>
              </a:ext>
            </a:extLst>
          </p:cNvPr>
          <p:cNvGraphicFramePr>
            <a:graphicFrameLocks noGrp="1"/>
          </p:cNvGraphicFramePr>
          <p:nvPr>
            <p:ph idx="1"/>
            <p:extLst>
              <p:ext uri="{D42A27DB-BD31-4B8C-83A1-F6EECF244321}">
                <p14:modId xmlns:p14="http://schemas.microsoft.com/office/powerpoint/2010/main" val="824640236"/>
              </p:ext>
            </p:extLst>
          </p:nvPr>
        </p:nvGraphicFramePr>
        <p:xfrm>
          <a:off x="838200" y="1825625"/>
          <a:ext cx="10515600" cy="3012440"/>
        </p:xfrm>
        <a:graphic>
          <a:graphicData uri="http://schemas.openxmlformats.org/drawingml/2006/table">
            <a:tbl>
              <a:tblPr firstRow="1" bandRow="1">
                <a:tableStyleId>{5C22544A-7EE6-4342-B048-85BDC9FD1C3A}</a:tableStyleId>
              </a:tblPr>
              <a:tblGrid>
                <a:gridCol w="5257800">
                  <a:extLst>
                    <a:ext uri="{9D8B030D-6E8A-4147-A177-3AD203B41FA5}">
                      <a16:colId xmlns:a16="http://schemas.microsoft.com/office/drawing/2014/main" val="3970846553"/>
                    </a:ext>
                  </a:extLst>
                </a:gridCol>
                <a:gridCol w="5257800">
                  <a:extLst>
                    <a:ext uri="{9D8B030D-6E8A-4147-A177-3AD203B41FA5}">
                      <a16:colId xmlns:a16="http://schemas.microsoft.com/office/drawing/2014/main" val="325475034"/>
                    </a:ext>
                  </a:extLst>
                </a:gridCol>
              </a:tblGrid>
              <a:tr h="370840">
                <a:tc>
                  <a:txBody>
                    <a:bodyPr/>
                    <a:lstStyle/>
                    <a:p>
                      <a:r>
                        <a:rPr lang="de-DE" dirty="0" err="1"/>
                        <a:t>Join</a:t>
                      </a:r>
                      <a:endParaRPr lang="de-DE" dirty="0"/>
                    </a:p>
                  </a:txBody>
                  <a:tcPr/>
                </a:tc>
                <a:tc>
                  <a:txBody>
                    <a:bodyPr/>
                    <a:lstStyle/>
                    <a:p>
                      <a:r>
                        <a:rPr lang="de-DE" dirty="0"/>
                        <a:t>Assoziation</a:t>
                      </a:r>
                    </a:p>
                  </a:txBody>
                  <a:tcPr/>
                </a:tc>
                <a:extLst>
                  <a:ext uri="{0D108BD9-81ED-4DB2-BD59-A6C34878D82A}">
                    <a16:rowId xmlns:a16="http://schemas.microsoft.com/office/drawing/2014/main" val="3397915512"/>
                  </a:ext>
                </a:extLst>
              </a:tr>
              <a:tr h="370840">
                <a:tc>
                  <a:txBody>
                    <a:bodyPr/>
                    <a:lstStyle/>
                    <a:p>
                      <a:r>
                        <a:rPr lang="de-DE" dirty="0"/>
                        <a:t>unmittelbar Bestandteil der Datenquelle</a:t>
                      </a:r>
                    </a:p>
                  </a:txBody>
                  <a:tcPr/>
                </a:tc>
                <a:tc>
                  <a:txBody>
                    <a:bodyPr/>
                    <a:lstStyle/>
                    <a:p>
                      <a:r>
                        <a:rPr lang="de-DE" dirty="0"/>
                        <a:t>beschreibt zunächst eine Beziehung</a:t>
                      </a:r>
                    </a:p>
                  </a:txBody>
                  <a:tcPr/>
                </a:tc>
                <a:extLst>
                  <a:ext uri="{0D108BD9-81ED-4DB2-BD59-A6C34878D82A}">
                    <a16:rowId xmlns:a16="http://schemas.microsoft.com/office/drawing/2014/main" val="1041187493"/>
                  </a:ext>
                </a:extLst>
              </a:tr>
              <a:tr h="370840">
                <a:tc>
                  <a:txBody>
                    <a:bodyPr/>
                    <a:lstStyle/>
                    <a:p>
                      <a:r>
                        <a:rPr lang="de-DE" dirty="0"/>
                        <a:t>Quellen werden lokal miteinander verbunden</a:t>
                      </a:r>
                    </a:p>
                  </a:txBody>
                  <a:tcPr/>
                </a:tc>
                <a:tc>
                  <a:txBody>
                    <a:bodyPr/>
                    <a:lstStyle/>
                    <a:p>
                      <a:r>
                        <a:rPr lang="de-DE" dirty="0"/>
                        <a:t>Beziehung kann weitergereicht werden</a:t>
                      </a:r>
                    </a:p>
                  </a:txBody>
                  <a:tcPr/>
                </a:tc>
                <a:extLst>
                  <a:ext uri="{0D108BD9-81ED-4DB2-BD59-A6C34878D82A}">
                    <a16:rowId xmlns:a16="http://schemas.microsoft.com/office/drawing/2014/main" val="372531749"/>
                  </a:ext>
                </a:extLst>
              </a:tr>
              <a:tr h="370840">
                <a:tc>
                  <a:txBody>
                    <a:bodyPr/>
                    <a:lstStyle/>
                    <a:p>
                      <a:r>
                        <a:rPr lang="de-DE" dirty="0"/>
                        <a:t>Alias gilt innerhalb dieser Abfrage</a:t>
                      </a:r>
                    </a:p>
                  </a:txBody>
                  <a:tcPr/>
                </a:tc>
                <a:tc>
                  <a:txBody>
                    <a:bodyPr/>
                    <a:lstStyle/>
                    <a:p>
                      <a:r>
                        <a:rPr lang="de-DE" dirty="0"/>
                        <a:t>benannter Navigationspfad</a:t>
                      </a:r>
                    </a:p>
                  </a:txBody>
                  <a:tcPr/>
                </a:tc>
                <a:extLst>
                  <a:ext uri="{0D108BD9-81ED-4DB2-BD59-A6C34878D82A}">
                    <a16:rowId xmlns:a16="http://schemas.microsoft.com/office/drawing/2014/main" val="2919262148"/>
                  </a:ext>
                </a:extLst>
              </a:tr>
              <a:tr h="370840">
                <a:tc>
                  <a:txBody>
                    <a:bodyPr/>
                    <a:lstStyle/>
                    <a:p>
                      <a:r>
                        <a:rPr lang="de-DE" dirty="0" err="1"/>
                        <a:t>Join</a:t>
                      </a:r>
                      <a:r>
                        <a:rPr lang="de-DE" dirty="0"/>
                        <a:t>-Art wird ausdrücklich angegeben</a:t>
                      </a:r>
                    </a:p>
                  </a:txBody>
                  <a:tcPr/>
                </a:tc>
                <a:tc>
                  <a:txBody>
                    <a:bodyPr/>
                    <a:lstStyle/>
                    <a:p>
                      <a:r>
                        <a:rPr lang="de-DE" dirty="0" err="1"/>
                        <a:t>Join</a:t>
                      </a:r>
                      <a:r>
                        <a:rPr lang="de-DE" dirty="0"/>
                        <a:t> entsteht abhängig von der Verwendung</a:t>
                      </a:r>
                    </a:p>
                  </a:txBody>
                  <a:tcPr/>
                </a:tc>
                <a:extLst>
                  <a:ext uri="{0D108BD9-81ED-4DB2-BD59-A6C34878D82A}">
                    <a16:rowId xmlns:a16="http://schemas.microsoft.com/office/drawing/2014/main" val="1239390937"/>
                  </a:ext>
                </a:extLst>
              </a:tr>
              <a:tr h="370840">
                <a:tc>
                  <a:txBody>
                    <a:bodyPr/>
                    <a:lstStyle/>
                    <a:p>
                      <a:endParaRPr lang="de-DE" sz="1400" dirty="0">
                        <a:latin typeface="Courier New" panose="02070309020205020404" pitchFamily="49" charset="0"/>
                        <a:cs typeface="Courier New" panose="02070309020205020404" pitchFamily="49" charset="0"/>
                      </a:endParaRPr>
                    </a:p>
                    <a:p>
                      <a:r>
                        <a:rPr lang="de-DE" sz="1400" dirty="0">
                          <a:latin typeface="Courier New" panose="02070309020205020404" pitchFamily="49" charset="0"/>
                          <a:cs typeface="Courier New" panose="02070309020205020404" pitchFamily="49" charset="0"/>
                        </a:rPr>
                        <a:t>from </a:t>
                      </a:r>
                      <a:r>
                        <a:rPr lang="de-DE" sz="1400" dirty="0" err="1">
                          <a:latin typeface="Courier New" panose="02070309020205020404" pitchFamily="49" charset="0"/>
                          <a:cs typeface="Courier New" panose="02070309020205020404" pitchFamily="49" charset="0"/>
                        </a:rPr>
                        <a:t>ZI_CDSOrder</a:t>
                      </a:r>
                      <a:r>
                        <a:rPr lang="de-DE" sz="1400" dirty="0">
                          <a:latin typeface="Courier New" panose="02070309020205020404" pitchFamily="49" charset="0"/>
                          <a:cs typeface="Courier New" panose="02070309020205020404" pitchFamily="49" charset="0"/>
                        </a:rPr>
                        <a:t> as Order </a:t>
                      </a:r>
                    </a:p>
                    <a:p>
                      <a:r>
                        <a:rPr lang="de-DE" sz="1400" dirty="0">
                          <a:latin typeface="Courier New" panose="02070309020205020404" pitchFamily="49" charset="0"/>
                          <a:cs typeface="Courier New" panose="02070309020205020404" pitchFamily="49" charset="0"/>
                        </a:rPr>
                        <a:t>  </a:t>
                      </a:r>
                      <a:r>
                        <a:rPr lang="de-DE" sz="1400" dirty="0" err="1">
                          <a:latin typeface="Courier New" panose="02070309020205020404" pitchFamily="49" charset="0"/>
                          <a:cs typeface="Courier New" panose="02070309020205020404" pitchFamily="49" charset="0"/>
                        </a:rPr>
                        <a:t>left</a:t>
                      </a:r>
                      <a:r>
                        <a:rPr lang="de-DE" sz="1400" dirty="0">
                          <a:latin typeface="Courier New" panose="02070309020205020404" pitchFamily="49" charset="0"/>
                          <a:cs typeface="Courier New" panose="02070309020205020404" pitchFamily="49" charset="0"/>
                        </a:rPr>
                        <a:t> </a:t>
                      </a:r>
                      <a:r>
                        <a:rPr lang="de-DE" sz="1400" dirty="0" err="1">
                          <a:latin typeface="Courier New" panose="02070309020205020404" pitchFamily="49" charset="0"/>
                          <a:cs typeface="Courier New" panose="02070309020205020404" pitchFamily="49" charset="0"/>
                        </a:rPr>
                        <a:t>outer</a:t>
                      </a:r>
                      <a:r>
                        <a:rPr lang="de-DE" sz="1400" dirty="0">
                          <a:latin typeface="Courier New" panose="02070309020205020404" pitchFamily="49" charset="0"/>
                          <a:cs typeface="Courier New" panose="02070309020205020404" pitchFamily="49" charset="0"/>
                        </a:rPr>
                        <a:t> </a:t>
                      </a:r>
                      <a:r>
                        <a:rPr lang="de-DE" sz="1400" dirty="0" err="1">
                          <a:latin typeface="Courier New" panose="02070309020205020404" pitchFamily="49" charset="0"/>
                          <a:cs typeface="Courier New" panose="02070309020205020404" pitchFamily="49" charset="0"/>
                        </a:rPr>
                        <a:t>join</a:t>
                      </a:r>
                      <a:r>
                        <a:rPr lang="de-DE" sz="1400" dirty="0">
                          <a:latin typeface="Courier New" panose="02070309020205020404" pitchFamily="49" charset="0"/>
                          <a:cs typeface="Courier New" panose="02070309020205020404" pitchFamily="49" charset="0"/>
                        </a:rPr>
                        <a:t> </a:t>
                      </a:r>
                      <a:r>
                        <a:rPr lang="de-DE" sz="1400" dirty="0" err="1">
                          <a:latin typeface="Courier New" panose="02070309020205020404" pitchFamily="49" charset="0"/>
                          <a:cs typeface="Courier New" panose="02070309020205020404" pitchFamily="49" charset="0"/>
                        </a:rPr>
                        <a:t>ZI_CDSCustomer</a:t>
                      </a:r>
                      <a:r>
                        <a:rPr lang="de-DE" sz="1400" dirty="0">
                          <a:latin typeface="Courier New" panose="02070309020205020404" pitchFamily="49" charset="0"/>
                          <a:cs typeface="Courier New" panose="02070309020205020404" pitchFamily="49" charset="0"/>
                        </a:rPr>
                        <a:t> as Customer </a:t>
                      </a:r>
                    </a:p>
                    <a:p>
                      <a:r>
                        <a:rPr lang="de-DE" sz="1400" dirty="0">
                          <a:latin typeface="Courier New" panose="02070309020205020404" pitchFamily="49" charset="0"/>
                          <a:cs typeface="Courier New" panose="02070309020205020404" pitchFamily="49" charset="0"/>
                        </a:rPr>
                        <a:t>    on </a:t>
                      </a:r>
                      <a:r>
                        <a:rPr lang="de-DE" sz="1400" dirty="0" err="1">
                          <a:latin typeface="Courier New" panose="02070309020205020404" pitchFamily="49" charset="0"/>
                          <a:cs typeface="Courier New" panose="02070309020205020404" pitchFamily="49" charset="0"/>
                        </a:rPr>
                        <a:t>Order.CustomerId</a:t>
                      </a:r>
                      <a:r>
                        <a:rPr lang="de-DE" sz="1400" dirty="0">
                          <a:latin typeface="Courier New" panose="02070309020205020404" pitchFamily="49" charset="0"/>
                          <a:cs typeface="Courier New" panose="02070309020205020404" pitchFamily="49" charset="0"/>
                        </a:rPr>
                        <a:t> = </a:t>
                      </a:r>
                      <a:r>
                        <a:rPr lang="de-DE" sz="1400" dirty="0" err="1">
                          <a:latin typeface="Courier New" panose="02070309020205020404" pitchFamily="49" charset="0"/>
                          <a:cs typeface="Courier New" panose="02070309020205020404" pitchFamily="49" charset="0"/>
                        </a:rPr>
                        <a:t>Customer.CustomerId</a:t>
                      </a:r>
                      <a:endParaRPr lang="de-DE" sz="1400" dirty="0">
                        <a:latin typeface="Courier New" panose="02070309020205020404" pitchFamily="49" charset="0"/>
                        <a:cs typeface="Courier New" panose="02070309020205020404" pitchFamily="49" charset="0"/>
                      </a:endParaRPr>
                    </a:p>
                  </a:txBody>
                  <a:tcPr/>
                </a:tc>
                <a:tc>
                  <a:txBody>
                    <a:bodyPr/>
                    <a:lstStyle/>
                    <a:p>
                      <a:endParaRPr lang="de-DE" sz="1400" dirty="0">
                        <a:latin typeface="Courier New" panose="02070309020205020404" pitchFamily="49" charset="0"/>
                        <a:cs typeface="Courier New" panose="02070309020205020404" pitchFamily="49" charset="0"/>
                      </a:endParaRPr>
                    </a:p>
                    <a:p>
                      <a:r>
                        <a:rPr lang="de-DE" sz="1400" dirty="0" err="1">
                          <a:latin typeface="Courier New" panose="02070309020205020404" pitchFamily="49" charset="0"/>
                          <a:cs typeface="Courier New" panose="02070309020205020404" pitchFamily="49" charset="0"/>
                        </a:rPr>
                        <a:t>association</a:t>
                      </a:r>
                      <a:r>
                        <a:rPr lang="de-DE" sz="1400" dirty="0">
                          <a:latin typeface="Courier New" panose="02070309020205020404" pitchFamily="49" charset="0"/>
                          <a:cs typeface="Courier New" panose="02070309020205020404" pitchFamily="49" charset="0"/>
                        </a:rPr>
                        <a:t> [0..1] to </a:t>
                      </a:r>
                      <a:r>
                        <a:rPr lang="de-DE" sz="1400" dirty="0" err="1">
                          <a:latin typeface="Courier New" panose="02070309020205020404" pitchFamily="49" charset="0"/>
                          <a:cs typeface="Courier New" panose="02070309020205020404" pitchFamily="49" charset="0"/>
                        </a:rPr>
                        <a:t>ZI_CDSCustomer</a:t>
                      </a:r>
                      <a:r>
                        <a:rPr lang="de-DE" sz="1400" dirty="0">
                          <a:latin typeface="Courier New" panose="02070309020205020404" pitchFamily="49" charset="0"/>
                          <a:cs typeface="Courier New" panose="02070309020205020404" pitchFamily="49" charset="0"/>
                        </a:rPr>
                        <a:t> </a:t>
                      </a:r>
                    </a:p>
                    <a:p>
                      <a:r>
                        <a:rPr lang="de-DE" sz="1400" dirty="0">
                          <a:latin typeface="Courier New" panose="02070309020205020404" pitchFamily="49" charset="0"/>
                          <a:cs typeface="Courier New" panose="02070309020205020404" pitchFamily="49" charset="0"/>
                        </a:rPr>
                        <a:t>  as _Customer </a:t>
                      </a:r>
                    </a:p>
                    <a:p>
                      <a:r>
                        <a:rPr lang="de-DE" sz="1400" dirty="0">
                          <a:latin typeface="Courier New" panose="02070309020205020404" pitchFamily="49" charset="0"/>
                          <a:cs typeface="Courier New" panose="02070309020205020404" pitchFamily="49" charset="0"/>
                        </a:rPr>
                        <a:t>  on $</a:t>
                      </a:r>
                      <a:r>
                        <a:rPr lang="de-DE" sz="1400" dirty="0" err="1">
                          <a:latin typeface="Courier New" panose="02070309020205020404" pitchFamily="49" charset="0"/>
                          <a:cs typeface="Courier New" panose="02070309020205020404" pitchFamily="49" charset="0"/>
                        </a:rPr>
                        <a:t>projection.CustomerId</a:t>
                      </a:r>
                      <a:r>
                        <a:rPr lang="de-DE" sz="1400" dirty="0">
                          <a:latin typeface="Courier New" panose="02070309020205020404" pitchFamily="49" charset="0"/>
                          <a:cs typeface="Courier New" panose="02070309020205020404" pitchFamily="49" charset="0"/>
                        </a:rPr>
                        <a:t> =</a:t>
                      </a:r>
                    </a:p>
                    <a:p>
                      <a:r>
                        <a:rPr lang="de-DE" sz="1400" dirty="0">
                          <a:latin typeface="Courier New" panose="02070309020205020404" pitchFamily="49" charset="0"/>
                          <a:cs typeface="Courier New" panose="02070309020205020404" pitchFamily="49" charset="0"/>
                        </a:rPr>
                        <a:t>     </a:t>
                      </a:r>
                      <a:r>
                        <a:rPr lang="de-DE" sz="1400" dirty="0" err="1">
                          <a:latin typeface="Courier New" panose="02070309020205020404" pitchFamily="49" charset="0"/>
                          <a:cs typeface="Courier New" panose="02070309020205020404" pitchFamily="49" charset="0"/>
                        </a:rPr>
                        <a:t>Customer.CustomerId</a:t>
                      </a:r>
                      <a:endParaRPr lang="de-DE" sz="1400" dirty="0">
                        <a:latin typeface="Courier New" panose="02070309020205020404" pitchFamily="49" charset="0"/>
                        <a:cs typeface="Courier New" panose="02070309020205020404" pitchFamily="49" charset="0"/>
                      </a:endParaRPr>
                    </a:p>
                  </a:txBody>
                  <a:tcPr/>
                </a:tc>
                <a:extLst>
                  <a:ext uri="{0D108BD9-81ED-4DB2-BD59-A6C34878D82A}">
                    <a16:rowId xmlns:a16="http://schemas.microsoft.com/office/drawing/2014/main" val="710407086"/>
                  </a:ext>
                </a:extLst>
              </a:tr>
            </a:tbl>
          </a:graphicData>
        </a:graphic>
      </p:graphicFrame>
    </p:spTree>
    <p:extLst>
      <p:ext uri="{BB962C8B-B14F-4D97-AF65-F5344CB8AC3E}">
        <p14:creationId xmlns:p14="http://schemas.microsoft.com/office/powerpoint/2010/main" val="30833650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9ABCBA5-FF4F-DA9C-C7C0-E3107F19D87D}"/>
              </a:ext>
            </a:extLst>
          </p:cNvPr>
          <p:cNvSpPr>
            <a:spLocks noGrp="1"/>
          </p:cNvSpPr>
          <p:nvPr>
            <p:ph type="title"/>
          </p:nvPr>
        </p:nvSpPr>
        <p:spPr/>
        <p:txBody>
          <a:bodyPr/>
          <a:lstStyle/>
          <a:p>
            <a:r>
              <a:rPr lang="de-DE" dirty="0"/>
              <a:t>Die ON-Bedingung</a:t>
            </a:r>
          </a:p>
        </p:txBody>
      </p:sp>
      <p:sp>
        <p:nvSpPr>
          <p:cNvPr id="3" name="Inhaltsplatzhalter 2">
            <a:extLst>
              <a:ext uri="{FF2B5EF4-FFF2-40B4-BE49-F238E27FC236}">
                <a16:creationId xmlns:a16="http://schemas.microsoft.com/office/drawing/2014/main" id="{5E863A97-ED92-9C17-A87D-F3505129C294}"/>
              </a:ext>
            </a:extLst>
          </p:cNvPr>
          <p:cNvSpPr>
            <a:spLocks noGrp="1"/>
          </p:cNvSpPr>
          <p:nvPr>
            <p:ph idx="1"/>
          </p:nvPr>
        </p:nvSpPr>
        <p:spPr/>
        <p:txBody>
          <a:bodyPr/>
          <a:lstStyle/>
          <a:p>
            <a:pPr marL="0" indent="0">
              <a:buNone/>
            </a:pPr>
            <a:r>
              <a:rPr lang="de-DE" dirty="0"/>
              <a:t>Die On-Bedingung verbindet</a:t>
            </a:r>
          </a:p>
          <a:p>
            <a:pPr marL="457200" lvl="1" indent="0">
              <a:buNone/>
            </a:pPr>
            <a:r>
              <a:rPr lang="de-DE" dirty="0"/>
              <a:t>Element der Ausgangs-View =&gt; Element(e) der Ziel-View</a:t>
            </a:r>
          </a:p>
          <a:p>
            <a:pPr marL="457200" lvl="1" indent="0">
              <a:buNone/>
            </a:pPr>
            <a:endParaRPr lang="de-DE" dirty="0"/>
          </a:p>
          <a:p>
            <a:pPr marL="0" indent="0">
              <a:buNone/>
            </a:pPr>
            <a:r>
              <a:rPr lang="de-DE" dirty="0"/>
              <a:t>Dabei steht:</a:t>
            </a:r>
          </a:p>
          <a:p>
            <a:pPr marL="457200" lvl="1" indent="0">
              <a:buNone/>
            </a:pPr>
            <a:r>
              <a:rPr lang="de-DE" dirty="0">
                <a:latin typeface="Courier New" panose="02070309020205020404" pitchFamily="49" charset="0"/>
                <a:cs typeface="Courier New" panose="02070309020205020404" pitchFamily="49" charset="0"/>
              </a:rPr>
              <a:t>$</a:t>
            </a:r>
            <a:r>
              <a:rPr lang="de-DE" dirty="0" err="1">
                <a:latin typeface="Courier New" panose="02070309020205020404" pitchFamily="49" charset="0"/>
                <a:cs typeface="Courier New" panose="02070309020205020404" pitchFamily="49" charset="0"/>
              </a:rPr>
              <a:t>projection.CustomerId</a:t>
            </a:r>
            <a:endParaRPr lang="de-DE" dirty="0">
              <a:latin typeface="Courier New" panose="02070309020205020404" pitchFamily="49" charset="0"/>
              <a:cs typeface="Courier New" panose="02070309020205020404" pitchFamily="49" charset="0"/>
            </a:endParaRPr>
          </a:p>
          <a:p>
            <a:pPr marL="0" indent="0">
              <a:buNone/>
            </a:pPr>
            <a:r>
              <a:rPr lang="de-DE" dirty="0"/>
              <a:t>für das projizierte Element der aktuellen View und:</a:t>
            </a:r>
          </a:p>
          <a:p>
            <a:pPr marL="457200" lvl="1" indent="0">
              <a:buNone/>
            </a:pPr>
            <a:r>
              <a:rPr lang="de-DE" dirty="0">
                <a:latin typeface="Courier New" panose="02070309020205020404" pitchFamily="49" charset="0"/>
                <a:cs typeface="Courier New" panose="02070309020205020404" pitchFamily="49" charset="0"/>
              </a:rPr>
              <a:t>_</a:t>
            </a:r>
            <a:r>
              <a:rPr lang="de-DE" dirty="0" err="1">
                <a:latin typeface="Courier New" panose="02070309020205020404" pitchFamily="49" charset="0"/>
                <a:cs typeface="Courier New" panose="02070309020205020404" pitchFamily="49" charset="0"/>
              </a:rPr>
              <a:t>Customer.CustomerId</a:t>
            </a:r>
            <a:endParaRPr lang="de-DE" dirty="0">
              <a:latin typeface="Courier New" panose="02070309020205020404" pitchFamily="49" charset="0"/>
              <a:cs typeface="Courier New" panose="02070309020205020404" pitchFamily="49" charset="0"/>
            </a:endParaRPr>
          </a:p>
          <a:p>
            <a:pPr marL="0" indent="0">
              <a:buNone/>
            </a:pPr>
            <a:r>
              <a:rPr lang="de-DE" dirty="0"/>
              <a:t>für ein Element der Ziel-View</a:t>
            </a:r>
          </a:p>
        </p:txBody>
      </p:sp>
    </p:spTree>
    <p:extLst>
      <p:ext uri="{BB962C8B-B14F-4D97-AF65-F5344CB8AC3E}">
        <p14:creationId xmlns:p14="http://schemas.microsoft.com/office/powerpoint/2010/main" val="372214360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B1BE67D-C168-39FD-9D6D-D65713DC33D4}"/>
              </a:ext>
            </a:extLst>
          </p:cNvPr>
          <p:cNvSpPr>
            <a:spLocks noGrp="1"/>
          </p:cNvSpPr>
          <p:nvPr>
            <p:ph type="title"/>
          </p:nvPr>
        </p:nvSpPr>
        <p:spPr/>
        <p:txBody>
          <a:bodyPr/>
          <a:lstStyle/>
          <a:p>
            <a:r>
              <a:rPr lang="de-DE" dirty="0"/>
              <a:t>Warum verwenden wir $</a:t>
            </a:r>
            <a:r>
              <a:rPr lang="de-DE" dirty="0" err="1"/>
              <a:t>projection</a:t>
            </a:r>
            <a:endParaRPr lang="de-DE" dirty="0"/>
          </a:p>
        </p:txBody>
      </p:sp>
      <p:sp>
        <p:nvSpPr>
          <p:cNvPr id="3" name="Inhaltsplatzhalter 2">
            <a:extLst>
              <a:ext uri="{FF2B5EF4-FFF2-40B4-BE49-F238E27FC236}">
                <a16:creationId xmlns:a16="http://schemas.microsoft.com/office/drawing/2014/main" id="{DE9F1AFE-BA50-97CE-0DAA-0ECD331758C7}"/>
              </a:ext>
            </a:extLst>
          </p:cNvPr>
          <p:cNvSpPr>
            <a:spLocks noGrp="1"/>
          </p:cNvSpPr>
          <p:nvPr>
            <p:ph idx="1"/>
          </p:nvPr>
        </p:nvSpPr>
        <p:spPr/>
        <p:txBody>
          <a:bodyPr/>
          <a:lstStyle/>
          <a:p>
            <a:pPr marL="0" indent="0">
              <a:buNone/>
            </a:pPr>
            <a:r>
              <a:rPr lang="de-DE" dirty="0">
                <a:latin typeface="Courier New" panose="02070309020205020404" pitchFamily="49" charset="0"/>
                <a:cs typeface="Courier New" panose="02070309020205020404" pitchFamily="49" charset="0"/>
              </a:rPr>
              <a:t>$</a:t>
            </a:r>
            <a:r>
              <a:rPr lang="de-DE" dirty="0" err="1">
                <a:latin typeface="Courier New" panose="02070309020205020404" pitchFamily="49" charset="0"/>
                <a:cs typeface="Courier New" panose="02070309020205020404" pitchFamily="49" charset="0"/>
              </a:rPr>
              <a:t>projection</a:t>
            </a:r>
            <a:r>
              <a:rPr lang="de-DE" dirty="0">
                <a:latin typeface="Courier New" panose="02070309020205020404" pitchFamily="49" charset="0"/>
                <a:cs typeface="Courier New" panose="02070309020205020404" pitchFamily="49" charset="0"/>
              </a:rPr>
              <a:t> …</a:t>
            </a:r>
          </a:p>
          <a:p>
            <a:pPr lvl="0"/>
            <a:r>
              <a:rPr lang="de-DE" dirty="0"/>
              <a:t>bezeichnet die aktuelle Ergebnisprojektion </a:t>
            </a:r>
          </a:p>
          <a:p>
            <a:pPr lvl="0"/>
            <a:r>
              <a:rPr lang="de-DE" dirty="0"/>
              <a:t>verwendet den veröffentlichten Elementnamen </a:t>
            </a:r>
          </a:p>
          <a:p>
            <a:pPr lvl="0"/>
            <a:r>
              <a:rPr lang="de-DE" dirty="0"/>
              <a:t>vermeidet die direkte Bindung an den technischen Quellnamen </a:t>
            </a:r>
          </a:p>
          <a:p>
            <a:pPr lvl="0"/>
            <a:r>
              <a:rPr lang="de-DE" dirty="0"/>
              <a:t>macht die ON-Bedingung leichter lesbar</a:t>
            </a:r>
          </a:p>
          <a:p>
            <a:endParaRPr lang="de-DE" dirty="0"/>
          </a:p>
        </p:txBody>
      </p:sp>
    </p:spTree>
    <p:extLst>
      <p:ext uri="{BB962C8B-B14F-4D97-AF65-F5344CB8AC3E}">
        <p14:creationId xmlns:p14="http://schemas.microsoft.com/office/powerpoint/2010/main" val="382449932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A02EA81-9422-38F6-49EB-D7BD3AD190ED}"/>
              </a:ext>
            </a:extLst>
          </p:cNvPr>
          <p:cNvSpPr>
            <a:spLocks noGrp="1"/>
          </p:cNvSpPr>
          <p:nvPr>
            <p:ph type="title"/>
          </p:nvPr>
        </p:nvSpPr>
        <p:spPr/>
        <p:txBody>
          <a:bodyPr/>
          <a:lstStyle/>
          <a:p>
            <a:r>
              <a:rPr lang="de-DE" dirty="0"/>
              <a:t>Kardinalitäten beschreiben die Beziehung</a:t>
            </a:r>
          </a:p>
        </p:txBody>
      </p:sp>
      <p:graphicFrame>
        <p:nvGraphicFramePr>
          <p:cNvPr id="4" name="Inhaltsplatzhalter 3">
            <a:extLst>
              <a:ext uri="{FF2B5EF4-FFF2-40B4-BE49-F238E27FC236}">
                <a16:creationId xmlns:a16="http://schemas.microsoft.com/office/drawing/2014/main" id="{3FE5F0E0-4A5C-EE2E-7DB8-277AC39AB4CF}"/>
              </a:ext>
            </a:extLst>
          </p:cNvPr>
          <p:cNvGraphicFramePr>
            <a:graphicFrameLocks noGrp="1"/>
          </p:cNvGraphicFramePr>
          <p:nvPr>
            <p:ph idx="1"/>
            <p:extLst>
              <p:ext uri="{D42A27DB-BD31-4B8C-83A1-F6EECF244321}">
                <p14:modId xmlns:p14="http://schemas.microsoft.com/office/powerpoint/2010/main" val="1795204629"/>
              </p:ext>
            </p:extLst>
          </p:nvPr>
        </p:nvGraphicFramePr>
        <p:xfrm>
          <a:off x="838200" y="1825625"/>
          <a:ext cx="6702870" cy="1854200"/>
        </p:xfrm>
        <a:graphic>
          <a:graphicData uri="http://schemas.openxmlformats.org/drawingml/2006/table">
            <a:tbl>
              <a:tblPr firstRow="1" bandRow="1">
                <a:tableStyleId>{5C22544A-7EE6-4342-B048-85BDC9FD1C3A}</a:tableStyleId>
              </a:tblPr>
              <a:tblGrid>
                <a:gridCol w="1445070">
                  <a:extLst>
                    <a:ext uri="{9D8B030D-6E8A-4147-A177-3AD203B41FA5}">
                      <a16:colId xmlns:a16="http://schemas.microsoft.com/office/drawing/2014/main" val="3099982343"/>
                    </a:ext>
                  </a:extLst>
                </a:gridCol>
                <a:gridCol w="5257800">
                  <a:extLst>
                    <a:ext uri="{9D8B030D-6E8A-4147-A177-3AD203B41FA5}">
                      <a16:colId xmlns:a16="http://schemas.microsoft.com/office/drawing/2014/main" val="1866019478"/>
                    </a:ext>
                  </a:extLst>
                </a:gridCol>
              </a:tblGrid>
              <a:tr h="370840">
                <a:tc>
                  <a:txBody>
                    <a:bodyPr/>
                    <a:lstStyle/>
                    <a:p>
                      <a:r>
                        <a:rPr lang="de-DE" dirty="0"/>
                        <a:t>Kardinalität</a:t>
                      </a:r>
                    </a:p>
                  </a:txBody>
                  <a:tcPr/>
                </a:tc>
                <a:tc>
                  <a:txBody>
                    <a:bodyPr/>
                    <a:lstStyle/>
                    <a:p>
                      <a:r>
                        <a:rPr lang="de-DE" dirty="0"/>
                        <a:t>Bedeutung</a:t>
                      </a:r>
                    </a:p>
                  </a:txBody>
                  <a:tcPr/>
                </a:tc>
                <a:extLst>
                  <a:ext uri="{0D108BD9-81ED-4DB2-BD59-A6C34878D82A}">
                    <a16:rowId xmlns:a16="http://schemas.microsoft.com/office/drawing/2014/main" val="1513947745"/>
                  </a:ext>
                </a:extLst>
              </a:tr>
              <a:tr h="370840">
                <a:tc>
                  <a:txBody>
                    <a:bodyPr/>
                    <a:lstStyle/>
                    <a:p>
                      <a:r>
                        <a:rPr lang="de-DE" dirty="0">
                          <a:latin typeface="Courier New" panose="02070309020205020404" pitchFamily="49" charset="0"/>
                          <a:cs typeface="Courier New" panose="02070309020205020404" pitchFamily="49" charset="0"/>
                        </a:rPr>
                        <a:t>[0..1]</a:t>
                      </a:r>
                    </a:p>
                  </a:txBody>
                  <a:tcPr/>
                </a:tc>
                <a:tc>
                  <a:txBody>
                    <a:bodyPr/>
                    <a:lstStyle/>
                    <a:p>
                      <a:r>
                        <a:rPr lang="de-DE" dirty="0"/>
                        <a:t>kein oder höchstens ein Ziel</a:t>
                      </a:r>
                    </a:p>
                  </a:txBody>
                  <a:tcPr/>
                </a:tc>
                <a:extLst>
                  <a:ext uri="{0D108BD9-81ED-4DB2-BD59-A6C34878D82A}">
                    <a16:rowId xmlns:a16="http://schemas.microsoft.com/office/drawing/2014/main" val="2256294102"/>
                  </a:ext>
                </a:extLst>
              </a:tr>
              <a:tr h="370840">
                <a:tc>
                  <a:txBody>
                    <a:bodyPr/>
                    <a:lstStyle/>
                    <a:p>
                      <a:r>
                        <a:rPr lang="de-DE" dirty="0">
                          <a:latin typeface="Courier New" panose="02070309020205020404" pitchFamily="49" charset="0"/>
                          <a:cs typeface="Courier New" panose="02070309020205020404" pitchFamily="49" charset="0"/>
                        </a:rPr>
                        <a:t>[1..1]</a:t>
                      </a:r>
                    </a:p>
                  </a:txBody>
                  <a:tcPr/>
                </a:tc>
                <a:tc>
                  <a:txBody>
                    <a:bodyPr/>
                    <a:lstStyle/>
                    <a:p>
                      <a:r>
                        <a:rPr lang="de-DE" dirty="0"/>
                        <a:t>genau ein Ziel</a:t>
                      </a:r>
                    </a:p>
                  </a:txBody>
                  <a:tcPr/>
                </a:tc>
                <a:extLst>
                  <a:ext uri="{0D108BD9-81ED-4DB2-BD59-A6C34878D82A}">
                    <a16:rowId xmlns:a16="http://schemas.microsoft.com/office/drawing/2014/main" val="3290667996"/>
                  </a:ext>
                </a:extLst>
              </a:tr>
              <a:tr h="370840">
                <a:tc>
                  <a:txBody>
                    <a:bodyPr/>
                    <a:lstStyle/>
                    <a:p>
                      <a:r>
                        <a:rPr lang="de-DE" dirty="0">
                          <a:latin typeface="Courier New" panose="02070309020205020404" pitchFamily="49" charset="0"/>
                          <a:cs typeface="Courier New" panose="02070309020205020404" pitchFamily="49" charset="0"/>
                        </a:rPr>
                        <a:t>[0..*]</a:t>
                      </a:r>
                    </a:p>
                  </a:txBody>
                  <a:tcPr/>
                </a:tc>
                <a:tc>
                  <a:txBody>
                    <a:bodyPr/>
                    <a:lstStyle/>
                    <a:p>
                      <a:r>
                        <a:rPr lang="de-DE" dirty="0"/>
                        <a:t>beliebig viele Ziele</a:t>
                      </a:r>
                    </a:p>
                  </a:txBody>
                  <a:tcPr/>
                </a:tc>
                <a:extLst>
                  <a:ext uri="{0D108BD9-81ED-4DB2-BD59-A6C34878D82A}">
                    <a16:rowId xmlns:a16="http://schemas.microsoft.com/office/drawing/2014/main" val="3441386415"/>
                  </a:ext>
                </a:extLst>
              </a:tr>
              <a:tr h="370840">
                <a:tc>
                  <a:txBody>
                    <a:bodyPr/>
                    <a:lstStyle/>
                    <a:p>
                      <a:r>
                        <a:rPr lang="de-DE" dirty="0">
                          <a:latin typeface="Courier New" panose="02070309020205020404" pitchFamily="49" charset="0"/>
                          <a:cs typeface="Courier New" panose="02070309020205020404" pitchFamily="49" charset="0"/>
                        </a:rPr>
                        <a:t>[1..*]</a:t>
                      </a:r>
                    </a:p>
                  </a:txBody>
                  <a:tcPr/>
                </a:tc>
                <a:tc>
                  <a:txBody>
                    <a:bodyPr/>
                    <a:lstStyle/>
                    <a:p>
                      <a:r>
                        <a:rPr lang="de-DE" dirty="0"/>
                        <a:t>mindestens ein Ziel</a:t>
                      </a:r>
                    </a:p>
                  </a:txBody>
                  <a:tcPr/>
                </a:tc>
                <a:extLst>
                  <a:ext uri="{0D108BD9-81ED-4DB2-BD59-A6C34878D82A}">
                    <a16:rowId xmlns:a16="http://schemas.microsoft.com/office/drawing/2014/main" val="384165224"/>
                  </a:ext>
                </a:extLst>
              </a:tr>
            </a:tbl>
          </a:graphicData>
        </a:graphic>
      </p:graphicFrame>
    </p:spTree>
    <p:extLst>
      <p:ext uri="{BB962C8B-B14F-4D97-AF65-F5344CB8AC3E}">
        <p14:creationId xmlns:p14="http://schemas.microsoft.com/office/powerpoint/2010/main" val="231496244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A5ABEC6-3CB4-AFFA-BFF5-9C99611F6C1E}"/>
              </a:ext>
            </a:extLst>
          </p:cNvPr>
          <p:cNvSpPr>
            <a:spLocks noGrp="1"/>
          </p:cNvSpPr>
          <p:nvPr>
            <p:ph type="title"/>
          </p:nvPr>
        </p:nvSpPr>
        <p:spPr/>
        <p:txBody>
          <a:bodyPr/>
          <a:lstStyle/>
          <a:p>
            <a:r>
              <a:rPr lang="de-DE" dirty="0"/>
              <a:t>To-</a:t>
            </a:r>
            <a:r>
              <a:rPr lang="de-DE" dirty="0" err="1"/>
              <a:t>One</a:t>
            </a:r>
            <a:r>
              <a:rPr lang="de-DE" dirty="0"/>
              <a:t> und To-Many</a:t>
            </a:r>
          </a:p>
        </p:txBody>
      </p:sp>
      <p:sp>
        <p:nvSpPr>
          <p:cNvPr id="3" name="Inhaltsplatzhalter 2">
            <a:extLst>
              <a:ext uri="{FF2B5EF4-FFF2-40B4-BE49-F238E27FC236}">
                <a16:creationId xmlns:a16="http://schemas.microsoft.com/office/drawing/2014/main" id="{633C5C67-F1A7-7D89-7123-9CA8B49465FC}"/>
              </a:ext>
            </a:extLst>
          </p:cNvPr>
          <p:cNvSpPr>
            <a:spLocks noGrp="1"/>
          </p:cNvSpPr>
          <p:nvPr>
            <p:ph idx="1"/>
          </p:nvPr>
        </p:nvSpPr>
        <p:spPr/>
        <p:txBody>
          <a:bodyPr>
            <a:normAutofit fontScale="85000" lnSpcReduction="20000"/>
          </a:bodyPr>
          <a:lstStyle/>
          <a:p>
            <a:pPr marL="0" indent="0">
              <a:buNone/>
            </a:pPr>
            <a:r>
              <a:rPr lang="de-DE" b="1" dirty="0"/>
              <a:t>To-</a:t>
            </a:r>
            <a:r>
              <a:rPr lang="de-DE" b="1" dirty="0" err="1"/>
              <a:t>One</a:t>
            </a:r>
            <a:r>
              <a:rPr lang="de-DE" b="1" dirty="0"/>
              <a:t>-Assoziation</a:t>
            </a:r>
            <a:endParaRPr lang="de-DE" dirty="0"/>
          </a:p>
          <a:p>
            <a:pPr marL="457200" lvl="1" indent="0">
              <a:buNone/>
            </a:pPr>
            <a:r>
              <a:rPr lang="de-DE" dirty="0">
                <a:latin typeface="Courier New" panose="02070309020205020404" pitchFamily="49" charset="0"/>
                <a:cs typeface="Courier New" panose="02070309020205020404" pitchFamily="49" charset="0"/>
              </a:rPr>
              <a:t>_</a:t>
            </a:r>
            <a:r>
              <a:rPr lang="de-DE" dirty="0" err="1">
                <a:latin typeface="Courier New" panose="02070309020205020404" pitchFamily="49" charset="0"/>
                <a:cs typeface="Courier New" panose="02070309020205020404" pitchFamily="49" charset="0"/>
              </a:rPr>
              <a:t>Customer.CustomerName</a:t>
            </a:r>
            <a:endParaRPr lang="de-DE" dirty="0">
              <a:latin typeface="Courier New" panose="02070309020205020404" pitchFamily="49" charset="0"/>
              <a:cs typeface="Courier New" panose="02070309020205020404" pitchFamily="49" charset="0"/>
            </a:endParaRPr>
          </a:p>
          <a:p>
            <a:pPr marL="0" indent="0">
              <a:buNone/>
            </a:pPr>
            <a:r>
              <a:rPr lang="de-DE" dirty="0"/>
              <a:t>liefert höchstens einen Wert pro Auftrag.</a:t>
            </a:r>
          </a:p>
          <a:p>
            <a:pPr marL="0" indent="0">
              <a:buNone/>
            </a:pPr>
            <a:r>
              <a:rPr lang="de-DE" b="1" dirty="0"/>
              <a:t>To-Many-Assoziation</a:t>
            </a:r>
            <a:endParaRPr lang="de-DE" dirty="0"/>
          </a:p>
          <a:p>
            <a:pPr marL="457200" lvl="1" indent="0">
              <a:buNone/>
            </a:pPr>
            <a:r>
              <a:rPr lang="de-DE" dirty="0">
                <a:latin typeface="Courier New" panose="02070309020205020404" pitchFamily="49" charset="0"/>
                <a:cs typeface="Courier New" panose="02070309020205020404" pitchFamily="49" charset="0"/>
              </a:rPr>
              <a:t>_Items</a:t>
            </a:r>
          </a:p>
          <a:p>
            <a:pPr marL="0" indent="0">
              <a:buNone/>
            </a:pPr>
            <a:r>
              <a:rPr lang="de-DE" dirty="0"/>
              <a:t>kann mehrere Zielzeilen zu einem Auftrag liefern.</a:t>
            </a:r>
          </a:p>
          <a:p>
            <a:pPr marL="0" indent="0">
              <a:buNone/>
            </a:pPr>
            <a:endParaRPr lang="de-DE" dirty="0"/>
          </a:p>
          <a:p>
            <a:pPr marL="0" indent="0">
              <a:buNone/>
            </a:pPr>
            <a:r>
              <a:rPr lang="de-DE" dirty="0"/>
              <a:t>Folgen einer To-Many-Beziehung:</a:t>
            </a:r>
          </a:p>
          <a:p>
            <a:pPr lvl="0"/>
            <a:r>
              <a:rPr lang="de-DE" dirty="0"/>
              <a:t>Ergebnismenge kann sich vervielfachen </a:t>
            </a:r>
          </a:p>
          <a:p>
            <a:pPr lvl="0"/>
            <a:r>
              <a:rPr lang="de-DE" dirty="0"/>
              <a:t>Schlüssel müssen erneut geprüft werden </a:t>
            </a:r>
          </a:p>
          <a:p>
            <a:pPr lvl="0"/>
            <a:r>
              <a:rPr lang="de-DE" dirty="0"/>
              <a:t>direkte Verwendung ist stärker eingeschränkt </a:t>
            </a:r>
          </a:p>
          <a:p>
            <a:pPr lvl="0"/>
            <a:r>
              <a:rPr lang="de-DE" dirty="0"/>
              <a:t>Aggregationen benötigen besondere Aufmerksamkeit</a:t>
            </a:r>
          </a:p>
          <a:p>
            <a:endParaRPr lang="de-DE" dirty="0"/>
          </a:p>
        </p:txBody>
      </p:sp>
    </p:spTree>
    <p:extLst>
      <p:ext uri="{BB962C8B-B14F-4D97-AF65-F5344CB8AC3E}">
        <p14:creationId xmlns:p14="http://schemas.microsoft.com/office/powerpoint/2010/main" val="391128302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EF70D10-22A9-9E3F-F82E-41FD1495E491}"/>
              </a:ext>
            </a:extLst>
          </p:cNvPr>
          <p:cNvSpPr>
            <a:spLocks noGrp="1"/>
          </p:cNvSpPr>
          <p:nvPr>
            <p:ph type="title"/>
          </p:nvPr>
        </p:nvSpPr>
        <p:spPr/>
        <p:txBody>
          <a:bodyPr/>
          <a:lstStyle/>
          <a:p>
            <a:r>
              <a:rPr lang="de-DE" dirty="0"/>
              <a:t>Ziel von Live-Coding 3</a:t>
            </a:r>
          </a:p>
        </p:txBody>
      </p:sp>
      <p:sp>
        <p:nvSpPr>
          <p:cNvPr id="3" name="Inhaltsplatzhalter 2">
            <a:extLst>
              <a:ext uri="{FF2B5EF4-FFF2-40B4-BE49-F238E27FC236}">
                <a16:creationId xmlns:a16="http://schemas.microsoft.com/office/drawing/2014/main" id="{FE80FFF8-C3A1-EACD-F144-921165734C57}"/>
              </a:ext>
            </a:extLst>
          </p:cNvPr>
          <p:cNvSpPr>
            <a:spLocks noGrp="1"/>
          </p:cNvSpPr>
          <p:nvPr>
            <p:ph idx="1"/>
          </p:nvPr>
        </p:nvSpPr>
        <p:spPr/>
        <p:txBody>
          <a:bodyPr>
            <a:normAutofit fontScale="85000" lnSpcReduction="20000"/>
          </a:bodyPr>
          <a:lstStyle/>
          <a:p>
            <a:pPr marL="0" indent="0">
              <a:buNone/>
            </a:pPr>
            <a:r>
              <a:rPr lang="de-DE" dirty="0"/>
              <a:t>Wir erstellen:</a:t>
            </a:r>
          </a:p>
          <a:p>
            <a:pPr marL="457200" lvl="1" indent="0">
              <a:buNone/>
            </a:pPr>
            <a:r>
              <a:rPr lang="de-DE" dirty="0" err="1">
                <a:latin typeface="Courier New" panose="02070309020205020404" pitchFamily="49" charset="0"/>
                <a:cs typeface="Courier New" panose="02070309020205020404" pitchFamily="49" charset="0"/>
              </a:rPr>
              <a:t>ZI_CDSCustomer</a:t>
            </a:r>
            <a:endParaRPr lang="de-DE" dirty="0">
              <a:latin typeface="Courier New" panose="02070309020205020404" pitchFamily="49" charset="0"/>
              <a:cs typeface="Courier New" panose="02070309020205020404" pitchFamily="49" charset="0"/>
            </a:endParaRPr>
          </a:p>
          <a:p>
            <a:pPr marL="0" indent="0">
              <a:buNone/>
            </a:pPr>
            <a:r>
              <a:rPr lang="de-DE" dirty="0"/>
              <a:t>Anschließend erweitern wir:</a:t>
            </a:r>
          </a:p>
          <a:p>
            <a:pPr marL="457200" lvl="1" indent="0">
              <a:buNone/>
            </a:pPr>
            <a:r>
              <a:rPr lang="de-DE" dirty="0" err="1">
                <a:latin typeface="Courier New" panose="02070309020205020404" pitchFamily="49" charset="0"/>
                <a:cs typeface="Courier New" panose="02070309020205020404" pitchFamily="49" charset="0"/>
              </a:rPr>
              <a:t>ZI_CDSOrder</a:t>
            </a:r>
            <a:endParaRPr lang="de-DE" dirty="0">
              <a:latin typeface="Courier New" panose="02070309020205020404" pitchFamily="49" charset="0"/>
              <a:cs typeface="Courier New" panose="02070309020205020404" pitchFamily="49" charset="0"/>
            </a:endParaRPr>
          </a:p>
          <a:p>
            <a:pPr marL="0" indent="0">
              <a:buNone/>
            </a:pPr>
            <a:r>
              <a:rPr lang="de-DE" dirty="0"/>
              <a:t>um:</a:t>
            </a:r>
          </a:p>
          <a:p>
            <a:pPr marL="457200" lvl="1" indent="0">
              <a:buNone/>
            </a:pPr>
            <a:r>
              <a:rPr lang="de-DE" dirty="0" err="1">
                <a:latin typeface="Courier New" panose="02070309020205020404" pitchFamily="49" charset="0"/>
                <a:cs typeface="Courier New" panose="02070309020205020404" pitchFamily="49" charset="0"/>
              </a:rPr>
              <a:t>association</a:t>
            </a:r>
            <a:r>
              <a:rPr lang="de-DE" dirty="0">
                <a:latin typeface="Courier New" panose="02070309020205020404" pitchFamily="49" charset="0"/>
                <a:cs typeface="Courier New" panose="02070309020205020404" pitchFamily="49" charset="0"/>
              </a:rPr>
              <a:t> [0..1] to </a:t>
            </a:r>
            <a:r>
              <a:rPr lang="de-DE" dirty="0" err="1">
                <a:latin typeface="Courier New" panose="02070309020205020404" pitchFamily="49" charset="0"/>
                <a:cs typeface="Courier New" panose="02070309020205020404" pitchFamily="49" charset="0"/>
              </a:rPr>
              <a:t>ZI_CDSCustomer</a:t>
            </a:r>
            <a:r>
              <a:rPr lang="de-DE" dirty="0">
                <a:latin typeface="Courier New" panose="02070309020205020404" pitchFamily="49" charset="0"/>
                <a:cs typeface="Courier New" panose="02070309020205020404" pitchFamily="49" charset="0"/>
              </a:rPr>
              <a:t> as _Customer</a:t>
            </a:r>
          </a:p>
          <a:p>
            <a:pPr marL="0" indent="0">
              <a:buNone/>
            </a:pPr>
            <a:r>
              <a:rPr lang="de-DE" dirty="0"/>
              <a:t>Ergebnis:</a:t>
            </a:r>
          </a:p>
          <a:p>
            <a:pPr lvl="0"/>
            <a:r>
              <a:rPr lang="de-DE" dirty="0"/>
              <a:t>zentrale Kunden-View </a:t>
            </a:r>
          </a:p>
          <a:p>
            <a:pPr lvl="0"/>
            <a:r>
              <a:rPr lang="de-DE" dirty="0"/>
              <a:t>Beziehung Auftrag → Kunde </a:t>
            </a:r>
          </a:p>
          <a:p>
            <a:pPr lvl="0"/>
            <a:r>
              <a:rPr lang="de-DE" dirty="0"/>
              <a:t>Kundenname und Ort im Auftrag </a:t>
            </a:r>
          </a:p>
          <a:p>
            <a:pPr lvl="0"/>
            <a:r>
              <a:rPr lang="de-DE" dirty="0"/>
              <a:t>exponierte Assoziation _Customer </a:t>
            </a:r>
          </a:p>
          <a:p>
            <a:pPr lvl="0"/>
            <a:r>
              <a:rPr lang="de-DE" dirty="0"/>
              <a:t>Prüfung in der Data Preview</a:t>
            </a:r>
          </a:p>
          <a:p>
            <a:endParaRPr lang="de-DE" dirty="0"/>
          </a:p>
        </p:txBody>
      </p:sp>
    </p:spTree>
    <p:extLst>
      <p:ext uri="{BB962C8B-B14F-4D97-AF65-F5344CB8AC3E}">
        <p14:creationId xmlns:p14="http://schemas.microsoft.com/office/powerpoint/2010/main" val="30344597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7B6BC8F-4DB4-22BE-6C1C-2CC99FAB08C9}"/>
              </a:ext>
            </a:extLst>
          </p:cNvPr>
          <p:cNvSpPr>
            <a:spLocks noGrp="1"/>
          </p:cNvSpPr>
          <p:nvPr>
            <p:ph type="title"/>
          </p:nvPr>
        </p:nvSpPr>
        <p:spPr/>
        <p:txBody>
          <a:bodyPr/>
          <a:lstStyle/>
          <a:p>
            <a:r>
              <a:rPr lang="de-DE" dirty="0"/>
              <a:t>Zwischenstand nach Live-Coding 3</a:t>
            </a:r>
          </a:p>
        </p:txBody>
      </p:sp>
      <p:sp>
        <p:nvSpPr>
          <p:cNvPr id="3" name="Inhaltsplatzhalter 2">
            <a:extLst>
              <a:ext uri="{FF2B5EF4-FFF2-40B4-BE49-F238E27FC236}">
                <a16:creationId xmlns:a16="http://schemas.microsoft.com/office/drawing/2014/main" id="{5E9B3ED6-A8C3-A489-CF74-FDF1D758839F}"/>
              </a:ext>
            </a:extLst>
          </p:cNvPr>
          <p:cNvSpPr>
            <a:spLocks noGrp="1"/>
          </p:cNvSpPr>
          <p:nvPr>
            <p:ph idx="1"/>
          </p:nvPr>
        </p:nvSpPr>
        <p:spPr/>
        <p:txBody>
          <a:bodyPr/>
          <a:lstStyle/>
          <a:p>
            <a:pPr marL="0" indent="0">
              <a:buNone/>
            </a:pPr>
            <a:r>
              <a:rPr lang="de-DE" dirty="0"/>
              <a:t>Erreicht:</a:t>
            </a:r>
          </a:p>
          <a:p>
            <a:pPr lvl="0"/>
            <a:r>
              <a:rPr lang="de-DE" dirty="0"/>
              <a:t>Kunden-View als eigenständiges CDS-Objekt </a:t>
            </a:r>
          </a:p>
          <a:p>
            <a:pPr lvl="0"/>
            <a:r>
              <a:rPr lang="de-DE" dirty="0"/>
              <a:t>benannte Beziehung vom Auftrag zum Kunden </a:t>
            </a:r>
          </a:p>
          <a:p>
            <a:pPr lvl="0"/>
            <a:r>
              <a:rPr lang="de-DE" dirty="0"/>
              <a:t>ON-Bedingung über </a:t>
            </a:r>
            <a:r>
              <a:rPr lang="de-DE" dirty="0" err="1"/>
              <a:t>CustomerId</a:t>
            </a:r>
            <a:r>
              <a:rPr lang="de-DE" dirty="0"/>
              <a:t> </a:t>
            </a:r>
          </a:p>
          <a:p>
            <a:pPr lvl="0"/>
            <a:r>
              <a:rPr lang="de-DE" dirty="0"/>
              <a:t>dokumentierte To-</a:t>
            </a:r>
            <a:r>
              <a:rPr lang="de-DE" dirty="0" err="1"/>
              <a:t>One</a:t>
            </a:r>
            <a:r>
              <a:rPr lang="de-DE" dirty="0"/>
              <a:t>-Kardinalität </a:t>
            </a:r>
          </a:p>
          <a:p>
            <a:pPr lvl="0"/>
            <a:r>
              <a:rPr lang="de-DE" dirty="0"/>
              <a:t>Kundendaten über Pfadausdrücke </a:t>
            </a:r>
          </a:p>
          <a:p>
            <a:pPr lvl="0"/>
            <a:r>
              <a:rPr lang="de-DE" dirty="0"/>
              <a:t>Assoziation für weitere Verbraucher exponiert</a:t>
            </a:r>
          </a:p>
          <a:p>
            <a:endParaRPr lang="de-DE" dirty="0"/>
          </a:p>
        </p:txBody>
      </p:sp>
    </p:spTree>
    <p:extLst>
      <p:ext uri="{BB962C8B-B14F-4D97-AF65-F5344CB8AC3E}">
        <p14:creationId xmlns:p14="http://schemas.microsoft.com/office/powerpoint/2010/main" val="102440035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7275B67-AC4E-980C-45FD-8556304DDCB2}"/>
              </a:ext>
            </a:extLst>
          </p:cNvPr>
          <p:cNvSpPr>
            <a:spLocks noGrp="1"/>
          </p:cNvSpPr>
          <p:nvPr>
            <p:ph type="title"/>
          </p:nvPr>
        </p:nvSpPr>
        <p:spPr/>
        <p:txBody>
          <a:bodyPr/>
          <a:lstStyle/>
          <a:p>
            <a:r>
              <a:rPr lang="de-DE" dirty="0"/>
              <a:t>Was bedeutet „Assoziation exponieren“?</a:t>
            </a:r>
          </a:p>
        </p:txBody>
      </p:sp>
      <p:sp>
        <p:nvSpPr>
          <p:cNvPr id="3" name="Inhaltsplatzhalter 2">
            <a:extLst>
              <a:ext uri="{FF2B5EF4-FFF2-40B4-BE49-F238E27FC236}">
                <a16:creationId xmlns:a16="http://schemas.microsoft.com/office/drawing/2014/main" id="{BC625217-B303-BC2F-9F63-014BD4FB7FFC}"/>
              </a:ext>
            </a:extLst>
          </p:cNvPr>
          <p:cNvSpPr>
            <a:spLocks noGrp="1"/>
          </p:cNvSpPr>
          <p:nvPr>
            <p:ph idx="1"/>
          </p:nvPr>
        </p:nvSpPr>
        <p:spPr/>
        <p:txBody>
          <a:bodyPr>
            <a:normAutofit fontScale="92500" lnSpcReduction="20000"/>
          </a:bodyPr>
          <a:lstStyle/>
          <a:p>
            <a:pPr marL="0" indent="0">
              <a:buNone/>
            </a:pPr>
            <a:r>
              <a:rPr lang="de-DE" dirty="0"/>
              <a:t>Definition der Assoziation:</a:t>
            </a:r>
          </a:p>
          <a:p>
            <a:pPr marL="457200" lvl="1" indent="0">
              <a:buNone/>
            </a:pPr>
            <a:r>
              <a:rPr lang="de-DE" dirty="0" err="1">
                <a:latin typeface="Courier New" panose="02070309020205020404" pitchFamily="49" charset="0"/>
                <a:cs typeface="Courier New" panose="02070309020205020404" pitchFamily="49" charset="0"/>
              </a:rPr>
              <a:t>association</a:t>
            </a:r>
            <a:r>
              <a:rPr lang="de-DE" dirty="0">
                <a:latin typeface="Courier New" panose="02070309020205020404" pitchFamily="49" charset="0"/>
                <a:cs typeface="Courier New" panose="02070309020205020404" pitchFamily="49" charset="0"/>
              </a:rPr>
              <a:t> [0..1] to </a:t>
            </a:r>
            <a:r>
              <a:rPr lang="de-DE" dirty="0" err="1">
                <a:latin typeface="Courier New" panose="02070309020205020404" pitchFamily="49" charset="0"/>
                <a:cs typeface="Courier New" panose="02070309020205020404" pitchFamily="49" charset="0"/>
              </a:rPr>
              <a:t>ZI_CDSCustomer</a:t>
            </a:r>
            <a:r>
              <a:rPr lang="de-DE" dirty="0">
                <a:latin typeface="Courier New" panose="02070309020205020404" pitchFamily="49" charset="0"/>
                <a:cs typeface="Courier New" panose="02070309020205020404" pitchFamily="49" charset="0"/>
              </a:rPr>
              <a:t> as _Customer</a:t>
            </a:r>
          </a:p>
          <a:p>
            <a:pPr marL="457200" lvl="1" indent="0">
              <a:buNone/>
            </a:pPr>
            <a:r>
              <a:rPr lang="de-DE" dirty="0">
                <a:latin typeface="Courier New" panose="02070309020205020404" pitchFamily="49" charset="0"/>
                <a:cs typeface="Courier New" panose="02070309020205020404" pitchFamily="49" charset="0"/>
              </a:rPr>
              <a:t>  on $</a:t>
            </a:r>
            <a:r>
              <a:rPr lang="de-DE" dirty="0" err="1">
                <a:latin typeface="Courier New" panose="02070309020205020404" pitchFamily="49" charset="0"/>
                <a:cs typeface="Courier New" panose="02070309020205020404" pitchFamily="49" charset="0"/>
              </a:rPr>
              <a:t>projection.CustomerId</a:t>
            </a:r>
            <a:r>
              <a:rPr lang="de-DE" dirty="0">
                <a:latin typeface="Courier New" panose="02070309020205020404" pitchFamily="49" charset="0"/>
                <a:cs typeface="Courier New" panose="02070309020205020404" pitchFamily="49" charset="0"/>
              </a:rPr>
              <a:t> = _</a:t>
            </a:r>
            <a:r>
              <a:rPr lang="de-DE" dirty="0" err="1">
                <a:latin typeface="Courier New" panose="02070309020205020404" pitchFamily="49" charset="0"/>
                <a:cs typeface="Courier New" panose="02070309020205020404" pitchFamily="49" charset="0"/>
              </a:rPr>
              <a:t>Customer.CustomerId</a:t>
            </a:r>
            <a:endParaRPr lang="de-DE" dirty="0">
              <a:latin typeface="Courier New" panose="02070309020205020404" pitchFamily="49" charset="0"/>
              <a:cs typeface="Courier New" panose="02070309020205020404" pitchFamily="49" charset="0"/>
            </a:endParaRPr>
          </a:p>
          <a:p>
            <a:pPr marL="0" indent="0">
              <a:buNone/>
            </a:pPr>
            <a:r>
              <a:rPr lang="de-DE" dirty="0"/>
              <a:t>Aufnahme in die Projektion:</a:t>
            </a:r>
          </a:p>
          <a:p>
            <a:pPr marL="457200" lvl="1" indent="0">
              <a:buNone/>
            </a:pPr>
            <a:r>
              <a:rPr lang="de-DE" dirty="0">
                <a:latin typeface="Courier New" panose="02070309020205020404" pitchFamily="49" charset="0"/>
                <a:cs typeface="Courier New" panose="02070309020205020404" pitchFamily="49" charset="0"/>
              </a:rPr>
              <a:t>{</a:t>
            </a:r>
          </a:p>
          <a:p>
            <a:pPr marL="457200" lvl="1" indent="0">
              <a:buNone/>
            </a:pPr>
            <a:r>
              <a:rPr lang="de-DE" dirty="0">
                <a:latin typeface="Courier New" panose="02070309020205020404" pitchFamily="49" charset="0"/>
                <a:cs typeface="Courier New" panose="02070309020205020404" pitchFamily="49" charset="0"/>
              </a:rPr>
              <a:t>	_Customer</a:t>
            </a:r>
          </a:p>
          <a:p>
            <a:pPr marL="457200" lvl="1" indent="0">
              <a:buNone/>
            </a:pPr>
            <a:r>
              <a:rPr lang="de-DE" dirty="0">
                <a:latin typeface="Courier New" panose="02070309020205020404" pitchFamily="49" charset="0"/>
                <a:cs typeface="Courier New" panose="02070309020205020404" pitchFamily="49" charset="0"/>
              </a:rPr>
              <a:t>}</a:t>
            </a:r>
          </a:p>
          <a:p>
            <a:pPr marL="0" indent="0">
              <a:buNone/>
            </a:pPr>
            <a:endParaRPr lang="de-DE" dirty="0"/>
          </a:p>
          <a:p>
            <a:pPr marL="0" indent="0">
              <a:buNone/>
            </a:pPr>
            <a:r>
              <a:rPr lang="de-DE" dirty="0"/>
              <a:t>Dadurch wird die Beziehung Bestandteil der Schnittstelle von </a:t>
            </a:r>
            <a:r>
              <a:rPr lang="de-DE" dirty="0" err="1">
                <a:latin typeface="Courier New" panose="02070309020205020404" pitchFamily="49" charset="0"/>
                <a:cs typeface="Courier New" panose="02070309020205020404" pitchFamily="49" charset="0"/>
              </a:rPr>
              <a:t>ZI_CDSOrder</a:t>
            </a:r>
            <a:r>
              <a:rPr lang="de-DE" dirty="0"/>
              <a:t> und nachgelagerte CDS Views können sie weiterverwenden:</a:t>
            </a:r>
          </a:p>
          <a:p>
            <a:pPr marL="457200" lvl="1" indent="0">
              <a:buNone/>
            </a:pPr>
            <a:r>
              <a:rPr lang="de-DE" dirty="0">
                <a:latin typeface="Courier New" panose="02070309020205020404" pitchFamily="49" charset="0"/>
                <a:cs typeface="Courier New" panose="02070309020205020404" pitchFamily="49" charset="0"/>
              </a:rPr>
              <a:t>_Order._</a:t>
            </a:r>
            <a:r>
              <a:rPr lang="de-DE" dirty="0" err="1">
                <a:latin typeface="Courier New" panose="02070309020205020404" pitchFamily="49" charset="0"/>
                <a:cs typeface="Courier New" panose="02070309020205020404" pitchFamily="49" charset="0"/>
              </a:rPr>
              <a:t>Customer.CountryCode</a:t>
            </a:r>
            <a:endParaRPr lang="de-DE" dirty="0">
              <a:latin typeface="Courier New" panose="02070309020205020404" pitchFamily="49" charset="0"/>
              <a:cs typeface="Courier New" panose="02070309020205020404" pitchFamily="49" charset="0"/>
            </a:endParaRPr>
          </a:p>
          <a:p>
            <a:endParaRPr lang="de-DE" dirty="0"/>
          </a:p>
        </p:txBody>
      </p:sp>
      <p:sp>
        <p:nvSpPr>
          <p:cNvPr id="5" name="Textfeld 4">
            <a:extLst>
              <a:ext uri="{FF2B5EF4-FFF2-40B4-BE49-F238E27FC236}">
                <a16:creationId xmlns:a16="http://schemas.microsoft.com/office/drawing/2014/main" id="{B6AFAC5E-BF20-6A33-510C-0F91E8621AB1}"/>
              </a:ext>
            </a:extLst>
          </p:cNvPr>
          <p:cNvSpPr txBox="1"/>
          <p:nvPr/>
        </p:nvSpPr>
        <p:spPr>
          <a:xfrm>
            <a:off x="693295" y="5942568"/>
            <a:ext cx="10660505" cy="461665"/>
          </a:xfrm>
          <a:prstGeom prst="rect">
            <a:avLst/>
          </a:prstGeom>
          <a:noFill/>
        </p:spPr>
        <p:txBody>
          <a:bodyPr wrap="square">
            <a:spAutoFit/>
          </a:bodyPr>
          <a:lstStyle/>
          <a:p>
            <a:r>
              <a:rPr lang="de-DE" sz="2400" dirty="0">
                <a:highlight>
                  <a:srgbClr val="FFFF00"/>
                </a:highlight>
              </a:rPr>
              <a:t>Exponiert wird die Beziehung – nicht automatisch jedes Element der Ziel-View.</a:t>
            </a:r>
          </a:p>
        </p:txBody>
      </p:sp>
    </p:spTree>
    <p:extLst>
      <p:ext uri="{BB962C8B-B14F-4D97-AF65-F5344CB8AC3E}">
        <p14:creationId xmlns:p14="http://schemas.microsoft.com/office/powerpoint/2010/main" val="305673628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DC7CDAA-4357-43EC-6871-122AE015C81F}"/>
              </a:ext>
            </a:extLst>
          </p:cNvPr>
          <p:cNvSpPr>
            <a:spLocks noGrp="1"/>
          </p:cNvSpPr>
          <p:nvPr>
            <p:ph type="title"/>
          </p:nvPr>
        </p:nvSpPr>
        <p:spPr/>
        <p:txBody>
          <a:bodyPr/>
          <a:lstStyle/>
          <a:p>
            <a:r>
              <a:rPr lang="de-DE" dirty="0"/>
              <a:t>Pfadausdrücke verwenden Assoziationen</a:t>
            </a:r>
          </a:p>
        </p:txBody>
      </p:sp>
      <p:sp>
        <p:nvSpPr>
          <p:cNvPr id="4" name="Inhaltsplatzhalter 3">
            <a:extLst>
              <a:ext uri="{FF2B5EF4-FFF2-40B4-BE49-F238E27FC236}">
                <a16:creationId xmlns:a16="http://schemas.microsoft.com/office/drawing/2014/main" id="{2E7D4C80-636A-C25D-B82C-727541B19EE7}"/>
              </a:ext>
            </a:extLst>
          </p:cNvPr>
          <p:cNvSpPr>
            <a:spLocks noGrp="1"/>
          </p:cNvSpPr>
          <p:nvPr>
            <p:ph sz="half" idx="1"/>
          </p:nvPr>
        </p:nvSpPr>
        <p:spPr>
          <a:xfrm>
            <a:off x="838199" y="1825625"/>
            <a:ext cx="5697511" cy="4351338"/>
          </a:xfrm>
        </p:spPr>
        <p:txBody>
          <a:bodyPr/>
          <a:lstStyle/>
          <a:p>
            <a:pPr marL="0" indent="0">
              <a:buNone/>
            </a:pPr>
            <a:r>
              <a:rPr lang="de-DE" dirty="0"/>
              <a:t>Einfacher Pfadausdruck:</a:t>
            </a:r>
          </a:p>
          <a:p>
            <a:pPr marL="457200" lvl="1" indent="0">
              <a:buNone/>
            </a:pPr>
            <a:r>
              <a:rPr lang="de-DE" dirty="0">
                <a:latin typeface="Courier New" panose="02070309020205020404" pitchFamily="49" charset="0"/>
                <a:cs typeface="Courier New" panose="02070309020205020404" pitchFamily="49" charset="0"/>
              </a:rPr>
              <a:t>_</a:t>
            </a:r>
            <a:r>
              <a:rPr lang="de-DE" dirty="0" err="1">
                <a:latin typeface="Courier New" panose="02070309020205020404" pitchFamily="49" charset="0"/>
                <a:cs typeface="Courier New" panose="02070309020205020404" pitchFamily="49" charset="0"/>
              </a:rPr>
              <a:t>Customer.CustomerName</a:t>
            </a:r>
            <a:endParaRPr lang="de-DE" dirty="0">
              <a:latin typeface="Courier New" panose="02070309020205020404" pitchFamily="49" charset="0"/>
              <a:cs typeface="Courier New" panose="02070309020205020404" pitchFamily="49" charset="0"/>
            </a:endParaRPr>
          </a:p>
          <a:p>
            <a:pPr marL="0" indent="0">
              <a:buNone/>
            </a:pPr>
            <a:r>
              <a:rPr lang="de-DE" dirty="0"/>
              <a:t>Mehrstufiger Pfadausdruck:</a:t>
            </a:r>
          </a:p>
          <a:p>
            <a:pPr marL="457200" lvl="1" indent="0">
              <a:buNone/>
            </a:pPr>
            <a:r>
              <a:rPr lang="de-DE" dirty="0">
                <a:latin typeface="Courier New" panose="02070309020205020404" pitchFamily="49" charset="0"/>
                <a:cs typeface="Courier New" panose="02070309020205020404" pitchFamily="49" charset="0"/>
              </a:rPr>
              <a:t>_Order._</a:t>
            </a:r>
            <a:r>
              <a:rPr lang="de-DE" dirty="0" err="1">
                <a:latin typeface="Courier New" panose="02070309020205020404" pitchFamily="49" charset="0"/>
                <a:cs typeface="Courier New" panose="02070309020205020404" pitchFamily="49" charset="0"/>
              </a:rPr>
              <a:t>Customer.CountryCode</a:t>
            </a:r>
            <a:endParaRPr lang="de-DE" dirty="0">
              <a:latin typeface="Courier New" panose="02070309020205020404" pitchFamily="49" charset="0"/>
              <a:cs typeface="Courier New" panose="02070309020205020404" pitchFamily="49" charset="0"/>
            </a:endParaRPr>
          </a:p>
          <a:p>
            <a:endParaRPr lang="de-DE" dirty="0"/>
          </a:p>
        </p:txBody>
      </p:sp>
      <p:sp>
        <p:nvSpPr>
          <p:cNvPr id="5" name="Inhaltsplatzhalter 4">
            <a:extLst>
              <a:ext uri="{FF2B5EF4-FFF2-40B4-BE49-F238E27FC236}">
                <a16:creationId xmlns:a16="http://schemas.microsoft.com/office/drawing/2014/main" id="{6BB398F2-3C0C-AB80-2CC2-0D3699D17719}"/>
              </a:ext>
            </a:extLst>
          </p:cNvPr>
          <p:cNvSpPr>
            <a:spLocks noGrp="1"/>
          </p:cNvSpPr>
          <p:nvPr>
            <p:ph sz="half" idx="2"/>
          </p:nvPr>
        </p:nvSpPr>
        <p:spPr>
          <a:xfrm>
            <a:off x="6760564" y="1825625"/>
            <a:ext cx="4593236" cy="4351338"/>
          </a:xfrm>
        </p:spPr>
        <p:txBody>
          <a:bodyPr/>
          <a:lstStyle/>
          <a:p>
            <a:pPr marL="0" indent="0">
              <a:buNone/>
            </a:pPr>
            <a:r>
              <a:rPr lang="de-DE" dirty="0"/>
              <a:t>Ein Pfadausdruck kann verwendet werden:</a:t>
            </a:r>
          </a:p>
          <a:p>
            <a:pPr lvl="0"/>
            <a:r>
              <a:rPr lang="de-DE" dirty="0"/>
              <a:t>in der Elementliste </a:t>
            </a:r>
          </a:p>
          <a:p>
            <a:pPr lvl="0"/>
            <a:r>
              <a:rPr lang="de-DE" dirty="0"/>
              <a:t>in Bedingungen </a:t>
            </a:r>
          </a:p>
          <a:p>
            <a:pPr lvl="0"/>
            <a:r>
              <a:rPr lang="de-DE" dirty="0"/>
              <a:t>in berechneten Ausdrücken </a:t>
            </a:r>
          </a:p>
          <a:p>
            <a:pPr lvl="0"/>
            <a:r>
              <a:rPr lang="de-DE" dirty="0"/>
              <a:t>in nachgelagerten CDS Views </a:t>
            </a:r>
          </a:p>
          <a:p>
            <a:pPr lvl="0"/>
            <a:r>
              <a:rPr lang="de-DE" dirty="0"/>
              <a:t>abhängig von Kardinalität und Kontext</a:t>
            </a:r>
          </a:p>
          <a:p>
            <a:endParaRPr lang="de-DE" dirty="0"/>
          </a:p>
        </p:txBody>
      </p:sp>
    </p:spTree>
    <p:extLst>
      <p:ext uri="{BB962C8B-B14F-4D97-AF65-F5344CB8AC3E}">
        <p14:creationId xmlns:p14="http://schemas.microsoft.com/office/powerpoint/2010/main" val="106105641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CE2D75E-44EB-06E1-7E8C-6155491ECB81}"/>
              </a:ext>
            </a:extLst>
          </p:cNvPr>
          <p:cNvSpPr>
            <a:spLocks noGrp="1"/>
          </p:cNvSpPr>
          <p:nvPr>
            <p:ph type="title"/>
          </p:nvPr>
        </p:nvSpPr>
        <p:spPr/>
        <p:txBody>
          <a:bodyPr/>
          <a:lstStyle/>
          <a:p>
            <a:r>
              <a:rPr lang="de-DE" dirty="0"/>
              <a:t>Exponieren oder direkt projizieren?</a:t>
            </a:r>
          </a:p>
        </p:txBody>
      </p:sp>
      <p:graphicFrame>
        <p:nvGraphicFramePr>
          <p:cNvPr id="4" name="Inhaltsplatzhalter 3">
            <a:extLst>
              <a:ext uri="{FF2B5EF4-FFF2-40B4-BE49-F238E27FC236}">
                <a16:creationId xmlns:a16="http://schemas.microsoft.com/office/drawing/2014/main" id="{EBC26723-47C5-1EF8-BDF8-5AAD54B63D46}"/>
              </a:ext>
            </a:extLst>
          </p:cNvPr>
          <p:cNvGraphicFramePr>
            <a:graphicFrameLocks noGrp="1"/>
          </p:cNvGraphicFramePr>
          <p:nvPr>
            <p:ph idx="1"/>
            <p:extLst>
              <p:ext uri="{D42A27DB-BD31-4B8C-83A1-F6EECF244321}">
                <p14:modId xmlns:p14="http://schemas.microsoft.com/office/powerpoint/2010/main" val="1442447085"/>
              </p:ext>
            </p:extLst>
          </p:nvPr>
        </p:nvGraphicFramePr>
        <p:xfrm>
          <a:off x="838200" y="1825625"/>
          <a:ext cx="10515600" cy="1854200"/>
        </p:xfrm>
        <a:graphic>
          <a:graphicData uri="http://schemas.openxmlformats.org/drawingml/2006/table">
            <a:tbl>
              <a:tblPr firstRow="1" bandRow="1">
                <a:tableStyleId>{5C22544A-7EE6-4342-B048-85BDC9FD1C3A}</a:tableStyleId>
              </a:tblPr>
              <a:tblGrid>
                <a:gridCol w="5257800">
                  <a:extLst>
                    <a:ext uri="{9D8B030D-6E8A-4147-A177-3AD203B41FA5}">
                      <a16:colId xmlns:a16="http://schemas.microsoft.com/office/drawing/2014/main" val="464627893"/>
                    </a:ext>
                  </a:extLst>
                </a:gridCol>
                <a:gridCol w="5257800">
                  <a:extLst>
                    <a:ext uri="{9D8B030D-6E8A-4147-A177-3AD203B41FA5}">
                      <a16:colId xmlns:a16="http://schemas.microsoft.com/office/drawing/2014/main" val="3775487659"/>
                    </a:ext>
                  </a:extLst>
                </a:gridCol>
              </a:tblGrid>
              <a:tr h="370840">
                <a:tc>
                  <a:txBody>
                    <a:bodyPr/>
                    <a:lstStyle/>
                    <a:p>
                      <a:r>
                        <a:rPr lang="de-DE" dirty="0"/>
                        <a:t>Direkte Projektion</a:t>
                      </a:r>
                    </a:p>
                  </a:txBody>
                  <a:tcPr/>
                </a:tc>
                <a:tc>
                  <a:txBody>
                    <a:bodyPr/>
                    <a:lstStyle/>
                    <a:p>
                      <a:r>
                        <a:rPr lang="de-DE" dirty="0"/>
                        <a:t>Exponierte Assoziation</a:t>
                      </a:r>
                    </a:p>
                  </a:txBody>
                  <a:tcPr/>
                </a:tc>
                <a:extLst>
                  <a:ext uri="{0D108BD9-81ED-4DB2-BD59-A6C34878D82A}">
                    <a16:rowId xmlns:a16="http://schemas.microsoft.com/office/drawing/2014/main" val="494285928"/>
                  </a:ext>
                </a:extLst>
              </a:tr>
              <a:tr h="370840">
                <a:tc>
                  <a:txBody>
                    <a:bodyPr/>
                    <a:lstStyle/>
                    <a:p>
                      <a:r>
                        <a:rPr lang="de-DE" dirty="0"/>
                        <a:t>Element gehört unmittelbar zur View</a:t>
                      </a:r>
                    </a:p>
                  </a:txBody>
                  <a:tcPr/>
                </a:tc>
                <a:tc>
                  <a:txBody>
                    <a:bodyPr/>
                    <a:lstStyle/>
                    <a:p>
                      <a:r>
                        <a:rPr lang="de-DE" dirty="0"/>
                        <a:t>Beziehung gehört zur View</a:t>
                      </a:r>
                    </a:p>
                  </a:txBody>
                  <a:tcPr/>
                </a:tc>
                <a:extLst>
                  <a:ext uri="{0D108BD9-81ED-4DB2-BD59-A6C34878D82A}">
                    <a16:rowId xmlns:a16="http://schemas.microsoft.com/office/drawing/2014/main" val="1779716387"/>
                  </a:ext>
                </a:extLst>
              </a:tr>
              <a:tr h="370840">
                <a:tc>
                  <a:txBody>
                    <a:bodyPr/>
                    <a:lstStyle/>
                    <a:p>
                      <a:r>
                        <a:rPr lang="de-DE" dirty="0"/>
                        <a:t>einfacher Zugriff für Verbraucher</a:t>
                      </a:r>
                    </a:p>
                  </a:txBody>
                  <a:tcPr/>
                </a:tc>
                <a:tc>
                  <a:txBody>
                    <a:bodyPr/>
                    <a:lstStyle/>
                    <a:p>
                      <a:r>
                        <a:rPr lang="de-DE" dirty="0"/>
                        <a:t>flexible Navigation zum Ziel</a:t>
                      </a:r>
                    </a:p>
                  </a:txBody>
                  <a:tcPr/>
                </a:tc>
                <a:extLst>
                  <a:ext uri="{0D108BD9-81ED-4DB2-BD59-A6C34878D82A}">
                    <a16:rowId xmlns:a16="http://schemas.microsoft.com/office/drawing/2014/main" val="2554281129"/>
                  </a:ext>
                </a:extLst>
              </a:tr>
              <a:tr h="370840">
                <a:tc>
                  <a:txBody>
                    <a:bodyPr/>
                    <a:lstStyle/>
                    <a:p>
                      <a:r>
                        <a:rPr lang="de-DE" dirty="0"/>
                        <a:t>fester Bestandteil der Schnittstelle</a:t>
                      </a:r>
                    </a:p>
                  </a:txBody>
                  <a:tcPr/>
                </a:tc>
                <a:tc>
                  <a:txBody>
                    <a:bodyPr/>
                    <a:lstStyle/>
                    <a:p>
                      <a:r>
                        <a:rPr lang="de-DE" dirty="0"/>
                        <a:t>Zielelement wird erst bei Bedarf gewählt</a:t>
                      </a:r>
                    </a:p>
                  </a:txBody>
                  <a:tcPr/>
                </a:tc>
                <a:extLst>
                  <a:ext uri="{0D108BD9-81ED-4DB2-BD59-A6C34878D82A}">
                    <a16:rowId xmlns:a16="http://schemas.microsoft.com/office/drawing/2014/main" val="676891364"/>
                  </a:ext>
                </a:extLst>
              </a:tr>
              <a:tr h="370840">
                <a:tc>
                  <a:txBody>
                    <a:bodyPr/>
                    <a:lstStyle/>
                    <a:p>
                      <a:r>
                        <a:rPr lang="de-DE" dirty="0"/>
                        <a:t>geeignet für häufig benötigte Werte</a:t>
                      </a:r>
                    </a:p>
                  </a:txBody>
                  <a:tcPr/>
                </a:tc>
                <a:tc>
                  <a:txBody>
                    <a:bodyPr/>
                    <a:lstStyle/>
                    <a:p>
                      <a:r>
                        <a:rPr lang="de-DE" dirty="0"/>
                        <a:t>geeignet für zusätzliche Detailinformationen</a:t>
                      </a:r>
                    </a:p>
                  </a:txBody>
                  <a:tcPr/>
                </a:tc>
                <a:extLst>
                  <a:ext uri="{0D108BD9-81ED-4DB2-BD59-A6C34878D82A}">
                    <a16:rowId xmlns:a16="http://schemas.microsoft.com/office/drawing/2014/main" val="3781465305"/>
                  </a:ext>
                </a:extLst>
              </a:tr>
            </a:tbl>
          </a:graphicData>
        </a:graphic>
      </p:graphicFrame>
    </p:spTree>
    <p:extLst>
      <p:ext uri="{BB962C8B-B14F-4D97-AF65-F5344CB8AC3E}">
        <p14:creationId xmlns:p14="http://schemas.microsoft.com/office/powerpoint/2010/main" val="242523667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7A47547-D599-4926-043F-086F22D25020}"/>
              </a:ext>
            </a:extLst>
          </p:cNvPr>
          <p:cNvSpPr>
            <a:spLocks noGrp="1"/>
          </p:cNvSpPr>
          <p:nvPr>
            <p:ph type="title"/>
          </p:nvPr>
        </p:nvSpPr>
        <p:spPr/>
        <p:txBody>
          <a:bodyPr/>
          <a:lstStyle/>
          <a:p>
            <a:r>
              <a:rPr lang="de-DE" dirty="0"/>
              <a:t>Mehrstufige Beziehungen im Auftragsmodell</a:t>
            </a:r>
          </a:p>
        </p:txBody>
      </p:sp>
      <p:pic>
        <p:nvPicPr>
          <p:cNvPr id="5" name="Inhaltsplatzhalter 4">
            <a:extLst>
              <a:ext uri="{FF2B5EF4-FFF2-40B4-BE49-F238E27FC236}">
                <a16:creationId xmlns:a16="http://schemas.microsoft.com/office/drawing/2014/main" id="{DAFDD6E3-2F83-9949-F880-59C6889138C1}"/>
              </a:ext>
            </a:extLst>
          </p:cNvPr>
          <p:cNvPicPr>
            <a:picLocks noGrp="1" noChangeAspect="1"/>
          </p:cNvPicPr>
          <p:nvPr>
            <p:ph idx="1"/>
          </p:nvPr>
        </p:nvPicPr>
        <p:blipFill>
          <a:blip r:embed="rId3"/>
          <a:stretch>
            <a:fillRect/>
          </a:stretch>
        </p:blipFill>
        <p:spPr>
          <a:xfrm>
            <a:off x="1666724" y="1690688"/>
            <a:ext cx="5380834" cy="4351338"/>
          </a:xfrm>
          <a:prstGeom prst="rect">
            <a:avLst/>
          </a:prstGeom>
        </p:spPr>
      </p:pic>
    </p:spTree>
    <p:extLst>
      <p:ext uri="{BB962C8B-B14F-4D97-AF65-F5344CB8AC3E}">
        <p14:creationId xmlns:p14="http://schemas.microsoft.com/office/powerpoint/2010/main" val="170221474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BD7EF4D-378D-BCC3-2E1D-F1B71EF35716}"/>
              </a:ext>
            </a:extLst>
          </p:cNvPr>
          <p:cNvSpPr>
            <a:spLocks noGrp="1"/>
          </p:cNvSpPr>
          <p:nvPr>
            <p:ph type="title"/>
          </p:nvPr>
        </p:nvSpPr>
        <p:spPr/>
        <p:txBody>
          <a:bodyPr/>
          <a:lstStyle/>
          <a:p>
            <a:r>
              <a:rPr lang="de-DE" dirty="0"/>
              <a:t>To-Many ist kein einzelner Wert</a:t>
            </a:r>
          </a:p>
        </p:txBody>
      </p:sp>
      <p:sp>
        <p:nvSpPr>
          <p:cNvPr id="3" name="Inhaltsplatzhalter 2">
            <a:extLst>
              <a:ext uri="{FF2B5EF4-FFF2-40B4-BE49-F238E27FC236}">
                <a16:creationId xmlns:a16="http://schemas.microsoft.com/office/drawing/2014/main" id="{19AC016E-87B9-3A16-FB20-248922BBE767}"/>
              </a:ext>
            </a:extLst>
          </p:cNvPr>
          <p:cNvSpPr>
            <a:spLocks noGrp="1"/>
          </p:cNvSpPr>
          <p:nvPr>
            <p:ph idx="1"/>
          </p:nvPr>
        </p:nvSpPr>
        <p:spPr/>
        <p:txBody>
          <a:bodyPr>
            <a:normAutofit/>
          </a:bodyPr>
          <a:lstStyle/>
          <a:p>
            <a:pPr marL="0" indent="0">
              <a:buNone/>
            </a:pPr>
            <a:r>
              <a:rPr lang="de-DE" dirty="0"/>
              <a:t>Problematisch wäre:</a:t>
            </a:r>
          </a:p>
          <a:p>
            <a:pPr marL="457200" lvl="1" indent="0">
              <a:buNone/>
            </a:pPr>
            <a:r>
              <a:rPr lang="de-DE" dirty="0"/>
              <a:t>_</a:t>
            </a:r>
            <a:r>
              <a:rPr lang="de-DE" dirty="0" err="1"/>
              <a:t>Items.ProductId</a:t>
            </a:r>
            <a:r>
              <a:rPr lang="de-DE" dirty="0"/>
              <a:t> as </a:t>
            </a:r>
            <a:r>
              <a:rPr lang="de-DE" dirty="0" err="1"/>
              <a:t>ProductId</a:t>
            </a:r>
            <a:endParaRPr lang="de-DE" dirty="0"/>
          </a:p>
          <a:p>
            <a:pPr marL="0" indent="0">
              <a:buNone/>
            </a:pPr>
            <a:r>
              <a:rPr lang="de-DE" dirty="0"/>
              <a:t>Mögliche Lösungen:</a:t>
            </a:r>
          </a:p>
          <a:p>
            <a:r>
              <a:rPr lang="de-DE" dirty="0"/>
              <a:t>Assoziation </a:t>
            </a:r>
            <a:r>
              <a:rPr lang="de-DE" dirty="0">
                <a:latin typeface="Courier New" panose="02070309020205020404" pitchFamily="49" charset="0"/>
                <a:cs typeface="Courier New" panose="02070309020205020404" pitchFamily="49" charset="0"/>
              </a:rPr>
              <a:t>_Items</a:t>
            </a:r>
            <a:r>
              <a:rPr lang="de-DE" dirty="0"/>
              <a:t> exponieren </a:t>
            </a:r>
          </a:p>
          <a:p>
            <a:r>
              <a:rPr lang="de-DE" dirty="0"/>
              <a:t>Positionen als eigene Ergebnismenge lesen </a:t>
            </a:r>
          </a:p>
          <a:p>
            <a:r>
              <a:rPr lang="de-DE" dirty="0"/>
              <a:t>eine View auf Positionsebene definieren </a:t>
            </a:r>
          </a:p>
          <a:p>
            <a:r>
              <a:rPr lang="de-DE" dirty="0"/>
              <a:t>Werte aggregieren </a:t>
            </a:r>
          </a:p>
          <a:p>
            <a:r>
              <a:rPr lang="de-DE" dirty="0"/>
              <a:t>To-Many-Beziehung in einem geeigneten Verbraucher navigieren</a:t>
            </a:r>
          </a:p>
          <a:p>
            <a:endParaRPr lang="de-DE" dirty="0"/>
          </a:p>
        </p:txBody>
      </p:sp>
    </p:spTree>
    <p:extLst>
      <p:ext uri="{BB962C8B-B14F-4D97-AF65-F5344CB8AC3E}">
        <p14:creationId xmlns:p14="http://schemas.microsoft.com/office/powerpoint/2010/main" val="192447315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975ADF2-A75C-9991-BED2-E91DA9B90DCC}"/>
              </a:ext>
            </a:extLst>
          </p:cNvPr>
          <p:cNvSpPr>
            <a:spLocks noGrp="1"/>
          </p:cNvSpPr>
          <p:nvPr>
            <p:ph type="title"/>
          </p:nvPr>
        </p:nvSpPr>
        <p:spPr/>
        <p:txBody>
          <a:bodyPr/>
          <a:lstStyle/>
          <a:p>
            <a:r>
              <a:rPr lang="de-DE" dirty="0"/>
              <a:t>Schlüssel folgen der Ergebnisebene</a:t>
            </a:r>
          </a:p>
        </p:txBody>
      </p:sp>
      <p:sp>
        <p:nvSpPr>
          <p:cNvPr id="3" name="Inhaltsplatzhalter 2">
            <a:extLst>
              <a:ext uri="{FF2B5EF4-FFF2-40B4-BE49-F238E27FC236}">
                <a16:creationId xmlns:a16="http://schemas.microsoft.com/office/drawing/2014/main" id="{506EA0E3-881D-3D48-C4B8-7BD17BFA442E}"/>
              </a:ext>
            </a:extLst>
          </p:cNvPr>
          <p:cNvSpPr>
            <a:spLocks noGrp="1"/>
          </p:cNvSpPr>
          <p:nvPr>
            <p:ph idx="1"/>
          </p:nvPr>
        </p:nvSpPr>
        <p:spPr/>
        <p:txBody>
          <a:bodyPr/>
          <a:lstStyle/>
          <a:p>
            <a:pPr marL="0" indent="0">
              <a:buNone/>
            </a:pPr>
            <a:r>
              <a:rPr lang="de-DE" dirty="0"/>
              <a:t>Auftragsebene:</a:t>
            </a:r>
          </a:p>
          <a:p>
            <a:pPr marL="457200" lvl="1" indent="0">
              <a:buNone/>
            </a:pPr>
            <a:r>
              <a:rPr lang="de-DE" dirty="0" err="1">
                <a:latin typeface="Courier New" panose="02070309020205020404" pitchFamily="49" charset="0"/>
                <a:cs typeface="Courier New" panose="02070309020205020404" pitchFamily="49" charset="0"/>
              </a:rPr>
              <a:t>key</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OrderId</a:t>
            </a:r>
            <a:endParaRPr lang="de-DE" dirty="0">
              <a:latin typeface="Courier New" panose="02070309020205020404" pitchFamily="49" charset="0"/>
              <a:cs typeface="Courier New" panose="02070309020205020404" pitchFamily="49" charset="0"/>
            </a:endParaRPr>
          </a:p>
          <a:p>
            <a:pPr marL="0" indent="0">
              <a:buNone/>
            </a:pPr>
            <a:endParaRPr lang="de-DE" dirty="0"/>
          </a:p>
          <a:p>
            <a:pPr marL="0" indent="0">
              <a:buNone/>
            </a:pPr>
            <a:r>
              <a:rPr lang="de-DE" dirty="0"/>
              <a:t>Positionsebene:</a:t>
            </a:r>
          </a:p>
          <a:p>
            <a:pPr marL="457200" lvl="1" indent="0">
              <a:buNone/>
            </a:pPr>
            <a:r>
              <a:rPr lang="de-DE" dirty="0" err="1">
                <a:latin typeface="Courier New" panose="02070309020205020404" pitchFamily="49" charset="0"/>
                <a:cs typeface="Courier New" panose="02070309020205020404" pitchFamily="49" charset="0"/>
              </a:rPr>
              <a:t>key</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OrderId</a:t>
            </a:r>
            <a:endParaRPr lang="de-DE" dirty="0">
              <a:latin typeface="Courier New" panose="02070309020205020404" pitchFamily="49" charset="0"/>
              <a:cs typeface="Courier New" panose="02070309020205020404" pitchFamily="49" charset="0"/>
            </a:endParaRPr>
          </a:p>
          <a:p>
            <a:pPr marL="457200" lvl="1" indent="0">
              <a:buNone/>
            </a:pPr>
            <a:r>
              <a:rPr lang="de-DE" dirty="0" err="1">
                <a:latin typeface="Courier New" panose="02070309020205020404" pitchFamily="49" charset="0"/>
                <a:cs typeface="Courier New" panose="02070309020205020404" pitchFamily="49" charset="0"/>
              </a:rPr>
              <a:t>key</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ItemNumber</a:t>
            </a:r>
            <a:endParaRPr lang="de-DE" dirty="0">
              <a:latin typeface="Courier New" panose="02070309020205020404" pitchFamily="49" charset="0"/>
              <a:cs typeface="Courier New" panose="02070309020205020404" pitchFamily="49" charset="0"/>
            </a:endParaRPr>
          </a:p>
          <a:p>
            <a:pPr marL="0" indent="0">
              <a:buNone/>
            </a:pPr>
            <a:endParaRPr lang="de-DE" dirty="0"/>
          </a:p>
          <a:p>
            <a:pPr marL="0" indent="0">
              <a:buNone/>
            </a:pPr>
            <a:r>
              <a:rPr lang="de-DE" dirty="0" err="1">
                <a:latin typeface="Courier New" panose="02070309020205020404" pitchFamily="49" charset="0"/>
                <a:cs typeface="Courier New" panose="02070309020205020404" pitchFamily="49" charset="0"/>
              </a:rPr>
              <a:t>OrderId</a:t>
            </a:r>
            <a:r>
              <a:rPr lang="de-DE" dirty="0"/>
              <a:t> allein ist auf Positionsebene nicht eindeutig.</a:t>
            </a:r>
          </a:p>
        </p:txBody>
      </p:sp>
    </p:spTree>
    <p:extLst>
      <p:ext uri="{BB962C8B-B14F-4D97-AF65-F5344CB8AC3E}">
        <p14:creationId xmlns:p14="http://schemas.microsoft.com/office/powerpoint/2010/main" val="49669950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984D3A1-0680-718A-087C-DD7B3D9D88CB}"/>
              </a:ext>
            </a:extLst>
          </p:cNvPr>
          <p:cNvSpPr>
            <a:spLocks noGrp="1"/>
          </p:cNvSpPr>
          <p:nvPr>
            <p:ph type="title"/>
          </p:nvPr>
        </p:nvSpPr>
        <p:spPr/>
        <p:txBody>
          <a:bodyPr/>
          <a:lstStyle/>
          <a:p>
            <a:r>
              <a:rPr lang="de-DE" dirty="0"/>
              <a:t>Ziel von Live-Coding 4</a:t>
            </a:r>
          </a:p>
        </p:txBody>
      </p:sp>
      <p:sp>
        <p:nvSpPr>
          <p:cNvPr id="4" name="Inhaltsplatzhalter 3">
            <a:extLst>
              <a:ext uri="{FF2B5EF4-FFF2-40B4-BE49-F238E27FC236}">
                <a16:creationId xmlns:a16="http://schemas.microsoft.com/office/drawing/2014/main" id="{745FBF88-9456-FB47-8385-D9818ADD3C97}"/>
              </a:ext>
            </a:extLst>
          </p:cNvPr>
          <p:cNvSpPr>
            <a:spLocks noGrp="1"/>
          </p:cNvSpPr>
          <p:nvPr>
            <p:ph sz="half" idx="1"/>
          </p:nvPr>
        </p:nvSpPr>
        <p:spPr/>
        <p:txBody>
          <a:bodyPr>
            <a:normAutofit fontScale="92500" lnSpcReduction="10000"/>
          </a:bodyPr>
          <a:lstStyle/>
          <a:p>
            <a:pPr marL="0" indent="0">
              <a:buNone/>
            </a:pPr>
            <a:r>
              <a:rPr lang="de-DE" dirty="0"/>
              <a:t>Wir erstellen:</a:t>
            </a:r>
          </a:p>
          <a:p>
            <a:pPr marL="457200" lvl="1" indent="0">
              <a:buNone/>
            </a:pPr>
            <a:r>
              <a:rPr lang="de-DE" dirty="0" err="1">
                <a:latin typeface="Courier New" panose="02070309020205020404" pitchFamily="49" charset="0"/>
                <a:cs typeface="Courier New" panose="02070309020205020404" pitchFamily="49" charset="0"/>
              </a:rPr>
              <a:t>ZI_CDSProduct</a:t>
            </a:r>
            <a:endParaRPr lang="de-DE" dirty="0">
              <a:latin typeface="Courier New" panose="02070309020205020404" pitchFamily="49" charset="0"/>
              <a:cs typeface="Courier New" panose="02070309020205020404" pitchFamily="49" charset="0"/>
            </a:endParaRPr>
          </a:p>
          <a:p>
            <a:pPr marL="457200" lvl="1" indent="0">
              <a:buNone/>
            </a:pPr>
            <a:r>
              <a:rPr lang="de-DE" dirty="0" err="1">
                <a:latin typeface="Courier New" panose="02070309020205020404" pitchFamily="49" charset="0"/>
                <a:cs typeface="Courier New" panose="02070309020205020404" pitchFamily="49" charset="0"/>
              </a:rPr>
              <a:t>ZI_CDSOrderItem</a:t>
            </a:r>
            <a:endParaRPr lang="de-DE" dirty="0">
              <a:latin typeface="Courier New" panose="02070309020205020404" pitchFamily="49" charset="0"/>
              <a:cs typeface="Courier New" panose="02070309020205020404" pitchFamily="49" charset="0"/>
            </a:endParaRPr>
          </a:p>
          <a:p>
            <a:pPr marL="0" indent="0">
              <a:buNone/>
            </a:pPr>
            <a:r>
              <a:rPr lang="de-DE" dirty="0"/>
              <a:t>Beziehungen:</a:t>
            </a:r>
          </a:p>
          <a:p>
            <a:pPr marL="457200" lvl="1" indent="0">
              <a:buNone/>
            </a:pPr>
            <a:r>
              <a:rPr lang="de-DE" dirty="0" err="1">
                <a:latin typeface="Courier New" panose="02070309020205020404" pitchFamily="49" charset="0"/>
                <a:cs typeface="Courier New" panose="02070309020205020404" pitchFamily="49" charset="0"/>
              </a:rPr>
              <a:t>ZI_CDSOrderItem</a:t>
            </a:r>
            <a:r>
              <a:rPr lang="de-DE" dirty="0">
                <a:latin typeface="Courier New" panose="02070309020205020404" pitchFamily="49" charset="0"/>
                <a:cs typeface="Courier New" panose="02070309020205020404" pitchFamily="49" charset="0"/>
              </a:rPr>
              <a:t> →</a:t>
            </a:r>
            <a:br>
              <a:rPr lang="de-DE" dirty="0">
                <a:latin typeface="Courier New" panose="02070309020205020404" pitchFamily="49" charset="0"/>
                <a:cs typeface="Courier New" panose="02070309020205020404" pitchFamily="49" charset="0"/>
              </a:rPr>
            </a:br>
            <a:r>
              <a:rPr lang="de-DE" dirty="0">
                <a:latin typeface="Courier New" panose="02070309020205020404" pitchFamily="49" charset="0"/>
                <a:cs typeface="Courier New" panose="02070309020205020404" pitchFamily="49" charset="0"/>
              </a:rPr>
              <a:t>	_</a:t>
            </a:r>
            <a:r>
              <a:rPr lang="de-DE" dirty="0" err="1">
                <a:latin typeface="Courier New" panose="02070309020205020404" pitchFamily="49" charset="0"/>
                <a:cs typeface="Courier New" panose="02070309020205020404" pitchFamily="49" charset="0"/>
              </a:rPr>
              <a:t>Product</a:t>
            </a:r>
            <a:r>
              <a:rPr lang="de-DE" dirty="0">
                <a:latin typeface="Courier New" panose="02070309020205020404" pitchFamily="49" charset="0"/>
                <a:cs typeface="Courier New" panose="02070309020205020404" pitchFamily="49" charset="0"/>
              </a:rPr>
              <a:t> [0..1]</a:t>
            </a:r>
          </a:p>
          <a:p>
            <a:pPr marL="457200" lvl="1" indent="0">
              <a:buNone/>
            </a:pPr>
            <a:r>
              <a:rPr lang="de-DE" dirty="0" err="1">
                <a:latin typeface="Courier New" panose="02070309020205020404" pitchFamily="49" charset="0"/>
                <a:cs typeface="Courier New" panose="02070309020205020404" pitchFamily="49" charset="0"/>
              </a:rPr>
              <a:t>ZI_CDSOrderItem</a:t>
            </a:r>
            <a:r>
              <a:rPr lang="de-DE" dirty="0">
                <a:latin typeface="Courier New" panose="02070309020205020404" pitchFamily="49" charset="0"/>
                <a:cs typeface="Courier New" panose="02070309020205020404" pitchFamily="49" charset="0"/>
              </a:rPr>
              <a:t> → </a:t>
            </a:r>
            <a:br>
              <a:rPr lang="de-DE" dirty="0">
                <a:latin typeface="Courier New" panose="02070309020205020404" pitchFamily="49" charset="0"/>
                <a:cs typeface="Courier New" panose="02070309020205020404" pitchFamily="49" charset="0"/>
              </a:rPr>
            </a:br>
            <a:r>
              <a:rPr lang="de-DE" dirty="0">
                <a:latin typeface="Courier New" panose="02070309020205020404" pitchFamily="49" charset="0"/>
                <a:cs typeface="Courier New" panose="02070309020205020404" pitchFamily="49" charset="0"/>
              </a:rPr>
              <a:t>	_Order   [1..1]</a:t>
            </a:r>
          </a:p>
          <a:p>
            <a:pPr marL="457200" lvl="1" indent="0">
              <a:buNone/>
            </a:pPr>
            <a:r>
              <a:rPr lang="de-DE" dirty="0" err="1">
                <a:latin typeface="Courier New" panose="02070309020205020404" pitchFamily="49" charset="0"/>
                <a:cs typeface="Courier New" panose="02070309020205020404" pitchFamily="49" charset="0"/>
              </a:rPr>
              <a:t>ZI_CDSOrder</a:t>
            </a:r>
            <a:r>
              <a:rPr lang="de-DE" dirty="0">
                <a:latin typeface="Courier New" panose="02070309020205020404" pitchFamily="49" charset="0"/>
                <a:cs typeface="Courier New" panose="02070309020205020404" pitchFamily="49" charset="0"/>
              </a:rPr>
              <a:t>     → </a:t>
            </a:r>
            <a:br>
              <a:rPr lang="de-DE" dirty="0">
                <a:latin typeface="Courier New" panose="02070309020205020404" pitchFamily="49" charset="0"/>
                <a:cs typeface="Courier New" panose="02070309020205020404" pitchFamily="49" charset="0"/>
              </a:rPr>
            </a:br>
            <a:r>
              <a:rPr lang="de-DE" dirty="0">
                <a:latin typeface="Courier New" panose="02070309020205020404" pitchFamily="49" charset="0"/>
                <a:cs typeface="Courier New" panose="02070309020205020404" pitchFamily="49" charset="0"/>
              </a:rPr>
              <a:t>	_Items   [0..*]</a:t>
            </a:r>
          </a:p>
          <a:p>
            <a:pPr marL="0" indent="0">
              <a:buNone/>
            </a:pPr>
            <a:endParaRPr lang="de-DE" dirty="0"/>
          </a:p>
        </p:txBody>
      </p:sp>
      <p:sp>
        <p:nvSpPr>
          <p:cNvPr id="5" name="Inhaltsplatzhalter 4">
            <a:extLst>
              <a:ext uri="{FF2B5EF4-FFF2-40B4-BE49-F238E27FC236}">
                <a16:creationId xmlns:a16="http://schemas.microsoft.com/office/drawing/2014/main" id="{F0FCAA13-E027-49B6-1B6B-DF68C1929AF5}"/>
              </a:ext>
            </a:extLst>
          </p:cNvPr>
          <p:cNvSpPr>
            <a:spLocks noGrp="1"/>
          </p:cNvSpPr>
          <p:nvPr>
            <p:ph sz="half" idx="2"/>
          </p:nvPr>
        </p:nvSpPr>
        <p:spPr/>
        <p:txBody>
          <a:bodyPr>
            <a:normAutofit fontScale="92500" lnSpcReduction="10000"/>
          </a:bodyPr>
          <a:lstStyle/>
          <a:p>
            <a:pPr marL="0" indent="0">
              <a:buNone/>
            </a:pPr>
            <a:r>
              <a:rPr lang="de-DE" dirty="0"/>
              <a:t>Ergebnis:</a:t>
            </a:r>
          </a:p>
          <a:p>
            <a:pPr lvl="0"/>
            <a:r>
              <a:rPr lang="de-DE" dirty="0"/>
              <a:t>Produktdaten als eigene View Entity </a:t>
            </a:r>
          </a:p>
          <a:p>
            <a:pPr lvl="0"/>
            <a:r>
              <a:rPr lang="de-DE" dirty="0"/>
              <a:t>Positionen auf ihrer richtigen Ergebnisebene </a:t>
            </a:r>
          </a:p>
          <a:p>
            <a:pPr lvl="0"/>
            <a:r>
              <a:rPr lang="de-DE" dirty="0"/>
              <a:t>Produktname über eine To-</a:t>
            </a:r>
            <a:r>
              <a:rPr lang="de-DE" dirty="0" err="1"/>
              <a:t>One</a:t>
            </a:r>
            <a:r>
              <a:rPr lang="de-DE" dirty="0"/>
              <a:t>-Assoziation </a:t>
            </a:r>
          </a:p>
          <a:p>
            <a:pPr lvl="0"/>
            <a:r>
              <a:rPr lang="de-DE" dirty="0"/>
              <a:t>To-Many-Assoziation vom Auftrag zu seinen Positionen </a:t>
            </a:r>
          </a:p>
          <a:p>
            <a:pPr lvl="0"/>
            <a:r>
              <a:rPr lang="de-DE" dirty="0"/>
              <a:t>verbundenes Modell aus Auftrag, Kunde, Position und Produkt</a:t>
            </a:r>
          </a:p>
          <a:p>
            <a:endParaRPr lang="de-DE" dirty="0"/>
          </a:p>
        </p:txBody>
      </p:sp>
    </p:spTree>
    <p:extLst>
      <p:ext uri="{BB962C8B-B14F-4D97-AF65-F5344CB8AC3E}">
        <p14:creationId xmlns:p14="http://schemas.microsoft.com/office/powerpoint/2010/main" val="362420302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7A9B892-5E39-D941-9B0E-8CE28B6ACB33}"/>
              </a:ext>
            </a:extLst>
          </p:cNvPr>
          <p:cNvSpPr>
            <a:spLocks noGrp="1"/>
          </p:cNvSpPr>
          <p:nvPr>
            <p:ph type="title"/>
          </p:nvPr>
        </p:nvSpPr>
        <p:spPr/>
        <p:txBody>
          <a:bodyPr/>
          <a:lstStyle/>
          <a:p>
            <a:r>
              <a:rPr lang="de-DE" dirty="0"/>
              <a:t>Zwischenstand nach Live-Coding 4</a:t>
            </a:r>
          </a:p>
        </p:txBody>
      </p:sp>
      <p:pic>
        <p:nvPicPr>
          <p:cNvPr id="11" name="Inhaltsplatzhalter 10">
            <a:extLst>
              <a:ext uri="{FF2B5EF4-FFF2-40B4-BE49-F238E27FC236}">
                <a16:creationId xmlns:a16="http://schemas.microsoft.com/office/drawing/2014/main" id="{53848E1C-7D83-D549-E60B-14A48B2A7433}"/>
              </a:ext>
            </a:extLst>
          </p:cNvPr>
          <p:cNvPicPr>
            <a:picLocks noGrp="1" noChangeAspect="1"/>
          </p:cNvPicPr>
          <p:nvPr>
            <p:ph sz="half" idx="1"/>
          </p:nvPr>
        </p:nvPicPr>
        <p:blipFill>
          <a:blip r:embed="rId3"/>
          <a:stretch>
            <a:fillRect/>
          </a:stretch>
        </p:blipFill>
        <p:spPr>
          <a:xfrm>
            <a:off x="838200" y="1906183"/>
            <a:ext cx="5181600" cy="4190222"/>
          </a:xfrm>
          <a:prstGeom prst="rect">
            <a:avLst/>
          </a:prstGeom>
        </p:spPr>
      </p:pic>
      <p:sp>
        <p:nvSpPr>
          <p:cNvPr id="5" name="Inhaltsplatzhalter 4">
            <a:extLst>
              <a:ext uri="{FF2B5EF4-FFF2-40B4-BE49-F238E27FC236}">
                <a16:creationId xmlns:a16="http://schemas.microsoft.com/office/drawing/2014/main" id="{7DD1F9BA-5BB2-43BB-C7F9-0B8CC668CD09}"/>
              </a:ext>
            </a:extLst>
          </p:cNvPr>
          <p:cNvSpPr>
            <a:spLocks noGrp="1"/>
          </p:cNvSpPr>
          <p:nvPr>
            <p:ph sz="half" idx="2"/>
          </p:nvPr>
        </p:nvSpPr>
        <p:spPr/>
        <p:txBody>
          <a:bodyPr>
            <a:normAutofit fontScale="85000" lnSpcReduction="10000"/>
          </a:bodyPr>
          <a:lstStyle/>
          <a:p>
            <a:pPr marL="0" indent="0">
              <a:buNone/>
            </a:pPr>
            <a:r>
              <a:rPr lang="de-DE" dirty="0"/>
              <a:t>Erreicht:</a:t>
            </a:r>
          </a:p>
          <a:p>
            <a:pPr lvl="0"/>
            <a:r>
              <a:rPr lang="de-DE" dirty="0"/>
              <a:t>vier eigenständige CDS View </a:t>
            </a:r>
            <a:r>
              <a:rPr lang="de-DE" dirty="0" err="1"/>
              <a:t>Entities</a:t>
            </a:r>
            <a:r>
              <a:rPr lang="de-DE" dirty="0"/>
              <a:t> </a:t>
            </a:r>
          </a:p>
          <a:p>
            <a:pPr lvl="0"/>
            <a:r>
              <a:rPr lang="de-DE" dirty="0"/>
              <a:t>To-</a:t>
            </a:r>
            <a:r>
              <a:rPr lang="de-DE" dirty="0" err="1"/>
              <a:t>One</a:t>
            </a:r>
            <a:r>
              <a:rPr lang="de-DE" dirty="0"/>
              <a:t>- und To-Many-Assoziationen </a:t>
            </a:r>
          </a:p>
          <a:p>
            <a:pPr lvl="0"/>
            <a:r>
              <a:rPr lang="de-DE" dirty="0"/>
              <a:t>zusammengesetzter Schlüssel auf Positionsebene </a:t>
            </a:r>
          </a:p>
          <a:p>
            <a:pPr lvl="0"/>
            <a:r>
              <a:rPr lang="de-DE" dirty="0"/>
              <a:t>Produktname über einen Pfadausdruck </a:t>
            </a:r>
          </a:p>
          <a:p>
            <a:pPr lvl="0"/>
            <a:r>
              <a:rPr lang="de-DE" dirty="0"/>
              <a:t>Beziehungen als Bestandteile der CDS-Schnittstellen </a:t>
            </a:r>
          </a:p>
          <a:p>
            <a:pPr lvl="0"/>
            <a:r>
              <a:rPr lang="de-DE" dirty="0"/>
              <a:t>keine Vervielfachung der Auftrags-View</a:t>
            </a:r>
          </a:p>
          <a:p>
            <a:endParaRPr lang="de-DE" dirty="0"/>
          </a:p>
        </p:txBody>
      </p:sp>
    </p:spTree>
    <p:extLst>
      <p:ext uri="{BB962C8B-B14F-4D97-AF65-F5344CB8AC3E}">
        <p14:creationId xmlns:p14="http://schemas.microsoft.com/office/powerpoint/2010/main" val="280697759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9E5BA42-F76F-9C07-4922-DE1C862303BC}"/>
              </a:ext>
            </a:extLst>
          </p:cNvPr>
          <p:cNvSpPr>
            <a:spLocks noGrp="1"/>
          </p:cNvSpPr>
          <p:nvPr>
            <p:ph type="title"/>
          </p:nvPr>
        </p:nvSpPr>
        <p:spPr/>
        <p:txBody>
          <a:bodyPr/>
          <a:lstStyle/>
          <a:p>
            <a:r>
              <a:rPr lang="de-DE" dirty="0"/>
              <a:t>CDS View </a:t>
            </a:r>
            <a:r>
              <a:rPr lang="de-DE" dirty="0" err="1"/>
              <a:t>Entities</a:t>
            </a:r>
            <a:r>
              <a:rPr lang="de-DE" dirty="0"/>
              <a:t> sind ABAP-SQL-Datenquellen</a:t>
            </a:r>
          </a:p>
        </p:txBody>
      </p:sp>
      <p:sp>
        <p:nvSpPr>
          <p:cNvPr id="3" name="Inhaltsplatzhalter 2">
            <a:extLst>
              <a:ext uri="{FF2B5EF4-FFF2-40B4-BE49-F238E27FC236}">
                <a16:creationId xmlns:a16="http://schemas.microsoft.com/office/drawing/2014/main" id="{0E740861-1A0A-C963-1993-A3DB40AEF1B1}"/>
              </a:ext>
            </a:extLst>
          </p:cNvPr>
          <p:cNvSpPr>
            <a:spLocks noGrp="1"/>
          </p:cNvSpPr>
          <p:nvPr>
            <p:ph sz="half" idx="1"/>
          </p:nvPr>
        </p:nvSpPr>
        <p:spPr/>
        <p:txBody>
          <a:bodyPr>
            <a:normAutofit lnSpcReduction="10000"/>
          </a:bodyPr>
          <a:lstStyle/>
          <a:p>
            <a:pPr marL="0" indent="0">
              <a:buNone/>
            </a:pPr>
            <a:r>
              <a:rPr lang="de-DE" dirty="0"/>
              <a:t>Eine CDS View Entity kann direkt hinter </a:t>
            </a:r>
            <a:r>
              <a:rPr lang="de-DE" dirty="0">
                <a:latin typeface="Courier New" panose="02070309020205020404" pitchFamily="49" charset="0"/>
                <a:cs typeface="Courier New" panose="02070309020205020404" pitchFamily="49" charset="0"/>
              </a:rPr>
              <a:t>FROM</a:t>
            </a:r>
            <a:r>
              <a:rPr lang="de-DE" dirty="0"/>
              <a:t> stehen:</a:t>
            </a:r>
          </a:p>
          <a:p>
            <a:pPr marL="0" indent="0">
              <a:buNone/>
            </a:pPr>
            <a:r>
              <a:rPr lang="de-DE" dirty="0">
                <a:latin typeface="Courier New" panose="02070309020205020404" pitchFamily="49" charset="0"/>
                <a:cs typeface="Courier New" panose="02070309020205020404" pitchFamily="49" charset="0"/>
              </a:rPr>
              <a:t>SELECT FROM </a:t>
            </a:r>
            <a:r>
              <a:rPr lang="de-DE" dirty="0" err="1">
                <a:latin typeface="Courier New" panose="02070309020205020404" pitchFamily="49" charset="0"/>
                <a:cs typeface="Courier New" panose="02070309020205020404" pitchFamily="49" charset="0"/>
              </a:rPr>
              <a:t>ZI_CDSOrder</a:t>
            </a:r>
            <a:endParaRPr lang="de-DE" dirty="0">
              <a:latin typeface="Courier New" panose="02070309020205020404" pitchFamily="49" charset="0"/>
              <a:cs typeface="Courier New" panose="02070309020205020404" pitchFamily="49" charset="0"/>
            </a:endParaRPr>
          </a:p>
          <a:p>
            <a:pPr marL="0" indent="0">
              <a:buNone/>
            </a:pPr>
            <a:r>
              <a:rPr lang="de-DE" dirty="0">
                <a:latin typeface="Courier New" panose="02070309020205020404" pitchFamily="49" charset="0"/>
                <a:cs typeface="Courier New" panose="02070309020205020404" pitchFamily="49" charset="0"/>
              </a:rPr>
              <a:t>  FIELDS </a:t>
            </a:r>
            <a:r>
              <a:rPr lang="de-DE" dirty="0" err="1">
                <a:latin typeface="Courier New" panose="02070309020205020404" pitchFamily="49" charset="0"/>
                <a:cs typeface="Courier New" panose="02070309020205020404" pitchFamily="49" charset="0"/>
              </a:rPr>
              <a:t>OrderId</a:t>
            </a:r>
            <a:r>
              <a:rPr lang="de-DE" dirty="0">
                <a:latin typeface="Courier New" panose="02070309020205020404" pitchFamily="49" charset="0"/>
                <a:cs typeface="Courier New" panose="02070309020205020404" pitchFamily="49" charset="0"/>
              </a:rPr>
              <a:t>,</a:t>
            </a:r>
          </a:p>
          <a:p>
            <a:pPr marL="0" indent="0">
              <a:buNone/>
            </a:pP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CustomerId</a:t>
            </a:r>
            <a:r>
              <a:rPr lang="de-DE" dirty="0">
                <a:latin typeface="Courier New" panose="02070309020205020404" pitchFamily="49" charset="0"/>
                <a:cs typeface="Courier New" panose="02070309020205020404" pitchFamily="49" charset="0"/>
              </a:rPr>
              <a:t>,</a:t>
            </a:r>
          </a:p>
          <a:p>
            <a:pPr marL="0" indent="0">
              <a:buNone/>
            </a:pP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CustomerName</a:t>
            </a:r>
            <a:r>
              <a:rPr lang="de-DE" dirty="0">
                <a:latin typeface="Courier New" panose="02070309020205020404" pitchFamily="49" charset="0"/>
                <a:cs typeface="Courier New" panose="02070309020205020404" pitchFamily="49" charset="0"/>
              </a:rPr>
              <a:t>,</a:t>
            </a:r>
          </a:p>
          <a:p>
            <a:pPr marL="0" indent="0">
              <a:buNone/>
            </a:pP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OrderDate</a:t>
            </a:r>
            <a:endParaRPr lang="de-DE" dirty="0">
              <a:latin typeface="Courier New" panose="02070309020205020404" pitchFamily="49" charset="0"/>
              <a:cs typeface="Courier New" panose="02070309020205020404" pitchFamily="49" charset="0"/>
            </a:endParaRPr>
          </a:p>
          <a:p>
            <a:pPr marL="0" indent="0">
              <a:buNone/>
            </a:pPr>
            <a:r>
              <a:rPr lang="de-DE" dirty="0">
                <a:latin typeface="Courier New" panose="02070309020205020404" pitchFamily="49" charset="0"/>
                <a:cs typeface="Courier New" panose="02070309020205020404" pitchFamily="49" charset="0"/>
              </a:rPr>
              <a:t>  INTO TABLE</a:t>
            </a:r>
          </a:p>
          <a:p>
            <a:pPr marL="0" indent="0">
              <a:buNone/>
            </a:pPr>
            <a:r>
              <a:rPr lang="de-DE" dirty="0">
                <a:latin typeface="Courier New" panose="02070309020205020404" pitchFamily="49" charset="0"/>
                <a:cs typeface="Courier New" panose="02070309020205020404" pitchFamily="49" charset="0"/>
              </a:rPr>
              <a:t>       @DATA(orders).</a:t>
            </a:r>
          </a:p>
          <a:p>
            <a:endParaRPr lang="de-DE" dirty="0"/>
          </a:p>
        </p:txBody>
      </p:sp>
      <p:sp>
        <p:nvSpPr>
          <p:cNvPr id="4" name="Inhaltsplatzhalter 3">
            <a:extLst>
              <a:ext uri="{FF2B5EF4-FFF2-40B4-BE49-F238E27FC236}">
                <a16:creationId xmlns:a16="http://schemas.microsoft.com/office/drawing/2014/main" id="{52E43F70-22B0-F820-ACF1-9BF3794A31BB}"/>
              </a:ext>
            </a:extLst>
          </p:cNvPr>
          <p:cNvSpPr>
            <a:spLocks noGrp="1"/>
          </p:cNvSpPr>
          <p:nvPr>
            <p:ph sz="half" idx="2"/>
          </p:nvPr>
        </p:nvSpPr>
        <p:spPr/>
        <p:txBody>
          <a:bodyPr>
            <a:normAutofit lnSpcReduction="10000"/>
          </a:bodyPr>
          <a:lstStyle/>
          <a:p>
            <a:pPr marL="0" indent="0">
              <a:buNone/>
            </a:pPr>
            <a:r>
              <a:rPr lang="de-DE" dirty="0"/>
              <a:t>Dabei verwenden wir:</a:t>
            </a:r>
          </a:p>
          <a:p>
            <a:pPr lvl="0"/>
            <a:r>
              <a:rPr lang="de-DE" dirty="0"/>
              <a:t>den Namen der View Entity </a:t>
            </a:r>
          </a:p>
          <a:p>
            <a:pPr lvl="0"/>
            <a:r>
              <a:rPr lang="de-DE" dirty="0"/>
              <a:t>die fachlichen CDS-Elementnamen </a:t>
            </a:r>
          </a:p>
          <a:p>
            <a:pPr lvl="0"/>
            <a:r>
              <a:rPr lang="de-DE" dirty="0"/>
              <a:t>berechnete Elemente der View </a:t>
            </a:r>
          </a:p>
          <a:p>
            <a:pPr lvl="0"/>
            <a:r>
              <a:rPr lang="de-DE" dirty="0"/>
              <a:t>über Assoziationen bereitgestellte Elemente </a:t>
            </a:r>
          </a:p>
          <a:p>
            <a:pPr lvl="0"/>
            <a:r>
              <a:rPr lang="de-DE" dirty="0"/>
              <a:t>die in CDS definierten Beziehungen</a:t>
            </a:r>
          </a:p>
          <a:p>
            <a:endParaRPr lang="de-DE" dirty="0"/>
          </a:p>
        </p:txBody>
      </p:sp>
    </p:spTree>
    <p:extLst>
      <p:ext uri="{BB962C8B-B14F-4D97-AF65-F5344CB8AC3E}">
        <p14:creationId xmlns:p14="http://schemas.microsoft.com/office/powerpoint/2010/main" val="2674581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7637D4A-7EB5-0483-6893-C667DFEF0251}"/>
              </a:ext>
            </a:extLst>
          </p:cNvPr>
          <p:cNvSpPr>
            <a:spLocks noGrp="1"/>
          </p:cNvSpPr>
          <p:nvPr>
            <p:ph type="title"/>
          </p:nvPr>
        </p:nvSpPr>
        <p:spPr/>
        <p:txBody>
          <a:bodyPr/>
          <a:lstStyle/>
          <a:p>
            <a:r>
              <a:rPr lang="de-DE" dirty="0"/>
              <a:t>CDS-Elemente statt Tabellenfelder</a:t>
            </a:r>
          </a:p>
        </p:txBody>
      </p:sp>
      <p:graphicFrame>
        <p:nvGraphicFramePr>
          <p:cNvPr id="6" name="Inhaltsplatzhalter 5">
            <a:extLst>
              <a:ext uri="{FF2B5EF4-FFF2-40B4-BE49-F238E27FC236}">
                <a16:creationId xmlns:a16="http://schemas.microsoft.com/office/drawing/2014/main" id="{0BC80BF9-6F35-C3C9-EB96-A871CE6E7617}"/>
              </a:ext>
            </a:extLst>
          </p:cNvPr>
          <p:cNvGraphicFramePr>
            <a:graphicFrameLocks noGrp="1"/>
          </p:cNvGraphicFramePr>
          <p:nvPr>
            <p:ph idx="1"/>
            <p:extLst>
              <p:ext uri="{D42A27DB-BD31-4B8C-83A1-F6EECF244321}">
                <p14:modId xmlns:p14="http://schemas.microsoft.com/office/powerpoint/2010/main" val="3699919839"/>
              </p:ext>
            </p:extLst>
          </p:nvPr>
        </p:nvGraphicFramePr>
        <p:xfrm>
          <a:off x="838200" y="1825625"/>
          <a:ext cx="10515600" cy="1854200"/>
        </p:xfrm>
        <a:graphic>
          <a:graphicData uri="http://schemas.openxmlformats.org/drawingml/2006/table">
            <a:tbl>
              <a:tblPr firstRow="1" bandRow="1">
                <a:tableStyleId>{5C22544A-7EE6-4342-B048-85BDC9FD1C3A}</a:tableStyleId>
              </a:tblPr>
              <a:tblGrid>
                <a:gridCol w="5257800">
                  <a:extLst>
                    <a:ext uri="{9D8B030D-6E8A-4147-A177-3AD203B41FA5}">
                      <a16:colId xmlns:a16="http://schemas.microsoft.com/office/drawing/2014/main" val="4088065577"/>
                    </a:ext>
                  </a:extLst>
                </a:gridCol>
                <a:gridCol w="5257800">
                  <a:extLst>
                    <a:ext uri="{9D8B030D-6E8A-4147-A177-3AD203B41FA5}">
                      <a16:colId xmlns:a16="http://schemas.microsoft.com/office/drawing/2014/main" val="1598858129"/>
                    </a:ext>
                  </a:extLst>
                </a:gridCol>
              </a:tblGrid>
              <a:tr h="370840">
                <a:tc>
                  <a:txBody>
                    <a:bodyPr/>
                    <a:lstStyle/>
                    <a:p>
                      <a:r>
                        <a:rPr lang="de-DE" dirty="0"/>
                        <a:t>CDS-Element</a:t>
                      </a:r>
                    </a:p>
                  </a:txBody>
                  <a:tcPr/>
                </a:tc>
                <a:tc>
                  <a:txBody>
                    <a:bodyPr/>
                    <a:lstStyle/>
                    <a:p>
                      <a:r>
                        <a:rPr lang="de-DE" dirty="0"/>
                        <a:t>Herkunft</a:t>
                      </a:r>
                    </a:p>
                  </a:txBody>
                  <a:tcPr/>
                </a:tc>
                <a:extLst>
                  <a:ext uri="{0D108BD9-81ED-4DB2-BD59-A6C34878D82A}">
                    <a16:rowId xmlns:a16="http://schemas.microsoft.com/office/drawing/2014/main" val="1941446473"/>
                  </a:ext>
                </a:extLst>
              </a:tr>
              <a:tr h="370840">
                <a:tc>
                  <a:txBody>
                    <a:bodyPr/>
                    <a:lstStyle/>
                    <a:p>
                      <a:r>
                        <a:rPr lang="de-DE" dirty="0" err="1">
                          <a:latin typeface="Courier New" panose="02070309020205020404" pitchFamily="49" charset="0"/>
                          <a:cs typeface="Courier New" panose="02070309020205020404" pitchFamily="49" charset="0"/>
                        </a:rPr>
                        <a:t>OrderId</a:t>
                      </a:r>
                      <a:endParaRPr lang="de-DE" dirty="0">
                        <a:latin typeface="Courier New" panose="02070309020205020404" pitchFamily="49" charset="0"/>
                        <a:cs typeface="Courier New" panose="02070309020205020404" pitchFamily="49" charset="0"/>
                      </a:endParaRPr>
                    </a:p>
                  </a:txBody>
                  <a:tcPr/>
                </a:tc>
                <a:tc>
                  <a:txBody>
                    <a:bodyPr/>
                    <a:lstStyle/>
                    <a:p>
                      <a:r>
                        <a:rPr lang="de-DE" dirty="0"/>
                        <a:t>Tabellenfeld mit Alias</a:t>
                      </a:r>
                    </a:p>
                  </a:txBody>
                  <a:tcPr/>
                </a:tc>
                <a:extLst>
                  <a:ext uri="{0D108BD9-81ED-4DB2-BD59-A6C34878D82A}">
                    <a16:rowId xmlns:a16="http://schemas.microsoft.com/office/drawing/2014/main" val="1712874517"/>
                  </a:ext>
                </a:extLst>
              </a:tr>
              <a:tr h="370840">
                <a:tc>
                  <a:txBody>
                    <a:bodyPr/>
                    <a:lstStyle/>
                    <a:p>
                      <a:r>
                        <a:rPr lang="de-DE" dirty="0" err="1">
                          <a:latin typeface="Courier New" panose="02070309020205020404" pitchFamily="49" charset="0"/>
                          <a:cs typeface="Courier New" panose="02070309020205020404" pitchFamily="49" charset="0"/>
                        </a:rPr>
                        <a:t>CustomerId</a:t>
                      </a:r>
                      <a:endParaRPr lang="de-DE" dirty="0">
                        <a:latin typeface="Courier New" panose="02070309020205020404" pitchFamily="49" charset="0"/>
                        <a:cs typeface="Courier New" panose="02070309020205020404" pitchFamily="49" charset="0"/>
                      </a:endParaRPr>
                    </a:p>
                  </a:txBody>
                  <a:tcPr/>
                </a:tc>
                <a:tc>
                  <a:txBody>
                    <a:bodyPr/>
                    <a:lstStyle/>
                    <a:p>
                      <a:r>
                        <a:rPr lang="de-DE" dirty="0"/>
                        <a:t>Tabellenfeld mit Alias</a:t>
                      </a:r>
                    </a:p>
                  </a:txBody>
                  <a:tcPr/>
                </a:tc>
                <a:extLst>
                  <a:ext uri="{0D108BD9-81ED-4DB2-BD59-A6C34878D82A}">
                    <a16:rowId xmlns:a16="http://schemas.microsoft.com/office/drawing/2014/main" val="461556530"/>
                  </a:ext>
                </a:extLst>
              </a:tr>
              <a:tr h="370840">
                <a:tc>
                  <a:txBody>
                    <a:bodyPr/>
                    <a:lstStyle/>
                    <a:p>
                      <a:r>
                        <a:rPr lang="de-DE" dirty="0" err="1">
                          <a:latin typeface="Courier New" panose="02070309020205020404" pitchFamily="49" charset="0"/>
                          <a:cs typeface="Courier New" panose="02070309020205020404" pitchFamily="49" charset="0"/>
                        </a:rPr>
                        <a:t>CustomerName</a:t>
                      </a:r>
                      <a:endParaRPr lang="de-DE" dirty="0">
                        <a:latin typeface="Courier New" panose="02070309020205020404" pitchFamily="49" charset="0"/>
                        <a:cs typeface="Courier New" panose="02070309020205020404" pitchFamily="49" charset="0"/>
                      </a:endParaRPr>
                    </a:p>
                  </a:txBody>
                  <a:tcPr/>
                </a:tc>
                <a:tc>
                  <a:txBody>
                    <a:bodyPr/>
                    <a:lstStyle/>
                    <a:p>
                      <a:r>
                        <a:rPr lang="de-DE" dirty="0"/>
                        <a:t>Pfadausdruck über </a:t>
                      </a:r>
                      <a:r>
                        <a:rPr lang="de-DE" sz="1800" kern="1200" dirty="0">
                          <a:solidFill>
                            <a:schemeClr val="dk1"/>
                          </a:solidFill>
                          <a:latin typeface="Courier New" panose="02070309020205020404" pitchFamily="49" charset="0"/>
                          <a:ea typeface="+mn-ea"/>
                          <a:cs typeface="Courier New" panose="02070309020205020404" pitchFamily="49" charset="0"/>
                        </a:rPr>
                        <a:t>_Customer</a:t>
                      </a:r>
                      <a:endParaRPr lang="de-DE" dirty="0">
                        <a:latin typeface="Courier New" panose="02070309020205020404" pitchFamily="49" charset="0"/>
                        <a:cs typeface="Courier New" panose="02070309020205020404" pitchFamily="49" charset="0"/>
                      </a:endParaRPr>
                    </a:p>
                  </a:txBody>
                  <a:tcPr/>
                </a:tc>
                <a:extLst>
                  <a:ext uri="{0D108BD9-81ED-4DB2-BD59-A6C34878D82A}">
                    <a16:rowId xmlns:a16="http://schemas.microsoft.com/office/drawing/2014/main" val="4055285724"/>
                  </a:ext>
                </a:extLst>
              </a:tr>
              <a:tr h="370840">
                <a:tc>
                  <a:txBody>
                    <a:bodyPr/>
                    <a:lstStyle/>
                    <a:p>
                      <a:r>
                        <a:rPr lang="de-DE" dirty="0" err="1">
                          <a:latin typeface="Courier New" panose="02070309020205020404" pitchFamily="49" charset="0"/>
                          <a:cs typeface="Courier New" panose="02070309020205020404" pitchFamily="49" charset="0"/>
                        </a:rPr>
                        <a:t>OrderTypeText</a:t>
                      </a:r>
                      <a:endParaRPr lang="de-DE" dirty="0">
                        <a:latin typeface="Courier New" panose="02070309020205020404" pitchFamily="49" charset="0"/>
                        <a:cs typeface="Courier New" panose="02070309020205020404" pitchFamily="49" charset="0"/>
                      </a:endParaRPr>
                    </a:p>
                  </a:txBody>
                  <a:tcPr/>
                </a:tc>
                <a:tc>
                  <a:txBody>
                    <a:bodyPr/>
                    <a:lstStyle/>
                    <a:p>
                      <a:r>
                        <a:rPr lang="de-DE" dirty="0"/>
                        <a:t>berechneter Ausdruck</a:t>
                      </a:r>
                    </a:p>
                  </a:txBody>
                  <a:tcPr/>
                </a:tc>
                <a:extLst>
                  <a:ext uri="{0D108BD9-81ED-4DB2-BD59-A6C34878D82A}">
                    <a16:rowId xmlns:a16="http://schemas.microsoft.com/office/drawing/2014/main" val="1334068017"/>
                  </a:ext>
                </a:extLst>
              </a:tr>
            </a:tbl>
          </a:graphicData>
        </a:graphic>
      </p:graphicFrame>
    </p:spTree>
    <p:extLst>
      <p:ext uri="{BB962C8B-B14F-4D97-AF65-F5344CB8AC3E}">
        <p14:creationId xmlns:p14="http://schemas.microsoft.com/office/powerpoint/2010/main" val="36206127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5E3988D-90D0-11B9-1AE9-B2221410FF1D}"/>
              </a:ext>
            </a:extLst>
          </p:cNvPr>
          <p:cNvSpPr>
            <a:spLocks noGrp="1"/>
          </p:cNvSpPr>
          <p:nvPr>
            <p:ph type="title"/>
          </p:nvPr>
        </p:nvSpPr>
        <p:spPr/>
        <p:txBody>
          <a:bodyPr/>
          <a:lstStyle/>
          <a:p>
            <a:r>
              <a:rPr lang="de-DE" dirty="0"/>
              <a:t>Filtern, Sortieren und Ergebnistyp ableiten</a:t>
            </a:r>
          </a:p>
        </p:txBody>
      </p:sp>
      <p:sp>
        <p:nvSpPr>
          <p:cNvPr id="5" name="Inhaltsplatzhalter 4">
            <a:extLst>
              <a:ext uri="{FF2B5EF4-FFF2-40B4-BE49-F238E27FC236}">
                <a16:creationId xmlns:a16="http://schemas.microsoft.com/office/drawing/2014/main" id="{2701D090-1451-B9AB-AD02-479A0D79DE50}"/>
              </a:ext>
            </a:extLst>
          </p:cNvPr>
          <p:cNvSpPr>
            <a:spLocks noGrp="1"/>
          </p:cNvSpPr>
          <p:nvPr>
            <p:ph idx="1"/>
          </p:nvPr>
        </p:nvSpPr>
        <p:spPr/>
        <p:txBody>
          <a:bodyPr/>
          <a:lstStyle/>
          <a:p>
            <a:pPr marL="0" indent="0">
              <a:buNone/>
            </a:pPr>
            <a:r>
              <a:rPr lang="de-DE" dirty="0">
                <a:latin typeface="Courier New" panose="02070309020205020404" pitchFamily="49" charset="0"/>
                <a:cs typeface="Courier New" panose="02070309020205020404" pitchFamily="49" charset="0"/>
              </a:rPr>
              <a:t>DATA </a:t>
            </a:r>
            <a:r>
              <a:rPr lang="de-DE" dirty="0" err="1">
                <a:latin typeface="Courier New" panose="02070309020205020404" pitchFamily="49" charset="0"/>
                <a:cs typeface="Courier New" panose="02070309020205020404" pitchFamily="49" charset="0"/>
              </a:rPr>
              <a:t>customer_id</a:t>
            </a:r>
            <a:r>
              <a:rPr lang="de-DE" dirty="0">
                <a:latin typeface="Courier New" panose="02070309020205020404" pitchFamily="49" charset="0"/>
                <a:cs typeface="Courier New" panose="02070309020205020404" pitchFamily="49" charset="0"/>
              </a:rPr>
              <a:t> TYPE </a:t>
            </a:r>
            <a:r>
              <a:rPr lang="de-DE" dirty="0" err="1">
                <a:latin typeface="Courier New" panose="02070309020205020404" pitchFamily="49" charset="0"/>
                <a:cs typeface="Courier New" panose="02070309020205020404" pitchFamily="49" charset="0"/>
              </a:rPr>
              <a:t>ZI_CDSOrder-CustomerId</a:t>
            </a:r>
            <a:br>
              <a:rPr lang="de-DE" dirty="0">
                <a:latin typeface="Courier New" panose="02070309020205020404" pitchFamily="49" charset="0"/>
                <a:cs typeface="Courier New" panose="02070309020205020404" pitchFamily="49" charset="0"/>
              </a:rPr>
            </a:br>
            <a:r>
              <a:rPr lang="de-DE" dirty="0">
                <a:latin typeface="Courier New" panose="02070309020205020404" pitchFamily="49" charset="0"/>
                <a:cs typeface="Courier New" panose="02070309020205020404" pitchFamily="49" charset="0"/>
              </a:rPr>
              <a:t>                 VALUE 'C1000‘. </a:t>
            </a:r>
          </a:p>
          <a:p>
            <a:pPr marL="0" indent="0">
              <a:buNone/>
            </a:pPr>
            <a:r>
              <a:rPr lang="de-DE" dirty="0">
                <a:latin typeface="Courier New" panose="02070309020205020404" pitchFamily="49" charset="0"/>
                <a:cs typeface="Courier New" panose="02070309020205020404" pitchFamily="49" charset="0"/>
              </a:rPr>
              <a:t>SELECT FROM </a:t>
            </a:r>
            <a:r>
              <a:rPr lang="de-DE" dirty="0" err="1">
                <a:latin typeface="Courier New" panose="02070309020205020404" pitchFamily="49" charset="0"/>
                <a:cs typeface="Courier New" panose="02070309020205020404" pitchFamily="49" charset="0"/>
              </a:rPr>
              <a:t>ZI_CDSOrder</a:t>
            </a:r>
            <a:r>
              <a:rPr lang="de-DE" dirty="0">
                <a:latin typeface="Courier New" panose="02070309020205020404" pitchFamily="49" charset="0"/>
                <a:cs typeface="Courier New" panose="02070309020205020404" pitchFamily="49" charset="0"/>
              </a:rPr>
              <a:t> </a:t>
            </a:r>
            <a:br>
              <a:rPr lang="de-DE" dirty="0">
                <a:latin typeface="Courier New" panose="02070309020205020404" pitchFamily="49" charset="0"/>
                <a:cs typeface="Courier New" panose="02070309020205020404" pitchFamily="49" charset="0"/>
              </a:rPr>
            </a:br>
            <a:r>
              <a:rPr lang="de-DE" dirty="0">
                <a:latin typeface="Courier New" panose="02070309020205020404" pitchFamily="49" charset="0"/>
                <a:cs typeface="Courier New" panose="02070309020205020404" pitchFamily="49" charset="0"/>
              </a:rPr>
              <a:t>FIELDS </a:t>
            </a:r>
            <a:br>
              <a:rPr lang="de-DE" dirty="0">
                <a:latin typeface="Courier New" panose="02070309020205020404" pitchFamily="49" charset="0"/>
                <a:cs typeface="Courier New" panose="02070309020205020404" pitchFamily="49" charset="0"/>
              </a:rPr>
            </a:b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OrderId</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CustomerName</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OrderDate</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GrossAmount</a:t>
            </a:r>
            <a:r>
              <a:rPr lang="de-DE" dirty="0">
                <a:latin typeface="Courier New" panose="02070309020205020404" pitchFamily="49" charset="0"/>
                <a:cs typeface="Courier New" panose="02070309020205020404" pitchFamily="49" charset="0"/>
              </a:rPr>
              <a:t>,  </a:t>
            </a:r>
            <a:br>
              <a:rPr lang="de-DE" dirty="0">
                <a:latin typeface="Courier New" panose="02070309020205020404" pitchFamily="49" charset="0"/>
                <a:cs typeface="Courier New" panose="02070309020205020404" pitchFamily="49" charset="0"/>
              </a:rPr>
            </a:b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CurrencyCode</a:t>
            </a:r>
            <a:r>
              <a:rPr lang="de-DE" dirty="0">
                <a:latin typeface="Courier New" panose="02070309020205020404" pitchFamily="49" charset="0"/>
                <a:cs typeface="Courier New" panose="02070309020205020404" pitchFamily="49" charset="0"/>
              </a:rPr>
              <a:t> </a:t>
            </a:r>
            <a:br>
              <a:rPr lang="de-DE" dirty="0">
                <a:latin typeface="Courier New" panose="02070309020205020404" pitchFamily="49" charset="0"/>
                <a:cs typeface="Courier New" panose="02070309020205020404" pitchFamily="49" charset="0"/>
              </a:rPr>
            </a:br>
            <a:r>
              <a:rPr lang="de-DE" dirty="0">
                <a:latin typeface="Courier New" panose="02070309020205020404" pitchFamily="49" charset="0"/>
                <a:cs typeface="Courier New" panose="02070309020205020404" pitchFamily="49" charset="0"/>
              </a:rPr>
              <a:t>WHERE </a:t>
            </a:r>
            <a:r>
              <a:rPr lang="de-DE" dirty="0" err="1">
                <a:latin typeface="Courier New" panose="02070309020205020404" pitchFamily="49" charset="0"/>
                <a:cs typeface="Courier New" panose="02070309020205020404" pitchFamily="49" charset="0"/>
              </a:rPr>
              <a:t>CustomerId</a:t>
            </a:r>
            <a:r>
              <a:rPr lang="de-DE" dirty="0">
                <a:latin typeface="Courier New" panose="02070309020205020404" pitchFamily="49" charset="0"/>
                <a:cs typeface="Courier New" panose="02070309020205020404" pitchFamily="49" charset="0"/>
              </a:rPr>
              <a:t> = @customer_id </a:t>
            </a:r>
            <a:br>
              <a:rPr lang="de-DE" dirty="0">
                <a:latin typeface="Courier New" panose="02070309020205020404" pitchFamily="49" charset="0"/>
                <a:cs typeface="Courier New" panose="02070309020205020404" pitchFamily="49" charset="0"/>
              </a:rPr>
            </a:br>
            <a:r>
              <a:rPr lang="de-DE" dirty="0">
                <a:latin typeface="Courier New" panose="02070309020205020404" pitchFamily="49" charset="0"/>
                <a:cs typeface="Courier New" panose="02070309020205020404" pitchFamily="49" charset="0"/>
              </a:rPr>
              <a:t>ORDER BY </a:t>
            </a:r>
            <a:r>
              <a:rPr lang="de-DE" dirty="0" err="1">
                <a:latin typeface="Courier New" panose="02070309020205020404" pitchFamily="49" charset="0"/>
                <a:cs typeface="Courier New" panose="02070309020205020404" pitchFamily="49" charset="0"/>
              </a:rPr>
              <a:t>OrderDate</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OrderId</a:t>
            </a:r>
            <a:r>
              <a:rPr lang="de-DE" dirty="0">
                <a:latin typeface="Courier New" panose="02070309020205020404" pitchFamily="49" charset="0"/>
                <a:cs typeface="Courier New" panose="02070309020205020404" pitchFamily="49" charset="0"/>
              </a:rPr>
              <a:t> </a:t>
            </a:r>
            <a:br>
              <a:rPr lang="de-DE" dirty="0">
                <a:latin typeface="Courier New" panose="02070309020205020404" pitchFamily="49" charset="0"/>
                <a:cs typeface="Courier New" panose="02070309020205020404" pitchFamily="49" charset="0"/>
              </a:rPr>
            </a:br>
            <a:r>
              <a:rPr lang="de-DE" dirty="0">
                <a:latin typeface="Courier New" panose="02070309020205020404" pitchFamily="49" charset="0"/>
                <a:cs typeface="Courier New" panose="02070309020205020404" pitchFamily="49" charset="0"/>
              </a:rPr>
              <a:t>INTO TABLE @DATA(orders).</a:t>
            </a:r>
          </a:p>
        </p:txBody>
      </p:sp>
    </p:spTree>
    <p:extLst>
      <p:ext uri="{BB962C8B-B14F-4D97-AF65-F5344CB8AC3E}">
        <p14:creationId xmlns:p14="http://schemas.microsoft.com/office/powerpoint/2010/main" val="255220046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1F08B32-5923-4D86-856E-7C916E480848}"/>
              </a:ext>
            </a:extLst>
          </p:cNvPr>
          <p:cNvSpPr>
            <a:spLocks noGrp="1"/>
          </p:cNvSpPr>
          <p:nvPr>
            <p:ph type="title"/>
          </p:nvPr>
        </p:nvSpPr>
        <p:spPr/>
        <p:txBody>
          <a:bodyPr/>
          <a:lstStyle/>
          <a:p>
            <a:r>
              <a:rPr lang="de-DE" dirty="0"/>
              <a:t>Nur benötigte Elemente lese</a:t>
            </a:r>
          </a:p>
        </p:txBody>
      </p:sp>
      <p:sp>
        <p:nvSpPr>
          <p:cNvPr id="3" name="Inhaltsplatzhalter 2">
            <a:extLst>
              <a:ext uri="{FF2B5EF4-FFF2-40B4-BE49-F238E27FC236}">
                <a16:creationId xmlns:a16="http://schemas.microsoft.com/office/drawing/2014/main" id="{E28AB40B-0733-1122-4E41-704BB7B366DD}"/>
              </a:ext>
            </a:extLst>
          </p:cNvPr>
          <p:cNvSpPr>
            <a:spLocks noGrp="1"/>
          </p:cNvSpPr>
          <p:nvPr>
            <p:ph sz="half" idx="1"/>
          </p:nvPr>
        </p:nvSpPr>
        <p:spPr/>
        <p:txBody>
          <a:bodyPr/>
          <a:lstStyle/>
          <a:p>
            <a:pPr marL="0" indent="0">
              <a:buNone/>
            </a:pPr>
            <a:r>
              <a:rPr lang="de-DE" dirty="0"/>
              <a:t>Unnötig breit:</a:t>
            </a:r>
          </a:p>
          <a:p>
            <a:pPr marL="0" indent="0">
              <a:buNone/>
            </a:pPr>
            <a:r>
              <a:rPr lang="de-DE" dirty="0">
                <a:latin typeface="Courier New" panose="02070309020205020404" pitchFamily="49" charset="0"/>
                <a:cs typeface="Courier New" panose="02070309020205020404" pitchFamily="49" charset="0"/>
              </a:rPr>
              <a:t>SELECT FROM </a:t>
            </a:r>
            <a:r>
              <a:rPr lang="de-DE" dirty="0" err="1">
                <a:latin typeface="Courier New" panose="02070309020205020404" pitchFamily="49" charset="0"/>
                <a:cs typeface="Courier New" panose="02070309020205020404" pitchFamily="49" charset="0"/>
              </a:rPr>
              <a:t>ZI_CDSOrder</a:t>
            </a:r>
            <a:br>
              <a:rPr lang="de-DE" dirty="0">
                <a:latin typeface="Courier New" panose="02070309020205020404" pitchFamily="49" charset="0"/>
                <a:cs typeface="Courier New" panose="02070309020205020404" pitchFamily="49" charset="0"/>
              </a:rPr>
            </a:br>
            <a:r>
              <a:rPr lang="de-DE" dirty="0">
                <a:latin typeface="Courier New" panose="02070309020205020404" pitchFamily="49" charset="0"/>
                <a:cs typeface="Courier New" panose="02070309020205020404" pitchFamily="49" charset="0"/>
              </a:rPr>
              <a:t>  FIELDS *</a:t>
            </a:r>
            <a:br>
              <a:rPr lang="de-DE" dirty="0">
                <a:latin typeface="Courier New" panose="02070309020205020404" pitchFamily="49" charset="0"/>
                <a:cs typeface="Courier New" panose="02070309020205020404" pitchFamily="49" charset="0"/>
              </a:rPr>
            </a:br>
            <a:r>
              <a:rPr lang="de-DE" dirty="0">
                <a:latin typeface="Courier New" panose="02070309020205020404" pitchFamily="49" charset="0"/>
                <a:cs typeface="Courier New" panose="02070309020205020404" pitchFamily="49" charset="0"/>
              </a:rPr>
              <a:t>  INTO TABLE</a:t>
            </a:r>
            <a:br>
              <a:rPr lang="de-DE" dirty="0">
                <a:latin typeface="Courier New" panose="02070309020205020404" pitchFamily="49" charset="0"/>
                <a:cs typeface="Courier New" panose="02070309020205020404" pitchFamily="49" charset="0"/>
              </a:rPr>
            </a:br>
            <a:r>
              <a:rPr lang="de-DE" dirty="0">
                <a:latin typeface="Courier New" panose="02070309020205020404" pitchFamily="49" charset="0"/>
                <a:cs typeface="Courier New" panose="02070309020205020404" pitchFamily="49" charset="0"/>
              </a:rPr>
              <a:t>       @DATA(all_data).</a:t>
            </a:r>
          </a:p>
        </p:txBody>
      </p:sp>
      <p:sp>
        <p:nvSpPr>
          <p:cNvPr id="4" name="Inhaltsplatzhalter 3">
            <a:extLst>
              <a:ext uri="{FF2B5EF4-FFF2-40B4-BE49-F238E27FC236}">
                <a16:creationId xmlns:a16="http://schemas.microsoft.com/office/drawing/2014/main" id="{4F6B4822-D136-86D9-5702-B4D3C0E76C1A}"/>
              </a:ext>
            </a:extLst>
          </p:cNvPr>
          <p:cNvSpPr>
            <a:spLocks noGrp="1"/>
          </p:cNvSpPr>
          <p:nvPr>
            <p:ph sz="half" idx="2"/>
          </p:nvPr>
        </p:nvSpPr>
        <p:spPr/>
        <p:txBody>
          <a:bodyPr/>
          <a:lstStyle/>
          <a:p>
            <a:pPr marL="0" indent="0">
              <a:buNone/>
            </a:pPr>
            <a:r>
              <a:rPr lang="de-DE" dirty="0"/>
              <a:t>Gezielt:</a:t>
            </a:r>
          </a:p>
          <a:p>
            <a:pPr marL="0" indent="0">
              <a:buNone/>
            </a:pPr>
            <a:r>
              <a:rPr lang="de-DE" dirty="0">
                <a:latin typeface="Courier New" panose="02070309020205020404" pitchFamily="49" charset="0"/>
                <a:cs typeface="Courier New" panose="02070309020205020404" pitchFamily="49" charset="0"/>
              </a:rPr>
              <a:t>SELECT FROM </a:t>
            </a:r>
            <a:r>
              <a:rPr lang="de-DE" dirty="0" err="1">
                <a:latin typeface="Courier New" panose="02070309020205020404" pitchFamily="49" charset="0"/>
                <a:cs typeface="Courier New" panose="02070309020205020404" pitchFamily="49" charset="0"/>
              </a:rPr>
              <a:t>ZI_CDSOrder</a:t>
            </a:r>
            <a:br>
              <a:rPr lang="de-DE" dirty="0">
                <a:latin typeface="Courier New" panose="02070309020205020404" pitchFamily="49" charset="0"/>
                <a:cs typeface="Courier New" panose="02070309020205020404" pitchFamily="49" charset="0"/>
              </a:rPr>
            </a:br>
            <a:r>
              <a:rPr lang="de-DE" dirty="0">
                <a:latin typeface="Courier New" panose="02070309020205020404" pitchFamily="49" charset="0"/>
                <a:cs typeface="Courier New" panose="02070309020205020404" pitchFamily="49" charset="0"/>
              </a:rPr>
              <a:t>  FIELDS </a:t>
            </a:r>
            <a:br>
              <a:rPr lang="de-DE" dirty="0">
                <a:latin typeface="Courier New" panose="02070309020205020404" pitchFamily="49" charset="0"/>
                <a:cs typeface="Courier New" panose="02070309020205020404" pitchFamily="49" charset="0"/>
              </a:rPr>
            </a:b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OrderId</a:t>
            </a:r>
            <a:r>
              <a:rPr lang="de-DE" dirty="0">
                <a:latin typeface="Courier New" panose="02070309020205020404" pitchFamily="49" charset="0"/>
                <a:cs typeface="Courier New" panose="02070309020205020404" pitchFamily="49" charset="0"/>
              </a:rPr>
              <a:t>,</a:t>
            </a:r>
            <a:br>
              <a:rPr lang="de-DE" dirty="0">
                <a:latin typeface="Courier New" panose="02070309020205020404" pitchFamily="49" charset="0"/>
                <a:cs typeface="Courier New" panose="02070309020205020404" pitchFamily="49" charset="0"/>
              </a:rPr>
            </a:b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CustomerName</a:t>
            </a:r>
            <a:r>
              <a:rPr lang="de-DE" dirty="0">
                <a:latin typeface="Courier New" panose="02070309020205020404" pitchFamily="49" charset="0"/>
                <a:cs typeface="Courier New" panose="02070309020205020404" pitchFamily="49" charset="0"/>
              </a:rPr>
              <a:t>,</a:t>
            </a:r>
            <a:br>
              <a:rPr lang="de-DE" dirty="0">
                <a:latin typeface="Courier New" panose="02070309020205020404" pitchFamily="49" charset="0"/>
                <a:cs typeface="Courier New" panose="02070309020205020404" pitchFamily="49" charset="0"/>
              </a:rPr>
            </a:b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OrderDate</a:t>
            </a:r>
            <a:r>
              <a:rPr lang="de-DE" dirty="0">
                <a:latin typeface="Courier New" panose="02070309020205020404" pitchFamily="49" charset="0"/>
                <a:cs typeface="Courier New" panose="02070309020205020404" pitchFamily="49" charset="0"/>
              </a:rPr>
              <a:t>,</a:t>
            </a:r>
            <a:br>
              <a:rPr lang="de-DE" dirty="0">
                <a:latin typeface="Courier New" panose="02070309020205020404" pitchFamily="49" charset="0"/>
                <a:cs typeface="Courier New" panose="02070309020205020404" pitchFamily="49" charset="0"/>
              </a:rPr>
            </a:b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GrossAmount</a:t>
            </a:r>
            <a:r>
              <a:rPr lang="de-DE" dirty="0">
                <a:latin typeface="Courier New" panose="02070309020205020404" pitchFamily="49" charset="0"/>
                <a:cs typeface="Courier New" panose="02070309020205020404" pitchFamily="49" charset="0"/>
              </a:rPr>
              <a:t>,</a:t>
            </a:r>
            <a:br>
              <a:rPr lang="de-DE" dirty="0">
                <a:latin typeface="Courier New" panose="02070309020205020404" pitchFamily="49" charset="0"/>
                <a:cs typeface="Courier New" panose="02070309020205020404" pitchFamily="49" charset="0"/>
              </a:rPr>
            </a:b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CurrencyCode</a:t>
            </a:r>
            <a:r>
              <a:rPr lang="de-DE" dirty="0">
                <a:latin typeface="Courier New" panose="02070309020205020404" pitchFamily="49" charset="0"/>
                <a:cs typeface="Courier New" panose="02070309020205020404" pitchFamily="49" charset="0"/>
              </a:rPr>
              <a:t> </a:t>
            </a:r>
            <a:br>
              <a:rPr lang="de-DE" dirty="0">
                <a:latin typeface="Courier New" panose="02070309020205020404" pitchFamily="49" charset="0"/>
                <a:cs typeface="Courier New" panose="02070309020205020404" pitchFamily="49" charset="0"/>
              </a:rPr>
            </a:br>
            <a:r>
              <a:rPr lang="de-DE" dirty="0">
                <a:latin typeface="Courier New" panose="02070309020205020404" pitchFamily="49" charset="0"/>
                <a:cs typeface="Courier New" panose="02070309020205020404" pitchFamily="49" charset="0"/>
              </a:rPr>
              <a:t>  INTO TABLE</a:t>
            </a:r>
            <a:br>
              <a:rPr lang="de-DE" dirty="0">
                <a:latin typeface="Courier New" panose="02070309020205020404" pitchFamily="49" charset="0"/>
                <a:cs typeface="Courier New" panose="02070309020205020404" pitchFamily="49" charset="0"/>
              </a:rPr>
            </a:br>
            <a:r>
              <a:rPr lang="de-DE" dirty="0">
                <a:latin typeface="Courier New" panose="02070309020205020404" pitchFamily="49" charset="0"/>
                <a:cs typeface="Courier New" panose="02070309020205020404" pitchFamily="49" charset="0"/>
              </a:rPr>
              <a:t>       @DATA(orders).</a:t>
            </a:r>
          </a:p>
          <a:p>
            <a:pPr marL="0" indent="0">
              <a:buNone/>
            </a:pPr>
            <a:endParaRPr lang="de-DE" dirty="0"/>
          </a:p>
        </p:txBody>
      </p:sp>
    </p:spTree>
    <p:extLst>
      <p:ext uri="{BB962C8B-B14F-4D97-AF65-F5344CB8AC3E}">
        <p14:creationId xmlns:p14="http://schemas.microsoft.com/office/powerpoint/2010/main" val="24219565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BE707B9-E11C-AB59-F8D3-EF02441B3EA4}"/>
              </a:ext>
            </a:extLst>
          </p:cNvPr>
          <p:cNvSpPr>
            <a:spLocks noGrp="1"/>
          </p:cNvSpPr>
          <p:nvPr>
            <p:ph type="title"/>
          </p:nvPr>
        </p:nvSpPr>
        <p:spPr/>
        <p:txBody>
          <a:bodyPr/>
          <a:lstStyle/>
          <a:p>
            <a:r>
              <a:rPr lang="de-DE" dirty="0"/>
              <a:t>Assoziationen in ABAP SQL verwenden</a:t>
            </a:r>
          </a:p>
        </p:txBody>
      </p:sp>
      <p:sp>
        <p:nvSpPr>
          <p:cNvPr id="3" name="Inhaltsplatzhalter 2">
            <a:extLst>
              <a:ext uri="{FF2B5EF4-FFF2-40B4-BE49-F238E27FC236}">
                <a16:creationId xmlns:a16="http://schemas.microsoft.com/office/drawing/2014/main" id="{A3B56729-F884-856A-79BD-4FD3A772FC91}"/>
              </a:ext>
            </a:extLst>
          </p:cNvPr>
          <p:cNvSpPr>
            <a:spLocks noGrp="1"/>
          </p:cNvSpPr>
          <p:nvPr>
            <p:ph idx="1"/>
          </p:nvPr>
        </p:nvSpPr>
        <p:spPr/>
        <p:txBody>
          <a:bodyPr/>
          <a:lstStyle/>
          <a:p>
            <a:pPr marL="0" indent="0">
              <a:buNone/>
            </a:pPr>
            <a:r>
              <a:rPr lang="de-DE" dirty="0">
                <a:latin typeface="Courier New" panose="02070309020205020404" pitchFamily="49" charset="0"/>
                <a:cs typeface="Courier New" panose="02070309020205020404" pitchFamily="49" charset="0"/>
              </a:rPr>
              <a:t>SELECT FROM </a:t>
            </a:r>
            <a:r>
              <a:rPr lang="de-DE" dirty="0" err="1">
                <a:latin typeface="Courier New" panose="02070309020205020404" pitchFamily="49" charset="0"/>
                <a:cs typeface="Courier New" panose="02070309020205020404" pitchFamily="49" charset="0"/>
              </a:rPr>
              <a:t>ZI_CDSOrder</a:t>
            </a:r>
            <a:r>
              <a:rPr lang="de-DE" dirty="0">
                <a:latin typeface="Courier New" panose="02070309020205020404" pitchFamily="49" charset="0"/>
                <a:cs typeface="Courier New" panose="02070309020205020404" pitchFamily="49" charset="0"/>
              </a:rPr>
              <a:t>\_Items AS Item</a:t>
            </a:r>
            <a:br>
              <a:rPr lang="de-DE" dirty="0">
                <a:latin typeface="Courier New" panose="02070309020205020404" pitchFamily="49" charset="0"/>
                <a:cs typeface="Courier New" panose="02070309020205020404" pitchFamily="49" charset="0"/>
              </a:rPr>
            </a:br>
            <a:r>
              <a:rPr lang="de-DE" dirty="0">
                <a:latin typeface="Courier New" panose="02070309020205020404" pitchFamily="49" charset="0"/>
                <a:cs typeface="Courier New" panose="02070309020205020404" pitchFamily="49" charset="0"/>
              </a:rPr>
              <a:t>  FIELDS </a:t>
            </a:r>
            <a:r>
              <a:rPr lang="de-DE" dirty="0" err="1">
                <a:latin typeface="Courier New" panose="02070309020205020404" pitchFamily="49" charset="0"/>
                <a:cs typeface="Courier New" panose="02070309020205020404" pitchFamily="49" charset="0"/>
              </a:rPr>
              <a:t>Item~OrderId</a:t>
            </a:r>
            <a:r>
              <a:rPr lang="de-DE" dirty="0">
                <a:latin typeface="Courier New" panose="02070309020205020404" pitchFamily="49" charset="0"/>
                <a:cs typeface="Courier New" panose="02070309020205020404" pitchFamily="49" charset="0"/>
              </a:rPr>
              <a:t>, </a:t>
            </a:r>
            <a:br>
              <a:rPr lang="de-DE" dirty="0">
                <a:latin typeface="Courier New" panose="02070309020205020404" pitchFamily="49" charset="0"/>
                <a:cs typeface="Courier New" panose="02070309020205020404" pitchFamily="49" charset="0"/>
              </a:rPr>
            </a:b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Item~ItemNumber</a:t>
            </a:r>
            <a:r>
              <a:rPr lang="de-DE" dirty="0">
                <a:latin typeface="Courier New" panose="02070309020205020404" pitchFamily="49" charset="0"/>
                <a:cs typeface="Courier New" panose="02070309020205020404" pitchFamily="49" charset="0"/>
              </a:rPr>
              <a:t>, </a:t>
            </a:r>
            <a:br>
              <a:rPr lang="de-DE" dirty="0">
                <a:latin typeface="Courier New" panose="02070309020205020404" pitchFamily="49" charset="0"/>
                <a:cs typeface="Courier New" panose="02070309020205020404" pitchFamily="49" charset="0"/>
              </a:rPr>
            </a:b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Item~ProductId</a:t>
            </a:r>
            <a:r>
              <a:rPr lang="de-DE" dirty="0">
                <a:latin typeface="Courier New" panose="02070309020205020404" pitchFamily="49" charset="0"/>
                <a:cs typeface="Courier New" panose="02070309020205020404" pitchFamily="49" charset="0"/>
              </a:rPr>
              <a:t>, </a:t>
            </a:r>
            <a:br>
              <a:rPr lang="de-DE" dirty="0">
                <a:latin typeface="Courier New" panose="02070309020205020404" pitchFamily="49" charset="0"/>
                <a:cs typeface="Courier New" panose="02070309020205020404" pitchFamily="49" charset="0"/>
              </a:rPr>
            </a:b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Item~ProductName</a:t>
            </a:r>
            <a:r>
              <a:rPr lang="de-DE" dirty="0">
                <a:latin typeface="Courier New" panose="02070309020205020404" pitchFamily="49" charset="0"/>
                <a:cs typeface="Courier New" panose="02070309020205020404" pitchFamily="49" charset="0"/>
              </a:rPr>
              <a:t>, </a:t>
            </a:r>
            <a:br>
              <a:rPr lang="de-DE" dirty="0">
                <a:latin typeface="Courier New" panose="02070309020205020404" pitchFamily="49" charset="0"/>
                <a:cs typeface="Courier New" panose="02070309020205020404" pitchFamily="49" charset="0"/>
              </a:rPr>
            </a:br>
            <a:r>
              <a:rPr lang="de-DE" dirty="0">
                <a:latin typeface="Courier New" panose="02070309020205020404" pitchFamily="49" charset="0"/>
                <a:cs typeface="Courier New" panose="02070309020205020404" pitchFamily="49" charset="0"/>
              </a:rPr>
              <a:t>         Item~Quantity </a:t>
            </a:r>
            <a:br>
              <a:rPr lang="de-DE" dirty="0">
                <a:latin typeface="Courier New" panose="02070309020205020404" pitchFamily="49" charset="0"/>
                <a:cs typeface="Courier New" panose="02070309020205020404" pitchFamily="49" charset="0"/>
              </a:rPr>
            </a:br>
            <a:r>
              <a:rPr lang="de-DE" dirty="0">
                <a:latin typeface="Courier New" panose="02070309020205020404" pitchFamily="49" charset="0"/>
                <a:cs typeface="Courier New" panose="02070309020205020404" pitchFamily="49" charset="0"/>
              </a:rPr>
              <a:t>  INTO TABLE @DATA(items).</a:t>
            </a:r>
          </a:p>
        </p:txBody>
      </p:sp>
    </p:spTree>
    <p:extLst>
      <p:ext uri="{BB962C8B-B14F-4D97-AF65-F5344CB8AC3E}">
        <p14:creationId xmlns:p14="http://schemas.microsoft.com/office/powerpoint/2010/main" val="241201178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8BD3785-A9EF-BE37-06C2-BC003D12E317}"/>
              </a:ext>
            </a:extLst>
          </p:cNvPr>
          <p:cNvSpPr>
            <a:spLocks noGrp="1"/>
          </p:cNvSpPr>
          <p:nvPr>
            <p:ph type="title"/>
          </p:nvPr>
        </p:nvSpPr>
        <p:spPr/>
        <p:txBody>
          <a:bodyPr/>
          <a:lstStyle/>
          <a:p>
            <a:r>
              <a:rPr lang="de-DE" dirty="0"/>
              <a:t>Direkter Zugriff oder Navigation?</a:t>
            </a:r>
          </a:p>
        </p:txBody>
      </p:sp>
      <p:sp>
        <p:nvSpPr>
          <p:cNvPr id="3" name="Inhaltsplatzhalter 2">
            <a:extLst>
              <a:ext uri="{FF2B5EF4-FFF2-40B4-BE49-F238E27FC236}">
                <a16:creationId xmlns:a16="http://schemas.microsoft.com/office/drawing/2014/main" id="{7AFE551F-902F-3514-37EF-4CEF8A171F55}"/>
              </a:ext>
            </a:extLst>
          </p:cNvPr>
          <p:cNvSpPr>
            <a:spLocks noGrp="1"/>
          </p:cNvSpPr>
          <p:nvPr>
            <p:ph sz="half" idx="1"/>
          </p:nvPr>
        </p:nvSpPr>
        <p:spPr/>
        <p:txBody>
          <a:bodyPr/>
          <a:lstStyle/>
          <a:p>
            <a:pPr marL="0" indent="0">
              <a:buNone/>
            </a:pPr>
            <a:r>
              <a:rPr lang="de-DE" dirty="0">
                <a:latin typeface="Courier New" panose="02070309020205020404" pitchFamily="49" charset="0"/>
                <a:cs typeface="Courier New" panose="02070309020205020404" pitchFamily="49" charset="0"/>
              </a:rPr>
              <a:t>SELECT FROM </a:t>
            </a:r>
            <a:br>
              <a:rPr lang="de-DE" dirty="0">
                <a:latin typeface="Courier New" panose="02070309020205020404" pitchFamily="49" charset="0"/>
                <a:cs typeface="Courier New" panose="02070309020205020404" pitchFamily="49" charset="0"/>
              </a:rPr>
            </a:b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ZI_CDSOrderItem</a:t>
            </a:r>
            <a:br>
              <a:rPr lang="de-DE" dirty="0">
                <a:latin typeface="Courier New" panose="02070309020205020404" pitchFamily="49" charset="0"/>
                <a:cs typeface="Courier New" panose="02070309020205020404" pitchFamily="49" charset="0"/>
              </a:rPr>
            </a:br>
            <a:r>
              <a:rPr lang="de-DE" dirty="0">
                <a:latin typeface="Courier New" panose="02070309020205020404" pitchFamily="49" charset="0"/>
                <a:cs typeface="Courier New" panose="02070309020205020404" pitchFamily="49" charset="0"/>
              </a:rPr>
              <a:t>  FIELDS </a:t>
            </a:r>
            <a:br>
              <a:rPr lang="de-DE" dirty="0">
                <a:latin typeface="Courier New" panose="02070309020205020404" pitchFamily="49" charset="0"/>
                <a:cs typeface="Courier New" panose="02070309020205020404" pitchFamily="49" charset="0"/>
              </a:rPr>
            </a:b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OrderId</a:t>
            </a:r>
            <a:r>
              <a:rPr lang="de-DE" dirty="0">
                <a:latin typeface="Courier New" panose="02070309020205020404" pitchFamily="49" charset="0"/>
                <a:cs typeface="Courier New" panose="02070309020205020404" pitchFamily="49" charset="0"/>
              </a:rPr>
              <a:t>,</a:t>
            </a:r>
            <a:br>
              <a:rPr lang="de-DE" dirty="0">
                <a:latin typeface="Courier New" panose="02070309020205020404" pitchFamily="49" charset="0"/>
                <a:cs typeface="Courier New" panose="02070309020205020404" pitchFamily="49" charset="0"/>
              </a:rPr>
            </a:b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ItemNumber</a:t>
            </a:r>
            <a:r>
              <a:rPr lang="de-DE" dirty="0">
                <a:latin typeface="Courier New" panose="02070309020205020404" pitchFamily="49" charset="0"/>
                <a:cs typeface="Courier New" panose="02070309020205020404" pitchFamily="49" charset="0"/>
              </a:rPr>
              <a:t>,</a:t>
            </a:r>
            <a:br>
              <a:rPr lang="de-DE" dirty="0">
                <a:latin typeface="Courier New" panose="02070309020205020404" pitchFamily="49" charset="0"/>
                <a:cs typeface="Courier New" panose="02070309020205020404" pitchFamily="49" charset="0"/>
              </a:rPr>
            </a:b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ProductName</a:t>
            </a:r>
            <a:r>
              <a:rPr lang="de-DE" dirty="0">
                <a:latin typeface="Courier New" panose="02070309020205020404" pitchFamily="49" charset="0"/>
                <a:cs typeface="Courier New" panose="02070309020205020404" pitchFamily="49" charset="0"/>
              </a:rPr>
              <a:t> </a:t>
            </a:r>
            <a:br>
              <a:rPr lang="de-DE" dirty="0">
                <a:latin typeface="Courier New" panose="02070309020205020404" pitchFamily="49" charset="0"/>
                <a:cs typeface="Courier New" panose="02070309020205020404" pitchFamily="49" charset="0"/>
              </a:rPr>
            </a:br>
            <a:r>
              <a:rPr lang="de-DE" dirty="0">
                <a:latin typeface="Courier New" panose="02070309020205020404" pitchFamily="49" charset="0"/>
                <a:cs typeface="Courier New" panose="02070309020205020404" pitchFamily="49" charset="0"/>
              </a:rPr>
              <a:t>  INTO TABLE </a:t>
            </a:r>
            <a:br>
              <a:rPr lang="de-DE" dirty="0">
                <a:latin typeface="Courier New" panose="02070309020205020404" pitchFamily="49" charset="0"/>
                <a:cs typeface="Courier New" panose="02070309020205020404" pitchFamily="49" charset="0"/>
              </a:rPr>
            </a:br>
            <a:r>
              <a:rPr lang="de-DE" dirty="0">
                <a:latin typeface="Courier New" panose="02070309020205020404" pitchFamily="49" charset="0"/>
                <a:cs typeface="Courier New" panose="02070309020205020404" pitchFamily="49" charset="0"/>
              </a:rPr>
              <a:t>    @DATA(items).</a:t>
            </a:r>
          </a:p>
        </p:txBody>
      </p:sp>
      <p:sp>
        <p:nvSpPr>
          <p:cNvPr id="4" name="Inhaltsplatzhalter 3">
            <a:extLst>
              <a:ext uri="{FF2B5EF4-FFF2-40B4-BE49-F238E27FC236}">
                <a16:creationId xmlns:a16="http://schemas.microsoft.com/office/drawing/2014/main" id="{AD6D8598-4EA0-EFDA-2C4E-EDE8813BC21B}"/>
              </a:ext>
            </a:extLst>
          </p:cNvPr>
          <p:cNvSpPr>
            <a:spLocks noGrp="1"/>
          </p:cNvSpPr>
          <p:nvPr>
            <p:ph sz="half" idx="2"/>
          </p:nvPr>
        </p:nvSpPr>
        <p:spPr/>
        <p:txBody>
          <a:bodyPr/>
          <a:lstStyle/>
          <a:p>
            <a:pPr marL="0" indent="0">
              <a:buNone/>
            </a:pPr>
            <a:r>
              <a:rPr lang="de-DE" dirty="0">
                <a:latin typeface="Courier New" panose="02070309020205020404" pitchFamily="49" charset="0"/>
                <a:cs typeface="Courier New" panose="02070309020205020404" pitchFamily="49" charset="0"/>
              </a:rPr>
              <a:t>SELECT FROM</a:t>
            </a:r>
            <a:br>
              <a:rPr lang="de-DE" dirty="0">
                <a:latin typeface="Courier New" panose="02070309020205020404" pitchFamily="49" charset="0"/>
                <a:cs typeface="Courier New" panose="02070309020205020404" pitchFamily="49" charset="0"/>
              </a:rPr>
            </a:b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ZI_CDSOrder</a:t>
            </a:r>
            <a:r>
              <a:rPr lang="de-DE" dirty="0">
                <a:latin typeface="Courier New" panose="02070309020205020404" pitchFamily="49" charset="0"/>
                <a:cs typeface="Courier New" panose="02070309020205020404" pitchFamily="49" charset="0"/>
              </a:rPr>
              <a:t>\_Items</a:t>
            </a:r>
            <a:br>
              <a:rPr lang="de-DE" dirty="0">
                <a:latin typeface="Courier New" panose="02070309020205020404" pitchFamily="49" charset="0"/>
                <a:cs typeface="Courier New" panose="02070309020205020404" pitchFamily="49" charset="0"/>
              </a:rPr>
            </a:br>
            <a:r>
              <a:rPr lang="de-DE" dirty="0">
                <a:latin typeface="Courier New" panose="02070309020205020404" pitchFamily="49" charset="0"/>
                <a:cs typeface="Courier New" panose="02070309020205020404" pitchFamily="49" charset="0"/>
              </a:rPr>
              <a:t>    AS Item </a:t>
            </a:r>
            <a:br>
              <a:rPr lang="de-DE" dirty="0">
                <a:latin typeface="Courier New" panose="02070309020205020404" pitchFamily="49" charset="0"/>
                <a:cs typeface="Courier New" panose="02070309020205020404" pitchFamily="49" charset="0"/>
              </a:rPr>
            </a:br>
            <a:r>
              <a:rPr lang="de-DE" dirty="0">
                <a:latin typeface="Courier New" panose="02070309020205020404" pitchFamily="49" charset="0"/>
                <a:cs typeface="Courier New" panose="02070309020205020404" pitchFamily="49" charset="0"/>
              </a:rPr>
              <a:t>  FIELDS </a:t>
            </a:r>
            <a:br>
              <a:rPr lang="de-DE" dirty="0">
                <a:latin typeface="Courier New" panose="02070309020205020404" pitchFamily="49" charset="0"/>
                <a:cs typeface="Courier New" panose="02070309020205020404" pitchFamily="49" charset="0"/>
              </a:rPr>
            </a:b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Item~OrderId</a:t>
            </a:r>
            <a:r>
              <a:rPr lang="de-DE" dirty="0">
                <a:latin typeface="Courier New" panose="02070309020205020404" pitchFamily="49" charset="0"/>
                <a:cs typeface="Courier New" panose="02070309020205020404" pitchFamily="49" charset="0"/>
              </a:rPr>
              <a:t>,</a:t>
            </a:r>
            <a:br>
              <a:rPr lang="de-DE" dirty="0">
                <a:latin typeface="Courier New" panose="02070309020205020404" pitchFamily="49" charset="0"/>
                <a:cs typeface="Courier New" panose="02070309020205020404" pitchFamily="49" charset="0"/>
              </a:rPr>
            </a:b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Item~ItemNumber</a:t>
            </a:r>
            <a:r>
              <a:rPr lang="de-DE" dirty="0">
                <a:latin typeface="Courier New" panose="02070309020205020404" pitchFamily="49" charset="0"/>
                <a:cs typeface="Courier New" panose="02070309020205020404" pitchFamily="49" charset="0"/>
              </a:rPr>
              <a:t>,</a:t>
            </a:r>
            <a:br>
              <a:rPr lang="de-DE" dirty="0">
                <a:latin typeface="Courier New" panose="02070309020205020404" pitchFamily="49" charset="0"/>
                <a:cs typeface="Courier New" panose="02070309020205020404" pitchFamily="49" charset="0"/>
              </a:rPr>
            </a:b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Item~ProductName</a:t>
            </a:r>
            <a:br>
              <a:rPr lang="de-DE" dirty="0">
                <a:latin typeface="Courier New" panose="02070309020205020404" pitchFamily="49" charset="0"/>
                <a:cs typeface="Courier New" panose="02070309020205020404" pitchFamily="49" charset="0"/>
              </a:rPr>
            </a:br>
            <a:r>
              <a:rPr lang="de-DE" dirty="0">
                <a:latin typeface="Courier New" panose="02070309020205020404" pitchFamily="49" charset="0"/>
                <a:cs typeface="Courier New" panose="02070309020205020404" pitchFamily="49" charset="0"/>
              </a:rPr>
              <a:t>  INTO TABLE</a:t>
            </a:r>
            <a:br>
              <a:rPr lang="de-DE" dirty="0">
                <a:latin typeface="Courier New" panose="02070309020205020404" pitchFamily="49" charset="0"/>
                <a:cs typeface="Courier New" panose="02070309020205020404" pitchFamily="49" charset="0"/>
              </a:rPr>
            </a:br>
            <a:r>
              <a:rPr lang="de-DE" dirty="0">
                <a:latin typeface="Courier New" panose="02070309020205020404" pitchFamily="49" charset="0"/>
                <a:cs typeface="Courier New" panose="02070309020205020404" pitchFamily="49" charset="0"/>
              </a:rPr>
              <a:t>    @DATA(items).</a:t>
            </a:r>
          </a:p>
        </p:txBody>
      </p:sp>
    </p:spTree>
    <p:extLst>
      <p:ext uri="{BB962C8B-B14F-4D97-AF65-F5344CB8AC3E}">
        <p14:creationId xmlns:p14="http://schemas.microsoft.com/office/powerpoint/2010/main" val="416722108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57337B9-EDC7-66AC-B164-4EF455A070E3}"/>
              </a:ext>
            </a:extLst>
          </p:cNvPr>
          <p:cNvSpPr>
            <a:spLocks noGrp="1"/>
          </p:cNvSpPr>
          <p:nvPr>
            <p:ph type="title"/>
          </p:nvPr>
        </p:nvSpPr>
        <p:spPr/>
        <p:txBody>
          <a:bodyPr/>
          <a:lstStyle/>
          <a:p>
            <a:r>
              <a:rPr lang="de-DE" dirty="0"/>
              <a:t>Ziel von Live-Coding 5</a:t>
            </a:r>
          </a:p>
        </p:txBody>
      </p:sp>
      <p:sp>
        <p:nvSpPr>
          <p:cNvPr id="5" name="Inhaltsplatzhalter 4">
            <a:extLst>
              <a:ext uri="{FF2B5EF4-FFF2-40B4-BE49-F238E27FC236}">
                <a16:creationId xmlns:a16="http://schemas.microsoft.com/office/drawing/2014/main" id="{3D3B9901-D527-AA9A-EF33-40649A8F34F1}"/>
              </a:ext>
            </a:extLst>
          </p:cNvPr>
          <p:cNvSpPr>
            <a:spLocks noGrp="1"/>
          </p:cNvSpPr>
          <p:nvPr>
            <p:ph idx="1"/>
          </p:nvPr>
        </p:nvSpPr>
        <p:spPr/>
        <p:txBody>
          <a:bodyPr>
            <a:normAutofit lnSpcReduction="10000"/>
          </a:bodyPr>
          <a:lstStyle/>
          <a:p>
            <a:pPr marL="0" indent="0">
              <a:buNone/>
            </a:pPr>
            <a:r>
              <a:rPr lang="de-DE" dirty="0"/>
              <a:t>Wir erstellen eine ausführbare ABAP-Klasse:</a:t>
            </a:r>
          </a:p>
          <a:p>
            <a:pPr marL="457200" lvl="1" indent="0">
              <a:buNone/>
            </a:pPr>
            <a:r>
              <a:rPr lang="de-DE" dirty="0">
                <a:latin typeface="Courier New" panose="02070309020205020404" pitchFamily="49" charset="0"/>
                <a:cs typeface="Courier New" panose="02070309020205020404" pitchFamily="49" charset="0"/>
              </a:rPr>
              <a:t>ZCL_CDS_READ_ORDERS</a:t>
            </a:r>
          </a:p>
          <a:p>
            <a:pPr marL="0" indent="0">
              <a:buNone/>
            </a:pPr>
            <a:r>
              <a:rPr lang="de-DE" dirty="0"/>
              <a:t>Die Klasse demonstriert:</a:t>
            </a:r>
          </a:p>
          <a:p>
            <a:pPr marL="514350" lvl="0" indent="-514350">
              <a:buFont typeface="+mj-lt"/>
              <a:buAutoNum type="arabicPeriod"/>
            </a:pPr>
            <a:r>
              <a:rPr lang="de-DE" dirty="0"/>
              <a:t>Aufträge aus </a:t>
            </a:r>
            <a:r>
              <a:rPr lang="de-DE" dirty="0" err="1"/>
              <a:t>ZI_CDSOrder</a:t>
            </a:r>
            <a:r>
              <a:rPr lang="de-DE" dirty="0"/>
              <a:t> lesen </a:t>
            </a:r>
          </a:p>
          <a:p>
            <a:pPr marL="514350" lvl="0" indent="-514350">
              <a:buFont typeface="+mj-lt"/>
              <a:buAutoNum type="arabicPeriod"/>
            </a:pPr>
            <a:r>
              <a:rPr lang="de-DE" dirty="0"/>
              <a:t>CDS-Elemente filtern und sortieren </a:t>
            </a:r>
          </a:p>
          <a:p>
            <a:pPr marL="514350" lvl="0" indent="-514350">
              <a:buFont typeface="+mj-lt"/>
              <a:buAutoNum type="arabicPeriod"/>
            </a:pPr>
            <a:r>
              <a:rPr lang="de-DE" dirty="0"/>
              <a:t>berechnete und assoziierte Elemente verwenden </a:t>
            </a:r>
          </a:p>
          <a:p>
            <a:pPr marL="514350" lvl="0" indent="-514350">
              <a:buFont typeface="+mj-lt"/>
              <a:buAutoNum type="arabicPeriod"/>
            </a:pPr>
            <a:r>
              <a:rPr lang="de-DE" dirty="0"/>
              <a:t>Auftragspositionen direkt lesen </a:t>
            </a:r>
          </a:p>
          <a:p>
            <a:pPr marL="514350" lvl="0" indent="-514350">
              <a:buFont typeface="+mj-lt"/>
              <a:buAutoNum type="arabicPeriod"/>
            </a:pPr>
            <a:r>
              <a:rPr lang="de-DE" dirty="0">
                <a:latin typeface="Courier New" panose="02070309020205020404" pitchFamily="49" charset="0"/>
                <a:cs typeface="Courier New" panose="02070309020205020404" pitchFamily="49" charset="0"/>
              </a:rPr>
              <a:t>_Items</a:t>
            </a:r>
            <a:r>
              <a:rPr lang="de-DE" dirty="0"/>
              <a:t> als ABAP-SQL-Pfad verwenden </a:t>
            </a:r>
          </a:p>
          <a:p>
            <a:pPr marL="514350" lvl="0" indent="-514350">
              <a:buFont typeface="+mj-lt"/>
              <a:buAutoNum type="arabicPeriod"/>
            </a:pPr>
            <a:r>
              <a:rPr lang="de-DE" dirty="0"/>
              <a:t>Ergebnisse in der ADT-Konsole ausgeben</a:t>
            </a:r>
          </a:p>
          <a:p>
            <a:pPr marL="0" indent="0">
              <a:buNone/>
            </a:pPr>
            <a:endParaRPr lang="de-DE" dirty="0"/>
          </a:p>
        </p:txBody>
      </p:sp>
    </p:spTree>
    <p:extLst>
      <p:ext uri="{BB962C8B-B14F-4D97-AF65-F5344CB8AC3E}">
        <p14:creationId xmlns:p14="http://schemas.microsoft.com/office/powerpoint/2010/main" val="64276202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E8089EC-E59F-2CA0-C492-E19F7B2DF9CD}"/>
              </a:ext>
            </a:extLst>
          </p:cNvPr>
          <p:cNvSpPr>
            <a:spLocks noGrp="1"/>
          </p:cNvSpPr>
          <p:nvPr>
            <p:ph type="title"/>
          </p:nvPr>
        </p:nvSpPr>
        <p:spPr/>
        <p:txBody>
          <a:bodyPr/>
          <a:lstStyle/>
          <a:p>
            <a:r>
              <a:rPr lang="de-DE" dirty="0"/>
              <a:t>Zwischenstand nach Live-Coding 5</a:t>
            </a:r>
          </a:p>
        </p:txBody>
      </p:sp>
      <p:sp>
        <p:nvSpPr>
          <p:cNvPr id="5" name="Inhaltsplatzhalter 4">
            <a:extLst>
              <a:ext uri="{FF2B5EF4-FFF2-40B4-BE49-F238E27FC236}">
                <a16:creationId xmlns:a16="http://schemas.microsoft.com/office/drawing/2014/main" id="{D0E12C2B-2F64-F86E-5CEB-4185E6682C53}"/>
              </a:ext>
            </a:extLst>
          </p:cNvPr>
          <p:cNvSpPr>
            <a:spLocks noGrp="1"/>
          </p:cNvSpPr>
          <p:nvPr>
            <p:ph idx="1"/>
          </p:nvPr>
        </p:nvSpPr>
        <p:spPr/>
        <p:txBody>
          <a:bodyPr/>
          <a:lstStyle/>
          <a:p>
            <a:pPr marL="0" indent="0">
              <a:buNone/>
            </a:pPr>
            <a:r>
              <a:rPr lang="de-DE" dirty="0"/>
              <a:t>Erreicht:</a:t>
            </a:r>
          </a:p>
          <a:p>
            <a:pPr lvl="0"/>
            <a:r>
              <a:rPr lang="de-DE" dirty="0"/>
              <a:t>View </a:t>
            </a:r>
            <a:r>
              <a:rPr lang="de-DE" dirty="0" err="1"/>
              <a:t>Entities</a:t>
            </a:r>
            <a:r>
              <a:rPr lang="de-DE" dirty="0"/>
              <a:t> direkt mit ABAP SQL gelesen </a:t>
            </a:r>
          </a:p>
          <a:p>
            <a:pPr lvl="0"/>
            <a:r>
              <a:rPr lang="de-DE" dirty="0"/>
              <a:t>fachliche CDS-Elementnamen verwendet </a:t>
            </a:r>
          </a:p>
          <a:p>
            <a:pPr lvl="0"/>
            <a:r>
              <a:rPr lang="de-DE" dirty="0"/>
              <a:t>Filter und Sortierung ausgeführt </a:t>
            </a:r>
          </a:p>
          <a:p>
            <a:pPr lvl="0"/>
            <a:r>
              <a:rPr lang="de-DE" dirty="0"/>
              <a:t>Ergebnisstrukturen inline abgeleitet </a:t>
            </a:r>
          </a:p>
          <a:p>
            <a:pPr lvl="0"/>
            <a:r>
              <a:rPr lang="de-DE" dirty="0"/>
              <a:t>berechnete Elemente konsumiert </a:t>
            </a:r>
          </a:p>
          <a:p>
            <a:pPr lvl="0"/>
            <a:r>
              <a:rPr lang="de-DE" dirty="0"/>
              <a:t>assoziierte Elemente ohne eigenen </a:t>
            </a:r>
            <a:r>
              <a:rPr lang="de-DE" dirty="0" err="1"/>
              <a:t>Join</a:t>
            </a:r>
            <a:r>
              <a:rPr lang="de-DE" dirty="0"/>
              <a:t> gelesen </a:t>
            </a:r>
          </a:p>
          <a:p>
            <a:pPr lvl="0"/>
            <a:r>
              <a:rPr lang="de-DE" dirty="0"/>
              <a:t>To-Many-Assoziation als SQL-Pfad verwendet</a:t>
            </a:r>
          </a:p>
          <a:p>
            <a:endParaRPr lang="de-DE" dirty="0"/>
          </a:p>
        </p:txBody>
      </p:sp>
    </p:spTree>
    <p:extLst>
      <p:ext uri="{BB962C8B-B14F-4D97-AF65-F5344CB8AC3E}">
        <p14:creationId xmlns:p14="http://schemas.microsoft.com/office/powerpoint/2010/main" val="278350977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7EB7305-6FD2-396C-85BA-9CD528EF74AE}"/>
              </a:ext>
            </a:extLst>
          </p:cNvPr>
          <p:cNvSpPr>
            <a:spLocks noGrp="1"/>
          </p:cNvSpPr>
          <p:nvPr>
            <p:ph type="title"/>
          </p:nvPr>
        </p:nvSpPr>
        <p:spPr/>
        <p:txBody>
          <a:bodyPr/>
          <a:lstStyle/>
          <a:p>
            <a:r>
              <a:rPr lang="de-DE" dirty="0"/>
              <a:t>Berechtigungskonzept</a:t>
            </a:r>
          </a:p>
        </p:txBody>
      </p:sp>
      <p:sp>
        <p:nvSpPr>
          <p:cNvPr id="43" name="Inhaltsplatzhalter 42">
            <a:extLst>
              <a:ext uri="{FF2B5EF4-FFF2-40B4-BE49-F238E27FC236}">
                <a16:creationId xmlns:a16="http://schemas.microsoft.com/office/drawing/2014/main" id="{BA80DE2C-1B58-6DC9-C63D-9E0A3F4163F6}"/>
              </a:ext>
            </a:extLst>
          </p:cNvPr>
          <p:cNvSpPr>
            <a:spLocks noGrp="1"/>
          </p:cNvSpPr>
          <p:nvPr>
            <p:ph idx="1"/>
          </p:nvPr>
        </p:nvSpPr>
        <p:spPr>
          <a:xfrm>
            <a:off x="838200" y="1825624"/>
            <a:ext cx="10515600" cy="5032375"/>
          </a:xfrm>
        </p:spPr>
        <p:txBody>
          <a:bodyPr anchor="b">
            <a:normAutofit/>
          </a:bodyPr>
          <a:lstStyle/>
          <a:p>
            <a:pPr marL="0" indent="0">
              <a:buNone/>
            </a:pPr>
            <a:r>
              <a:rPr lang="de-DE" sz="2000" dirty="0">
                <a:hlinkClick r:id="rId3"/>
              </a:rPr>
              <a:t>https://help.sap.com/docs/btp/sap-business-technology-platform/authorization-basics</a:t>
            </a:r>
            <a:r>
              <a:rPr lang="de-DE" sz="2000" dirty="0"/>
              <a:t> </a:t>
            </a:r>
          </a:p>
        </p:txBody>
      </p:sp>
      <p:pic>
        <p:nvPicPr>
          <p:cNvPr id="6" name="Grafik 5">
            <a:extLst>
              <a:ext uri="{FF2B5EF4-FFF2-40B4-BE49-F238E27FC236}">
                <a16:creationId xmlns:a16="http://schemas.microsoft.com/office/drawing/2014/main" id="{0D16E52A-9E7D-C204-6819-55FC832D4BFC}"/>
              </a:ext>
            </a:extLst>
          </p:cNvPr>
          <p:cNvPicPr>
            <a:picLocks noChangeAspect="1"/>
          </p:cNvPicPr>
          <p:nvPr/>
        </p:nvPicPr>
        <p:blipFill>
          <a:blip r:embed="rId4"/>
          <a:stretch>
            <a:fillRect/>
          </a:stretch>
        </p:blipFill>
        <p:spPr>
          <a:xfrm>
            <a:off x="838200" y="1268161"/>
            <a:ext cx="5853116" cy="5224714"/>
          </a:xfrm>
          <a:prstGeom prst="rect">
            <a:avLst/>
          </a:prstGeom>
        </p:spPr>
      </p:pic>
    </p:spTree>
    <p:extLst>
      <p:ext uri="{BB962C8B-B14F-4D97-AF65-F5344CB8AC3E}">
        <p14:creationId xmlns:p14="http://schemas.microsoft.com/office/powerpoint/2010/main" val="301652391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FC96C06-1755-2C19-B287-314D8C87D4F5}"/>
              </a:ext>
            </a:extLst>
          </p:cNvPr>
          <p:cNvSpPr>
            <a:spLocks noGrp="1"/>
          </p:cNvSpPr>
          <p:nvPr>
            <p:ph type="title"/>
          </p:nvPr>
        </p:nvSpPr>
        <p:spPr/>
        <p:txBody>
          <a:bodyPr/>
          <a:lstStyle/>
          <a:p>
            <a:r>
              <a:rPr lang="de-DE" dirty="0"/>
              <a:t>Berechtigungsfelder und Berechtigungsobjekt</a:t>
            </a:r>
          </a:p>
        </p:txBody>
      </p:sp>
      <p:pic>
        <p:nvPicPr>
          <p:cNvPr id="7" name="Inhaltsplatzhalter 6">
            <a:extLst>
              <a:ext uri="{FF2B5EF4-FFF2-40B4-BE49-F238E27FC236}">
                <a16:creationId xmlns:a16="http://schemas.microsoft.com/office/drawing/2014/main" id="{0C76B58D-2FC7-9DC6-1B1B-327247CF900F}"/>
              </a:ext>
            </a:extLst>
          </p:cNvPr>
          <p:cNvPicPr>
            <a:picLocks noGrp="1" noChangeAspect="1"/>
          </p:cNvPicPr>
          <p:nvPr>
            <p:ph sz="half" idx="1"/>
          </p:nvPr>
        </p:nvPicPr>
        <p:blipFill>
          <a:blip r:embed="rId3"/>
          <a:stretch>
            <a:fillRect/>
          </a:stretch>
        </p:blipFill>
        <p:spPr>
          <a:xfrm>
            <a:off x="1104575" y="1943607"/>
            <a:ext cx="4648849" cy="4115374"/>
          </a:xfrm>
          <a:prstGeom prst="rect">
            <a:avLst/>
          </a:prstGeom>
        </p:spPr>
      </p:pic>
      <p:pic>
        <p:nvPicPr>
          <p:cNvPr id="9" name="Inhaltsplatzhalter 8">
            <a:extLst>
              <a:ext uri="{FF2B5EF4-FFF2-40B4-BE49-F238E27FC236}">
                <a16:creationId xmlns:a16="http://schemas.microsoft.com/office/drawing/2014/main" id="{81A0A8CC-7AF0-9024-2EA0-A08167C0CD87}"/>
              </a:ext>
            </a:extLst>
          </p:cNvPr>
          <p:cNvPicPr>
            <a:picLocks noGrp="1" noChangeAspect="1"/>
          </p:cNvPicPr>
          <p:nvPr>
            <p:ph sz="half" idx="2"/>
          </p:nvPr>
        </p:nvPicPr>
        <p:blipFill>
          <a:blip r:embed="rId4"/>
          <a:stretch>
            <a:fillRect/>
          </a:stretch>
        </p:blipFill>
        <p:spPr>
          <a:xfrm>
            <a:off x="6460516" y="1825625"/>
            <a:ext cx="4604967" cy="4351338"/>
          </a:xfrm>
          <a:prstGeom prst="rect">
            <a:avLst/>
          </a:prstGeom>
        </p:spPr>
      </p:pic>
    </p:spTree>
    <p:extLst>
      <p:ext uri="{BB962C8B-B14F-4D97-AF65-F5344CB8AC3E}">
        <p14:creationId xmlns:p14="http://schemas.microsoft.com/office/powerpoint/2010/main" val="99378713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A9E5D21-899D-DA78-1B68-FB168E917BE6}"/>
              </a:ext>
            </a:extLst>
          </p:cNvPr>
          <p:cNvSpPr>
            <a:spLocks noGrp="1"/>
          </p:cNvSpPr>
          <p:nvPr>
            <p:ph type="title"/>
          </p:nvPr>
        </p:nvSpPr>
        <p:spPr/>
        <p:txBody>
          <a:bodyPr/>
          <a:lstStyle/>
          <a:p>
            <a:r>
              <a:rPr lang="de-DE" dirty="0"/>
              <a:t>IAM App und IAM Business Catalog</a:t>
            </a:r>
          </a:p>
        </p:txBody>
      </p:sp>
      <p:pic>
        <p:nvPicPr>
          <p:cNvPr id="9" name="Inhaltsplatzhalter 8">
            <a:extLst>
              <a:ext uri="{FF2B5EF4-FFF2-40B4-BE49-F238E27FC236}">
                <a16:creationId xmlns:a16="http://schemas.microsoft.com/office/drawing/2014/main" id="{284FED11-745A-771D-EC68-65EDD34041C2}"/>
              </a:ext>
            </a:extLst>
          </p:cNvPr>
          <p:cNvPicPr>
            <a:picLocks noGrp="1" noChangeAspect="1"/>
          </p:cNvPicPr>
          <p:nvPr>
            <p:ph sz="half" idx="2"/>
          </p:nvPr>
        </p:nvPicPr>
        <p:blipFill>
          <a:blip r:embed="rId3"/>
          <a:stretch>
            <a:fillRect/>
          </a:stretch>
        </p:blipFill>
        <p:spPr>
          <a:xfrm>
            <a:off x="6340810" y="1825625"/>
            <a:ext cx="2514951" cy="2410161"/>
          </a:xfrm>
          <a:prstGeom prst="rect">
            <a:avLst/>
          </a:prstGeom>
        </p:spPr>
      </p:pic>
      <p:pic>
        <p:nvPicPr>
          <p:cNvPr id="13" name="Inhaltsplatzhalter 12">
            <a:extLst>
              <a:ext uri="{FF2B5EF4-FFF2-40B4-BE49-F238E27FC236}">
                <a16:creationId xmlns:a16="http://schemas.microsoft.com/office/drawing/2014/main" id="{B33F2CCA-8062-D201-9CE3-277E3BD03517}"/>
              </a:ext>
            </a:extLst>
          </p:cNvPr>
          <p:cNvPicPr>
            <a:picLocks noGrp="1" noChangeAspect="1"/>
          </p:cNvPicPr>
          <p:nvPr>
            <p:ph sz="half" idx="1"/>
          </p:nvPr>
        </p:nvPicPr>
        <p:blipFill>
          <a:blip r:embed="rId4"/>
          <a:stretch>
            <a:fillRect/>
          </a:stretch>
        </p:blipFill>
        <p:spPr>
          <a:xfrm>
            <a:off x="1006807" y="1825625"/>
            <a:ext cx="4844385" cy="4351338"/>
          </a:xfrm>
          <a:prstGeom prst="rect">
            <a:avLst/>
          </a:prstGeom>
        </p:spPr>
      </p:pic>
    </p:spTree>
    <p:extLst>
      <p:ext uri="{BB962C8B-B14F-4D97-AF65-F5344CB8AC3E}">
        <p14:creationId xmlns:p14="http://schemas.microsoft.com/office/powerpoint/2010/main" val="141688559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1FD3564-91EF-C755-BF3A-8BB04DED9653}"/>
              </a:ext>
            </a:extLst>
          </p:cNvPr>
          <p:cNvSpPr>
            <a:spLocks noGrp="1"/>
          </p:cNvSpPr>
          <p:nvPr>
            <p:ph type="title"/>
          </p:nvPr>
        </p:nvSpPr>
        <p:spPr/>
        <p:txBody>
          <a:bodyPr/>
          <a:lstStyle/>
          <a:p>
            <a:r>
              <a:rPr lang="de-DE" dirty="0"/>
              <a:t>Business Rolle</a:t>
            </a:r>
          </a:p>
        </p:txBody>
      </p:sp>
      <p:pic>
        <p:nvPicPr>
          <p:cNvPr id="5" name="Inhaltsplatzhalter 4">
            <a:extLst>
              <a:ext uri="{FF2B5EF4-FFF2-40B4-BE49-F238E27FC236}">
                <a16:creationId xmlns:a16="http://schemas.microsoft.com/office/drawing/2014/main" id="{00CF4B16-4CBB-10F3-9EF3-07FA3D3BE144}"/>
              </a:ext>
            </a:extLst>
          </p:cNvPr>
          <p:cNvPicPr>
            <a:picLocks noGrp="1" noChangeAspect="1"/>
          </p:cNvPicPr>
          <p:nvPr>
            <p:ph idx="1"/>
          </p:nvPr>
        </p:nvPicPr>
        <p:blipFill>
          <a:blip r:embed="rId3"/>
          <a:stretch>
            <a:fillRect/>
          </a:stretch>
        </p:blipFill>
        <p:spPr>
          <a:xfrm>
            <a:off x="1983747" y="1825625"/>
            <a:ext cx="8224506" cy="4351338"/>
          </a:xfrm>
          <a:prstGeom prst="rect">
            <a:avLst/>
          </a:prstGeom>
        </p:spPr>
      </p:pic>
    </p:spTree>
    <p:extLst>
      <p:ext uri="{BB962C8B-B14F-4D97-AF65-F5344CB8AC3E}">
        <p14:creationId xmlns:p14="http://schemas.microsoft.com/office/powerpoint/2010/main" val="121254195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8BB8490-C3B1-EA13-8773-33230F238FF8}"/>
              </a:ext>
            </a:extLst>
          </p:cNvPr>
          <p:cNvSpPr>
            <a:spLocks noGrp="1"/>
          </p:cNvSpPr>
          <p:nvPr>
            <p:ph type="title"/>
          </p:nvPr>
        </p:nvSpPr>
        <p:spPr/>
        <p:txBody>
          <a:bodyPr/>
          <a:lstStyle/>
          <a:p>
            <a:r>
              <a:rPr lang="de-DE" dirty="0"/>
              <a:t>Die Zugriffskontrolle</a:t>
            </a:r>
          </a:p>
        </p:txBody>
      </p:sp>
      <p:pic>
        <p:nvPicPr>
          <p:cNvPr id="5" name="Inhaltsplatzhalter 4">
            <a:extLst>
              <a:ext uri="{FF2B5EF4-FFF2-40B4-BE49-F238E27FC236}">
                <a16:creationId xmlns:a16="http://schemas.microsoft.com/office/drawing/2014/main" id="{2D4634D8-47A0-2D47-C62B-EE883F6DC1BE}"/>
              </a:ext>
            </a:extLst>
          </p:cNvPr>
          <p:cNvPicPr>
            <a:picLocks noGrp="1" noChangeAspect="1"/>
          </p:cNvPicPr>
          <p:nvPr>
            <p:ph idx="1"/>
          </p:nvPr>
        </p:nvPicPr>
        <p:blipFill>
          <a:blip r:embed="rId3"/>
          <a:stretch>
            <a:fillRect/>
          </a:stretch>
        </p:blipFill>
        <p:spPr>
          <a:xfrm>
            <a:off x="3123785" y="2739055"/>
            <a:ext cx="5944430" cy="2524477"/>
          </a:xfrm>
          <a:prstGeom prst="rect">
            <a:avLst/>
          </a:prstGeom>
        </p:spPr>
      </p:pic>
    </p:spTree>
    <p:extLst>
      <p:ext uri="{BB962C8B-B14F-4D97-AF65-F5344CB8AC3E}">
        <p14:creationId xmlns:p14="http://schemas.microsoft.com/office/powerpoint/2010/main" val="16557172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B12C664-E34C-17C6-CF85-12CFFCF3154F}"/>
              </a:ext>
            </a:extLst>
          </p:cNvPr>
          <p:cNvSpPr>
            <a:spLocks noGrp="1"/>
          </p:cNvSpPr>
          <p:nvPr>
            <p:ph type="title"/>
          </p:nvPr>
        </p:nvSpPr>
        <p:spPr/>
        <p:txBody>
          <a:bodyPr/>
          <a:lstStyle/>
          <a:p>
            <a:r>
              <a:rPr lang="de-DE" dirty="0"/>
              <a:t>DCL wirkt implizit</a:t>
            </a:r>
          </a:p>
        </p:txBody>
      </p:sp>
      <p:sp>
        <p:nvSpPr>
          <p:cNvPr id="3" name="Inhaltsplatzhalter 2">
            <a:extLst>
              <a:ext uri="{FF2B5EF4-FFF2-40B4-BE49-F238E27FC236}">
                <a16:creationId xmlns:a16="http://schemas.microsoft.com/office/drawing/2014/main" id="{2B78BA25-2BA2-5044-1945-CC47CAE9D7D6}"/>
              </a:ext>
            </a:extLst>
          </p:cNvPr>
          <p:cNvSpPr>
            <a:spLocks noGrp="1"/>
          </p:cNvSpPr>
          <p:nvPr>
            <p:ph idx="1"/>
          </p:nvPr>
        </p:nvSpPr>
        <p:spPr/>
        <p:txBody>
          <a:bodyPr>
            <a:normAutofit fontScale="92500" lnSpcReduction="10000"/>
          </a:bodyPr>
          <a:lstStyle/>
          <a:p>
            <a:pPr marL="0" indent="0">
              <a:buNone/>
            </a:pPr>
            <a:r>
              <a:rPr lang="de-DE" dirty="0"/>
              <a:t>ABAP Programm:</a:t>
            </a:r>
          </a:p>
          <a:p>
            <a:pPr marL="0" indent="0">
              <a:buNone/>
            </a:pPr>
            <a:r>
              <a:rPr lang="de-DE" dirty="0">
                <a:latin typeface="Courier New" panose="02070309020205020404" pitchFamily="49" charset="0"/>
                <a:cs typeface="Courier New" panose="02070309020205020404" pitchFamily="49" charset="0"/>
              </a:rPr>
              <a:t>SELECT FROM </a:t>
            </a:r>
            <a:r>
              <a:rPr lang="de-DE" dirty="0" err="1">
                <a:latin typeface="Courier New" panose="02070309020205020404" pitchFamily="49" charset="0"/>
                <a:cs typeface="Courier New" panose="02070309020205020404" pitchFamily="49" charset="0"/>
              </a:rPr>
              <a:t>ZI_CDSOrder</a:t>
            </a:r>
            <a:r>
              <a:rPr lang="de-DE" dirty="0">
                <a:latin typeface="Courier New" panose="02070309020205020404" pitchFamily="49" charset="0"/>
                <a:cs typeface="Courier New" panose="02070309020205020404" pitchFamily="49" charset="0"/>
              </a:rPr>
              <a:t> </a:t>
            </a:r>
            <a:br>
              <a:rPr lang="de-DE" dirty="0">
                <a:latin typeface="Courier New" panose="02070309020205020404" pitchFamily="49" charset="0"/>
                <a:cs typeface="Courier New" panose="02070309020205020404" pitchFamily="49" charset="0"/>
              </a:rPr>
            </a:br>
            <a:r>
              <a:rPr lang="de-DE" dirty="0">
                <a:latin typeface="Courier New" panose="02070309020205020404" pitchFamily="49" charset="0"/>
                <a:cs typeface="Courier New" panose="02070309020205020404" pitchFamily="49" charset="0"/>
              </a:rPr>
              <a:t>  FIELDS </a:t>
            </a:r>
            <a:r>
              <a:rPr lang="de-DE" dirty="0" err="1">
                <a:latin typeface="Courier New" panose="02070309020205020404" pitchFamily="49" charset="0"/>
                <a:cs typeface="Courier New" panose="02070309020205020404" pitchFamily="49" charset="0"/>
              </a:rPr>
              <a:t>OrderId</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CustomerId</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CustomerName</a:t>
            </a:r>
            <a:r>
              <a:rPr lang="de-DE" dirty="0">
                <a:latin typeface="Courier New" panose="02070309020205020404" pitchFamily="49" charset="0"/>
                <a:cs typeface="Courier New" panose="02070309020205020404" pitchFamily="49" charset="0"/>
              </a:rPr>
              <a:t> </a:t>
            </a:r>
            <a:br>
              <a:rPr lang="de-DE" dirty="0">
                <a:latin typeface="Courier New" panose="02070309020205020404" pitchFamily="49" charset="0"/>
                <a:cs typeface="Courier New" panose="02070309020205020404" pitchFamily="49" charset="0"/>
              </a:rPr>
            </a:br>
            <a:r>
              <a:rPr lang="de-DE" dirty="0">
                <a:latin typeface="Courier New" panose="02070309020205020404" pitchFamily="49" charset="0"/>
                <a:cs typeface="Courier New" panose="02070309020205020404" pitchFamily="49" charset="0"/>
              </a:rPr>
              <a:t>  INTO TABLE @DATA(orders).</a:t>
            </a:r>
          </a:p>
          <a:p>
            <a:pPr marL="0" indent="0">
              <a:buNone/>
            </a:pPr>
            <a:r>
              <a:rPr lang="de-DE" dirty="0">
                <a:cs typeface="Courier New" panose="02070309020205020404" pitchFamily="49" charset="0"/>
              </a:rPr>
              <a:t>Das Programm </a:t>
            </a:r>
            <a:r>
              <a:rPr lang="de-DE" dirty="0" err="1">
                <a:cs typeface="Courier New" panose="02070309020205020404" pitchFamily="49" charset="0"/>
              </a:rPr>
              <a:t>enhält</a:t>
            </a:r>
            <a:endParaRPr lang="de-DE" dirty="0">
              <a:cs typeface="Courier New" panose="02070309020205020404" pitchFamily="49" charset="0"/>
            </a:endParaRPr>
          </a:p>
          <a:p>
            <a:r>
              <a:rPr lang="de-DE" dirty="0">
                <a:cs typeface="Courier New" panose="02070309020205020404" pitchFamily="49" charset="0"/>
              </a:rPr>
              <a:t>Kein AUTHORITY-CHECK</a:t>
            </a:r>
          </a:p>
          <a:p>
            <a:r>
              <a:rPr lang="de-DE" dirty="0">
                <a:cs typeface="Courier New" panose="02070309020205020404" pitchFamily="49" charset="0"/>
              </a:rPr>
              <a:t>Keine benutzerspezifische WHERE-Bedingung</a:t>
            </a:r>
          </a:p>
          <a:p>
            <a:r>
              <a:rPr lang="de-DE" dirty="0">
                <a:cs typeface="Courier New" panose="02070309020205020404" pitchFamily="49" charset="0"/>
              </a:rPr>
              <a:t>Keine Kenntnis des Berechtigungsobjekts</a:t>
            </a:r>
          </a:p>
          <a:p>
            <a:endParaRPr lang="de-DE" dirty="0">
              <a:cs typeface="Courier New" panose="02070309020205020404" pitchFamily="49" charset="0"/>
            </a:endParaRPr>
          </a:p>
          <a:p>
            <a:pPr marL="0" indent="0">
              <a:buNone/>
            </a:pPr>
            <a:r>
              <a:rPr lang="de-DE" dirty="0">
                <a:highlight>
                  <a:srgbClr val="FFFF00"/>
                </a:highlight>
                <a:cs typeface="Courier New" panose="02070309020205020404" pitchFamily="49" charset="0"/>
              </a:rPr>
              <a:t>Trotzdem erhält jeder Benutzer nur die erlaubten Datensätze.</a:t>
            </a:r>
          </a:p>
        </p:txBody>
      </p:sp>
    </p:spTree>
    <p:extLst>
      <p:ext uri="{BB962C8B-B14F-4D97-AF65-F5344CB8AC3E}">
        <p14:creationId xmlns:p14="http://schemas.microsoft.com/office/powerpoint/2010/main" val="414158857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B0B298E-E59A-9D54-2AA1-8ABF45DF08F3}"/>
              </a:ext>
            </a:extLst>
          </p:cNvPr>
          <p:cNvSpPr>
            <a:spLocks noGrp="1"/>
          </p:cNvSpPr>
          <p:nvPr>
            <p:ph type="title"/>
          </p:nvPr>
        </p:nvSpPr>
        <p:spPr/>
        <p:txBody>
          <a:bodyPr/>
          <a:lstStyle/>
          <a:p>
            <a:r>
              <a:rPr lang="de-DE" dirty="0"/>
              <a:t>Normaler und privilegierter Zugriff</a:t>
            </a:r>
          </a:p>
        </p:txBody>
      </p:sp>
      <p:sp>
        <p:nvSpPr>
          <p:cNvPr id="3" name="Inhaltsplatzhalter 2">
            <a:extLst>
              <a:ext uri="{FF2B5EF4-FFF2-40B4-BE49-F238E27FC236}">
                <a16:creationId xmlns:a16="http://schemas.microsoft.com/office/drawing/2014/main" id="{70D19636-8A28-5303-D8F8-8680DB1E1E60}"/>
              </a:ext>
            </a:extLst>
          </p:cNvPr>
          <p:cNvSpPr>
            <a:spLocks noGrp="1"/>
          </p:cNvSpPr>
          <p:nvPr>
            <p:ph idx="1"/>
          </p:nvPr>
        </p:nvSpPr>
        <p:spPr/>
        <p:txBody>
          <a:bodyPr/>
          <a:lstStyle/>
          <a:p>
            <a:pPr marL="0" indent="0">
              <a:buNone/>
            </a:pPr>
            <a:r>
              <a:rPr lang="de-DE" dirty="0">
                <a:latin typeface="Courier New" panose="02070309020205020404" pitchFamily="49" charset="0"/>
                <a:cs typeface="Courier New" panose="02070309020205020404" pitchFamily="49" charset="0"/>
              </a:rPr>
              <a:t>SELECT FROM </a:t>
            </a:r>
            <a:r>
              <a:rPr lang="de-DE" dirty="0" err="1">
                <a:latin typeface="Courier New" panose="02070309020205020404" pitchFamily="49" charset="0"/>
                <a:cs typeface="Courier New" panose="02070309020205020404" pitchFamily="49" charset="0"/>
              </a:rPr>
              <a:t>ZI_CDSOrder</a:t>
            </a:r>
            <a:br>
              <a:rPr lang="de-DE" dirty="0">
                <a:latin typeface="Courier New" panose="02070309020205020404" pitchFamily="49" charset="0"/>
                <a:cs typeface="Courier New" panose="02070309020205020404" pitchFamily="49" charset="0"/>
              </a:rPr>
            </a:br>
            <a:r>
              <a:rPr lang="de-DE" dirty="0">
                <a:latin typeface="Courier New" panose="02070309020205020404" pitchFamily="49" charset="0"/>
                <a:cs typeface="Courier New" panose="02070309020205020404" pitchFamily="49" charset="0"/>
              </a:rPr>
              <a:t>  WITH PRIVILEGED ACCESS </a:t>
            </a:r>
            <a:br>
              <a:rPr lang="de-DE" dirty="0">
                <a:latin typeface="Courier New" panose="02070309020205020404" pitchFamily="49" charset="0"/>
                <a:cs typeface="Courier New" panose="02070309020205020404" pitchFamily="49" charset="0"/>
              </a:rPr>
            </a:br>
            <a:r>
              <a:rPr lang="de-DE" dirty="0">
                <a:latin typeface="Courier New" panose="02070309020205020404" pitchFamily="49" charset="0"/>
                <a:cs typeface="Courier New" panose="02070309020205020404" pitchFamily="49" charset="0"/>
              </a:rPr>
              <a:t>  FIELDS </a:t>
            </a:r>
            <a:r>
              <a:rPr lang="de-DE" dirty="0" err="1">
                <a:latin typeface="Courier New" panose="02070309020205020404" pitchFamily="49" charset="0"/>
                <a:cs typeface="Courier New" panose="02070309020205020404" pitchFamily="49" charset="0"/>
              </a:rPr>
              <a:t>OrderId</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CustomerId</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CustomerName</a:t>
            </a:r>
            <a:r>
              <a:rPr lang="de-DE" dirty="0">
                <a:latin typeface="Courier New" panose="02070309020205020404" pitchFamily="49" charset="0"/>
                <a:cs typeface="Courier New" panose="02070309020205020404" pitchFamily="49" charset="0"/>
              </a:rPr>
              <a:t> </a:t>
            </a:r>
            <a:br>
              <a:rPr lang="de-DE" dirty="0">
                <a:latin typeface="Courier New" panose="02070309020205020404" pitchFamily="49" charset="0"/>
                <a:cs typeface="Courier New" panose="02070309020205020404" pitchFamily="49" charset="0"/>
              </a:rPr>
            </a:br>
            <a:r>
              <a:rPr lang="de-DE" dirty="0">
                <a:latin typeface="Courier New" panose="02070309020205020404" pitchFamily="49" charset="0"/>
                <a:cs typeface="Courier New" panose="02070309020205020404" pitchFamily="49" charset="0"/>
              </a:rPr>
              <a:t>  INTO TABLE @DATA(orders).</a:t>
            </a:r>
          </a:p>
          <a:p>
            <a:pPr marL="0" indent="0">
              <a:buNone/>
            </a:pPr>
            <a:endParaRPr lang="de-DE" dirty="0"/>
          </a:p>
        </p:txBody>
      </p:sp>
      <p:graphicFrame>
        <p:nvGraphicFramePr>
          <p:cNvPr id="4" name="Tabelle 3">
            <a:extLst>
              <a:ext uri="{FF2B5EF4-FFF2-40B4-BE49-F238E27FC236}">
                <a16:creationId xmlns:a16="http://schemas.microsoft.com/office/drawing/2014/main" id="{04FF0CAB-1199-D606-756A-90D70A1AF065}"/>
              </a:ext>
            </a:extLst>
          </p:cNvPr>
          <p:cNvGraphicFramePr>
            <a:graphicFrameLocks noGrp="1"/>
          </p:cNvGraphicFramePr>
          <p:nvPr>
            <p:extLst>
              <p:ext uri="{D42A27DB-BD31-4B8C-83A1-F6EECF244321}">
                <p14:modId xmlns:p14="http://schemas.microsoft.com/office/powerpoint/2010/main" val="3957159588"/>
              </p:ext>
            </p:extLst>
          </p:nvPr>
        </p:nvGraphicFramePr>
        <p:xfrm>
          <a:off x="838200" y="3691466"/>
          <a:ext cx="8128000" cy="18542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4198024621"/>
                    </a:ext>
                  </a:extLst>
                </a:gridCol>
                <a:gridCol w="4064000">
                  <a:extLst>
                    <a:ext uri="{9D8B030D-6E8A-4147-A177-3AD203B41FA5}">
                      <a16:colId xmlns:a16="http://schemas.microsoft.com/office/drawing/2014/main" val="2694139361"/>
                    </a:ext>
                  </a:extLst>
                </a:gridCol>
              </a:tblGrid>
              <a:tr h="370840">
                <a:tc>
                  <a:txBody>
                    <a:bodyPr/>
                    <a:lstStyle/>
                    <a:p>
                      <a:r>
                        <a:rPr lang="de-DE" dirty="0"/>
                        <a:t>Normaler Zugriff</a:t>
                      </a:r>
                    </a:p>
                  </a:txBody>
                  <a:tcPr/>
                </a:tc>
                <a:tc>
                  <a:txBody>
                    <a:bodyPr/>
                    <a:lstStyle/>
                    <a:p>
                      <a:r>
                        <a:rPr lang="de-DE" dirty="0"/>
                        <a:t>Privilegierter Zugriff</a:t>
                      </a:r>
                    </a:p>
                  </a:txBody>
                  <a:tcPr/>
                </a:tc>
                <a:extLst>
                  <a:ext uri="{0D108BD9-81ED-4DB2-BD59-A6C34878D82A}">
                    <a16:rowId xmlns:a16="http://schemas.microsoft.com/office/drawing/2014/main" val="3320512130"/>
                  </a:ext>
                </a:extLst>
              </a:tr>
              <a:tr h="370840">
                <a:tc>
                  <a:txBody>
                    <a:bodyPr/>
                    <a:lstStyle/>
                    <a:p>
                      <a:r>
                        <a:rPr lang="de-DE" dirty="0"/>
                        <a:t>DCL wird ausgewertet</a:t>
                      </a:r>
                    </a:p>
                  </a:txBody>
                  <a:tcPr/>
                </a:tc>
                <a:tc>
                  <a:txBody>
                    <a:bodyPr/>
                    <a:lstStyle/>
                    <a:p>
                      <a:r>
                        <a:rPr lang="de-DE" dirty="0"/>
                        <a:t>DCL wird umgangen</a:t>
                      </a:r>
                    </a:p>
                  </a:txBody>
                  <a:tcPr/>
                </a:tc>
                <a:extLst>
                  <a:ext uri="{0D108BD9-81ED-4DB2-BD59-A6C34878D82A}">
                    <a16:rowId xmlns:a16="http://schemas.microsoft.com/office/drawing/2014/main" val="1218958073"/>
                  </a:ext>
                </a:extLst>
              </a:tr>
              <a:tr h="370840">
                <a:tc>
                  <a:txBody>
                    <a:bodyPr/>
                    <a:lstStyle/>
                    <a:p>
                      <a:r>
                        <a:rPr lang="de-DE" dirty="0"/>
                        <a:t>Anwendungscode</a:t>
                      </a:r>
                    </a:p>
                  </a:txBody>
                  <a:tcPr/>
                </a:tc>
                <a:tc>
                  <a:txBody>
                    <a:bodyPr/>
                    <a:lstStyle/>
                    <a:p>
                      <a:r>
                        <a:rPr lang="de-DE" dirty="0"/>
                        <a:t>technische Sonderfälle und Diagnose</a:t>
                      </a:r>
                    </a:p>
                  </a:txBody>
                  <a:tcPr/>
                </a:tc>
                <a:extLst>
                  <a:ext uri="{0D108BD9-81ED-4DB2-BD59-A6C34878D82A}">
                    <a16:rowId xmlns:a16="http://schemas.microsoft.com/office/drawing/2014/main" val="629636671"/>
                  </a:ext>
                </a:extLst>
              </a:tr>
              <a:tr h="370840">
                <a:tc>
                  <a:txBody>
                    <a:bodyPr/>
                    <a:lstStyle/>
                    <a:p>
                      <a:r>
                        <a:rPr lang="de-DE" dirty="0"/>
                        <a:t>benutzerabhängiges Ergebnis</a:t>
                      </a:r>
                    </a:p>
                  </a:txBody>
                  <a:tcPr/>
                </a:tc>
                <a:tc>
                  <a:txBody>
                    <a:bodyPr/>
                    <a:lstStyle/>
                    <a:p>
                      <a:r>
                        <a:rPr lang="de-DE" dirty="0"/>
                        <a:t>vollständiges Ergebnis</a:t>
                      </a:r>
                    </a:p>
                  </a:txBody>
                  <a:tcPr/>
                </a:tc>
                <a:extLst>
                  <a:ext uri="{0D108BD9-81ED-4DB2-BD59-A6C34878D82A}">
                    <a16:rowId xmlns:a16="http://schemas.microsoft.com/office/drawing/2014/main" val="2186818651"/>
                  </a:ext>
                </a:extLst>
              </a:tr>
              <a:tr h="370840">
                <a:tc>
                  <a:txBody>
                    <a:bodyPr/>
                    <a:lstStyle/>
                    <a:p>
                      <a:r>
                        <a:rPr lang="de-DE" dirty="0"/>
                        <a:t>sicherer Normalfall</a:t>
                      </a:r>
                    </a:p>
                  </a:txBody>
                  <a:tcPr/>
                </a:tc>
                <a:tc>
                  <a:txBody>
                    <a:bodyPr/>
                    <a:lstStyle/>
                    <a:p>
                      <a:r>
                        <a:rPr lang="de-DE" dirty="0"/>
                        <a:t>bewusst und sparsam verwenden</a:t>
                      </a:r>
                    </a:p>
                  </a:txBody>
                  <a:tcPr/>
                </a:tc>
                <a:extLst>
                  <a:ext uri="{0D108BD9-81ED-4DB2-BD59-A6C34878D82A}">
                    <a16:rowId xmlns:a16="http://schemas.microsoft.com/office/drawing/2014/main" val="3760796657"/>
                  </a:ext>
                </a:extLst>
              </a:tr>
            </a:tbl>
          </a:graphicData>
        </a:graphic>
      </p:graphicFrame>
    </p:spTree>
    <p:extLst>
      <p:ext uri="{BB962C8B-B14F-4D97-AF65-F5344CB8AC3E}">
        <p14:creationId xmlns:p14="http://schemas.microsoft.com/office/powerpoint/2010/main" val="305382407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3718C2B-03B7-8032-D148-116E0A76B87C}"/>
              </a:ext>
            </a:extLst>
          </p:cNvPr>
          <p:cNvSpPr>
            <a:spLocks noGrp="1"/>
          </p:cNvSpPr>
          <p:nvPr>
            <p:ph type="title"/>
          </p:nvPr>
        </p:nvSpPr>
        <p:spPr/>
        <p:txBody>
          <a:bodyPr/>
          <a:lstStyle/>
          <a:p>
            <a:r>
              <a:rPr lang="de-DE" dirty="0"/>
              <a:t>Live-Coding: Aufträge mit DCL schützen</a:t>
            </a:r>
          </a:p>
        </p:txBody>
      </p:sp>
      <p:sp>
        <p:nvSpPr>
          <p:cNvPr id="3" name="Inhaltsplatzhalter 2">
            <a:extLst>
              <a:ext uri="{FF2B5EF4-FFF2-40B4-BE49-F238E27FC236}">
                <a16:creationId xmlns:a16="http://schemas.microsoft.com/office/drawing/2014/main" id="{9BB50074-1300-AAAF-6D96-8EE7586EC2D0}"/>
              </a:ext>
            </a:extLst>
          </p:cNvPr>
          <p:cNvSpPr>
            <a:spLocks noGrp="1"/>
          </p:cNvSpPr>
          <p:nvPr>
            <p:ph idx="1"/>
          </p:nvPr>
        </p:nvSpPr>
        <p:spPr/>
        <p:txBody>
          <a:bodyPr/>
          <a:lstStyle/>
          <a:p>
            <a:pPr marL="514350" indent="-514350">
              <a:buFont typeface="+mj-lt"/>
              <a:buAutoNum type="arabicPeriod"/>
            </a:pPr>
            <a:r>
              <a:rPr lang="de-DE" dirty="0"/>
              <a:t>Annotation der View ändern</a:t>
            </a:r>
          </a:p>
          <a:p>
            <a:pPr marL="514350" indent="-514350">
              <a:buFont typeface="+mj-lt"/>
              <a:buAutoNum type="arabicPeriod"/>
            </a:pPr>
            <a:r>
              <a:rPr lang="de-DE" dirty="0"/>
              <a:t>Access Control anlegen</a:t>
            </a:r>
          </a:p>
          <a:p>
            <a:pPr marL="514350" indent="-514350">
              <a:buFont typeface="+mj-lt"/>
              <a:buAutoNum type="arabicPeriod"/>
            </a:pPr>
            <a:r>
              <a:rPr lang="de-DE" dirty="0"/>
              <a:t>Data Preview prüfen</a:t>
            </a:r>
          </a:p>
          <a:p>
            <a:pPr marL="514350" indent="-514350">
              <a:buFont typeface="+mj-lt"/>
              <a:buAutoNum type="arabicPeriod"/>
            </a:pPr>
            <a:r>
              <a:rPr lang="de-DE" dirty="0"/>
              <a:t>Normales Ergebnis in der ABAP-Klasse testen</a:t>
            </a:r>
          </a:p>
          <a:p>
            <a:pPr marL="514350" indent="-514350">
              <a:buFont typeface="+mj-lt"/>
              <a:buAutoNum type="arabicPeriod"/>
            </a:pPr>
            <a:r>
              <a:rPr lang="de-DE" dirty="0"/>
              <a:t>Mit privilegiertem Zugriff vergleichen</a:t>
            </a:r>
          </a:p>
          <a:p>
            <a:pPr marL="514350" indent="-514350">
              <a:buFont typeface="+mj-lt"/>
              <a:buAutoNum type="arabicPeriod"/>
            </a:pPr>
            <a:r>
              <a:rPr lang="de-DE" dirty="0"/>
              <a:t>Optional: Berechtigungswert verändern</a:t>
            </a:r>
          </a:p>
        </p:txBody>
      </p:sp>
    </p:spTree>
    <p:extLst>
      <p:ext uri="{BB962C8B-B14F-4D97-AF65-F5344CB8AC3E}">
        <p14:creationId xmlns:p14="http://schemas.microsoft.com/office/powerpoint/2010/main" val="327063865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939BEA9-D06E-8887-62B7-F6D6877D8012}"/>
              </a:ext>
            </a:extLst>
          </p:cNvPr>
          <p:cNvSpPr>
            <a:spLocks noGrp="1"/>
          </p:cNvSpPr>
          <p:nvPr>
            <p:ph type="title"/>
          </p:nvPr>
        </p:nvSpPr>
        <p:spPr/>
        <p:txBody>
          <a:bodyPr/>
          <a:lstStyle/>
          <a:p>
            <a:r>
              <a:rPr lang="de-DE" dirty="0"/>
              <a:t>Was ist jetzt geschützt?</a:t>
            </a:r>
          </a:p>
        </p:txBody>
      </p:sp>
      <p:sp>
        <p:nvSpPr>
          <p:cNvPr id="3" name="Inhaltsplatzhalter 2">
            <a:extLst>
              <a:ext uri="{FF2B5EF4-FFF2-40B4-BE49-F238E27FC236}">
                <a16:creationId xmlns:a16="http://schemas.microsoft.com/office/drawing/2014/main" id="{54EC6823-1DCF-ADC6-8E23-F659292290AF}"/>
              </a:ext>
            </a:extLst>
          </p:cNvPr>
          <p:cNvSpPr>
            <a:spLocks noGrp="1"/>
          </p:cNvSpPr>
          <p:nvPr>
            <p:ph idx="1"/>
          </p:nvPr>
        </p:nvSpPr>
        <p:spPr/>
        <p:txBody>
          <a:bodyPr/>
          <a:lstStyle/>
          <a:p>
            <a:pPr marL="0" indent="0">
              <a:buNone/>
            </a:pPr>
            <a:r>
              <a:rPr lang="de-DE" dirty="0"/>
              <a:t>Geschützt:</a:t>
            </a:r>
          </a:p>
          <a:p>
            <a:pPr marL="457200" lvl="1" indent="0">
              <a:buNone/>
            </a:pPr>
            <a:r>
              <a:rPr lang="de-DE" dirty="0"/>
              <a:t>direkter ABAP-SQL-Zugriff auf </a:t>
            </a:r>
            <a:r>
              <a:rPr lang="de-DE" dirty="0" err="1"/>
              <a:t>ZI_CDSOrder</a:t>
            </a:r>
            <a:endParaRPr lang="de-DE" dirty="0"/>
          </a:p>
          <a:p>
            <a:pPr marL="0" indent="0">
              <a:buNone/>
            </a:pPr>
            <a:r>
              <a:rPr lang="de-DE" dirty="0"/>
              <a:t>Nicht automatisch geschützt:</a:t>
            </a:r>
          </a:p>
          <a:p>
            <a:pPr marL="457200" lvl="1" indent="0">
              <a:buNone/>
            </a:pPr>
            <a:r>
              <a:rPr lang="de-DE" dirty="0"/>
              <a:t>zugrunde liegende Datenbanktabelle</a:t>
            </a:r>
          </a:p>
          <a:p>
            <a:pPr marL="457200" lvl="1" indent="0">
              <a:buNone/>
            </a:pPr>
            <a:r>
              <a:rPr lang="de-DE" dirty="0"/>
              <a:t>andere CDS View </a:t>
            </a:r>
            <a:r>
              <a:rPr lang="de-DE" dirty="0" err="1"/>
              <a:t>Entities</a:t>
            </a:r>
            <a:endParaRPr lang="de-DE" dirty="0"/>
          </a:p>
          <a:p>
            <a:pPr marL="457200" lvl="1" indent="0">
              <a:buNone/>
            </a:pPr>
            <a:r>
              <a:rPr lang="de-DE" dirty="0"/>
              <a:t>direkter Zugriff auf </a:t>
            </a:r>
            <a:r>
              <a:rPr lang="de-DE" dirty="0" err="1"/>
              <a:t>ZI_CDSOrderItem</a:t>
            </a:r>
            <a:endParaRPr lang="de-DE" dirty="0"/>
          </a:p>
          <a:p>
            <a:pPr marL="0" indent="0">
              <a:buNone/>
            </a:pPr>
            <a:r>
              <a:rPr lang="de-DE" dirty="0"/>
              <a:t>Grundsatz:</a:t>
            </a:r>
          </a:p>
          <a:p>
            <a:pPr marL="0" indent="0">
              <a:buNone/>
            </a:pPr>
            <a:r>
              <a:rPr lang="de-DE" dirty="0">
                <a:highlight>
                  <a:srgbClr val="FFFF00"/>
                </a:highlight>
              </a:rPr>
              <a:t>Eine DCL-Regel gilt für die CDS-Entität, für die sie definiert wurde.</a:t>
            </a:r>
          </a:p>
          <a:p>
            <a:pPr marL="0" indent="0">
              <a:buNone/>
            </a:pPr>
            <a:endParaRPr lang="de-DE" dirty="0"/>
          </a:p>
        </p:txBody>
      </p:sp>
    </p:spTree>
    <p:extLst>
      <p:ext uri="{BB962C8B-B14F-4D97-AF65-F5344CB8AC3E}">
        <p14:creationId xmlns:p14="http://schemas.microsoft.com/office/powerpoint/2010/main" val="25107027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EB5FFC7-38A2-5D55-3C22-86573CA2B41D}"/>
              </a:ext>
            </a:extLst>
          </p:cNvPr>
          <p:cNvSpPr>
            <a:spLocks noGrp="1"/>
          </p:cNvSpPr>
          <p:nvPr>
            <p:ph type="title"/>
          </p:nvPr>
        </p:nvSpPr>
        <p:spPr/>
        <p:txBody>
          <a:bodyPr/>
          <a:lstStyle/>
          <a:p>
            <a:r>
              <a:rPr lang="de-DE" dirty="0"/>
              <a:t>Typische Missverständnisse</a:t>
            </a:r>
          </a:p>
        </p:txBody>
      </p:sp>
      <p:sp>
        <p:nvSpPr>
          <p:cNvPr id="3" name="Inhaltsplatzhalter 2">
            <a:extLst>
              <a:ext uri="{FF2B5EF4-FFF2-40B4-BE49-F238E27FC236}">
                <a16:creationId xmlns:a16="http://schemas.microsoft.com/office/drawing/2014/main" id="{885653E1-0BCD-59EC-DDA4-0D43125824C3}"/>
              </a:ext>
            </a:extLst>
          </p:cNvPr>
          <p:cNvSpPr>
            <a:spLocks noGrp="1"/>
          </p:cNvSpPr>
          <p:nvPr>
            <p:ph idx="1"/>
          </p:nvPr>
        </p:nvSpPr>
        <p:spPr/>
        <p:txBody>
          <a:bodyPr>
            <a:normAutofit fontScale="77500" lnSpcReduction="20000"/>
          </a:bodyPr>
          <a:lstStyle/>
          <a:p>
            <a:pPr marL="0" indent="0">
              <a:buNone/>
            </a:pPr>
            <a:r>
              <a:rPr lang="de-DE" b="1" dirty="0"/>
              <a:t>#CHECK definiert die Berechtigung.</a:t>
            </a:r>
            <a:endParaRPr lang="de-DE" dirty="0"/>
          </a:p>
          <a:p>
            <a:pPr marL="0" indent="0">
              <a:buNone/>
            </a:pPr>
            <a:r>
              <a:rPr lang="de-DE" dirty="0"/>
              <a:t>Nein. Die Annotation aktiviert beziehungsweise erwartet die Auswertung; die Regel steht in der DCL.</a:t>
            </a:r>
          </a:p>
          <a:p>
            <a:pPr marL="0" indent="0">
              <a:buNone/>
            </a:pPr>
            <a:r>
              <a:rPr lang="de-DE" b="1" dirty="0"/>
              <a:t>Die DCL-Rolle wird einem Benutzer zugewiesen.</a:t>
            </a:r>
            <a:endParaRPr lang="de-DE" dirty="0"/>
          </a:p>
          <a:p>
            <a:pPr marL="0" indent="0">
              <a:buNone/>
            </a:pPr>
            <a:r>
              <a:rPr lang="de-DE" dirty="0"/>
              <a:t>Nein. Zugewiesen werden die Berechtigungen. Die DCL bildet diese auf CDS-Elemente ab.</a:t>
            </a:r>
          </a:p>
          <a:p>
            <a:pPr marL="0" indent="0">
              <a:buNone/>
            </a:pPr>
            <a:r>
              <a:rPr lang="de-DE" b="1" dirty="0"/>
              <a:t>Ein leeres Ergebnis bedeutet einen technischen Fehler.</a:t>
            </a:r>
            <a:endParaRPr lang="de-DE" dirty="0"/>
          </a:p>
          <a:p>
            <a:pPr marL="0" indent="0">
              <a:buNone/>
            </a:pPr>
            <a:r>
              <a:rPr lang="de-DE" dirty="0"/>
              <a:t>Nicht unbedingt. Es kann bedeuten, dass keine passende Berechtigung vorhanden ist.</a:t>
            </a:r>
          </a:p>
          <a:p>
            <a:pPr marL="0" indent="0">
              <a:buNone/>
            </a:pPr>
            <a:r>
              <a:rPr lang="de-DE" b="1" dirty="0"/>
              <a:t>Eine geschützte View schützt alle Tabellen und abhängigen Views.</a:t>
            </a:r>
            <a:endParaRPr lang="de-DE" dirty="0"/>
          </a:p>
          <a:p>
            <a:pPr marL="0" indent="0">
              <a:buNone/>
            </a:pPr>
            <a:r>
              <a:rPr lang="de-DE" dirty="0"/>
              <a:t>Nein. Die Wirkung muss für jeden erlaubten Zugriffspfad betrachtet werden.</a:t>
            </a:r>
          </a:p>
          <a:p>
            <a:pPr marL="0" indent="0">
              <a:buNone/>
            </a:pPr>
            <a:r>
              <a:rPr lang="de-DE" b="1" dirty="0"/>
              <a:t>Die Anwendung braucht zusätzlich dieselbe WHERE-Bedingung.</a:t>
            </a:r>
            <a:endParaRPr lang="de-DE" dirty="0"/>
          </a:p>
          <a:p>
            <a:pPr marL="0" indent="0">
              <a:buNone/>
            </a:pPr>
            <a:r>
              <a:rPr lang="de-DE" dirty="0"/>
              <a:t>Nein. Die DCL-Einschränkung wirkt implizit.</a:t>
            </a:r>
          </a:p>
          <a:p>
            <a:pPr marL="0" indent="0">
              <a:buNone/>
            </a:pPr>
            <a:endParaRPr lang="de-DE" dirty="0"/>
          </a:p>
        </p:txBody>
      </p:sp>
    </p:spTree>
    <p:extLst>
      <p:ext uri="{BB962C8B-B14F-4D97-AF65-F5344CB8AC3E}">
        <p14:creationId xmlns:p14="http://schemas.microsoft.com/office/powerpoint/2010/main" val="200776549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FFF32E0-CFCD-1455-23E1-382245A7AD6C}"/>
              </a:ext>
            </a:extLst>
          </p:cNvPr>
          <p:cNvSpPr>
            <a:spLocks noGrp="1"/>
          </p:cNvSpPr>
          <p:nvPr>
            <p:ph type="title"/>
          </p:nvPr>
        </p:nvSpPr>
        <p:spPr/>
        <p:txBody>
          <a:bodyPr/>
          <a:lstStyle/>
          <a:p>
            <a:r>
              <a:rPr lang="de-DE" dirty="0"/>
              <a:t>Ergebnis</a:t>
            </a:r>
          </a:p>
        </p:txBody>
      </p:sp>
      <p:pic>
        <p:nvPicPr>
          <p:cNvPr id="5" name="Inhaltsplatzhalter 4">
            <a:extLst>
              <a:ext uri="{FF2B5EF4-FFF2-40B4-BE49-F238E27FC236}">
                <a16:creationId xmlns:a16="http://schemas.microsoft.com/office/drawing/2014/main" id="{65536FCC-3EA8-F233-7DA2-F963597F8544}"/>
              </a:ext>
            </a:extLst>
          </p:cNvPr>
          <p:cNvPicPr>
            <a:picLocks noGrp="1" noChangeAspect="1"/>
          </p:cNvPicPr>
          <p:nvPr>
            <p:ph idx="1"/>
          </p:nvPr>
        </p:nvPicPr>
        <p:blipFill>
          <a:blip r:embed="rId3"/>
          <a:stretch>
            <a:fillRect/>
          </a:stretch>
        </p:blipFill>
        <p:spPr>
          <a:xfrm>
            <a:off x="3429051" y="1825625"/>
            <a:ext cx="5333898" cy="4351338"/>
          </a:xfrm>
          <a:prstGeom prst="rect">
            <a:avLst/>
          </a:prstGeom>
        </p:spPr>
      </p:pic>
    </p:spTree>
    <p:extLst>
      <p:ext uri="{BB962C8B-B14F-4D97-AF65-F5344CB8AC3E}">
        <p14:creationId xmlns:p14="http://schemas.microsoft.com/office/powerpoint/2010/main" val="280587346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BF6B1C0-6498-9094-D941-19528FEE3EE4}"/>
              </a:ext>
            </a:extLst>
          </p:cNvPr>
          <p:cNvSpPr>
            <a:spLocks noGrp="1"/>
          </p:cNvSpPr>
          <p:nvPr>
            <p:ph type="title"/>
          </p:nvPr>
        </p:nvSpPr>
        <p:spPr/>
        <p:txBody>
          <a:bodyPr/>
          <a:lstStyle/>
          <a:p>
            <a:r>
              <a:rPr lang="de-DE" dirty="0"/>
              <a:t>Ressourcen</a:t>
            </a:r>
          </a:p>
        </p:txBody>
      </p:sp>
      <p:sp>
        <p:nvSpPr>
          <p:cNvPr id="3" name="Inhaltsplatzhalter 2">
            <a:extLst>
              <a:ext uri="{FF2B5EF4-FFF2-40B4-BE49-F238E27FC236}">
                <a16:creationId xmlns:a16="http://schemas.microsoft.com/office/drawing/2014/main" id="{414A8D02-C361-E8AE-D92B-53E118F8360A}"/>
              </a:ext>
            </a:extLst>
          </p:cNvPr>
          <p:cNvSpPr>
            <a:spLocks noGrp="1"/>
          </p:cNvSpPr>
          <p:nvPr>
            <p:ph idx="1"/>
          </p:nvPr>
        </p:nvSpPr>
        <p:spPr/>
        <p:txBody>
          <a:bodyPr>
            <a:normAutofit/>
          </a:bodyPr>
          <a:lstStyle/>
          <a:p>
            <a:pPr marL="0" indent="0">
              <a:buNone/>
            </a:pPr>
            <a:r>
              <a:rPr lang="de-DE" sz="1600" dirty="0">
                <a:hlinkClick r:id="rId3"/>
              </a:rPr>
              <a:t>https://www.rheinwerk-verlag.de/core-data-services-fuer-abap/</a:t>
            </a:r>
            <a:endParaRPr lang="de-DE" sz="1600" dirty="0"/>
          </a:p>
          <a:p>
            <a:pPr marL="0" indent="0">
              <a:buNone/>
            </a:pPr>
            <a:endParaRPr lang="de-DE" sz="1600" dirty="0"/>
          </a:p>
          <a:p>
            <a:pPr marL="0" indent="0">
              <a:buNone/>
            </a:pPr>
            <a:endParaRPr lang="de-DE" sz="1600" dirty="0"/>
          </a:p>
          <a:p>
            <a:pPr marL="0" indent="0">
              <a:buNone/>
            </a:pPr>
            <a:endParaRPr lang="de-DE" sz="1600" dirty="0"/>
          </a:p>
          <a:p>
            <a:pPr marL="0" indent="0">
              <a:buNone/>
            </a:pPr>
            <a:endParaRPr lang="de-DE" sz="1600" dirty="0"/>
          </a:p>
          <a:p>
            <a:pPr marL="0" indent="0">
              <a:buNone/>
            </a:pPr>
            <a:endParaRPr lang="de-DE" sz="1600" dirty="0"/>
          </a:p>
          <a:p>
            <a:pPr marL="0" indent="0">
              <a:buNone/>
            </a:pPr>
            <a:endParaRPr lang="de-DE" sz="1600" dirty="0"/>
          </a:p>
          <a:p>
            <a:pPr marL="0" indent="0">
              <a:buNone/>
            </a:pPr>
            <a:endParaRPr lang="de-DE" sz="1600" dirty="0"/>
          </a:p>
          <a:p>
            <a:pPr marL="0" indent="0">
              <a:buNone/>
            </a:pPr>
            <a:endParaRPr lang="de-DE" sz="1600" dirty="0"/>
          </a:p>
          <a:p>
            <a:pPr marL="0" indent="0">
              <a:buNone/>
            </a:pPr>
            <a:r>
              <a:rPr lang="de-DE" sz="1600" dirty="0">
                <a:hlinkClick r:id="rId4"/>
              </a:rPr>
              <a:t>https://learning.sap.com/courses/building-data-models-with-the-abap-dictionary-and-abap-core-data-services</a:t>
            </a:r>
            <a:endParaRPr lang="de-DE" sz="1600" dirty="0"/>
          </a:p>
          <a:p>
            <a:pPr marL="0" indent="0">
              <a:buNone/>
            </a:pPr>
            <a:r>
              <a:rPr lang="de-DE" sz="1600" dirty="0">
                <a:hlinkClick r:id="rId5"/>
              </a:rPr>
              <a:t>https://training.sap.com/course/s4d430-data-modelling-in-abap-dictionary-and-abap-core-data-services-classroom-024-de-de</a:t>
            </a:r>
            <a:endParaRPr lang="de-DE" sz="1600" dirty="0"/>
          </a:p>
          <a:p>
            <a:pPr marL="0" indent="0">
              <a:buNone/>
            </a:pPr>
            <a:endParaRPr lang="de-DE" sz="1600" dirty="0"/>
          </a:p>
          <a:p>
            <a:pPr marL="0" indent="0">
              <a:buNone/>
            </a:pPr>
            <a:endParaRPr lang="de-DE" sz="1600" dirty="0"/>
          </a:p>
          <a:p>
            <a:pPr marL="0" indent="0">
              <a:buNone/>
            </a:pPr>
            <a:endParaRPr lang="de-DE" sz="1600" dirty="0"/>
          </a:p>
          <a:p>
            <a:pPr marL="0" indent="0">
              <a:buNone/>
            </a:pPr>
            <a:endParaRPr lang="de-DE" sz="1600" dirty="0"/>
          </a:p>
          <a:p>
            <a:pPr marL="0" indent="0">
              <a:buNone/>
            </a:pPr>
            <a:endParaRPr lang="de-DE" sz="1600" dirty="0"/>
          </a:p>
        </p:txBody>
      </p:sp>
      <p:pic>
        <p:nvPicPr>
          <p:cNvPr id="6" name="Grafik 5" descr="Cover von Core Data Services für ABAP">
            <a:extLst>
              <a:ext uri="{FF2B5EF4-FFF2-40B4-BE49-F238E27FC236}">
                <a16:creationId xmlns:a16="http://schemas.microsoft.com/office/drawing/2014/main" id="{9BAE3DBD-B303-D270-8BE6-7DD896F40DDB}"/>
              </a:ext>
            </a:extLst>
          </p:cNvPr>
          <p:cNvPicPr>
            <a:picLocks noChangeAspect="1"/>
          </p:cNvPicPr>
          <p:nvPr/>
        </p:nvPicPr>
        <p:blipFill>
          <a:blip r:embed="rId6"/>
          <a:stretch>
            <a:fillRect/>
          </a:stretch>
        </p:blipFill>
        <p:spPr>
          <a:xfrm>
            <a:off x="299413" y="2157412"/>
            <a:ext cx="3133725" cy="2543175"/>
          </a:xfrm>
          <a:prstGeom prst="rect">
            <a:avLst/>
          </a:prstGeom>
        </p:spPr>
      </p:pic>
    </p:spTree>
    <p:extLst>
      <p:ext uri="{BB962C8B-B14F-4D97-AF65-F5344CB8AC3E}">
        <p14:creationId xmlns:p14="http://schemas.microsoft.com/office/powerpoint/2010/main" val="10535602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2802ED7-909F-E61F-4A08-6D4B936DB953}"/>
              </a:ext>
            </a:extLst>
          </p:cNvPr>
          <p:cNvSpPr>
            <a:spLocks noGrp="1"/>
          </p:cNvSpPr>
          <p:nvPr>
            <p:ph type="title"/>
          </p:nvPr>
        </p:nvSpPr>
        <p:spPr/>
        <p:txBody>
          <a:bodyPr anchor="b">
            <a:normAutofit/>
          </a:bodyPr>
          <a:lstStyle/>
          <a:p>
            <a:r>
              <a:rPr lang="de-DE" sz="3600" dirty="0"/>
              <a:t>Ressourcen: GitHub-Repository zur Veranstaltung</a:t>
            </a:r>
          </a:p>
        </p:txBody>
      </p:sp>
      <p:sp>
        <p:nvSpPr>
          <p:cNvPr id="3" name="Inhaltsplatzhalter 2">
            <a:extLst>
              <a:ext uri="{FF2B5EF4-FFF2-40B4-BE49-F238E27FC236}">
                <a16:creationId xmlns:a16="http://schemas.microsoft.com/office/drawing/2014/main" id="{9B7F34D7-59AD-384C-9508-3FF4807BDAED}"/>
              </a:ext>
            </a:extLst>
          </p:cNvPr>
          <p:cNvSpPr>
            <a:spLocks noGrp="1"/>
          </p:cNvSpPr>
          <p:nvPr>
            <p:ph idx="1"/>
          </p:nvPr>
        </p:nvSpPr>
        <p:spPr/>
        <p:txBody>
          <a:bodyPr anchor="b">
            <a:normAutofit/>
          </a:bodyPr>
          <a:lstStyle/>
          <a:p>
            <a:pPr marL="0" indent="0" algn="r">
              <a:buNone/>
            </a:pPr>
            <a:r>
              <a:rPr lang="de-DE" sz="2000" dirty="0">
                <a:hlinkClick r:id="rId3"/>
              </a:rPr>
              <a:t>https://github.com/MichaelWegelin/cds-workshop.git</a:t>
            </a:r>
            <a:r>
              <a:rPr lang="de-DE" sz="2000" dirty="0"/>
              <a:t> </a:t>
            </a:r>
          </a:p>
        </p:txBody>
      </p:sp>
      <p:pic>
        <p:nvPicPr>
          <p:cNvPr id="5" name="Grafik 4">
            <a:extLst>
              <a:ext uri="{FF2B5EF4-FFF2-40B4-BE49-F238E27FC236}">
                <a16:creationId xmlns:a16="http://schemas.microsoft.com/office/drawing/2014/main" id="{A512F91C-CDB1-72E7-609C-3DB9A3E98FF2}"/>
              </a:ext>
            </a:extLst>
          </p:cNvPr>
          <p:cNvPicPr>
            <a:picLocks noChangeAspect="1"/>
          </p:cNvPicPr>
          <p:nvPr/>
        </p:nvPicPr>
        <p:blipFill>
          <a:blip r:embed="rId4"/>
          <a:stretch>
            <a:fillRect/>
          </a:stretch>
        </p:blipFill>
        <p:spPr>
          <a:xfrm>
            <a:off x="838200" y="1825625"/>
            <a:ext cx="7884695" cy="3908970"/>
          </a:xfrm>
          <a:prstGeom prst="rect">
            <a:avLst/>
          </a:prstGeom>
        </p:spPr>
      </p:pic>
    </p:spTree>
    <p:extLst>
      <p:ext uri="{BB962C8B-B14F-4D97-AF65-F5344CB8AC3E}">
        <p14:creationId xmlns:p14="http://schemas.microsoft.com/office/powerpoint/2010/main" val="3685061495"/>
      </p:ext>
    </p:extLst>
  </p:cSld>
  <p:clrMapOvr>
    <a:masterClrMapping/>
  </p:clrMapOvr>
</p:sld>
</file>

<file path=ppt/theme/theme1.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15557</Words>
  <Application>Microsoft Office PowerPoint</Application>
  <PresentationFormat>Breitbild</PresentationFormat>
  <Paragraphs>1992</Paragraphs>
  <Slides>56</Slides>
  <Notes>55</Notes>
  <HiddenSlides>0</HiddenSlides>
  <MMClips>0</MMClips>
  <ScaleCrop>false</ScaleCrop>
  <HeadingPairs>
    <vt:vector size="6" baseType="variant">
      <vt:variant>
        <vt:lpstr>Verwendete Schriftarten</vt:lpstr>
      </vt:variant>
      <vt:variant>
        <vt:i4>4</vt:i4>
      </vt:variant>
      <vt:variant>
        <vt:lpstr>Design</vt:lpstr>
      </vt:variant>
      <vt:variant>
        <vt:i4>1</vt:i4>
      </vt:variant>
      <vt:variant>
        <vt:lpstr>Folientitel</vt:lpstr>
      </vt:variant>
      <vt:variant>
        <vt:i4>56</vt:i4>
      </vt:variant>
    </vt:vector>
  </HeadingPairs>
  <TitlesOfParts>
    <vt:vector size="61" baseType="lpstr">
      <vt:lpstr>Aptos</vt:lpstr>
      <vt:lpstr>Aptos Display</vt:lpstr>
      <vt:lpstr>Arial</vt:lpstr>
      <vt:lpstr>Courier New</vt:lpstr>
      <vt:lpstr>Office</vt:lpstr>
      <vt:lpstr>Einführung in ABAP Core Data Services</vt:lpstr>
      <vt:lpstr>Vom Datenbankzugriff zum semantischen Datenmodell</vt:lpstr>
      <vt:lpstr>Warum brauchen wir ein Datenmodell?</vt:lpstr>
      <vt:lpstr>Was ist eine CDS View Entity?</vt:lpstr>
      <vt:lpstr>CDS View Entity und klassische CDS View</vt:lpstr>
      <vt:lpstr>Unser Beispiel: ein kleines Vertriebsmodell</vt:lpstr>
      <vt:lpstr>Vom Auftrag zum verbundenen CDS-Modell</vt:lpstr>
      <vt:lpstr>Live-Coding 1: Die erste CDS View Entity</vt:lpstr>
      <vt:lpstr>Unsere erste View Entity</vt:lpstr>
      <vt:lpstr>Die Bestandteile einer View Entity</vt:lpstr>
      <vt:lpstr>Projektion: Welche Daten stellen wir bereit?</vt:lpstr>
      <vt:lpstr>Aliase als öffentliche Elementname</vt:lpstr>
      <vt:lpstr>Was bedeutet key in einer CDS View Entity?</vt:lpstr>
      <vt:lpstr>Annotationen ergänzen Metadaten</vt:lpstr>
      <vt:lpstr>Grundlegende und verbraucherspezifische Annotationen</vt:lpstr>
      <vt:lpstr>Elemente können aus Ausdrücken entstehen</vt:lpstr>
      <vt:lpstr>Ziel von Live-Coding 2</vt:lpstr>
      <vt:lpstr>Zwischenstand nach Live-Coding 2 </vt:lpstr>
      <vt:lpstr>Beziehungen gehören zum Datenmodell</vt:lpstr>
      <vt:lpstr>Was ist eine CDS-Assoziation?</vt:lpstr>
      <vt:lpstr>Assoziation und Join</vt:lpstr>
      <vt:lpstr>Die ON-Bedingung</vt:lpstr>
      <vt:lpstr>Warum verwenden wir $projection</vt:lpstr>
      <vt:lpstr>Kardinalitäten beschreiben die Beziehung</vt:lpstr>
      <vt:lpstr>To-One und To-Many</vt:lpstr>
      <vt:lpstr>Ziel von Live-Coding 3</vt:lpstr>
      <vt:lpstr>Zwischenstand nach Live-Coding 3</vt:lpstr>
      <vt:lpstr>Was bedeutet „Assoziation exponieren“?</vt:lpstr>
      <vt:lpstr>Pfadausdrücke verwenden Assoziationen</vt:lpstr>
      <vt:lpstr>Exponieren oder direkt projizieren?</vt:lpstr>
      <vt:lpstr>Mehrstufige Beziehungen im Auftragsmodell</vt:lpstr>
      <vt:lpstr>To-Many ist kein einzelner Wert</vt:lpstr>
      <vt:lpstr>Schlüssel folgen der Ergebnisebene</vt:lpstr>
      <vt:lpstr>Ziel von Live-Coding 4</vt:lpstr>
      <vt:lpstr>Zwischenstand nach Live-Coding 4</vt:lpstr>
      <vt:lpstr>CDS View Entities sind ABAP-SQL-Datenquellen</vt:lpstr>
      <vt:lpstr>CDS-Elemente statt Tabellenfelder</vt:lpstr>
      <vt:lpstr>Filtern, Sortieren und Ergebnistyp ableiten</vt:lpstr>
      <vt:lpstr>Nur benötigte Elemente lese</vt:lpstr>
      <vt:lpstr>Assoziationen in ABAP SQL verwenden</vt:lpstr>
      <vt:lpstr>Direkter Zugriff oder Navigation?</vt:lpstr>
      <vt:lpstr>Ziel von Live-Coding 5</vt:lpstr>
      <vt:lpstr>Zwischenstand nach Live-Coding 5</vt:lpstr>
      <vt:lpstr>Berechtigungskonzept</vt:lpstr>
      <vt:lpstr>Berechtigungsfelder und Berechtigungsobjekt</vt:lpstr>
      <vt:lpstr>IAM App und IAM Business Catalog</vt:lpstr>
      <vt:lpstr>Business Rolle</vt:lpstr>
      <vt:lpstr>Die Zugriffskontrolle</vt:lpstr>
      <vt:lpstr>DCL wirkt implizit</vt:lpstr>
      <vt:lpstr>Normaler und privilegierter Zugriff</vt:lpstr>
      <vt:lpstr>Live-Coding: Aufträge mit DCL schützen</vt:lpstr>
      <vt:lpstr>Was ist jetzt geschützt?</vt:lpstr>
      <vt:lpstr>Typische Missverständnisse</vt:lpstr>
      <vt:lpstr>Ergebnis</vt:lpstr>
      <vt:lpstr>Ressourcen</vt:lpstr>
      <vt:lpstr>Ressourcen: GitHub-Repository zur Veranstaltung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Michael Wegelin</dc:creator>
  <cp:lastModifiedBy>Michael Wegelin</cp:lastModifiedBy>
  <cp:revision>1</cp:revision>
  <dcterms:created xsi:type="dcterms:W3CDTF">2025-04-11T06:58:28Z</dcterms:created>
  <dcterms:modified xsi:type="dcterms:W3CDTF">2026-08-02T09:27:14Z</dcterms:modified>
</cp:coreProperties>
</file>